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5.xml" ContentType="application/vnd.openxmlformats-officedocument.them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4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0.xml" ContentType="application/vnd.openxmlformats-officedocument.presentationml.slideLayout+xml"/>
  <Override PartName="/ppt/changesInfos/changesInfo1.xml" ContentType="application/vnd.ms-powerpoint.changesinfo+xml"/>
  <Override PartName="/ppt/slideMasters/slideMaster4.xml" ContentType="application/vnd.openxmlformats-officedocument.presentationml.slideMaster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Layouts/slideLayout29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  <p:sldMasterId id="2147483684" r:id="rId2"/>
    <p:sldMasterId id="2147483696" r:id="rId3"/>
    <p:sldMasterId id="2147483708" r:id="rId4"/>
  </p:sldMasterIdLst>
  <p:notesMasterIdLst>
    <p:notesMasterId r:id="rId22"/>
  </p:notesMasterIdLst>
  <p:sldIdLst>
    <p:sldId id="283" r:id="rId5"/>
    <p:sldId id="284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85" r:id="rId16"/>
    <p:sldId id="279" r:id="rId17"/>
    <p:sldId id="286" r:id="rId18"/>
    <p:sldId id="280" r:id="rId19"/>
    <p:sldId id="281" r:id="rId20"/>
    <p:sldId id="282" r:id="rId21"/>
  </p:sldIdLst>
  <p:sldSz cx="9144000" cy="5143500" type="screen16x9"/>
  <p:notesSz cx="6858000" cy="9144000"/>
  <p:defaultTextStyle>
    <a:defPPr>
      <a:defRPr lang="ru-R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2" pos="3560" userDrawn="1">
          <p15:clr>
            <a:srgbClr val="A4A3A4"/>
          </p15:clr>
        </p15:guide>
        <p15:guide id="3" orient="horz" pos="71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CE1325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099" autoAdjust="0"/>
    <p:restoredTop sz="94680"/>
  </p:normalViewPr>
  <p:slideViewPr>
    <p:cSldViewPr snapToGrid="0" snapToObjects="1">
      <p:cViewPr varScale="1">
        <p:scale>
          <a:sx n="86" d="100"/>
          <a:sy n="86" d="100"/>
        </p:scale>
        <p:origin x="-725" y="-77"/>
      </p:cViewPr>
      <p:guideLst>
        <p:guide orient="horz" pos="713"/>
        <p:guide pos="35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Иветта Новикова" userId="e708aafe7de06156" providerId="LiveId" clId="{8790151F-47D0-4B1F-A4C7-16D882C0F1FD}"/>
    <pc:docChg chg="modSld">
      <pc:chgData name="Иветта Новикова" userId="e708aafe7de06156" providerId="LiveId" clId="{8790151F-47D0-4B1F-A4C7-16D882C0F1FD}" dt="2018-03-22T07:36:48.888" v="89" actId="1076"/>
      <pc:docMkLst>
        <pc:docMk/>
      </pc:docMkLst>
      <pc:sldChg chg="modSp">
        <pc:chgData name="Иветта Новикова" userId="e708aafe7de06156" providerId="LiveId" clId="{8790151F-47D0-4B1F-A4C7-16D882C0F1FD}" dt="2018-03-22T07:26:33.175" v="5" actId="255"/>
        <pc:sldMkLst>
          <pc:docMk/>
          <pc:sldMk cId="3558134793" sldId="265"/>
        </pc:sldMkLst>
        <pc:spChg chg="mod">
          <ac:chgData name="Иветта Новикова" userId="e708aafe7de06156" providerId="LiveId" clId="{8790151F-47D0-4B1F-A4C7-16D882C0F1FD}" dt="2018-03-22T07:26:28.603" v="3" actId="255"/>
          <ac:spMkLst>
            <pc:docMk/>
            <pc:sldMk cId="3558134793" sldId="265"/>
            <ac:spMk id="9" creationId="{204671A7-56E7-EE45-9417-150B0D301875}"/>
          </ac:spMkLst>
        </pc:spChg>
        <pc:spChg chg="mod">
          <ac:chgData name="Иветта Новикова" userId="e708aafe7de06156" providerId="LiveId" clId="{8790151F-47D0-4B1F-A4C7-16D882C0F1FD}" dt="2018-03-22T07:26:23.355" v="1" actId="255"/>
          <ac:spMkLst>
            <pc:docMk/>
            <pc:sldMk cId="3558134793" sldId="265"/>
            <ac:spMk id="10" creationId="{FCE0A8E7-FA95-1646-BFB7-ECD41C8EA0EC}"/>
          </ac:spMkLst>
        </pc:spChg>
        <pc:spChg chg="mod">
          <ac:chgData name="Иветта Новикова" userId="e708aafe7de06156" providerId="LiveId" clId="{8790151F-47D0-4B1F-A4C7-16D882C0F1FD}" dt="2018-03-22T07:26:33.175" v="5" actId="255"/>
          <ac:spMkLst>
            <pc:docMk/>
            <pc:sldMk cId="3558134793" sldId="265"/>
            <ac:spMk id="12" creationId="{42DE27E0-FBB1-854B-9D14-F3EC66B03208}"/>
          </ac:spMkLst>
        </pc:spChg>
      </pc:sldChg>
      <pc:sldChg chg="modSp">
        <pc:chgData name="Иветта Новикова" userId="e708aafe7de06156" providerId="LiveId" clId="{8790151F-47D0-4B1F-A4C7-16D882C0F1FD}" dt="2018-03-22T07:27:03.657" v="10" actId="14100"/>
        <pc:sldMkLst>
          <pc:docMk/>
          <pc:sldMk cId="109173238" sldId="266"/>
        </pc:sldMkLst>
        <pc:spChg chg="mod">
          <ac:chgData name="Иветта Новикова" userId="e708aafe7de06156" providerId="LiveId" clId="{8790151F-47D0-4B1F-A4C7-16D882C0F1FD}" dt="2018-03-22T07:27:01.555" v="9" actId="14100"/>
          <ac:spMkLst>
            <pc:docMk/>
            <pc:sldMk cId="109173238" sldId="266"/>
            <ac:spMk id="9" creationId="{204671A7-56E7-EE45-9417-150B0D301875}"/>
          </ac:spMkLst>
        </pc:spChg>
        <pc:spChg chg="mod">
          <ac:chgData name="Иветта Новикова" userId="e708aafe7de06156" providerId="LiveId" clId="{8790151F-47D0-4B1F-A4C7-16D882C0F1FD}" dt="2018-03-22T07:26:59.143" v="8" actId="14100"/>
          <ac:spMkLst>
            <pc:docMk/>
            <pc:sldMk cId="109173238" sldId="266"/>
            <ac:spMk id="10" creationId="{FCE0A8E7-FA95-1646-BFB7-ECD41C8EA0EC}"/>
          </ac:spMkLst>
        </pc:spChg>
        <pc:spChg chg="mod">
          <ac:chgData name="Иветта Новикова" userId="e708aafe7de06156" providerId="LiveId" clId="{8790151F-47D0-4B1F-A4C7-16D882C0F1FD}" dt="2018-03-22T07:27:03.657" v="10" actId="14100"/>
          <ac:spMkLst>
            <pc:docMk/>
            <pc:sldMk cId="109173238" sldId="266"/>
            <ac:spMk id="12" creationId="{42DE27E0-FBB1-854B-9D14-F3EC66B03208}"/>
          </ac:spMkLst>
        </pc:spChg>
      </pc:sldChg>
      <pc:sldChg chg="modSp">
        <pc:chgData name="Иветта Новикова" userId="e708aafe7de06156" providerId="LiveId" clId="{8790151F-47D0-4B1F-A4C7-16D882C0F1FD}" dt="2018-03-22T07:27:40.677" v="16" actId="1076"/>
        <pc:sldMkLst>
          <pc:docMk/>
          <pc:sldMk cId="688975444" sldId="267"/>
        </pc:sldMkLst>
        <pc:spChg chg="mod">
          <ac:chgData name="Иветта Новикова" userId="e708aafe7de06156" providerId="LiveId" clId="{8790151F-47D0-4B1F-A4C7-16D882C0F1FD}" dt="2018-03-22T07:27:35.490" v="14" actId="1076"/>
          <ac:spMkLst>
            <pc:docMk/>
            <pc:sldMk cId="688975444" sldId="267"/>
            <ac:spMk id="2" creationId="{355E1EFF-0E64-B54C-89ED-BC2DC9EE1E12}"/>
          </ac:spMkLst>
        </pc:spChg>
        <pc:spChg chg="mod">
          <ac:chgData name="Иветта Новикова" userId="e708aafe7de06156" providerId="LiveId" clId="{8790151F-47D0-4B1F-A4C7-16D882C0F1FD}" dt="2018-03-22T07:27:40.677" v="16" actId="1076"/>
          <ac:spMkLst>
            <pc:docMk/>
            <pc:sldMk cId="688975444" sldId="267"/>
            <ac:spMk id="3" creationId="{D0B8B88A-3EE0-184C-B2F1-096E65226AC4}"/>
          </ac:spMkLst>
        </pc:spChg>
        <pc:spChg chg="mod">
          <ac:chgData name="Иветта Новикова" userId="e708aafe7de06156" providerId="LiveId" clId="{8790151F-47D0-4B1F-A4C7-16D882C0F1FD}" dt="2018-03-22T07:27:37.723" v="15" actId="1076"/>
          <ac:spMkLst>
            <pc:docMk/>
            <pc:sldMk cId="688975444" sldId="267"/>
            <ac:spMk id="10" creationId="{FCE0A8E7-FA95-1646-BFB7-ECD41C8EA0EC}"/>
          </ac:spMkLst>
        </pc:spChg>
      </pc:sldChg>
      <pc:sldChg chg="addSp modSp">
        <pc:chgData name="Иветта Новикова" userId="e708aafe7de06156" providerId="LiveId" clId="{8790151F-47D0-4B1F-A4C7-16D882C0F1FD}" dt="2018-03-22T07:30:58.327" v="19"/>
        <pc:sldMkLst>
          <pc:docMk/>
          <pc:sldMk cId="1947406351" sldId="268"/>
        </pc:sldMkLst>
        <pc:spChg chg="mod">
          <ac:chgData name="Иветта Новикова" userId="e708aafe7de06156" providerId="LiveId" clId="{8790151F-47D0-4B1F-A4C7-16D882C0F1FD}" dt="2018-03-22T07:30:41.880" v="17" actId="20577"/>
          <ac:spMkLst>
            <pc:docMk/>
            <pc:sldMk cId="1947406351" sldId="268"/>
            <ac:spMk id="2" creationId="{355E1EFF-0E64-B54C-89ED-BC2DC9EE1E12}"/>
          </ac:spMkLst>
        </pc:spChg>
        <pc:spChg chg="mod">
          <ac:chgData name="Иветта Новикова" userId="e708aafe7de06156" providerId="LiveId" clId="{8790151F-47D0-4B1F-A4C7-16D882C0F1FD}" dt="2018-03-22T07:30:46.161" v="18" actId="14100"/>
          <ac:spMkLst>
            <pc:docMk/>
            <pc:sldMk cId="1947406351" sldId="268"/>
            <ac:spMk id="3" creationId="{D0B8B88A-3EE0-184C-B2F1-096E65226AC4}"/>
          </ac:spMkLst>
        </pc:spChg>
        <pc:spChg chg="add">
          <ac:chgData name="Иветта Новикова" userId="e708aafe7de06156" providerId="LiveId" clId="{8790151F-47D0-4B1F-A4C7-16D882C0F1FD}" dt="2018-03-22T07:30:58.327" v="19"/>
          <ac:spMkLst>
            <pc:docMk/>
            <pc:sldMk cId="1947406351" sldId="268"/>
            <ac:spMk id="5" creationId="{CDD9F58A-60E4-43F9-8B24-1E1AB733CDFB}"/>
          </ac:spMkLst>
        </pc:spChg>
      </pc:sldChg>
      <pc:sldChg chg="modSp">
        <pc:chgData name="Иветта Новикова" userId="e708aafe7de06156" providerId="LiveId" clId="{8790151F-47D0-4B1F-A4C7-16D882C0F1FD}" dt="2018-03-22T07:32:44.632" v="44" actId="20577"/>
        <pc:sldMkLst>
          <pc:docMk/>
          <pc:sldMk cId="616617328" sldId="270"/>
        </pc:sldMkLst>
        <pc:spChg chg="mod">
          <ac:chgData name="Иветта Новикова" userId="e708aafe7de06156" providerId="LiveId" clId="{8790151F-47D0-4B1F-A4C7-16D882C0F1FD}" dt="2018-03-22T07:31:39.615" v="25" actId="255"/>
          <ac:spMkLst>
            <pc:docMk/>
            <pc:sldMk cId="616617328" sldId="270"/>
            <ac:spMk id="2" creationId="{355E1EFF-0E64-B54C-89ED-BC2DC9EE1E12}"/>
          </ac:spMkLst>
        </pc:spChg>
        <pc:spChg chg="mod">
          <ac:chgData name="Иветта Новикова" userId="e708aafe7de06156" providerId="LiveId" clId="{8790151F-47D0-4B1F-A4C7-16D882C0F1FD}" dt="2018-03-22T07:32:44.632" v="44" actId="20577"/>
          <ac:spMkLst>
            <pc:docMk/>
            <pc:sldMk cId="616617328" sldId="270"/>
            <ac:spMk id="3" creationId="{D0B8B88A-3EE0-184C-B2F1-096E65226AC4}"/>
          </ac:spMkLst>
        </pc:spChg>
      </pc:sldChg>
      <pc:sldChg chg="modSp">
        <pc:chgData name="Иветта Новикова" userId="e708aafe7de06156" providerId="LiveId" clId="{8790151F-47D0-4B1F-A4C7-16D882C0F1FD}" dt="2018-03-22T07:33:19.887" v="55" actId="20577"/>
        <pc:sldMkLst>
          <pc:docMk/>
          <pc:sldMk cId="3741230720" sldId="279"/>
        </pc:sldMkLst>
        <pc:spChg chg="mod">
          <ac:chgData name="Иветта Новикова" userId="e708aafe7de06156" providerId="LiveId" clId="{8790151F-47D0-4B1F-A4C7-16D882C0F1FD}" dt="2018-03-22T07:33:19.887" v="55" actId="20577"/>
          <ac:spMkLst>
            <pc:docMk/>
            <pc:sldMk cId="3741230720" sldId="279"/>
            <ac:spMk id="15" creationId="{6886B2F4-58A7-D140-A238-3D011DDB446F}"/>
          </ac:spMkLst>
        </pc:spChg>
      </pc:sldChg>
      <pc:sldChg chg="modSp">
        <pc:chgData name="Иветта Новикова" userId="e708aafe7de06156" providerId="LiveId" clId="{8790151F-47D0-4B1F-A4C7-16D882C0F1FD}" dt="2018-03-22T07:35:50.533" v="72" actId="20577"/>
        <pc:sldMkLst>
          <pc:docMk/>
          <pc:sldMk cId="4128159742" sldId="280"/>
        </pc:sldMkLst>
        <pc:spChg chg="mod">
          <ac:chgData name="Иветта Новикова" userId="e708aafe7de06156" providerId="LiveId" clId="{8790151F-47D0-4B1F-A4C7-16D882C0F1FD}" dt="2018-03-22T07:33:46.157" v="60" actId="14100"/>
          <ac:spMkLst>
            <pc:docMk/>
            <pc:sldMk cId="4128159742" sldId="280"/>
            <ac:spMk id="2" creationId="{355E1EFF-0E64-B54C-89ED-BC2DC9EE1E12}"/>
          </ac:spMkLst>
        </pc:spChg>
        <pc:spChg chg="mod">
          <ac:chgData name="Иветта Новикова" userId="e708aafe7de06156" providerId="LiveId" clId="{8790151F-47D0-4B1F-A4C7-16D882C0F1FD}" dt="2018-03-22T07:35:50.533" v="72" actId="20577"/>
          <ac:spMkLst>
            <pc:docMk/>
            <pc:sldMk cId="4128159742" sldId="280"/>
            <ac:spMk id="8" creationId="{0BB24D09-06C4-2441-8CDD-10FD170F43B1}"/>
          </ac:spMkLst>
        </pc:spChg>
      </pc:sldChg>
      <pc:sldChg chg="modSp">
        <pc:chgData name="Иветта Новикова" userId="e708aafe7de06156" providerId="LiveId" clId="{8790151F-47D0-4B1F-A4C7-16D882C0F1FD}" dt="2018-03-22T07:36:48.888" v="89" actId="1076"/>
        <pc:sldMkLst>
          <pc:docMk/>
          <pc:sldMk cId="3265630032" sldId="281"/>
        </pc:sldMkLst>
        <pc:spChg chg="mod">
          <ac:chgData name="Иветта Новикова" userId="e708aafe7de06156" providerId="LiveId" clId="{8790151F-47D0-4B1F-A4C7-16D882C0F1FD}" dt="2018-03-22T07:36:46.587" v="88" actId="1076"/>
          <ac:spMkLst>
            <pc:docMk/>
            <pc:sldMk cId="3265630032" sldId="281"/>
            <ac:spMk id="2" creationId="{355E1EFF-0E64-B54C-89ED-BC2DC9EE1E12}"/>
          </ac:spMkLst>
        </pc:spChg>
        <pc:spChg chg="mod">
          <ac:chgData name="Иветта Новикова" userId="e708aafe7de06156" providerId="LiveId" clId="{8790151F-47D0-4B1F-A4C7-16D882C0F1FD}" dt="2018-03-22T07:36:48.888" v="89" actId="1076"/>
          <ac:spMkLst>
            <pc:docMk/>
            <pc:sldMk cId="3265630032" sldId="281"/>
            <ac:spMk id="8" creationId="{0BB24D09-06C4-2441-8CDD-10FD170F43B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56AD17-C8BE-0042-A047-B264E547F3F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10AB3A-EF41-3C43-86EF-13128BED826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71144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10AB3A-EF41-3C43-86EF-13128BED8263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0105873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10AB3A-EF41-3C43-86EF-13128BED8263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994239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10AB3A-EF41-3C43-86EF-13128BED8263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9858166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10AB3A-EF41-3C43-86EF-13128BED8263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917974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410711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224604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87124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10831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621566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568230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775818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172603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Чтобы добавить рисунок, перетащите его на заполнитель или щелкните значок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011887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6502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9413294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852093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957128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8353228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859516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575848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491595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75622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7270534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Чтобы добавить рисунок, перетащите его на заполнитель или щелкните значок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2175731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8644026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074368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4107118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2246043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871247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108314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6215663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56823069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7758181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17260349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Чтобы добавить рисунок, перетащите его на заполнитель или щелкните значок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0118875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650244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94132946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852093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9571284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83532285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8595169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5758488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4915954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756229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72705346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Чтобы добавить рисунок, перетащите его на заполнитель или щелкните значок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21757317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86440269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07436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34" y="534213"/>
            <a:ext cx="1265494" cy="57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18691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34" y="534213"/>
            <a:ext cx="1265494" cy="57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7748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34" y="534213"/>
            <a:ext cx="1265494" cy="57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18691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34" y="534213"/>
            <a:ext cx="1265494" cy="57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7748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50583" y="1896819"/>
            <a:ext cx="7772400" cy="1825950"/>
          </a:xfrm>
        </p:spPr>
        <p:txBody>
          <a:bodyPr>
            <a:noAutofit/>
          </a:bodyPr>
          <a:lstStyle/>
          <a:p>
            <a:pPr algn="l">
              <a:lnSpc>
                <a:spcPct val="91000"/>
              </a:lnSpc>
            </a:pPr>
            <a:r>
              <a:rPr lang="ru-RU" sz="4200" b="1" dirty="0"/>
              <a:t>Аудит системы управленческого учета</a:t>
            </a:r>
            <a:endParaRPr lang="ru-RU" sz="4200" dirty="0"/>
          </a:p>
        </p:txBody>
      </p:sp>
      <p:sp>
        <p:nvSpPr>
          <p:cNvPr id="5" name="TextBox 4"/>
          <p:cNvSpPr txBox="1"/>
          <p:nvPr/>
        </p:nvSpPr>
        <p:spPr>
          <a:xfrm>
            <a:off x="1656743" y="4201182"/>
            <a:ext cx="61220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Елена Рослова</a:t>
            </a:r>
            <a:r>
              <a:rPr lang="en-US" sz="2880" b="1" dirty="0"/>
              <a:t/>
            </a:r>
            <a:br>
              <a:rPr lang="en-US" sz="2880" b="1" dirty="0"/>
            </a:br>
            <a:r>
              <a:rPr lang="ru-RU" sz="1400" dirty="0"/>
              <a:t>заместитель директора Департамента аудита АКГ «ДЕЛОВОЙ ПРОФИЛЬ»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7097802" y="523777"/>
            <a:ext cx="152355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>
                <a:solidFill>
                  <a:srgbClr val="CE1325"/>
                </a:solidFill>
              </a:rPr>
              <a:t>school.gd.ru</a:t>
            </a:r>
            <a:r>
              <a:rPr lang="ru-RU" sz="2000" dirty="0" smtClean="0">
                <a:solidFill>
                  <a:srgbClr val="CE1325"/>
                </a:solidFill>
              </a:rPr>
              <a:t> </a:t>
            </a:r>
            <a:endParaRPr lang="ru-RU" sz="2000" dirty="0">
              <a:solidFill>
                <a:srgbClr val="CE1325"/>
              </a:solidFill>
            </a:endParaRPr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23886" y="3722769"/>
            <a:ext cx="932857" cy="96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2707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50583" y="2153001"/>
            <a:ext cx="7772400" cy="1825950"/>
          </a:xfrm>
        </p:spPr>
        <p:txBody>
          <a:bodyPr>
            <a:noAutofit/>
          </a:bodyPr>
          <a:lstStyle/>
          <a:p>
            <a:pPr algn="l">
              <a:lnSpc>
                <a:spcPct val="91000"/>
              </a:lnSpc>
            </a:pPr>
            <a:r>
              <a:rPr lang="ru-RU" sz="3600" b="1" dirty="0"/>
              <a:t>Управленческий учет и аудит</a:t>
            </a:r>
            <a:endParaRPr lang="ru-RU" sz="3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4" y="4287851"/>
            <a:ext cx="22813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Аудит системы управленческого учета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45419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355E1EFF-0E64-B54C-89ED-BC2DC9EE1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052" y="1284187"/>
            <a:ext cx="5093447" cy="605292"/>
          </a:xfrm>
        </p:spPr>
        <p:txBody>
          <a:bodyPr/>
          <a:lstStyle/>
          <a:p>
            <a:pPr algn="l"/>
            <a:r>
              <a:rPr lang="ru-RU" sz="1800" b="1" dirty="0"/>
              <a:t>Управленческий учет позволяет реализовать четыре основные функции управления: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="" xmlns:a16="http://schemas.microsoft.com/office/drawing/2014/main" id="{FCE0A8E7-FA95-1646-BFB7-ECD41C8EA0EC}"/>
              </a:ext>
            </a:extLst>
          </p:cNvPr>
          <p:cNvSpPr/>
          <p:nvPr/>
        </p:nvSpPr>
        <p:spPr>
          <a:xfrm>
            <a:off x="1392762" y="2068449"/>
            <a:ext cx="35194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Сбор и накопление информации по текущей деятельности</a:t>
            </a:r>
            <a:endParaRPr lang="en-US" sz="1600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28021E6E-2F61-0E4E-9BD1-46D57A2DDDEF}"/>
              </a:ext>
            </a:extLst>
          </p:cNvPr>
          <p:cNvSpPr/>
          <p:nvPr/>
        </p:nvSpPr>
        <p:spPr>
          <a:xfrm>
            <a:off x="1392762" y="2832194"/>
            <a:ext cx="466986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Планирование (бюджетирование)</a:t>
            </a:r>
            <a:endParaRPr lang="en-US" sz="1600" dirty="0"/>
          </a:p>
        </p:txBody>
      </p:sp>
      <p:sp>
        <p:nvSpPr>
          <p:cNvPr id="14" name="Rectangle 11">
            <a:extLst>
              <a:ext uri="{FF2B5EF4-FFF2-40B4-BE49-F238E27FC236}">
                <a16:creationId xmlns="" xmlns:a16="http://schemas.microsoft.com/office/drawing/2014/main" id="{85044E81-CC2E-1C47-8710-76DDEF057E3A}"/>
              </a:ext>
            </a:extLst>
          </p:cNvPr>
          <p:cNvSpPr/>
          <p:nvPr/>
        </p:nvSpPr>
        <p:spPr>
          <a:xfrm>
            <a:off x="1392762" y="3510121"/>
            <a:ext cx="466986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Контроль и анализ</a:t>
            </a:r>
            <a:endParaRPr lang="en-US" sz="1600" dirty="0"/>
          </a:p>
        </p:txBody>
      </p:sp>
      <p:sp>
        <p:nvSpPr>
          <p:cNvPr id="16" name="Rectangle 11">
            <a:extLst>
              <a:ext uri="{FF2B5EF4-FFF2-40B4-BE49-F238E27FC236}">
                <a16:creationId xmlns="" xmlns:a16="http://schemas.microsoft.com/office/drawing/2014/main" id="{ADFDECA1-785F-E84D-A071-4811A70B1A11}"/>
              </a:ext>
            </a:extLst>
          </p:cNvPr>
          <p:cNvSpPr/>
          <p:nvPr/>
        </p:nvSpPr>
        <p:spPr>
          <a:xfrm>
            <a:off x="1392762" y="4065888"/>
            <a:ext cx="39447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Выбор наиболее эффективных путей развития организации</a:t>
            </a:r>
            <a:endParaRPr lang="en-US" sz="1600" dirty="0"/>
          </a:p>
        </p:txBody>
      </p:sp>
      <p:grpSp>
        <p:nvGrpSpPr>
          <p:cNvPr id="5" name="Группа 4">
            <a:extLst>
              <a:ext uri="{FF2B5EF4-FFF2-40B4-BE49-F238E27FC236}">
                <a16:creationId xmlns="" xmlns:a16="http://schemas.microsoft.com/office/drawing/2014/main" id="{8FD6E9F4-4059-5546-83E4-725846A912A7}"/>
              </a:ext>
            </a:extLst>
          </p:cNvPr>
          <p:cNvGrpSpPr/>
          <p:nvPr/>
        </p:nvGrpSpPr>
        <p:grpSpPr>
          <a:xfrm>
            <a:off x="626217" y="2048939"/>
            <a:ext cx="545406" cy="2582040"/>
            <a:chOff x="626217" y="2048939"/>
            <a:chExt cx="545406" cy="2582040"/>
          </a:xfrm>
        </p:grpSpPr>
        <p:sp>
          <p:nvSpPr>
            <p:cNvPr id="21" name="Oval 73">
              <a:extLst>
                <a:ext uri="{FF2B5EF4-FFF2-40B4-BE49-F238E27FC236}">
                  <a16:creationId xmlns="" xmlns:a16="http://schemas.microsoft.com/office/drawing/2014/main" id="{6D49A7E1-AAE3-694C-9652-661CB547E521}"/>
                </a:ext>
              </a:extLst>
            </p:cNvPr>
            <p:cNvSpPr/>
            <p:nvPr/>
          </p:nvSpPr>
          <p:spPr>
            <a:xfrm>
              <a:off x="626217" y="2048939"/>
              <a:ext cx="545406" cy="545406"/>
            </a:xfrm>
            <a:prstGeom prst="ellipse">
              <a:avLst/>
            </a:prstGeom>
            <a:solidFill>
              <a:schemeClr val="accent2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4" name="Oval 73">
              <a:extLst>
                <a:ext uri="{FF2B5EF4-FFF2-40B4-BE49-F238E27FC236}">
                  <a16:creationId xmlns="" xmlns:a16="http://schemas.microsoft.com/office/drawing/2014/main" id="{85A1C1CC-CC0B-564D-AD40-D9C7B3D9C322}"/>
                </a:ext>
              </a:extLst>
            </p:cNvPr>
            <p:cNvSpPr/>
            <p:nvPr/>
          </p:nvSpPr>
          <p:spPr>
            <a:xfrm>
              <a:off x="626217" y="2727817"/>
              <a:ext cx="545406" cy="545406"/>
            </a:xfrm>
            <a:prstGeom prst="ellipse">
              <a:avLst/>
            </a:prstGeom>
            <a:solidFill>
              <a:schemeClr val="accent5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5" name="Oval 73">
              <a:extLst>
                <a:ext uri="{FF2B5EF4-FFF2-40B4-BE49-F238E27FC236}">
                  <a16:creationId xmlns="" xmlns:a16="http://schemas.microsoft.com/office/drawing/2014/main" id="{C5AD2CC7-C6EC-8B40-A10B-0CB42B6F0B2F}"/>
                </a:ext>
              </a:extLst>
            </p:cNvPr>
            <p:cNvSpPr/>
            <p:nvPr/>
          </p:nvSpPr>
          <p:spPr>
            <a:xfrm>
              <a:off x="626217" y="3406695"/>
              <a:ext cx="545406" cy="545406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6" name="Oval 73">
              <a:extLst>
                <a:ext uri="{FF2B5EF4-FFF2-40B4-BE49-F238E27FC236}">
                  <a16:creationId xmlns="" xmlns:a16="http://schemas.microsoft.com/office/drawing/2014/main" id="{0D55C2DB-697F-AF47-95DE-41B94F75600C}"/>
                </a:ext>
              </a:extLst>
            </p:cNvPr>
            <p:cNvSpPr/>
            <p:nvPr/>
          </p:nvSpPr>
          <p:spPr>
            <a:xfrm>
              <a:off x="626217" y="4085573"/>
              <a:ext cx="545406" cy="545406"/>
            </a:xfrm>
            <a:prstGeom prst="ellipse">
              <a:avLst/>
            </a:prstGeom>
            <a:solidFill>
              <a:schemeClr val="accent6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64" name="Group 464">
            <a:extLst>
              <a:ext uri="{FF2B5EF4-FFF2-40B4-BE49-F238E27FC236}">
                <a16:creationId xmlns="" xmlns:a16="http://schemas.microsoft.com/office/drawing/2014/main" id="{FD426845-BF29-9D4C-9C63-B0270E6FED9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84610" y="2207212"/>
            <a:ext cx="219304" cy="252000"/>
            <a:chOff x="5632" y="455"/>
            <a:chExt cx="275" cy="316"/>
          </a:xfrm>
          <a:solidFill>
            <a:schemeClr val="bg1"/>
          </a:solidFill>
        </p:grpSpPr>
        <p:sp>
          <p:nvSpPr>
            <p:cNvPr id="65" name="Freeform 466">
              <a:extLst>
                <a:ext uri="{FF2B5EF4-FFF2-40B4-BE49-F238E27FC236}">
                  <a16:creationId xmlns="" xmlns:a16="http://schemas.microsoft.com/office/drawing/2014/main" id="{FAC3322A-4D11-6143-BFE9-C6CA10FA4F69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9" y="640"/>
              <a:ext cx="109" cy="14"/>
            </a:xfrm>
            <a:custGeom>
              <a:avLst/>
              <a:gdLst>
                <a:gd name="T0" fmla="*/ 74 w 1198"/>
                <a:gd name="T1" fmla="*/ 0 h 148"/>
                <a:gd name="T2" fmla="*/ 1124 w 1198"/>
                <a:gd name="T3" fmla="*/ 0 h 148"/>
                <a:gd name="T4" fmla="*/ 1144 w 1198"/>
                <a:gd name="T5" fmla="*/ 3 h 148"/>
                <a:gd name="T6" fmla="*/ 1162 w 1198"/>
                <a:gd name="T7" fmla="*/ 11 h 148"/>
                <a:gd name="T8" fmla="*/ 1177 w 1198"/>
                <a:gd name="T9" fmla="*/ 22 h 148"/>
                <a:gd name="T10" fmla="*/ 1188 w 1198"/>
                <a:gd name="T11" fmla="*/ 37 h 148"/>
                <a:gd name="T12" fmla="*/ 1196 w 1198"/>
                <a:gd name="T13" fmla="*/ 55 h 148"/>
                <a:gd name="T14" fmla="*/ 1198 w 1198"/>
                <a:gd name="T15" fmla="*/ 74 h 148"/>
                <a:gd name="T16" fmla="*/ 1196 w 1198"/>
                <a:gd name="T17" fmla="*/ 94 h 148"/>
                <a:gd name="T18" fmla="*/ 1188 w 1198"/>
                <a:gd name="T19" fmla="*/ 111 h 148"/>
                <a:gd name="T20" fmla="*/ 1177 w 1198"/>
                <a:gd name="T21" fmla="*/ 127 h 148"/>
                <a:gd name="T22" fmla="*/ 1162 w 1198"/>
                <a:gd name="T23" fmla="*/ 139 h 148"/>
                <a:gd name="T24" fmla="*/ 1144 w 1198"/>
                <a:gd name="T25" fmla="*/ 146 h 148"/>
                <a:gd name="T26" fmla="*/ 1124 w 1198"/>
                <a:gd name="T27" fmla="*/ 148 h 148"/>
                <a:gd name="T28" fmla="*/ 74 w 1198"/>
                <a:gd name="T29" fmla="*/ 148 h 148"/>
                <a:gd name="T30" fmla="*/ 55 w 1198"/>
                <a:gd name="T31" fmla="*/ 146 h 148"/>
                <a:gd name="T32" fmla="*/ 37 w 1198"/>
                <a:gd name="T33" fmla="*/ 139 h 148"/>
                <a:gd name="T34" fmla="*/ 22 w 1198"/>
                <a:gd name="T35" fmla="*/ 127 h 148"/>
                <a:gd name="T36" fmla="*/ 11 w 1198"/>
                <a:gd name="T37" fmla="*/ 111 h 148"/>
                <a:gd name="T38" fmla="*/ 3 w 1198"/>
                <a:gd name="T39" fmla="*/ 94 h 148"/>
                <a:gd name="T40" fmla="*/ 0 w 1198"/>
                <a:gd name="T41" fmla="*/ 74 h 148"/>
                <a:gd name="T42" fmla="*/ 3 w 1198"/>
                <a:gd name="T43" fmla="*/ 55 h 148"/>
                <a:gd name="T44" fmla="*/ 11 w 1198"/>
                <a:gd name="T45" fmla="*/ 37 h 148"/>
                <a:gd name="T46" fmla="*/ 22 w 1198"/>
                <a:gd name="T47" fmla="*/ 22 h 148"/>
                <a:gd name="T48" fmla="*/ 37 w 1198"/>
                <a:gd name="T49" fmla="*/ 11 h 148"/>
                <a:gd name="T50" fmla="*/ 55 w 1198"/>
                <a:gd name="T51" fmla="*/ 3 h 148"/>
                <a:gd name="T52" fmla="*/ 74 w 1198"/>
                <a:gd name="T53" fmla="*/ 0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98" h="148">
                  <a:moveTo>
                    <a:pt x="74" y="0"/>
                  </a:moveTo>
                  <a:lnTo>
                    <a:pt x="1124" y="0"/>
                  </a:lnTo>
                  <a:lnTo>
                    <a:pt x="1144" y="3"/>
                  </a:lnTo>
                  <a:lnTo>
                    <a:pt x="1162" y="11"/>
                  </a:lnTo>
                  <a:lnTo>
                    <a:pt x="1177" y="22"/>
                  </a:lnTo>
                  <a:lnTo>
                    <a:pt x="1188" y="37"/>
                  </a:lnTo>
                  <a:lnTo>
                    <a:pt x="1196" y="55"/>
                  </a:lnTo>
                  <a:lnTo>
                    <a:pt x="1198" y="74"/>
                  </a:lnTo>
                  <a:lnTo>
                    <a:pt x="1196" y="94"/>
                  </a:lnTo>
                  <a:lnTo>
                    <a:pt x="1188" y="111"/>
                  </a:lnTo>
                  <a:lnTo>
                    <a:pt x="1177" y="127"/>
                  </a:lnTo>
                  <a:lnTo>
                    <a:pt x="1162" y="139"/>
                  </a:lnTo>
                  <a:lnTo>
                    <a:pt x="1144" y="146"/>
                  </a:lnTo>
                  <a:lnTo>
                    <a:pt x="1124" y="148"/>
                  </a:lnTo>
                  <a:lnTo>
                    <a:pt x="74" y="148"/>
                  </a:lnTo>
                  <a:lnTo>
                    <a:pt x="55" y="146"/>
                  </a:lnTo>
                  <a:lnTo>
                    <a:pt x="37" y="139"/>
                  </a:lnTo>
                  <a:lnTo>
                    <a:pt x="22" y="127"/>
                  </a:lnTo>
                  <a:lnTo>
                    <a:pt x="11" y="111"/>
                  </a:lnTo>
                  <a:lnTo>
                    <a:pt x="3" y="94"/>
                  </a:lnTo>
                  <a:lnTo>
                    <a:pt x="0" y="74"/>
                  </a:lnTo>
                  <a:lnTo>
                    <a:pt x="3" y="55"/>
                  </a:lnTo>
                  <a:lnTo>
                    <a:pt x="11" y="37"/>
                  </a:lnTo>
                  <a:lnTo>
                    <a:pt x="22" y="22"/>
                  </a:lnTo>
                  <a:lnTo>
                    <a:pt x="37" y="11"/>
                  </a:lnTo>
                  <a:lnTo>
                    <a:pt x="55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467">
              <a:extLst>
                <a:ext uri="{FF2B5EF4-FFF2-40B4-BE49-F238E27FC236}">
                  <a16:creationId xmlns="" xmlns:a16="http://schemas.microsoft.com/office/drawing/2014/main" id="{27535576-EFBB-EF40-B846-BDFA268D05BC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9" y="589"/>
              <a:ext cx="50" cy="14"/>
            </a:xfrm>
            <a:custGeom>
              <a:avLst/>
              <a:gdLst>
                <a:gd name="T0" fmla="*/ 74 w 549"/>
                <a:gd name="T1" fmla="*/ 0 h 147"/>
                <a:gd name="T2" fmla="*/ 475 w 549"/>
                <a:gd name="T3" fmla="*/ 0 h 147"/>
                <a:gd name="T4" fmla="*/ 495 w 549"/>
                <a:gd name="T5" fmla="*/ 2 h 147"/>
                <a:gd name="T6" fmla="*/ 513 w 549"/>
                <a:gd name="T7" fmla="*/ 10 h 147"/>
                <a:gd name="T8" fmla="*/ 528 w 549"/>
                <a:gd name="T9" fmla="*/ 21 h 147"/>
                <a:gd name="T10" fmla="*/ 540 w 549"/>
                <a:gd name="T11" fmla="*/ 36 h 147"/>
                <a:gd name="T12" fmla="*/ 547 w 549"/>
                <a:gd name="T13" fmla="*/ 54 h 147"/>
                <a:gd name="T14" fmla="*/ 549 w 549"/>
                <a:gd name="T15" fmla="*/ 73 h 147"/>
                <a:gd name="T16" fmla="*/ 547 w 549"/>
                <a:gd name="T17" fmla="*/ 93 h 147"/>
                <a:gd name="T18" fmla="*/ 540 w 549"/>
                <a:gd name="T19" fmla="*/ 111 h 147"/>
                <a:gd name="T20" fmla="*/ 528 w 549"/>
                <a:gd name="T21" fmla="*/ 126 h 147"/>
                <a:gd name="T22" fmla="*/ 513 w 549"/>
                <a:gd name="T23" fmla="*/ 138 h 147"/>
                <a:gd name="T24" fmla="*/ 495 w 549"/>
                <a:gd name="T25" fmla="*/ 145 h 147"/>
                <a:gd name="T26" fmla="*/ 475 w 549"/>
                <a:gd name="T27" fmla="*/ 147 h 147"/>
                <a:gd name="T28" fmla="*/ 74 w 549"/>
                <a:gd name="T29" fmla="*/ 147 h 147"/>
                <a:gd name="T30" fmla="*/ 55 w 549"/>
                <a:gd name="T31" fmla="*/ 145 h 147"/>
                <a:gd name="T32" fmla="*/ 37 w 549"/>
                <a:gd name="T33" fmla="*/ 138 h 147"/>
                <a:gd name="T34" fmla="*/ 22 w 549"/>
                <a:gd name="T35" fmla="*/ 126 h 147"/>
                <a:gd name="T36" fmla="*/ 11 w 549"/>
                <a:gd name="T37" fmla="*/ 111 h 147"/>
                <a:gd name="T38" fmla="*/ 3 w 549"/>
                <a:gd name="T39" fmla="*/ 93 h 147"/>
                <a:gd name="T40" fmla="*/ 0 w 549"/>
                <a:gd name="T41" fmla="*/ 73 h 147"/>
                <a:gd name="T42" fmla="*/ 3 w 549"/>
                <a:gd name="T43" fmla="*/ 54 h 147"/>
                <a:gd name="T44" fmla="*/ 11 w 549"/>
                <a:gd name="T45" fmla="*/ 36 h 147"/>
                <a:gd name="T46" fmla="*/ 22 w 549"/>
                <a:gd name="T47" fmla="*/ 21 h 147"/>
                <a:gd name="T48" fmla="*/ 37 w 549"/>
                <a:gd name="T49" fmla="*/ 10 h 147"/>
                <a:gd name="T50" fmla="*/ 55 w 549"/>
                <a:gd name="T51" fmla="*/ 2 h 147"/>
                <a:gd name="T52" fmla="*/ 74 w 549"/>
                <a:gd name="T53" fmla="*/ 0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49" h="147">
                  <a:moveTo>
                    <a:pt x="74" y="0"/>
                  </a:moveTo>
                  <a:lnTo>
                    <a:pt x="475" y="0"/>
                  </a:lnTo>
                  <a:lnTo>
                    <a:pt x="495" y="2"/>
                  </a:lnTo>
                  <a:lnTo>
                    <a:pt x="513" y="10"/>
                  </a:lnTo>
                  <a:lnTo>
                    <a:pt x="528" y="21"/>
                  </a:lnTo>
                  <a:lnTo>
                    <a:pt x="540" y="36"/>
                  </a:lnTo>
                  <a:lnTo>
                    <a:pt x="547" y="54"/>
                  </a:lnTo>
                  <a:lnTo>
                    <a:pt x="549" y="73"/>
                  </a:lnTo>
                  <a:lnTo>
                    <a:pt x="547" y="93"/>
                  </a:lnTo>
                  <a:lnTo>
                    <a:pt x="540" y="111"/>
                  </a:lnTo>
                  <a:lnTo>
                    <a:pt x="528" y="126"/>
                  </a:lnTo>
                  <a:lnTo>
                    <a:pt x="513" y="138"/>
                  </a:lnTo>
                  <a:lnTo>
                    <a:pt x="495" y="145"/>
                  </a:lnTo>
                  <a:lnTo>
                    <a:pt x="475" y="147"/>
                  </a:lnTo>
                  <a:lnTo>
                    <a:pt x="74" y="147"/>
                  </a:lnTo>
                  <a:lnTo>
                    <a:pt x="55" y="145"/>
                  </a:lnTo>
                  <a:lnTo>
                    <a:pt x="37" y="138"/>
                  </a:lnTo>
                  <a:lnTo>
                    <a:pt x="22" y="126"/>
                  </a:lnTo>
                  <a:lnTo>
                    <a:pt x="11" y="111"/>
                  </a:lnTo>
                  <a:lnTo>
                    <a:pt x="3" y="93"/>
                  </a:lnTo>
                  <a:lnTo>
                    <a:pt x="0" y="73"/>
                  </a:lnTo>
                  <a:lnTo>
                    <a:pt x="3" y="54"/>
                  </a:lnTo>
                  <a:lnTo>
                    <a:pt x="11" y="36"/>
                  </a:lnTo>
                  <a:lnTo>
                    <a:pt x="22" y="21"/>
                  </a:lnTo>
                  <a:lnTo>
                    <a:pt x="37" y="10"/>
                  </a:lnTo>
                  <a:lnTo>
                    <a:pt x="55" y="2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468">
              <a:extLst>
                <a:ext uri="{FF2B5EF4-FFF2-40B4-BE49-F238E27FC236}">
                  <a16:creationId xmlns="" xmlns:a16="http://schemas.microsoft.com/office/drawing/2014/main" id="{C17150EC-D340-A64C-8D9C-9115118FE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9" y="667"/>
              <a:ext cx="109" cy="13"/>
            </a:xfrm>
            <a:custGeom>
              <a:avLst/>
              <a:gdLst>
                <a:gd name="T0" fmla="*/ 74 w 1198"/>
                <a:gd name="T1" fmla="*/ 0 h 147"/>
                <a:gd name="T2" fmla="*/ 1124 w 1198"/>
                <a:gd name="T3" fmla="*/ 0 h 147"/>
                <a:gd name="T4" fmla="*/ 1144 w 1198"/>
                <a:gd name="T5" fmla="*/ 2 h 147"/>
                <a:gd name="T6" fmla="*/ 1162 w 1198"/>
                <a:gd name="T7" fmla="*/ 10 h 147"/>
                <a:gd name="T8" fmla="*/ 1177 w 1198"/>
                <a:gd name="T9" fmla="*/ 21 h 147"/>
                <a:gd name="T10" fmla="*/ 1188 w 1198"/>
                <a:gd name="T11" fmla="*/ 36 h 147"/>
                <a:gd name="T12" fmla="*/ 1196 w 1198"/>
                <a:gd name="T13" fmla="*/ 54 h 147"/>
                <a:gd name="T14" fmla="*/ 1198 w 1198"/>
                <a:gd name="T15" fmla="*/ 74 h 147"/>
                <a:gd name="T16" fmla="*/ 1196 w 1198"/>
                <a:gd name="T17" fmla="*/ 93 h 147"/>
                <a:gd name="T18" fmla="*/ 1188 w 1198"/>
                <a:gd name="T19" fmla="*/ 111 h 147"/>
                <a:gd name="T20" fmla="*/ 1177 w 1198"/>
                <a:gd name="T21" fmla="*/ 126 h 147"/>
                <a:gd name="T22" fmla="*/ 1162 w 1198"/>
                <a:gd name="T23" fmla="*/ 137 h 147"/>
                <a:gd name="T24" fmla="*/ 1144 w 1198"/>
                <a:gd name="T25" fmla="*/ 145 h 147"/>
                <a:gd name="T26" fmla="*/ 1124 w 1198"/>
                <a:gd name="T27" fmla="*/ 147 h 147"/>
                <a:gd name="T28" fmla="*/ 74 w 1198"/>
                <a:gd name="T29" fmla="*/ 147 h 147"/>
                <a:gd name="T30" fmla="*/ 55 w 1198"/>
                <a:gd name="T31" fmla="*/ 145 h 147"/>
                <a:gd name="T32" fmla="*/ 37 w 1198"/>
                <a:gd name="T33" fmla="*/ 137 h 147"/>
                <a:gd name="T34" fmla="*/ 22 w 1198"/>
                <a:gd name="T35" fmla="*/ 126 h 147"/>
                <a:gd name="T36" fmla="*/ 11 w 1198"/>
                <a:gd name="T37" fmla="*/ 111 h 147"/>
                <a:gd name="T38" fmla="*/ 3 w 1198"/>
                <a:gd name="T39" fmla="*/ 93 h 147"/>
                <a:gd name="T40" fmla="*/ 0 w 1198"/>
                <a:gd name="T41" fmla="*/ 74 h 147"/>
                <a:gd name="T42" fmla="*/ 3 w 1198"/>
                <a:gd name="T43" fmla="*/ 54 h 147"/>
                <a:gd name="T44" fmla="*/ 11 w 1198"/>
                <a:gd name="T45" fmla="*/ 36 h 147"/>
                <a:gd name="T46" fmla="*/ 22 w 1198"/>
                <a:gd name="T47" fmla="*/ 21 h 147"/>
                <a:gd name="T48" fmla="*/ 37 w 1198"/>
                <a:gd name="T49" fmla="*/ 10 h 147"/>
                <a:gd name="T50" fmla="*/ 55 w 1198"/>
                <a:gd name="T51" fmla="*/ 2 h 147"/>
                <a:gd name="T52" fmla="*/ 74 w 1198"/>
                <a:gd name="T53" fmla="*/ 0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98" h="147">
                  <a:moveTo>
                    <a:pt x="74" y="0"/>
                  </a:moveTo>
                  <a:lnTo>
                    <a:pt x="1124" y="0"/>
                  </a:lnTo>
                  <a:lnTo>
                    <a:pt x="1144" y="2"/>
                  </a:lnTo>
                  <a:lnTo>
                    <a:pt x="1162" y="10"/>
                  </a:lnTo>
                  <a:lnTo>
                    <a:pt x="1177" y="21"/>
                  </a:lnTo>
                  <a:lnTo>
                    <a:pt x="1188" y="36"/>
                  </a:lnTo>
                  <a:lnTo>
                    <a:pt x="1196" y="54"/>
                  </a:lnTo>
                  <a:lnTo>
                    <a:pt x="1198" y="74"/>
                  </a:lnTo>
                  <a:lnTo>
                    <a:pt x="1196" y="93"/>
                  </a:lnTo>
                  <a:lnTo>
                    <a:pt x="1188" y="111"/>
                  </a:lnTo>
                  <a:lnTo>
                    <a:pt x="1177" y="126"/>
                  </a:lnTo>
                  <a:lnTo>
                    <a:pt x="1162" y="137"/>
                  </a:lnTo>
                  <a:lnTo>
                    <a:pt x="1144" y="145"/>
                  </a:lnTo>
                  <a:lnTo>
                    <a:pt x="1124" y="147"/>
                  </a:lnTo>
                  <a:lnTo>
                    <a:pt x="74" y="147"/>
                  </a:lnTo>
                  <a:lnTo>
                    <a:pt x="55" y="145"/>
                  </a:lnTo>
                  <a:lnTo>
                    <a:pt x="37" y="137"/>
                  </a:lnTo>
                  <a:lnTo>
                    <a:pt x="22" y="126"/>
                  </a:lnTo>
                  <a:lnTo>
                    <a:pt x="11" y="111"/>
                  </a:lnTo>
                  <a:lnTo>
                    <a:pt x="3" y="93"/>
                  </a:lnTo>
                  <a:lnTo>
                    <a:pt x="0" y="74"/>
                  </a:lnTo>
                  <a:lnTo>
                    <a:pt x="3" y="54"/>
                  </a:lnTo>
                  <a:lnTo>
                    <a:pt x="11" y="36"/>
                  </a:lnTo>
                  <a:lnTo>
                    <a:pt x="22" y="21"/>
                  </a:lnTo>
                  <a:lnTo>
                    <a:pt x="37" y="10"/>
                  </a:lnTo>
                  <a:lnTo>
                    <a:pt x="55" y="2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469">
              <a:extLst>
                <a:ext uri="{FF2B5EF4-FFF2-40B4-BE49-F238E27FC236}">
                  <a16:creationId xmlns="" xmlns:a16="http://schemas.microsoft.com/office/drawing/2014/main" id="{1D7D367D-B283-3A44-A049-F99BD09AB8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9" y="694"/>
              <a:ext cx="109" cy="13"/>
            </a:xfrm>
            <a:custGeom>
              <a:avLst/>
              <a:gdLst>
                <a:gd name="T0" fmla="*/ 74 w 1198"/>
                <a:gd name="T1" fmla="*/ 0 h 148"/>
                <a:gd name="T2" fmla="*/ 1124 w 1198"/>
                <a:gd name="T3" fmla="*/ 0 h 148"/>
                <a:gd name="T4" fmla="*/ 1144 w 1198"/>
                <a:gd name="T5" fmla="*/ 3 h 148"/>
                <a:gd name="T6" fmla="*/ 1162 w 1198"/>
                <a:gd name="T7" fmla="*/ 10 h 148"/>
                <a:gd name="T8" fmla="*/ 1177 w 1198"/>
                <a:gd name="T9" fmla="*/ 22 h 148"/>
                <a:gd name="T10" fmla="*/ 1188 w 1198"/>
                <a:gd name="T11" fmla="*/ 37 h 148"/>
                <a:gd name="T12" fmla="*/ 1196 w 1198"/>
                <a:gd name="T13" fmla="*/ 54 h 148"/>
                <a:gd name="T14" fmla="*/ 1198 w 1198"/>
                <a:gd name="T15" fmla="*/ 74 h 148"/>
                <a:gd name="T16" fmla="*/ 1196 w 1198"/>
                <a:gd name="T17" fmla="*/ 94 h 148"/>
                <a:gd name="T18" fmla="*/ 1188 w 1198"/>
                <a:gd name="T19" fmla="*/ 111 h 148"/>
                <a:gd name="T20" fmla="*/ 1177 w 1198"/>
                <a:gd name="T21" fmla="*/ 126 h 148"/>
                <a:gd name="T22" fmla="*/ 1162 w 1198"/>
                <a:gd name="T23" fmla="*/ 137 h 148"/>
                <a:gd name="T24" fmla="*/ 1144 w 1198"/>
                <a:gd name="T25" fmla="*/ 145 h 148"/>
                <a:gd name="T26" fmla="*/ 1124 w 1198"/>
                <a:gd name="T27" fmla="*/ 148 h 148"/>
                <a:gd name="T28" fmla="*/ 74 w 1198"/>
                <a:gd name="T29" fmla="*/ 148 h 148"/>
                <a:gd name="T30" fmla="*/ 55 w 1198"/>
                <a:gd name="T31" fmla="*/ 145 h 148"/>
                <a:gd name="T32" fmla="*/ 37 w 1198"/>
                <a:gd name="T33" fmla="*/ 137 h 148"/>
                <a:gd name="T34" fmla="*/ 22 w 1198"/>
                <a:gd name="T35" fmla="*/ 126 h 148"/>
                <a:gd name="T36" fmla="*/ 11 w 1198"/>
                <a:gd name="T37" fmla="*/ 111 h 148"/>
                <a:gd name="T38" fmla="*/ 3 w 1198"/>
                <a:gd name="T39" fmla="*/ 94 h 148"/>
                <a:gd name="T40" fmla="*/ 0 w 1198"/>
                <a:gd name="T41" fmla="*/ 74 h 148"/>
                <a:gd name="T42" fmla="*/ 3 w 1198"/>
                <a:gd name="T43" fmla="*/ 54 h 148"/>
                <a:gd name="T44" fmla="*/ 11 w 1198"/>
                <a:gd name="T45" fmla="*/ 37 h 148"/>
                <a:gd name="T46" fmla="*/ 22 w 1198"/>
                <a:gd name="T47" fmla="*/ 22 h 148"/>
                <a:gd name="T48" fmla="*/ 37 w 1198"/>
                <a:gd name="T49" fmla="*/ 10 h 148"/>
                <a:gd name="T50" fmla="*/ 55 w 1198"/>
                <a:gd name="T51" fmla="*/ 3 h 148"/>
                <a:gd name="T52" fmla="*/ 74 w 1198"/>
                <a:gd name="T53" fmla="*/ 0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98" h="148">
                  <a:moveTo>
                    <a:pt x="74" y="0"/>
                  </a:moveTo>
                  <a:lnTo>
                    <a:pt x="1124" y="0"/>
                  </a:lnTo>
                  <a:lnTo>
                    <a:pt x="1144" y="3"/>
                  </a:lnTo>
                  <a:lnTo>
                    <a:pt x="1162" y="10"/>
                  </a:lnTo>
                  <a:lnTo>
                    <a:pt x="1177" y="22"/>
                  </a:lnTo>
                  <a:lnTo>
                    <a:pt x="1188" y="37"/>
                  </a:lnTo>
                  <a:lnTo>
                    <a:pt x="1196" y="54"/>
                  </a:lnTo>
                  <a:lnTo>
                    <a:pt x="1198" y="74"/>
                  </a:lnTo>
                  <a:lnTo>
                    <a:pt x="1196" y="94"/>
                  </a:lnTo>
                  <a:lnTo>
                    <a:pt x="1188" y="111"/>
                  </a:lnTo>
                  <a:lnTo>
                    <a:pt x="1177" y="126"/>
                  </a:lnTo>
                  <a:lnTo>
                    <a:pt x="1162" y="137"/>
                  </a:lnTo>
                  <a:lnTo>
                    <a:pt x="1144" y="145"/>
                  </a:lnTo>
                  <a:lnTo>
                    <a:pt x="1124" y="148"/>
                  </a:lnTo>
                  <a:lnTo>
                    <a:pt x="74" y="148"/>
                  </a:lnTo>
                  <a:lnTo>
                    <a:pt x="55" y="145"/>
                  </a:lnTo>
                  <a:lnTo>
                    <a:pt x="37" y="137"/>
                  </a:lnTo>
                  <a:lnTo>
                    <a:pt x="22" y="126"/>
                  </a:lnTo>
                  <a:lnTo>
                    <a:pt x="11" y="111"/>
                  </a:lnTo>
                  <a:lnTo>
                    <a:pt x="3" y="94"/>
                  </a:lnTo>
                  <a:lnTo>
                    <a:pt x="0" y="74"/>
                  </a:lnTo>
                  <a:lnTo>
                    <a:pt x="3" y="54"/>
                  </a:lnTo>
                  <a:lnTo>
                    <a:pt x="11" y="37"/>
                  </a:lnTo>
                  <a:lnTo>
                    <a:pt x="22" y="22"/>
                  </a:lnTo>
                  <a:lnTo>
                    <a:pt x="37" y="10"/>
                  </a:lnTo>
                  <a:lnTo>
                    <a:pt x="55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470">
              <a:extLst>
                <a:ext uri="{FF2B5EF4-FFF2-40B4-BE49-F238E27FC236}">
                  <a16:creationId xmlns="" xmlns:a16="http://schemas.microsoft.com/office/drawing/2014/main" id="{AA238E46-851D-3F47-8EB8-F448801E49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32" y="455"/>
              <a:ext cx="275" cy="316"/>
            </a:xfrm>
            <a:custGeom>
              <a:avLst/>
              <a:gdLst>
                <a:gd name="T0" fmla="*/ 981 w 3023"/>
                <a:gd name="T1" fmla="*/ 3253 h 3473"/>
                <a:gd name="T2" fmla="*/ 2801 w 3023"/>
                <a:gd name="T3" fmla="*/ 980 h 3473"/>
                <a:gd name="T4" fmla="*/ 602 w 3023"/>
                <a:gd name="T5" fmla="*/ 600 h 3473"/>
                <a:gd name="T6" fmla="*/ 760 w 3023"/>
                <a:gd name="T7" fmla="*/ 2873 h 3473"/>
                <a:gd name="T8" fmla="*/ 762 w 3023"/>
                <a:gd name="T9" fmla="*/ 843 h 3473"/>
                <a:gd name="T10" fmla="*/ 784 w 3023"/>
                <a:gd name="T11" fmla="*/ 799 h 3473"/>
                <a:gd name="T12" fmla="*/ 821 w 3023"/>
                <a:gd name="T13" fmla="*/ 769 h 3473"/>
                <a:gd name="T14" fmla="*/ 870 w 3023"/>
                <a:gd name="T15" fmla="*/ 758 h 3473"/>
                <a:gd name="T16" fmla="*/ 2421 w 3023"/>
                <a:gd name="T17" fmla="*/ 600 h 3473"/>
                <a:gd name="T18" fmla="*/ 222 w 3023"/>
                <a:gd name="T19" fmla="*/ 222 h 3473"/>
                <a:gd name="T20" fmla="*/ 379 w 3023"/>
                <a:gd name="T21" fmla="*/ 2495 h 3473"/>
                <a:gd name="T22" fmla="*/ 383 w 3023"/>
                <a:gd name="T23" fmla="*/ 464 h 3473"/>
                <a:gd name="T24" fmla="*/ 404 w 3023"/>
                <a:gd name="T25" fmla="*/ 421 h 3473"/>
                <a:gd name="T26" fmla="*/ 442 w 3023"/>
                <a:gd name="T27" fmla="*/ 390 h 3473"/>
                <a:gd name="T28" fmla="*/ 491 w 3023"/>
                <a:gd name="T29" fmla="*/ 380 h 3473"/>
                <a:gd name="T30" fmla="*/ 2041 w 3023"/>
                <a:gd name="T31" fmla="*/ 222 h 3473"/>
                <a:gd name="T32" fmla="*/ 110 w 3023"/>
                <a:gd name="T33" fmla="*/ 0 h 3473"/>
                <a:gd name="T34" fmla="*/ 2177 w 3023"/>
                <a:gd name="T35" fmla="*/ 3 h 3473"/>
                <a:gd name="T36" fmla="*/ 2222 w 3023"/>
                <a:gd name="T37" fmla="*/ 24 h 3473"/>
                <a:gd name="T38" fmla="*/ 2251 w 3023"/>
                <a:gd name="T39" fmla="*/ 63 h 3473"/>
                <a:gd name="T40" fmla="*/ 2263 w 3023"/>
                <a:gd name="T41" fmla="*/ 111 h 3473"/>
                <a:gd name="T42" fmla="*/ 2532 w 3023"/>
                <a:gd name="T43" fmla="*/ 380 h 3473"/>
                <a:gd name="T44" fmla="*/ 2581 w 3023"/>
                <a:gd name="T45" fmla="*/ 390 h 3473"/>
                <a:gd name="T46" fmla="*/ 2619 w 3023"/>
                <a:gd name="T47" fmla="*/ 421 h 3473"/>
                <a:gd name="T48" fmla="*/ 2640 w 3023"/>
                <a:gd name="T49" fmla="*/ 464 h 3473"/>
                <a:gd name="T50" fmla="*/ 2643 w 3023"/>
                <a:gd name="T51" fmla="*/ 758 h 3473"/>
                <a:gd name="T52" fmla="*/ 2937 w 3023"/>
                <a:gd name="T53" fmla="*/ 761 h 3473"/>
                <a:gd name="T54" fmla="*/ 2982 w 3023"/>
                <a:gd name="T55" fmla="*/ 782 h 3473"/>
                <a:gd name="T56" fmla="*/ 3011 w 3023"/>
                <a:gd name="T57" fmla="*/ 820 h 3473"/>
                <a:gd name="T58" fmla="*/ 3023 w 3023"/>
                <a:gd name="T59" fmla="*/ 869 h 3473"/>
                <a:gd name="T60" fmla="*/ 3020 w 3023"/>
                <a:gd name="T61" fmla="*/ 3389 h 3473"/>
                <a:gd name="T62" fmla="*/ 2999 w 3023"/>
                <a:gd name="T63" fmla="*/ 3432 h 3473"/>
                <a:gd name="T64" fmla="*/ 2960 w 3023"/>
                <a:gd name="T65" fmla="*/ 3463 h 3473"/>
                <a:gd name="T66" fmla="*/ 2912 w 3023"/>
                <a:gd name="T67" fmla="*/ 3473 h 3473"/>
                <a:gd name="T68" fmla="*/ 845 w 3023"/>
                <a:gd name="T69" fmla="*/ 3471 h 3473"/>
                <a:gd name="T70" fmla="*/ 801 w 3023"/>
                <a:gd name="T71" fmla="*/ 3449 h 3473"/>
                <a:gd name="T72" fmla="*/ 771 w 3023"/>
                <a:gd name="T73" fmla="*/ 3412 h 3473"/>
                <a:gd name="T74" fmla="*/ 760 w 3023"/>
                <a:gd name="T75" fmla="*/ 3364 h 3473"/>
                <a:gd name="T76" fmla="*/ 491 w 3023"/>
                <a:gd name="T77" fmla="*/ 3095 h 3473"/>
                <a:gd name="T78" fmla="*/ 442 w 3023"/>
                <a:gd name="T79" fmla="*/ 3084 h 3473"/>
                <a:gd name="T80" fmla="*/ 404 w 3023"/>
                <a:gd name="T81" fmla="*/ 3054 h 3473"/>
                <a:gd name="T82" fmla="*/ 383 w 3023"/>
                <a:gd name="T83" fmla="*/ 3010 h 3473"/>
                <a:gd name="T84" fmla="*/ 379 w 3023"/>
                <a:gd name="T85" fmla="*/ 2716 h 3473"/>
                <a:gd name="T86" fmla="*/ 85 w 3023"/>
                <a:gd name="T87" fmla="*/ 2714 h 3473"/>
                <a:gd name="T88" fmla="*/ 41 w 3023"/>
                <a:gd name="T89" fmla="*/ 2692 h 3473"/>
                <a:gd name="T90" fmla="*/ 11 w 3023"/>
                <a:gd name="T91" fmla="*/ 2655 h 3473"/>
                <a:gd name="T92" fmla="*/ 0 w 3023"/>
                <a:gd name="T93" fmla="*/ 2606 h 3473"/>
                <a:gd name="T94" fmla="*/ 2 w 3023"/>
                <a:gd name="T95" fmla="*/ 86 h 3473"/>
                <a:gd name="T96" fmla="*/ 24 w 3023"/>
                <a:gd name="T97" fmla="*/ 41 h 3473"/>
                <a:gd name="T98" fmla="*/ 61 w 3023"/>
                <a:gd name="T99" fmla="*/ 12 h 3473"/>
                <a:gd name="T100" fmla="*/ 110 w 3023"/>
                <a:gd name="T101" fmla="*/ 0 h 3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023" h="3473">
                  <a:moveTo>
                    <a:pt x="981" y="980"/>
                  </a:moveTo>
                  <a:lnTo>
                    <a:pt x="981" y="3253"/>
                  </a:lnTo>
                  <a:lnTo>
                    <a:pt x="2801" y="3253"/>
                  </a:lnTo>
                  <a:lnTo>
                    <a:pt x="2801" y="980"/>
                  </a:lnTo>
                  <a:lnTo>
                    <a:pt x="981" y="980"/>
                  </a:lnTo>
                  <a:close/>
                  <a:moveTo>
                    <a:pt x="602" y="600"/>
                  </a:moveTo>
                  <a:lnTo>
                    <a:pt x="602" y="2873"/>
                  </a:lnTo>
                  <a:lnTo>
                    <a:pt x="760" y="2873"/>
                  </a:lnTo>
                  <a:lnTo>
                    <a:pt x="760" y="869"/>
                  </a:lnTo>
                  <a:lnTo>
                    <a:pt x="762" y="843"/>
                  </a:lnTo>
                  <a:lnTo>
                    <a:pt x="771" y="820"/>
                  </a:lnTo>
                  <a:lnTo>
                    <a:pt x="784" y="799"/>
                  </a:lnTo>
                  <a:lnTo>
                    <a:pt x="801" y="782"/>
                  </a:lnTo>
                  <a:lnTo>
                    <a:pt x="821" y="769"/>
                  </a:lnTo>
                  <a:lnTo>
                    <a:pt x="845" y="761"/>
                  </a:lnTo>
                  <a:lnTo>
                    <a:pt x="870" y="758"/>
                  </a:lnTo>
                  <a:lnTo>
                    <a:pt x="2421" y="758"/>
                  </a:lnTo>
                  <a:lnTo>
                    <a:pt x="2421" y="600"/>
                  </a:lnTo>
                  <a:lnTo>
                    <a:pt x="602" y="600"/>
                  </a:lnTo>
                  <a:close/>
                  <a:moveTo>
                    <a:pt x="222" y="222"/>
                  </a:moveTo>
                  <a:lnTo>
                    <a:pt x="222" y="2495"/>
                  </a:lnTo>
                  <a:lnTo>
                    <a:pt x="379" y="2495"/>
                  </a:lnTo>
                  <a:lnTo>
                    <a:pt x="379" y="489"/>
                  </a:lnTo>
                  <a:lnTo>
                    <a:pt x="383" y="464"/>
                  </a:lnTo>
                  <a:lnTo>
                    <a:pt x="391" y="441"/>
                  </a:lnTo>
                  <a:lnTo>
                    <a:pt x="404" y="421"/>
                  </a:lnTo>
                  <a:lnTo>
                    <a:pt x="421" y="404"/>
                  </a:lnTo>
                  <a:lnTo>
                    <a:pt x="442" y="390"/>
                  </a:lnTo>
                  <a:lnTo>
                    <a:pt x="465" y="383"/>
                  </a:lnTo>
                  <a:lnTo>
                    <a:pt x="491" y="380"/>
                  </a:lnTo>
                  <a:lnTo>
                    <a:pt x="2041" y="380"/>
                  </a:lnTo>
                  <a:lnTo>
                    <a:pt x="2041" y="222"/>
                  </a:lnTo>
                  <a:lnTo>
                    <a:pt x="222" y="222"/>
                  </a:lnTo>
                  <a:close/>
                  <a:moveTo>
                    <a:pt x="110" y="0"/>
                  </a:moveTo>
                  <a:lnTo>
                    <a:pt x="2152" y="0"/>
                  </a:lnTo>
                  <a:lnTo>
                    <a:pt x="2177" y="3"/>
                  </a:lnTo>
                  <a:lnTo>
                    <a:pt x="2200" y="12"/>
                  </a:lnTo>
                  <a:lnTo>
                    <a:pt x="2222" y="24"/>
                  </a:lnTo>
                  <a:lnTo>
                    <a:pt x="2239" y="41"/>
                  </a:lnTo>
                  <a:lnTo>
                    <a:pt x="2251" y="63"/>
                  </a:lnTo>
                  <a:lnTo>
                    <a:pt x="2260" y="86"/>
                  </a:lnTo>
                  <a:lnTo>
                    <a:pt x="2263" y="111"/>
                  </a:lnTo>
                  <a:lnTo>
                    <a:pt x="2263" y="380"/>
                  </a:lnTo>
                  <a:lnTo>
                    <a:pt x="2532" y="380"/>
                  </a:lnTo>
                  <a:lnTo>
                    <a:pt x="2558" y="383"/>
                  </a:lnTo>
                  <a:lnTo>
                    <a:pt x="2581" y="390"/>
                  </a:lnTo>
                  <a:lnTo>
                    <a:pt x="2601" y="404"/>
                  </a:lnTo>
                  <a:lnTo>
                    <a:pt x="2619" y="421"/>
                  </a:lnTo>
                  <a:lnTo>
                    <a:pt x="2632" y="441"/>
                  </a:lnTo>
                  <a:lnTo>
                    <a:pt x="2640" y="464"/>
                  </a:lnTo>
                  <a:lnTo>
                    <a:pt x="2643" y="489"/>
                  </a:lnTo>
                  <a:lnTo>
                    <a:pt x="2643" y="758"/>
                  </a:lnTo>
                  <a:lnTo>
                    <a:pt x="2912" y="758"/>
                  </a:lnTo>
                  <a:lnTo>
                    <a:pt x="2937" y="761"/>
                  </a:lnTo>
                  <a:lnTo>
                    <a:pt x="2960" y="769"/>
                  </a:lnTo>
                  <a:lnTo>
                    <a:pt x="2982" y="782"/>
                  </a:lnTo>
                  <a:lnTo>
                    <a:pt x="2999" y="799"/>
                  </a:lnTo>
                  <a:lnTo>
                    <a:pt x="3011" y="820"/>
                  </a:lnTo>
                  <a:lnTo>
                    <a:pt x="3020" y="843"/>
                  </a:lnTo>
                  <a:lnTo>
                    <a:pt x="3023" y="869"/>
                  </a:lnTo>
                  <a:lnTo>
                    <a:pt x="3023" y="3364"/>
                  </a:lnTo>
                  <a:lnTo>
                    <a:pt x="3020" y="3389"/>
                  </a:lnTo>
                  <a:lnTo>
                    <a:pt x="3011" y="3412"/>
                  </a:lnTo>
                  <a:lnTo>
                    <a:pt x="2999" y="3432"/>
                  </a:lnTo>
                  <a:lnTo>
                    <a:pt x="2982" y="3449"/>
                  </a:lnTo>
                  <a:lnTo>
                    <a:pt x="2960" y="3463"/>
                  </a:lnTo>
                  <a:lnTo>
                    <a:pt x="2937" y="3471"/>
                  </a:lnTo>
                  <a:lnTo>
                    <a:pt x="2912" y="3473"/>
                  </a:lnTo>
                  <a:lnTo>
                    <a:pt x="870" y="3473"/>
                  </a:lnTo>
                  <a:lnTo>
                    <a:pt x="845" y="3471"/>
                  </a:lnTo>
                  <a:lnTo>
                    <a:pt x="821" y="3463"/>
                  </a:lnTo>
                  <a:lnTo>
                    <a:pt x="801" y="3449"/>
                  </a:lnTo>
                  <a:lnTo>
                    <a:pt x="784" y="3432"/>
                  </a:lnTo>
                  <a:lnTo>
                    <a:pt x="771" y="3412"/>
                  </a:lnTo>
                  <a:lnTo>
                    <a:pt x="762" y="3389"/>
                  </a:lnTo>
                  <a:lnTo>
                    <a:pt x="760" y="3364"/>
                  </a:lnTo>
                  <a:lnTo>
                    <a:pt x="760" y="3095"/>
                  </a:lnTo>
                  <a:lnTo>
                    <a:pt x="491" y="3095"/>
                  </a:lnTo>
                  <a:lnTo>
                    <a:pt x="465" y="3092"/>
                  </a:lnTo>
                  <a:lnTo>
                    <a:pt x="442" y="3084"/>
                  </a:lnTo>
                  <a:lnTo>
                    <a:pt x="421" y="3071"/>
                  </a:lnTo>
                  <a:lnTo>
                    <a:pt x="404" y="3054"/>
                  </a:lnTo>
                  <a:lnTo>
                    <a:pt x="391" y="3033"/>
                  </a:lnTo>
                  <a:lnTo>
                    <a:pt x="383" y="3010"/>
                  </a:lnTo>
                  <a:lnTo>
                    <a:pt x="379" y="2984"/>
                  </a:lnTo>
                  <a:lnTo>
                    <a:pt x="379" y="2716"/>
                  </a:lnTo>
                  <a:lnTo>
                    <a:pt x="110" y="2716"/>
                  </a:lnTo>
                  <a:lnTo>
                    <a:pt x="85" y="2714"/>
                  </a:lnTo>
                  <a:lnTo>
                    <a:pt x="61" y="2705"/>
                  </a:lnTo>
                  <a:lnTo>
                    <a:pt x="41" y="2692"/>
                  </a:lnTo>
                  <a:lnTo>
                    <a:pt x="24" y="2675"/>
                  </a:lnTo>
                  <a:lnTo>
                    <a:pt x="11" y="2655"/>
                  </a:lnTo>
                  <a:lnTo>
                    <a:pt x="2" y="2631"/>
                  </a:lnTo>
                  <a:lnTo>
                    <a:pt x="0" y="2606"/>
                  </a:lnTo>
                  <a:lnTo>
                    <a:pt x="0" y="111"/>
                  </a:lnTo>
                  <a:lnTo>
                    <a:pt x="2" y="86"/>
                  </a:lnTo>
                  <a:lnTo>
                    <a:pt x="11" y="63"/>
                  </a:lnTo>
                  <a:lnTo>
                    <a:pt x="24" y="41"/>
                  </a:lnTo>
                  <a:lnTo>
                    <a:pt x="41" y="24"/>
                  </a:lnTo>
                  <a:lnTo>
                    <a:pt x="61" y="12"/>
                  </a:lnTo>
                  <a:lnTo>
                    <a:pt x="85" y="3"/>
                  </a:lnTo>
                  <a:lnTo>
                    <a:pt x="11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70" name="Group 315">
            <a:extLst>
              <a:ext uri="{FF2B5EF4-FFF2-40B4-BE49-F238E27FC236}">
                <a16:creationId xmlns="" xmlns:a16="http://schemas.microsoft.com/office/drawing/2014/main" id="{19963617-173F-3F40-95EA-442B5A3E007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80630" y="2870899"/>
            <a:ext cx="252786" cy="252000"/>
            <a:chOff x="3300" y="1351"/>
            <a:chExt cx="964" cy="961"/>
          </a:xfrm>
          <a:solidFill>
            <a:schemeClr val="bg1"/>
          </a:solidFill>
        </p:grpSpPr>
        <p:sp>
          <p:nvSpPr>
            <p:cNvPr id="71" name="Freeform 317">
              <a:extLst>
                <a:ext uri="{FF2B5EF4-FFF2-40B4-BE49-F238E27FC236}">
                  <a16:creationId xmlns="" xmlns:a16="http://schemas.microsoft.com/office/drawing/2014/main" id="{E991FA24-A491-9F4B-943E-F6FB69AFDA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0" y="1351"/>
              <a:ext cx="964" cy="961"/>
            </a:xfrm>
            <a:custGeom>
              <a:avLst/>
              <a:gdLst>
                <a:gd name="T0" fmla="*/ 127 w 3854"/>
                <a:gd name="T1" fmla="*/ 0 h 3846"/>
                <a:gd name="T2" fmla="*/ 156 w 3854"/>
                <a:gd name="T3" fmla="*/ 2 h 3846"/>
                <a:gd name="T4" fmla="*/ 183 w 3854"/>
                <a:gd name="T5" fmla="*/ 13 h 3846"/>
                <a:gd name="T6" fmla="*/ 206 w 3854"/>
                <a:gd name="T7" fmla="*/ 27 h 3846"/>
                <a:gd name="T8" fmla="*/ 226 w 3854"/>
                <a:gd name="T9" fmla="*/ 47 h 3846"/>
                <a:gd name="T10" fmla="*/ 242 w 3854"/>
                <a:gd name="T11" fmla="*/ 71 h 3846"/>
                <a:gd name="T12" fmla="*/ 251 w 3854"/>
                <a:gd name="T13" fmla="*/ 97 h 3846"/>
                <a:gd name="T14" fmla="*/ 255 w 3854"/>
                <a:gd name="T15" fmla="*/ 126 h 3846"/>
                <a:gd name="T16" fmla="*/ 255 w 3854"/>
                <a:gd name="T17" fmla="*/ 3591 h 3846"/>
                <a:gd name="T18" fmla="*/ 3726 w 3854"/>
                <a:gd name="T19" fmla="*/ 3591 h 3846"/>
                <a:gd name="T20" fmla="*/ 3756 w 3854"/>
                <a:gd name="T21" fmla="*/ 3595 h 3846"/>
                <a:gd name="T22" fmla="*/ 3783 w 3854"/>
                <a:gd name="T23" fmla="*/ 3604 h 3846"/>
                <a:gd name="T24" fmla="*/ 3806 w 3854"/>
                <a:gd name="T25" fmla="*/ 3619 h 3846"/>
                <a:gd name="T26" fmla="*/ 3826 w 3854"/>
                <a:gd name="T27" fmla="*/ 3639 h 3846"/>
                <a:gd name="T28" fmla="*/ 3841 w 3854"/>
                <a:gd name="T29" fmla="*/ 3663 h 3846"/>
                <a:gd name="T30" fmla="*/ 3851 w 3854"/>
                <a:gd name="T31" fmla="*/ 3690 h 3846"/>
                <a:gd name="T32" fmla="*/ 3854 w 3854"/>
                <a:gd name="T33" fmla="*/ 3719 h 3846"/>
                <a:gd name="T34" fmla="*/ 3851 w 3854"/>
                <a:gd name="T35" fmla="*/ 3748 h 3846"/>
                <a:gd name="T36" fmla="*/ 3841 w 3854"/>
                <a:gd name="T37" fmla="*/ 3775 h 3846"/>
                <a:gd name="T38" fmla="*/ 3826 w 3854"/>
                <a:gd name="T39" fmla="*/ 3798 h 3846"/>
                <a:gd name="T40" fmla="*/ 3806 w 3854"/>
                <a:gd name="T41" fmla="*/ 3818 h 3846"/>
                <a:gd name="T42" fmla="*/ 3783 w 3854"/>
                <a:gd name="T43" fmla="*/ 3834 h 3846"/>
                <a:gd name="T44" fmla="*/ 3756 w 3854"/>
                <a:gd name="T45" fmla="*/ 3843 h 3846"/>
                <a:gd name="T46" fmla="*/ 3726 w 3854"/>
                <a:gd name="T47" fmla="*/ 3846 h 3846"/>
                <a:gd name="T48" fmla="*/ 127 w 3854"/>
                <a:gd name="T49" fmla="*/ 3846 h 3846"/>
                <a:gd name="T50" fmla="*/ 97 w 3854"/>
                <a:gd name="T51" fmla="*/ 3843 h 3846"/>
                <a:gd name="T52" fmla="*/ 70 w 3854"/>
                <a:gd name="T53" fmla="*/ 3834 h 3846"/>
                <a:gd name="T54" fmla="*/ 47 w 3854"/>
                <a:gd name="T55" fmla="*/ 3818 h 3846"/>
                <a:gd name="T56" fmla="*/ 27 w 3854"/>
                <a:gd name="T57" fmla="*/ 3798 h 3846"/>
                <a:gd name="T58" fmla="*/ 13 w 3854"/>
                <a:gd name="T59" fmla="*/ 3775 h 3846"/>
                <a:gd name="T60" fmla="*/ 2 w 3854"/>
                <a:gd name="T61" fmla="*/ 3748 h 3846"/>
                <a:gd name="T62" fmla="*/ 0 w 3854"/>
                <a:gd name="T63" fmla="*/ 3719 h 3846"/>
                <a:gd name="T64" fmla="*/ 0 w 3854"/>
                <a:gd name="T65" fmla="*/ 126 h 3846"/>
                <a:gd name="T66" fmla="*/ 2 w 3854"/>
                <a:gd name="T67" fmla="*/ 97 h 3846"/>
                <a:gd name="T68" fmla="*/ 13 w 3854"/>
                <a:gd name="T69" fmla="*/ 71 h 3846"/>
                <a:gd name="T70" fmla="*/ 27 w 3854"/>
                <a:gd name="T71" fmla="*/ 47 h 3846"/>
                <a:gd name="T72" fmla="*/ 47 w 3854"/>
                <a:gd name="T73" fmla="*/ 27 h 3846"/>
                <a:gd name="T74" fmla="*/ 70 w 3854"/>
                <a:gd name="T75" fmla="*/ 13 h 3846"/>
                <a:gd name="T76" fmla="*/ 97 w 3854"/>
                <a:gd name="T77" fmla="*/ 2 h 3846"/>
                <a:gd name="T78" fmla="*/ 127 w 3854"/>
                <a:gd name="T79" fmla="*/ 0 h 3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854" h="3846">
                  <a:moveTo>
                    <a:pt x="127" y="0"/>
                  </a:moveTo>
                  <a:lnTo>
                    <a:pt x="156" y="2"/>
                  </a:lnTo>
                  <a:lnTo>
                    <a:pt x="183" y="13"/>
                  </a:lnTo>
                  <a:lnTo>
                    <a:pt x="206" y="27"/>
                  </a:lnTo>
                  <a:lnTo>
                    <a:pt x="226" y="47"/>
                  </a:lnTo>
                  <a:lnTo>
                    <a:pt x="242" y="71"/>
                  </a:lnTo>
                  <a:lnTo>
                    <a:pt x="251" y="97"/>
                  </a:lnTo>
                  <a:lnTo>
                    <a:pt x="255" y="126"/>
                  </a:lnTo>
                  <a:lnTo>
                    <a:pt x="255" y="3591"/>
                  </a:lnTo>
                  <a:lnTo>
                    <a:pt x="3726" y="3591"/>
                  </a:lnTo>
                  <a:lnTo>
                    <a:pt x="3756" y="3595"/>
                  </a:lnTo>
                  <a:lnTo>
                    <a:pt x="3783" y="3604"/>
                  </a:lnTo>
                  <a:lnTo>
                    <a:pt x="3806" y="3619"/>
                  </a:lnTo>
                  <a:lnTo>
                    <a:pt x="3826" y="3639"/>
                  </a:lnTo>
                  <a:lnTo>
                    <a:pt x="3841" y="3663"/>
                  </a:lnTo>
                  <a:lnTo>
                    <a:pt x="3851" y="3690"/>
                  </a:lnTo>
                  <a:lnTo>
                    <a:pt x="3854" y="3719"/>
                  </a:lnTo>
                  <a:lnTo>
                    <a:pt x="3851" y="3748"/>
                  </a:lnTo>
                  <a:lnTo>
                    <a:pt x="3841" y="3775"/>
                  </a:lnTo>
                  <a:lnTo>
                    <a:pt x="3826" y="3798"/>
                  </a:lnTo>
                  <a:lnTo>
                    <a:pt x="3806" y="3818"/>
                  </a:lnTo>
                  <a:lnTo>
                    <a:pt x="3783" y="3834"/>
                  </a:lnTo>
                  <a:lnTo>
                    <a:pt x="3756" y="3843"/>
                  </a:lnTo>
                  <a:lnTo>
                    <a:pt x="3726" y="3846"/>
                  </a:lnTo>
                  <a:lnTo>
                    <a:pt x="127" y="3846"/>
                  </a:lnTo>
                  <a:lnTo>
                    <a:pt x="97" y="3843"/>
                  </a:lnTo>
                  <a:lnTo>
                    <a:pt x="70" y="3834"/>
                  </a:lnTo>
                  <a:lnTo>
                    <a:pt x="47" y="3818"/>
                  </a:lnTo>
                  <a:lnTo>
                    <a:pt x="27" y="3798"/>
                  </a:lnTo>
                  <a:lnTo>
                    <a:pt x="13" y="3775"/>
                  </a:lnTo>
                  <a:lnTo>
                    <a:pt x="2" y="3748"/>
                  </a:lnTo>
                  <a:lnTo>
                    <a:pt x="0" y="3719"/>
                  </a:lnTo>
                  <a:lnTo>
                    <a:pt x="0" y="126"/>
                  </a:lnTo>
                  <a:lnTo>
                    <a:pt x="2" y="97"/>
                  </a:lnTo>
                  <a:lnTo>
                    <a:pt x="13" y="71"/>
                  </a:lnTo>
                  <a:lnTo>
                    <a:pt x="27" y="47"/>
                  </a:lnTo>
                  <a:lnTo>
                    <a:pt x="47" y="27"/>
                  </a:lnTo>
                  <a:lnTo>
                    <a:pt x="70" y="13"/>
                  </a:lnTo>
                  <a:lnTo>
                    <a:pt x="97" y="2"/>
                  </a:lnTo>
                  <a:lnTo>
                    <a:pt x="12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318">
              <a:extLst>
                <a:ext uri="{FF2B5EF4-FFF2-40B4-BE49-F238E27FC236}">
                  <a16:creationId xmlns="" xmlns:a16="http://schemas.microsoft.com/office/drawing/2014/main" id="{B069A0A4-775B-7846-AC87-F911282253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00" y="1994"/>
              <a:ext cx="210" cy="219"/>
            </a:xfrm>
            <a:custGeom>
              <a:avLst/>
              <a:gdLst>
                <a:gd name="T0" fmla="*/ 170 w 842"/>
                <a:gd name="T1" fmla="*/ 169 h 873"/>
                <a:gd name="T2" fmla="*/ 170 w 842"/>
                <a:gd name="T3" fmla="*/ 703 h 873"/>
                <a:gd name="T4" fmla="*/ 672 w 842"/>
                <a:gd name="T5" fmla="*/ 703 h 873"/>
                <a:gd name="T6" fmla="*/ 672 w 842"/>
                <a:gd name="T7" fmla="*/ 169 h 873"/>
                <a:gd name="T8" fmla="*/ 170 w 842"/>
                <a:gd name="T9" fmla="*/ 169 h 873"/>
                <a:gd name="T10" fmla="*/ 86 w 842"/>
                <a:gd name="T11" fmla="*/ 0 h 873"/>
                <a:gd name="T12" fmla="*/ 757 w 842"/>
                <a:gd name="T13" fmla="*/ 0 h 873"/>
                <a:gd name="T14" fmla="*/ 780 w 842"/>
                <a:gd name="T15" fmla="*/ 3 h 873"/>
                <a:gd name="T16" fmla="*/ 800 w 842"/>
                <a:gd name="T17" fmla="*/ 11 h 873"/>
                <a:gd name="T18" fmla="*/ 818 w 842"/>
                <a:gd name="T19" fmla="*/ 24 h 873"/>
                <a:gd name="T20" fmla="*/ 831 w 842"/>
                <a:gd name="T21" fmla="*/ 42 h 873"/>
                <a:gd name="T22" fmla="*/ 839 w 842"/>
                <a:gd name="T23" fmla="*/ 63 h 873"/>
                <a:gd name="T24" fmla="*/ 842 w 842"/>
                <a:gd name="T25" fmla="*/ 85 h 873"/>
                <a:gd name="T26" fmla="*/ 842 w 842"/>
                <a:gd name="T27" fmla="*/ 789 h 873"/>
                <a:gd name="T28" fmla="*/ 839 w 842"/>
                <a:gd name="T29" fmla="*/ 811 h 873"/>
                <a:gd name="T30" fmla="*/ 831 w 842"/>
                <a:gd name="T31" fmla="*/ 831 h 873"/>
                <a:gd name="T32" fmla="*/ 818 w 842"/>
                <a:gd name="T33" fmla="*/ 849 h 873"/>
                <a:gd name="T34" fmla="*/ 800 w 842"/>
                <a:gd name="T35" fmla="*/ 861 h 873"/>
                <a:gd name="T36" fmla="*/ 780 w 842"/>
                <a:gd name="T37" fmla="*/ 870 h 873"/>
                <a:gd name="T38" fmla="*/ 757 w 842"/>
                <a:gd name="T39" fmla="*/ 873 h 873"/>
                <a:gd name="T40" fmla="*/ 86 w 842"/>
                <a:gd name="T41" fmla="*/ 873 h 873"/>
                <a:gd name="T42" fmla="*/ 63 w 842"/>
                <a:gd name="T43" fmla="*/ 870 h 873"/>
                <a:gd name="T44" fmla="*/ 42 w 842"/>
                <a:gd name="T45" fmla="*/ 861 h 873"/>
                <a:gd name="T46" fmla="*/ 26 w 842"/>
                <a:gd name="T47" fmla="*/ 849 h 873"/>
                <a:gd name="T48" fmla="*/ 12 w 842"/>
                <a:gd name="T49" fmla="*/ 831 h 873"/>
                <a:gd name="T50" fmla="*/ 3 w 842"/>
                <a:gd name="T51" fmla="*/ 811 h 873"/>
                <a:gd name="T52" fmla="*/ 0 w 842"/>
                <a:gd name="T53" fmla="*/ 789 h 873"/>
                <a:gd name="T54" fmla="*/ 0 w 842"/>
                <a:gd name="T55" fmla="*/ 85 h 873"/>
                <a:gd name="T56" fmla="*/ 3 w 842"/>
                <a:gd name="T57" fmla="*/ 63 h 873"/>
                <a:gd name="T58" fmla="*/ 12 w 842"/>
                <a:gd name="T59" fmla="*/ 42 h 873"/>
                <a:gd name="T60" fmla="*/ 26 w 842"/>
                <a:gd name="T61" fmla="*/ 24 h 873"/>
                <a:gd name="T62" fmla="*/ 42 w 842"/>
                <a:gd name="T63" fmla="*/ 11 h 873"/>
                <a:gd name="T64" fmla="*/ 63 w 842"/>
                <a:gd name="T65" fmla="*/ 3 h 873"/>
                <a:gd name="T66" fmla="*/ 86 w 842"/>
                <a:gd name="T67" fmla="*/ 0 h 8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42" h="873">
                  <a:moveTo>
                    <a:pt x="170" y="169"/>
                  </a:moveTo>
                  <a:lnTo>
                    <a:pt x="170" y="703"/>
                  </a:lnTo>
                  <a:lnTo>
                    <a:pt x="672" y="703"/>
                  </a:lnTo>
                  <a:lnTo>
                    <a:pt x="672" y="169"/>
                  </a:lnTo>
                  <a:lnTo>
                    <a:pt x="170" y="169"/>
                  </a:lnTo>
                  <a:close/>
                  <a:moveTo>
                    <a:pt x="86" y="0"/>
                  </a:moveTo>
                  <a:lnTo>
                    <a:pt x="757" y="0"/>
                  </a:lnTo>
                  <a:lnTo>
                    <a:pt x="780" y="3"/>
                  </a:lnTo>
                  <a:lnTo>
                    <a:pt x="800" y="11"/>
                  </a:lnTo>
                  <a:lnTo>
                    <a:pt x="818" y="24"/>
                  </a:lnTo>
                  <a:lnTo>
                    <a:pt x="831" y="42"/>
                  </a:lnTo>
                  <a:lnTo>
                    <a:pt x="839" y="63"/>
                  </a:lnTo>
                  <a:lnTo>
                    <a:pt x="842" y="85"/>
                  </a:lnTo>
                  <a:lnTo>
                    <a:pt x="842" y="789"/>
                  </a:lnTo>
                  <a:lnTo>
                    <a:pt x="839" y="811"/>
                  </a:lnTo>
                  <a:lnTo>
                    <a:pt x="831" y="831"/>
                  </a:lnTo>
                  <a:lnTo>
                    <a:pt x="818" y="849"/>
                  </a:lnTo>
                  <a:lnTo>
                    <a:pt x="800" y="861"/>
                  </a:lnTo>
                  <a:lnTo>
                    <a:pt x="780" y="870"/>
                  </a:lnTo>
                  <a:lnTo>
                    <a:pt x="757" y="873"/>
                  </a:lnTo>
                  <a:lnTo>
                    <a:pt x="86" y="873"/>
                  </a:lnTo>
                  <a:lnTo>
                    <a:pt x="63" y="870"/>
                  </a:lnTo>
                  <a:lnTo>
                    <a:pt x="42" y="861"/>
                  </a:lnTo>
                  <a:lnTo>
                    <a:pt x="26" y="849"/>
                  </a:lnTo>
                  <a:lnTo>
                    <a:pt x="12" y="831"/>
                  </a:lnTo>
                  <a:lnTo>
                    <a:pt x="3" y="811"/>
                  </a:lnTo>
                  <a:lnTo>
                    <a:pt x="0" y="789"/>
                  </a:lnTo>
                  <a:lnTo>
                    <a:pt x="0" y="85"/>
                  </a:lnTo>
                  <a:lnTo>
                    <a:pt x="3" y="63"/>
                  </a:lnTo>
                  <a:lnTo>
                    <a:pt x="12" y="42"/>
                  </a:lnTo>
                  <a:lnTo>
                    <a:pt x="26" y="24"/>
                  </a:lnTo>
                  <a:lnTo>
                    <a:pt x="42" y="11"/>
                  </a:lnTo>
                  <a:lnTo>
                    <a:pt x="63" y="3"/>
                  </a:lnTo>
                  <a:lnTo>
                    <a:pt x="8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319">
              <a:extLst>
                <a:ext uri="{FF2B5EF4-FFF2-40B4-BE49-F238E27FC236}">
                  <a16:creationId xmlns="" xmlns:a16="http://schemas.microsoft.com/office/drawing/2014/main" id="{321838A9-5560-504C-9EF5-40A36FFE39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60" y="1712"/>
              <a:ext cx="210" cy="501"/>
            </a:xfrm>
            <a:custGeom>
              <a:avLst/>
              <a:gdLst>
                <a:gd name="T0" fmla="*/ 171 w 843"/>
                <a:gd name="T1" fmla="*/ 170 h 2001"/>
                <a:gd name="T2" fmla="*/ 171 w 843"/>
                <a:gd name="T3" fmla="*/ 1831 h 2001"/>
                <a:gd name="T4" fmla="*/ 673 w 843"/>
                <a:gd name="T5" fmla="*/ 1831 h 2001"/>
                <a:gd name="T6" fmla="*/ 673 w 843"/>
                <a:gd name="T7" fmla="*/ 170 h 2001"/>
                <a:gd name="T8" fmla="*/ 171 w 843"/>
                <a:gd name="T9" fmla="*/ 170 h 2001"/>
                <a:gd name="T10" fmla="*/ 86 w 843"/>
                <a:gd name="T11" fmla="*/ 0 h 2001"/>
                <a:gd name="T12" fmla="*/ 757 w 843"/>
                <a:gd name="T13" fmla="*/ 0 h 2001"/>
                <a:gd name="T14" fmla="*/ 781 w 843"/>
                <a:gd name="T15" fmla="*/ 4 h 2001"/>
                <a:gd name="T16" fmla="*/ 801 w 843"/>
                <a:gd name="T17" fmla="*/ 12 h 2001"/>
                <a:gd name="T18" fmla="*/ 818 w 843"/>
                <a:gd name="T19" fmla="*/ 26 h 2001"/>
                <a:gd name="T20" fmla="*/ 831 w 843"/>
                <a:gd name="T21" fmla="*/ 42 h 2001"/>
                <a:gd name="T22" fmla="*/ 839 w 843"/>
                <a:gd name="T23" fmla="*/ 63 h 2001"/>
                <a:gd name="T24" fmla="*/ 843 w 843"/>
                <a:gd name="T25" fmla="*/ 86 h 2001"/>
                <a:gd name="T26" fmla="*/ 843 w 843"/>
                <a:gd name="T27" fmla="*/ 1917 h 2001"/>
                <a:gd name="T28" fmla="*/ 839 w 843"/>
                <a:gd name="T29" fmla="*/ 1939 h 2001"/>
                <a:gd name="T30" fmla="*/ 831 w 843"/>
                <a:gd name="T31" fmla="*/ 1959 h 2001"/>
                <a:gd name="T32" fmla="*/ 818 w 843"/>
                <a:gd name="T33" fmla="*/ 1977 h 2001"/>
                <a:gd name="T34" fmla="*/ 801 w 843"/>
                <a:gd name="T35" fmla="*/ 1989 h 2001"/>
                <a:gd name="T36" fmla="*/ 781 w 843"/>
                <a:gd name="T37" fmla="*/ 1998 h 2001"/>
                <a:gd name="T38" fmla="*/ 757 w 843"/>
                <a:gd name="T39" fmla="*/ 2001 h 2001"/>
                <a:gd name="T40" fmla="*/ 86 w 843"/>
                <a:gd name="T41" fmla="*/ 2001 h 2001"/>
                <a:gd name="T42" fmla="*/ 64 w 843"/>
                <a:gd name="T43" fmla="*/ 1998 h 2001"/>
                <a:gd name="T44" fmla="*/ 43 w 843"/>
                <a:gd name="T45" fmla="*/ 1989 h 2001"/>
                <a:gd name="T46" fmla="*/ 26 w 843"/>
                <a:gd name="T47" fmla="*/ 1977 h 2001"/>
                <a:gd name="T48" fmla="*/ 12 w 843"/>
                <a:gd name="T49" fmla="*/ 1959 h 2001"/>
                <a:gd name="T50" fmla="*/ 4 w 843"/>
                <a:gd name="T51" fmla="*/ 1939 h 2001"/>
                <a:gd name="T52" fmla="*/ 0 w 843"/>
                <a:gd name="T53" fmla="*/ 1917 h 2001"/>
                <a:gd name="T54" fmla="*/ 0 w 843"/>
                <a:gd name="T55" fmla="*/ 86 h 2001"/>
                <a:gd name="T56" fmla="*/ 4 w 843"/>
                <a:gd name="T57" fmla="*/ 63 h 2001"/>
                <a:gd name="T58" fmla="*/ 12 w 843"/>
                <a:gd name="T59" fmla="*/ 42 h 2001"/>
                <a:gd name="T60" fmla="*/ 26 w 843"/>
                <a:gd name="T61" fmla="*/ 26 h 2001"/>
                <a:gd name="T62" fmla="*/ 43 w 843"/>
                <a:gd name="T63" fmla="*/ 12 h 2001"/>
                <a:gd name="T64" fmla="*/ 64 w 843"/>
                <a:gd name="T65" fmla="*/ 4 h 2001"/>
                <a:gd name="T66" fmla="*/ 86 w 843"/>
                <a:gd name="T67" fmla="*/ 0 h 20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43" h="2001">
                  <a:moveTo>
                    <a:pt x="171" y="170"/>
                  </a:moveTo>
                  <a:lnTo>
                    <a:pt x="171" y="1831"/>
                  </a:lnTo>
                  <a:lnTo>
                    <a:pt x="673" y="1831"/>
                  </a:lnTo>
                  <a:lnTo>
                    <a:pt x="673" y="170"/>
                  </a:lnTo>
                  <a:lnTo>
                    <a:pt x="171" y="170"/>
                  </a:lnTo>
                  <a:close/>
                  <a:moveTo>
                    <a:pt x="86" y="0"/>
                  </a:moveTo>
                  <a:lnTo>
                    <a:pt x="757" y="0"/>
                  </a:lnTo>
                  <a:lnTo>
                    <a:pt x="781" y="4"/>
                  </a:lnTo>
                  <a:lnTo>
                    <a:pt x="801" y="12"/>
                  </a:lnTo>
                  <a:lnTo>
                    <a:pt x="818" y="26"/>
                  </a:lnTo>
                  <a:lnTo>
                    <a:pt x="831" y="42"/>
                  </a:lnTo>
                  <a:lnTo>
                    <a:pt x="839" y="63"/>
                  </a:lnTo>
                  <a:lnTo>
                    <a:pt x="843" y="86"/>
                  </a:lnTo>
                  <a:lnTo>
                    <a:pt x="843" y="1917"/>
                  </a:lnTo>
                  <a:lnTo>
                    <a:pt x="839" y="1939"/>
                  </a:lnTo>
                  <a:lnTo>
                    <a:pt x="831" y="1959"/>
                  </a:lnTo>
                  <a:lnTo>
                    <a:pt x="818" y="1977"/>
                  </a:lnTo>
                  <a:lnTo>
                    <a:pt x="801" y="1989"/>
                  </a:lnTo>
                  <a:lnTo>
                    <a:pt x="781" y="1998"/>
                  </a:lnTo>
                  <a:lnTo>
                    <a:pt x="757" y="2001"/>
                  </a:lnTo>
                  <a:lnTo>
                    <a:pt x="86" y="2001"/>
                  </a:lnTo>
                  <a:lnTo>
                    <a:pt x="64" y="1998"/>
                  </a:lnTo>
                  <a:lnTo>
                    <a:pt x="43" y="1989"/>
                  </a:lnTo>
                  <a:lnTo>
                    <a:pt x="26" y="1977"/>
                  </a:lnTo>
                  <a:lnTo>
                    <a:pt x="12" y="1959"/>
                  </a:lnTo>
                  <a:lnTo>
                    <a:pt x="4" y="1939"/>
                  </a:lnTo>
                  <a:lnTo>
                    <a:pt x="0" y="1917"/>
                  </a:lnTo>
                  <a:lnTo>
                    <a:pt x="0" y="86"/>
                  </a:lnTo>
                  <a:lnTo>
                    <a:pt x="4" y="63"/>
                  </a:lnTo>
                  <a:lnTo>
                    <a:pt x="12" y="42"/>
                  </a:lnTo>
                  <a:lnTo>
                    <a:pt x="26" y="26"/>
                  </a:lnTo>
                  <a:lnTo>
                    <a:pt x="43" y="12"/>
                  </a:lnTo>
                  <a:lnTo>
                    <a:pt x="64" y="4"/>
                  </a:lnTo>
                  <a:lnTo>
                    <a:pt x="8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320">
              <a:extLst>
                <a:ext uri="{FF2B5EF4-FFF2-40B4-BE49-F238E27FC236}">
                  <a16:creationId xmlns="" xmlns:a16="http://schemas.microsoft.com/office/drawing/2014/main" id="{D096E575-EDBC-5A49-BBCC-3A6DD8005F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7" y="1434"/>
              <a:ext cx="211" cy="779"/>
            </a:xfrm>
            <a:custGeom>
              <a:avLst/>
              <a:gdLst>
                <a:gd name="T0" fmla="*/ 171 w 842"/>
                <a:gd name="T1" fmla="*/ 169 h 3114"/>
                <a:gd name="T2" fmla="*/ 171 w 842"/>
                <a:gd name="T3" fmla="*/ 2944 h 3114"/>
                <a:gd name="T4" fmla="*/ 672 w 842"/>
                <a:gd name="T5" fmla="*/ 2944 h 3114"/>
                <a:gd name="T6" fmla="*/ 672 w 842"/>
                <a:gd name="T7" fmla="*/ 169 h 3114"/>
                <a:gd name="T8" fmla="*/ 171 w 842"/>
                <a:gd name="T9" fmla="*/ 169 h 3114"/>
                <a:gd name="T10" fmla="*/ 85 w 842"/>
                <a:gd name="T11" fmla="*/ 0 h 3114"/>
                <a:gd name="T12" fmla="*/ 756 w 842"/>
                <a:gd name="T13" fmla="*/ 0 h 3114"/>
                <a:gd name="T14" fmla="*/ 780 w 842"/>
                <a:gd name="T15" fmla="*/ 2 h 3114"/>
                <a:gd name="T16" fmla="*/ 800 w 842"/>
                <a:gd name="T17" fmla="*/ 11 h 3114"/>
                <a:gd name="T18" fmla="*/ 817 w 842"/>
                <a:gd name="T19" fmla="*/ 24 h 3114"/>
                <a:gd name="T20" fmla="*/ 830 w 842"/>
                <a:gd name="T21" fmla="*/ 42 h 3114"/>
                <a:gd name="T22" fmla="*/ 838 w 842"/>
                <a:gd name="T23" fmla="*/ 62 h 3114"/>
                <a:gd name="T24" fmla="*/ 842 w 842"/>
                <a:gd name="T25" fmla="*/ 84 h 3114"/>
                <a:gd name="T26" fmla="*/ 842 w 842"/>
                <a:gd name="T27" fmla="*/ 3030 h 3114"/>
                <a:gd name="T28" fmla="*/ 838 w 842"/>
                <a:gd name="T29" fmla="*/ 3052 h 3114"/>
                <a:gd name="T30" fmla="*/ 830 w 842"/>
                <a:gd name="T31" fmla="*/ 3072 h 3114"/>
                <a:gd name="T32" fmla="*/ 817 w 842"/>
                <a:gd name="T33" fmla="*/ 3090 h 3114"/>
                <a:gd name="T34" fmla="*/ 800 w 842"/>
                <a:gd name="T35" fmla="*/ 3102 h 3114"/>
                <a:gd name="T36" fmla="*/ 780 w 842"/>
                <a:gd name="T37" fmla="*/ 3111 h 3114"/>
                <a:gd name="T38" fmla="*/ 756 w 842"/>
                <a:gd name="T39" fmla="*/ 3114 h 3114"/>
                <a:gd name="T40" fmla="*/ 85 w 842"/>
                <a:gd name="T41" fmla="*/ 3114 h 3114"/>
                <a:gd name="T42" fmla="*/ 63 w 842"/>
                <a:gd name="T43" fmla="*/ 3111 h 3114"/>
                <a:gd name="T44" fmla="*/ 42 w 842"/>
                <a:gd name="T45" fmla="*/ 3102 h 3114"/>
                <a:gd name="T46" fmla="*/ 25 w 842"/>
                <a:gd name="T47" fmla="*/ 3090 h 3114"/>
                <a:gd name="T48" fmla="*/ 11 w 842"/>
                <a:gd name="T49" fmla="*/ 3072 h 3114"/>
                <a:gd name="T50" fmla="*/ 3 w 842"/>
                <a:gd name="T51" fmla="*/ 3052 h 3114"/>
                <a:gd name="T52" fmla="*/ 0 w 842"/>
                <a:gd name="T53" fmla="*/ 3030 h 3114"/>
                <a:gd name="T54" fmla="*/ 0 w 842"/>
                <a:gd name="T55" fmla="*/ 84 h 3114"/>
                <a:gd name="T56" fmla="*/ 3 w 842"/>
                <a:gd name="T57" fmla="*/ 62 h 3114"/>
                <a:gd name="T58" fmla="*/ 11 w 842"/>
                <a:gd name="T59" fmla="*/ 42 h 3114"/>
                <a:gd name="T60" fmla="*/ 25 w 842"/>
                <a:gd name="T61" fmla="*/ 24 h 3114"/>
                <a:gd name="T62" fmla="*/ 42 w 842"/>
                <a:gd name="T63" fmla="*/ 11 h 3114"/>
                <a:gd name="T64" fmla="*/ 63 w 842"/>
                <a:gd name="T65" fmla="*/ 2 h 3114"/>
                <a:gd name="T66" fmla="*/ 85 w 842"/>
                <a:gd name="T67" fmla="*/ 0 h 3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42" h="3114">
                  <a:moveTo>
                    <a:pt x="171" y="169"/>
                  </a:moveTo>
                  <a:lnTo>
                    <a:pt x="171" y="2944"/>
                  </a:lnTo>
                  <a:lnTo>
                    <a:pt x="672" y="2944"/>
                  </a:lnTo>
                  <a:lnTo>
                    <a:pt x="672" y="169"/>
                  </a:lnTo>
                  <a:lnTo>
                    <a:pt x="171" y="169"/>
                  </a:lnTo>
                  <a:close/>
                  <a:moveTo>
                    <a:pt x="85" y="0"/>
                  </a:moveTo>
                  <a:lnTo>
                    <a:pt x="756" y="0"/>
                  </a:lnTo>
                  <a:lnTo>
                    <a:pt x="780" y="2"/>
                  </a:lnTo>
                  <a:lnTo>
                    <a:pt x="800" y="11"/>
                  </a:lnTo>
                  <a:lnTo>
                    <a:pt x="817" y="24"/>
                  </a:lnTo>
                  <a:lnTo>
                    <a:pt x="830" y="42"/>
                  </a:lnTo>
                  <a:lnTo>
                    <a:pt x="838" y="62"/>
                  </a:lnTo>
                  <a:lnTo>
                    <a:pt x="842" y="84"/>
                  </a:lnTo>
                  <a:lnTo>
                    <a:pt x="842" y="3030"/>
                  </a:lnTo>
                  <a:lnTo>
                    <a:pt x="838" y="3052"/>
                  </a:lnTo>
                  <a:lnTo>
                    <a:pt x="830" y="3072"/>
                  </a:lnTo>
                  <a:lnTo>
                    <a:pt x="817" y="3090"/>
                  </a:lnTo>
                  <a:lnTo>
                    <a:pt x="800" y="3102"/>
                  </a:lnTo>
                  <a:lnTo>
                    <a:pt x="780" y="3111"/>
                  </a:lnTo>
                  <a:lnTo>
                    <a:pt x="756" y="3114"/>
                  </a:lnTo>
                  <a:lnTo>
                    <a:pt x="85" y="3114"/>
                  </a:lnTo>
                  <a:lnTo>
                    <a:pt x="63" y="3111"/>
                  </a:lnTo>
                  <a:lnTo>
                    <a:pt x="42" y="3102"/>
                  </a:lnTo>
                  <a:lnTo>
                    <a:pt x="25" y="3090"/>
                  </a:lnTo>
                  <a:lnTo>
                    <a:pt x="11" y="3072"/>
                  </a:lnTo>
                  <a:lnTo>
                    <a:pt x="3" y="3052"/>
                  </a:lnTo>
                  <a:lnTo>
                    <a:pt x="0" y="3030"/>
                  </a:lnTo>
                  <a:lnTo>
                    <a:pt x="0" y="84"/>
                  </a:lnTo>
                  <a:lnTo>
                    <a:pt x="3" y="62"/>
                  </a:lnTo>
                  <a:lnTo>
                    <a:pt x="11" y="42"/>
                  </a:lnTo>
                  <a:lnTo>
                    <a:pt x="25" y="24"/>
                  </a:lnTo>
                  <a:lnTo>
                    <a:pt x="42" y="11"/>
                  </a:lnTo>
                  <a:lnTo>
                    <a:pt x="63" y="2"/>
                  </a:lnTo>
                  <a:lnTo>
                    <a:pt x="8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75" name="Group 377">
            <a:extLst>
              <a:ext uri="{FF2B5EF4-FFF2-40B4-BE49-F238E27FC236}">
                <a16:creationId xmlns="" xmlns:a16="http://schemas.microsoft.com/office/drawing/2014/main" id="{E98FEC75-B101-3A4F-A6F7-1A0495DB83C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60346" y="3546629"/>
            <a:ext cx="284436" cy="283507"/>
            <a:chOff x="5096" y="750"/>
            <a:chExt cx="306" cy="305"/>
          </a:xfrm>
          <a:solidFill>
            <a:schemeClr val="bg1"/>
          </a:solidFill>
        </p:grpSpPr>
        <p:sp>
          <p:nvSpPr>
            <p:cNvPr id="76" name="Freeform 379">
              <a:extLst>
                <a:ext uri="{FF2B5EF4-FFF2-40B4-BE49-F238E27FC236}">
                  <a16:creationId xmlns="" xmlns:a16="http://schemas.microsoft.com/office/drawing/2014/main" id="{6160030C-DF5F-2747-A326-0287159B87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6" y="750"/>
              <a:ext cx="186" cy="186"/>
            </a:xfrm>
            <a:custGeom>
              <a:avLst/>
              <a:gdLst>
                <a:gd name="T0" fmla="*/ 413 w 2052"/>
                <a:gd name="T1" fmla="*/ 223 h 2045"/>
                <a:gd name="T2" fmla="*/ 248 w 2052"/>
                <a:gd name="T3" fmla="*/ 243 h 2045"/>
                <a:gd name="T4" fmla="*/ 1809 w 2052"/>
                <a:gd name="T5" fmla="*/ 1797 h 2045"/>
                <a:gd name="T6" fmla="*/ 1827 w 2052"/>
                <a:gd name="T7" fmla="*/ 1633 h 2045"/>
                <a:gd name="T8" fmla="*/ 1826 w 2052"/>
                <a:gd name="T9" fmla="*/ 1468 h 2045"/>
                <a:gd name="T10" fmla="*/ 1804 w 2052"/>
                <a:gd name="T11" fmla="*/ 1304 h 2045"/>
                <a:gd name="T12" fmla="*/ 1764 w 2052"/>
                <a:gd name="T13" fmla="*/ 1147 h 2045"/>
                <a:gd name="T14" fmla="*/ 1707 w 2052"/>
                <a:gd name="T15" fmla="*/ 1000 h 2045"/>
                <a:gd name="T16" fmla="*/ 1633 w 2052"/>
                <a:gd name="T17" fmla="*/ 861 h 2045"/>
                <a:gd name="T18" fmla="*/ 1542 w 2052"/>
                <a:gd name="T19" fmla="*/ 732 h 2045"/>
                <a:gd name="T20" fmla="*/ 1436 w 2052"/>
                <a:gd name="T21" fmla="*/ 613 h 2045"/>
                <a:gd name="T22" fmla="*/ 1317 w 2052"/>
                <a:gd name="T23" fmla="*/ 508 h 2045"/>
                <a:gd name="T24" fmla="*/ 1188 w 2052"/>
                <a:gd name="T25" fmla="*/ 418 h 2045"/>
                <a:gd name="T26" fmla="*/ 1048 w 2052"/>
                <a:gd name="T27" fmla="*/ 343 h 2045"/>
                <a:gd name="T28" fmla="*/ 900 w 2052"/>
                <a:gd name="T29" fmla="*/ 286 h 2045"/>
                <a:gd name="T30" fmla="*/ 743 w 2052"/>
                <a:gd name="T31" fmla="*/ 246 h 2045"/>
                <a:gd name="T32" fmla="*/ 579 w 2052"/>
                <a:gd name="T33" fmla="*/ 224 h 2045"/>
                <a:gd name="T34" fmla="*/ 481 w 2052"/>
                <a:gd name="T35" fmla="*/ 0 h 2045"/>
                <a:gd name="T36" fmla="*/ 682 w 2052"/>
                <a:gd name="T37" fmla="*/ 11 h 2045"/>
                <a:gd name="T38" fmla="*/ 880 w 2052"/>
                <a:gd name="T39" fmla="*/ 49 h 2045"/>
                <a:gd name="T40" fmla="*/ 1056 w 2052"/>
                <a:gd name="T41" fmla="*/ 106 h 2045"/>
                <a:gd name="T42" fmla="*/ 1223 w 2052"/>
                <a:gd name="T43" fmla="*/ 182 h 2045"/>
                <a:gd name="T44" fmla="*/ 1381 w 2052"/>
                <a:gd name="T45" fmla="*/ 279 h 2045"/>
                <a:gd name="T46" fmla="*/ 1525 w 2052"/>
                <a:gd name="T47" fmla="*/ 393 h 2045"/>
                <a:gd name="T48" fmla="*/ 1657 w 2052"/>
                <a:gd name="T49" fmla="*/ 524 h 2045"/>
                <a:gd name="T50" fmla="*/ 1772 w 2052"/>
                <a:gd name="T51" fmla="*/ 668 h 2045"/>
                <a:gd name="T52" fmla="*/ 1868 w 2052"/>
                <a:gd name="T53" fmla="*/ 826 h 2045"/>
                <a:gd name="T54" fmla="*/ 1945 w 2052"/>
                <a:gd name="T55" fmla="*/ 993 h 2045"/>
                <a:gd name="T56" fmla="*/ 2002 w 2052"/>
                <a:gd name="T57" fmla="*/ 1168 h 2045"/>
                <a:gd name="T58" fmla="*/ 2039 w 2052"/>
                <a:gd name="T59" fmla="*/ 1365 h 2045"/>
                <a:gd name="T60" fmla="*/ 2052 w 2052"/>
                <a:gd name="T61" fmla="*/ 1566 h 2045"/>
                <a:gd name="T62" fmla="*/ 2037 w 2052"/>
                <a:gd name="T63" fmla="*/ 1765 h 2045"/>
                <a:gd name="T64" fmla="*/ 1998 w 2052"/>
                <a:gd name="T65" fmla="*/ 1963 h 2045"/>
                <a:gd name="T66" fmla="*/ 1979 w 2052"/>
                <a:gd name="T67" fmla="*/ 2002 h 2045"/>
                <a:gd name="T68" fmla="*/ 1947 w 2052"/>
                <a:gd name="T69" fmla="*/ 2031 h 2045"/>
                <a:gd name="T70" fmla="*/ 1910 w 2052"/>
                <a:gd name="T71" fmla="*/ 2043 h 2045"/>
                <a:gd name="T72" fmla="*/ 1876 w 2052"/>
                <a:gd name="T73" fmla="*/ 2044 h 2045"/>
                <a:gd name="T74" fmla="*/ 461 w 2052"/>
                <a:gd name="T75" fmla="*/ 1667 h 2045"/>
                <a:gd name="T76" fmla="*/ 438 w 2052"/>
                <a:gd name="T77" fmla="*/ 1658 h 2045"/>
                <a:gd name="T78" fmla="*/ 401 w 2052"/>
                <a:gd name="T79" fmla="*/ 1629 h 2045"/>
                <a:gd name="T80" fmla="*/ 380 w 2052"/>
                <a:gd name="T81" fmla="*/ 1587 h 2045"/>
                <a:gd name="T82" fmla="*/ 0 w 2052"/>
                <a:gd name="T83" fmla="*/ 167 h 2045"/>
                <a:gd name="T84" fmla="*/ 6 w 2052"/>
                <a:gd name="T85" fmla="*/ 124 h 2045"/>
                <a:gd name="T86" fmla="*/ 28 w 2052"/>
                <a:gd name="T87" fmla="*/ 86 h 2045"/>
                <a:gd name="T88" fmla="*/ 62 w 2052"/>
                <a:gd name="T89" fmla="*/ 61 h 2045"/>
                <a:gd name="T90" fmla="*/ 181 w 2052"/>
                <a:gd name="T91" fmla="*/ 30 h 2045"/>
                <a:gd name="T92" fmla="*/ 381 w 2052"/>
                <a:gd name="T93" fmla="*/ 3 h 2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052" h="2045">
                  <a:moveTo>
                    <a:pt x="496" y="221"/>
                  </a:moveTo>
                  <a:lnTo>
                    <a:pt x="413" y="223"/>
                  </a:lnTo>
                  <a:lnTo>
                    <a:pt x="330" y="230"/>
                  </a:lnTo>
                  <a:lnTo>
                    <a:pt x="248" y="243"/>
                  </a:lnTo>
                  <a:lnTo>
                    <a:pt x="578" y="1469"/>
                  </a:lnTo>
                  <a:lnTo>
                    <a:pt x="1809" y="1797"/>
                  </a:lnTo>
                  <a:lnTo>
                    <a:pt x="1820" y="1715"/>
                  </a:lnTo>
                  <a:lnTo>
                    <a:pt x="1827" y="1633"/>
                  </a:lnTo>
                  <a:lnTo>
                    <a:pt x="1829" y="1551"/>
                  </a:lnTo>
                  <a:lnTo>
                    <a:pt x="1826" y="1468"/>
                  </a:lnTo>
                  <a:lnTo>
                    <a:pt x="1818" y="1386"/>
                  </a:lnTo>
                  <a:lnTo>
                    <a:pt x="1804" y="1304"/>
                  </a:lnTo>
                  <a:lnTo>
                    <a:pt x="1787" y="1223"/>
                  </a:lnTo>
                  <a:lnTo>
                    <a:pt x="1764" y="1147"/>
                  </a:lnTo>
                  <a:lnTo>
                    <a:pt x="1738" y="1073"/>
                  </a:lnTo>
                  <a:lnTo>
                    <a:pt x="1707" y="1000"/>
                  </a:lnTo>
                  <a:lnTo>
                    <a:pt x="1672" y="929"/>
                  </a:lnTo>
                  <a:lnTo>
                    <a:pt x="1633" y="861"/>
                  </a:lnTo>
                  <a:lnTo>
                    <a:pt x="1589" y="795"/>
                  </a:lnTo>
                  <a:lnTo>
                    <a:pt x="1542" y="732"/>
                  </a:lnTo>
                  <a:lnTo>
                    <a:pt x="1491" y="670"/>
                  </a:lnTo>
                  <a:lnTo>
                    <a:pt x="1436" y="613"/>
                  </a:lnTo>
                  <a:lnTo>
                    <a:pt x="1378" y="559"/>
                  </a:lnTo>
                  <a:lnTo>
                    <a:pt x="1317" y="508"/>
                  </a:lnTo>
                  <a:lnTo>
                    <a:pt x="1253" y="461"/>
                  </a:lnTo>
                  <a:lnTo>
                    <a:pt x="1188" y="418"/>
                  </a:lnTo>
                  <a:lnTo>
                    <a:pt x="1119" y="378"/>
                  </a:lnTo>
                  <a:lnTo>
                    <a:pt x="1048" y="343"/>
                  </a:lnTo>
                  <a:lnTo>
                    <a:pt x="975" y="312"/>
                  </a:lnTo>
                  <a:lnTo>
                    <a:pt x="900" y="286"/>
                  </a:lnTo>
                  <a:lnTo>
                    <a:pt x="824" y="264"/>
                  </a:lnTo>
                  <a:lnTo>
                    <a:pt x="743" y="246"/>
                  </a:lnTo>
                  <a:lnTo>
                    <a:pt x="661" y="233"/>
                  </a:lnTo>
                  <a:lnTo>
                    <a:pt x="579" y="224"/>
                  </a:lnTo>
                  <a:lnTo>
                    <a:pt x="496" y="221"/>
                  </a:lnTo>
                  <a:close/>
                  <a:moveTo>
                    <a:pt x="481" y="0"/>
                  </a:moveTo>
                  <a:lnTo>
                    <a:pt x="582" y="2"/>
                  </a:lnTo>
                  <a:lnTo>
                    <a:pt x="682" y="11"/>
                  </a:lnTo>
                  <a:lnTo>
                    <a:pt x="781" y="28"/>
                  </a:lnTo>
                  <a:lnTo>
                    <a:pt x="880" y="49"/>
                  </a:lnTo>
                  <a:lnTo>
                    <a:pt x="969" y="75"/>
                  </a:lnTo>
                  <a:lnTo>
                    <a:pt x="1056" y="106"/>
                  </a:lnTo>
                  <a:lnTo>
                    <a:pt x="1140" y="141"/>
                  </a:lnTo>
                  <a:lnTo>
                    <a:pt x="1223" y="182"/>
                  </a:lnTo>
                  <a:lnTo>
                    <a:pt x="1304" y="228"/>
                  </a:lnTo>
                  <a:lnTo>
                    <a:pt x="1381" y="279"/>
                  </a:lnTo>
                  <a:lnTo>
                    <a:pt x="1454" y="334"/>
                  </a:lnTo>
                  <a:lnTo>
                    <a:pt x="1525" y="393"/>
                  </a:lnTo>
                  <a:lnTo>
                    <a:pt x="1593" y="457"/>
                  </a:lnTo>
                  <a:lnTo>
                    <a:pt x="1657" y="524"/>
                  </a:lnTo>
                  <a:lnTo>
                    <a:pt x="1716" y="595"/>
                  </a:lnTo>
                  <a:lnTo>
                    <a:pt x="1772" y="668"/>
                  </a:lnTo>
                  <a:lnTo>
                    <a:pt x="1822" y="746"/>
                  </a:lnTo>
                  <a:lnTo>
                    <a:pt x="1868" y="826"/>
                  </a:lnTo>
                  <a:lnTo>
                    <a:pt x="1909" y="908"/>
                  </a:lnTo>
                  <a:lnTo>
                    <a:pt x="1945" y="993"/>
                  </a:lnTo>
                  <a:lnTo>
                    <a:pt x="1976" y="1079"/>
                  </a:lnTo>
                  <a:lnTo>
                    <a:pt x="2002" y="1168"/>
                  </a:lnTo>
                  <a:lnTo>
                    <a:pt x="2024" y="1266"/>
                  </a:lnTo>
                  <a:lnTo>
                    <a:pt x="2039" y="1365"/>
                  </a:lnTo>
                  <a:lnTo>
                    <a:pt x="2049" y="1466"/>
                  </a:lnTo>
                  <a:lnTo>
                    <a:pt x="2052" y="1566"/>
                  </a:lnTo>
                  <a:lnTo>
                    <a:pt x="2048" y="1666"/>
                  </a:lnTo>
                  <a:lnTo>
                    <a:pt x="2037" y="1765"/>
                  </a:lnTo>
                  <a:lnTo>
                    <a:pt x="2021" y="1865"/>
                  </a:lnTo>
                  <a:lnTo>
                    <a:pt x="1998" y="1963"/>
                  </a:lnTo>
                  <a:lnTo>
                    <a:pt x="1991" y="1983"/>
                  </a:lnTo>
                  <a:lnTo>
                    <a:pt x="1979" y="2002"/>
                  </a:lnTo>
                  <a:lnTo>
                    <a:pt x="1965" y="2017"/>
                  </a:lnTo>
                  <a:lnTo>
                    <a:pt x="1947" y="2031"/>
                  </a:lnTo>
                  <a:lnTo>
                    <a:pt x="1929" y="2039"/>
                  </a:lnTo>
                  <a:lnTo>
                    <a:pt x="1910" y="2043"/>
                  </a:lnTo>
                  <a:lnTo>
                    <a:pt x="1892" y="2045"/>
                  </a:lnTo>
                  <a:lnTo>
                    <a:pt x="1876" y="2044"/>
                  </a:lnTo>
                  <a:lnTo>
                    <a:pt x="1863" y="2041"/>
                  </a:lnTo>
                  <a:lnTo>
                    <a:pt x="461" y="1667"/>
                  </a:lnTo>
                  <a:lnTo>
                    <a:pt x="461" y="1666"/>
                  </a:lnTo>
                  <a:lnTo>
                    <a:pt x="438" y="1658"/>
                  </a:lnTo>
                  <a:lnTo>
                    <a:pt x="418" y="1646"/>
                  </a:lnTo>
                  <a:lnTo>
                    <a:pt x="401" y="1629"/>
                  </a:lnTo>
                  <a:lnTo>
                    <a:pt x="389" y="1610"/>
                  </a:lnTo>
                  <a:lnTo>
                    <a:pt x="380" y="1587"/>
                  </a:lnTo>
                  <a:lnTo>
                    <a:pt x="4" y="189"/>
                  </a:lnTo>
                  <a:lnTo>
                    <a:pt x="0" y="167"/>
                  </a:lnTo>
                  <a:lnTo>
                    <a:pt x="1" y="146"/>
                  </a:lnTo>
                  <a:lnTo>
                    <a:pt x="6" y="124"/>
                  </a:lnTo>
                  <a:lnTo>
                    <a:pt x="15" y="105"/>
                  </a:lnTo>
                  <a:lnTo>
                    <a:pt x="28" y="86"/>
                  </a:lnTo>
                  <a:lnTo>
                    <a:pt x="43" y="72"/>
                  </a:lnTo>
                  <a:lnTo>
                    <a:pt x="62" y="61"/>
                  </a:lnTo>
                  <a:lnTo>
                    <a:pt x="82" y="52"/>
                  </a:lnTo>
                  <a:lnTo>
                    <a:pt x="181" y="30"/>
                  </a:lnTo>
                  <a:lnTo>
                    <a:pt x="280" y="14"/>
                  </a:lnTo>
                  <a:lnTo>
                    <a:pt x="381" y="3"/>
                  </a:lnTo>
                  <a:lnTo>
                    <a:pt x="48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380">
              <a:extLst>
                <a:ext uri="{FF2B5EF4-FFF2-40B4-BE49-F238E27FC236}">
                  <a16:creationId xmlns="" xmlns:a16="http://schemas.microsoft.com/office/drawing/2014/main" id="{6670798C-065A-7B4C-87A9-98382E38AA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96" y="776"/>
              <a:ext cx="280" cy="279"/>
            </a:xfrm>
            <a:custGeom>
              <a:avLst/>
              <a:gdLst>
                <a:gd name="T0" fmla="*/ 764 w 3078"/>
                <a:gd name="T1" fmla="*/ 2585 h 3069"/>
                <a:gd name="T2" fmla="*/ 979 w 3078"/>
                <a:gd name="T3" fmla="*/ 2715 h 3069"/>
                <a:gd name="T4" fmla="*/ 1211 w 3078"/>
                <a:gd name="T5" fmla="*/ 2801 h 3069"/>
                <a:gd name="T6" fmla="*/ 1452 w 3078"/>
                <a:gd name="T7" fmla="*/ 2843 h 3069"/>
                <a:gd name="T8" fmla="*/ 1698 w 3078"/>
                <a:gd name="T9" fmla="*/ 2841 h 3069"/>
                <a:gd name="T10" fmla="*/ 1938 w 3078"/>
                <a:gd name="T11" fmla="*/ 2795 h 3069"/>
                <a:gd name="T12" fmla="*/ 2169 w 3078"/>
                <a:gd name="T13" fmla="*/ 2704 h 3069"/>
                <a:gd name="T14" fmla="*/ 2382 w 3078"/>
                <a:gd name="T15" fmla="*/ 2570 h 3069"/>
                <a:gd name="T16" fmla="*/ 2571 w 3078"/>
                <a:gd name="T17" fmla="*/ 2394 h 3069"/>
                <a:gd name="T18" fmla="*/ 2720 w 3078"/>
                <a:gd name="T19" fmla="*/ 2190 h 3069"/>
                <a:gd name="T20" fmla="*/ 2827 w 3078"/>
                <a:gd name="T21" fmla="*/ 1963 h 3069"/>
                <a:gd name="T22" fmla="*/ 1032 w 3078"/>
                <a:gd name="T23" fmla="*/ 281 h 3069"/>
                <a:gd name="T24" fmla="*/ 810 w 3078"/>
                <a:gd name="T25" fmla="*/ 403 h 3069"/>
                <a:gd name="T26" fmla="*/ 615 w 3078"/>
                <a:gd name="T27" fmla="*/ 564 h 3069"/>
                <a:gd name="T28" fmla="*/ 451 w 3078"/>
                <a:gd name="T29" fmla="*/ 762 h 3069"/>
                <a:gd name="T30" fmla="*/ 331 w 3078"/>
                <a:gd name="T31" fmla="*/ 982 h 3069"/>
                <a:gd name="T32" fmla="*/ 255 w 3078"/>
                <a:gd name="T33" fmla="*/ 1216 h 3069"/>
                <a:gd name="T34" fmla="*/ 224 w 3078"/>
                <a:gd name="T35" fmla="*/ 1458 h 3069"/>
                <a:gd name="T36" fmla="*/ 236 w 3078"/>
                <a:gd name="T37" fmla="*/ 1702 h 3069"/>
                <a:gd name="T38" fmla="*/ 293 w 3078"/>
                <a:gd name="T39" fmla="*/ 1940 h 3069"/>
                <a:gd name="T40" fmla="*/ 394 w 3078"/>
                <a:gd name="T41" fmla="*/ 2166 h 3069"/>
                <a:gd name="T42" fmla="*/ 540 w 3078"/>
                <a:gd name="T43" fmla="*/ 2375 h 3069"/>
                <a:gd name="T44" fmla="*/ 1181 w 3078"/>
                <a:gd name="T45" fmla="*/ 0 h 3069"/>
                <a:gd name="T46" fmla="*/ 1243 w 3078"/>
                <a:gd name="T47" fmla="*/ 14 h 3069"/>
                <a:gd name="T48" fmla="*/ 1287 w 3078"/>
                <a:gd name="T49" fmla="*/ 61 h 3069"/>
                <a:gd name="T50" fmla="*/ 2996 w 3078"/>
                <a:gd name="T51" fmla="*/ 1778 h 3069"/>
                <a:gd name="T52" fmla="*/ 3052 w 3078"/>
                <a:gd name="T53" fmla="*/ 1812 h 3069"/>
                <a:gd name="T54" fmla="*/ 3077 w 3078"/>
                <a:gd name="T55" fmla="*/ 1869 h 3069"/>
                <a:gd name="T56" fmla="*/ 3049 w 3078"/>
                <a:gd name="T57" fmla="*/ 2000 h 3069"/>
                <a:gd name="T58" fmla="*/ 2941 w 3078"/>
                <a:gd name="T59" fmla="*/ 2250 h 3069"/>
                <a:gd name="T60" fmla="*/ 2791 w 3078"/>
                <a:gd name="T61" fmla="*/ 2476 h 3069"/>
                <a:gd name="T62" fmla="*/ 2603 w 3078"/>
                <a:gd name="T63" fmla="*/ 2676 h 3069"/>
                <a:gd name="T64" fmla="*/ 2388 w 3078"/>
                <a:gd name="T65" fmla="*/ 2836 h 3069"/>
                <a:gd name="T66" fmla="*/ 2152 w 3078"/>
                <a:gd name="T67" fmla="*/ 2955 h 3069"/>
                <a:gd name="T68" fmla="*/ 1905 w 3078"/>
                <a:gd name="T69" fmla="*/ 3032 h 3069"/>
                <a:gd name="T70" fmla="*/ 1649 w 3078"/>
                <a:gd name="T71" fmla="*/ 3067 h 3069"/>
                <a:gd name="T72" fmla="*/ 1392 w 3078"/>
                <a:gd name="T73" fmla="*/ 3060 h 3069"/>
                <a:gd name="T74" fmla="*/ 1139 w 3078"/>
                <a:gd name="T75" fmla="*/ 3010 h 3069"/>
                <a:gd name="T76" fmla="*/ 895 w 3078"/>
                <a:gd name="T77" fmla="*/ 2919 h 3069"/>
                <a:gd name="T78" fmla="*/ 666 w 3078"/>
                <a:gd name="T79" fmla="*/ 2787 h 3069"/>
                <a:gd name="T80" fmla="*/ 458 w 3078"/>
                <a:gd name="T81" fmla="*/ 2612 h 3069"/>
                <a:gd name="T82" fmla="*/ 275 w 3078"/>
                <a:gd name="T83" fmla="*/ 2394 h 3069"/>
                <a:gd name="T84" fmla="*/ 137 w 3078"/>
                <a:gd name="T85" fmla="*/ 2150 h 3069"/>
                <a:gd name="T86" fmla="*/ 45 w 3078"/>
                <a:gd name="T87" fmla="*/ 1886 h 3069"/>
                <a:gd name="T88" fmla="*/ 2 w 3078"/>
                <a:gd name="T89" fmla="*/ 1605 h 3069"/>
                <a:gd name="T90" fmla="*/ 11 w 3078"/>
                <a:gd name="T91" fmla="*/ 1320 h 3069"/>
                <a:gd name="T92" fmla="*/ 70 w 3078"/>
                <a:gd name="T93" fmla="*/ 1045 h 3069"/>
                <a:gd name="T94" fmla="*/ 178 w 3078"/>
                <a:gd name="T95" fmla="*/ 786 h 3069"/>
                <a:gd name="T96" fmla="*/ 331 w 3078"/>
                <a:gd name="T97" fmla="*/ 550 h 3069"/>
                <a:gd name="T98" fmla="*/ 525 w 3078"/>
                <a:gd name="T99" fmla="*/ 345 h 3069"/>
                <a:gd name="T100" fmla="*/ 743 w 3078"/>
                <a:gd name="T101" fmla="*/ 182 h 3069"/>
                <a:gd name="T102" fmla="*/ 986 w 3078"/>
                <a:gd name="T103" fmla="*/ 60 h 3069"/>
                <a:gd name="T104" fmla="*/ 1181 w 3078"/>
                <a:gd name="T105" fmla="*/ 0 h 3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078" h="3069">
                  <a:moveTo>
                    <a:pt x="1597" y="1633"/>
                  </a:moveTo>
                  <a:lnTo>
                    <a:pt x="697" y="2532"/>
                  </a:lnTo>
                  <a:lnTo>
                    <a:pt x="764" y="2585"/>
                  </a:lnTo>
                  <a:lnTo>
                    <a:pt x="833" y="2633"/>
                  </a:lnTo>
                  <a:lnTo>
                    <a:pt x="905" y="2676"/>
                  </a:lnTo>
                  <a:lnTo>
                    <a:pt x="979" y="2715"/>
                  </a:lnTo>
                  <a:lnTo>
                    <a:pt x="1055" y="2748"/>
                  </a:lnTo>
                  <a:lnTo>
                    <a:pt x="1132" y="2777"/>
                  </a:lnTo>
                  <a:lnTo>
                    <a:pt x="1211" y="2801"/>
                  </a:lnTo>
                  <a:lnTo>
                    <a:pt x="1291" y="2820"/>
                  </a:lnTo>
                  <a:lnTo>
                    <a:pt x="1371" y="2833"/>
                  </a:lnTo>
                  <a:lnTo>
                    <a:pt x="1452" y="2843"/>
                  </a:lnTo>
                  <a:lnTo>
                    <a:pt x="1535" y="2847"/>
                  </a:lnTo>
                  <a:lnTo>
                    <a:pt x="1616" y="2847"/>
                  </a:lnTo>
                  <a:lnTo>
                    <a:pt x="1698" y="2841"/>
                  </a:lnTo>
                  <a:lnTo>
                    <a:pt x="1778" y="2830"/>
                  </a:lnTo>
                  <a:lnTo>
                    <a:pt x="1859" y="2815"/>
                  </a:lnTo>
                  <a:lnTo>
                    <a:pt x="1938" y="2795"/>
                  </a:lnTo>
                  <a:lnTo>
                    <a:pt x="2016" y="2770"/>
                  </a:lnTo>
                  <a:lnTo>
                    <a:pt x="2093" y="2739"/>
                  </a:lnTo>
                  <a:lnTo>
                    <a:pt x="2169" y="2704"/>
                  </a:lnTo>
                  <a:lnTo>
                    <a:pt x="2242" y="2665"/>
                  </a:lnTo>
                  <a:lnTo>
                    <a:pt x="2314" y="2620"/>
                  </a:lnTo>
                  <a:lnTo>
                    <a:pt x="2382" y="2570"/>
                  </a:lnTo>
                  <a:lnTo>
                    <a:pt x="2449" y="2515"/>
                  </a:lnTo>
                  <a:lnTo>
                    <a:pt x="2513" y="2456"/>
                  </a:lnTo>
                  <a:lnTo>
                    <a:pt x="2571" y="2394"/>
                  </a:lnTo>
                  <a:lnTo>
                    <a:pt x="2625" y="2329"/>
                  </a:lnTo>
                  <a:lnTo>
                    <a:pt x="2675" y="2261"/>
                  </a:lnTo>
                  <a:lnTo>
                    <a:pt x="2720" y="2190"/>
                  </a:lnTo>
                  <a:lnTo>
                    <a:pt x="2760" y="2116"/>
                  </a:lnTo>
                  <a:lnTo>
                    <a:pt x="2796" y="2040"/>
                  </a:lnTo>
                  <a:lnTo>
                    <a:pt x="2827" y="1963"/>
                  </a:lnTo>
                  <a:lnTo>
                    <a:pt x="1597" y="1633"/>
                  </a:lnTo>
                  <a:close/>
                  <a:moveTo>
                    <a:pt x="1111" y="251"/>
                  </a:moveTo>
                  <a:lnTo>
                    <a:pt x="1032" y="281"/>
                  </a:lnTo>
                  <a:lnTo>
                    <a:pt x="956" y="317"/>
                  </a:lnTo>
                  <a:lnTo>
                    <a:pt x="882" y="358"/>
                  </a:lnTo>
                  <a:lnTo>
                    <a:pt x="810" y="403"/>
                  </a:lnTo>
                  <a:lnTo>
                    <a:pt x="742" y="452"/>
                  </a:lnTo>
                  <a:lnTo>
                    <a:pt x="676" y="506"/>
                  </a:lnTo>
                  <a:lnTo>
                    <a:pt x="615" y="564"/>
                  </a:lnTo>
                  <a:lnTo>
                    <a:pt x="555" y="627"/>
                  </a:lnTo>
                  <a:lnTo>
                    <a:pt x="500" y="694"/>
                  </a:lnTo>
                  <a:lnTo>
                    <a:pt x="451" y="762"/>
                  </a:lnTo>
                  <a:lnTo>
                    <a:pt x="405" y="834"/>
                  </a:lnTo>
                  <a:lnTo>
                    <a:pt x="365" y="906"/>
                  </a:lnTo>
                  <a:lnTo>
                    <a:pt x="331" y="982"/>
                  </a:lnTo>
                  <a:lnTo>
                    <a:pt x="301" y="1059"/>
                  </a:lnTo>
                  <a:lnTo>
                    <a:pt x="275" y="1137"/>
                  </a:lnTo>
                  <a:lnTo>
                    <a:pt x="255" y="1216"/>
                  </a:lnTo>
                  <a:lnTo>
                    <a:pt x="239" y="1296"/>
                  </a:lnTo>
                  <a:lnTo>
                    <a:pt x="229" y="1377"/>
                  </a:lnTo>
                  <a:lnTo>
                    <a:pt x="224" y="1458"/>
                  </a:lnTo>
                  <a:lnTo>
                    <a:pt x="223" y="1539"/>
                  </a:lnTo>
                  <a:lnTo>
                    <a:pt x="227" y="1621"/>
                  </a:lnTo>
                  <a:lnTo>
                    <a:pt x="236" y="1702"/>
                  </a:lnTo>
                  <a:lnTo>
                    <a:pt x="250" y="1781"/>
                  </a:lnTo>
                  <a:lnTo>
                    <a:pt x="269" y="1861"/>
                  </a:lnTo>
                  <a:lnTo>
                    <a:pt x="293" y="1940"/>
                  </a:lnTo>
                  <a:lnTo>
                    <a:pt x="321" y="2017"/>
                  </a:lnTo>
                  <a:lnTo>
                    <a:pt x="355" y="2093"/>
                  </a:lnTo>
                  <a:lnTo>
                    <a:pt x="394" y="2166"/>
                  </a:lnTo>
                  <a:lnTo>
                    <a:pt x="437" y="2238"/>
                  </a:lnTo>
                  <a:lnTo>
                    <a:pt x="487" y="2307"/>
                  </a:lnTo>
                  <a:lnTo>
                    <a:pt x="540" y="2375"/>
                  </a:lnTo>
                  <a:lnTo>
                    <a:pt x="1440" y="1476"/>
                  </a:lnTo>
                  <a:lnTo>
                    <a:pt x="1111" y="251"/>
                  </a:lnTo>
                  <a:close/>
                  <a:moveTo>
                    <a:pt x="1181" y="0"/>
                  </a:moveTo>
                  <a:lnTo>
                    <a:pt x="1203" y="1"/>
                  </a:lnTo>
                  <a:lnTo>
                    <a:pt x="1224" y="6"/>
                  </a:lnTo>
                  <a:lnTo>
                    <a:pt x="1243" y="14"/>
                  </a:lnTo>
                  <a:lnTo>
                    <a:pt x="1260" y="27"/>
                  </a:lnTo>
                  <a:lnTo>
                    <a:pt x="1275" y="43"/>
                  </a:lnTo>
                  <a:lnTo>
                    <a:pt x="1287" y="61"/>
                  </a:lnTo>
                  <a:lnTo>
                    <a:pt x="1294" y="82"/>
                  </a:lnTo>
                  <a:lnTo>
                    <a:pt x="1655" y="1419"/>
                  </a:lnTo>
                  <a:lnTo>
                    <a:pt x="2996" y="1778"/>
                  </a:lnTo>
                  <a:lnTo>
                    <a:pt x="3018" y="1786"/>
                  </a:lnTo>
                  <a:lnTo>
                    <a:pt x="3036" y="1798"/>
                  </a:lnTo>
                  <a:lnTo>
                    <a:pt x="3052" y="1812"/>
                  </a:lnTo>
                  <a:lnTo>
                    <a:pt x="3064" y="1830"/>
                  </a:lnTo>
                  <a:lnTo>
                    <a:pt x="3072" y="1849"/>
                  </a:lnTo>
                  <a:lnTo>
                    <a:pt x="3077" y="1869"/>
                  </a:lnTo>
                  <a:lnTo>
                    <a:pt x="3078" y="1892"/>
                  </a:lnTo>
                  <a:lnTo>
                    <a:pt x="3075" y="1913"/>
                  </a:lnTo>
                  <a:lnTo>
                    <a:pt x="3049" y="2000"/>
                  </a:lnTo>
                  <a:lnTo>
                    <a:pt x="3018" y="2085"/>
                  </a:lnTo>
                  <a:lnTo>
                    <a:pt x="2982" y="2169"/>
                  </a:lnTo>
                  <a:lnTo>
                    <a:pt x="2941" y="2250"/>
                  </a:lnTo>
                  <a:lnTo>
                    <a:pt x="2896" y="2328"/>
                  </a:lnTo>
                  <a:lnTo>
                    <a:pt x="2845" y="2404"/>
                  </a:lnTo>
                  <a:lnTo>
                    <a:pt x="2791" y="2476"/>
                  </a:lnTo>
                  <a:lnTo>
                    <a:pt x="2732" y="2546"/>
                  </a:lnTo>
                  <a:lnTo>
                    <a:pt x="2670" y="2612"/>
                  </a:lnTo>
                  <a:lnTo>
                    <a:pt x="2603" y="2676"/>
                  </a:lnTo>
                  <a:lnTo>
                    <a:pt x="2533" y="2734"/>
                  </a:lnTo>
                  <a:lnTo>
                    <a:pt x="2461" y="2787"/>
                  </a:lnTo>
                  <a:lnTo>
                    <a:pt x="2388" y="2836"/>
                  </a:lnTo>
                  <a:lnTo>
                    <a:pt x="2311" y="2880"/>
                  </a:lnTo>
                  <a:lnTo>
                    <a:pt x="2233" y="2919"/>
                  </a:lnTo>
                  <a:lnTo>
                    <a:pt x="2152" y="2955"/>
                  </a:lnTo>
                  <a:lnTo>
                    <a:pt x="2071" y="2985"/>
                  </a:lnTo>
                  <a:lnTo>
                    <a:pt x="1988" y="3010"/>
                  </a:lnTo>
                  <a:lnTo>
                    <a:pt x="1905" y="3032"/>
                  </a:lnTo>
                  <a:lnTo>
                    <a:pt x="1820" y="3048"/>
                  </a:lnTo>
                  <a:lnTo>
                    <a:pt x="1735" y="3060"/>
                  </a:lnTo>
                  <a:lnTo>
                    <a:pt x="1649" y="3067"/>
                  </a:lnTo>
                  <a:lnTo>
                    <a:pt x="1563" y="3069"/>
                  </a:lnTo>
                  <a:lnTo>
                    <a:pt x="1478" y="3067"/>
                  </a:lnTo>
                  <a:lnTo>
                    <a:pt x="1392" y="3060"/>
                  </a:lnTo>
                  <a:lnTo>
                    <a:pt x="1307" y="3048"/>
                  </a:lnTo>
                  <a:lnTo>
                    <a:pt x="1222" y="3032"/>
                  </a:lnTo>
                  <a:lnTo>
                    <a:pt x="1139" y="3010"/>
                  </a:lnTo>
                  <a:lnTo>
                    <a:pt x="1056" y="2985"/>
                  </a:lnTo>
                  <a:lnTo>
                    <a:pt x="975" y="2955"/>
                  </a:lnTo>
                  <a:lnTo>
                    <a:pt x="895" y="2919"/>
                  </a:lnTo>
                  <a:lnTo>
                    <a:pt x="817" y="2880"/>
                  </a:lnTo>
                  <a:lnTo>
                    <a:pt x="740" y="2836"/>
                  </a:lnTo>
                  <a:lnTo>
                    <a:pt x="666" y="2787"/>
                  </a:lnTo>
                  <a:lnTo>
                    <a:pt x="594" y="2734"/>
                  </a:lnTo>
                  <a:lnTo>
                    <a:pt x="525" y="2676"/>
                  </a:lnTo>
                  <a:lnTo>
                    <a:pt x="458" y="2612"/>
                  </a:lnTo>
                  <a:lnTo>
                    <a:pt x="392" y="2543"/>
                  </a:lnTo>
                  <a:lnTo>
                    <a:pt x="331" y="2470"/>
                  </a:lnTo>
                  <a:lnTo>
                    <a:pt x="275" y="2394"/>
                  </a:lnTo>
                  <a:lnTo>
                    <a:pt x="224" y="2316"/>
                  </a:lnTo>
                  <a:lnTo>
                    <a:pt x="178" y="2234"/>
                  </a:lnTo>
                  <a:lnTo>
                    <a:pt x="137" y="2150"/>
                  </a:lnTo>
                  <a:lnTo>
                    <a:pt x="101" y="2064"/>
                  </a:lnTo>
                  <a:lnTo>
                    <a:pt x="70" y="1976"/>
                  </a:lnTo>
                  <a:lnTo>
                    <a:pt x="45" y="1886"/>
                  </a:lnTo>
                  <a:lnTo>
                    <a:pt x="25" y="1794"/>
                  </a:lnTo>
                  <a:lnTo>
                    <a:pt x="11" y="1701"/>
                  </a:lnTo>
                  <a:lnTo>
                    <a:pt x="2" y="1605"/>
                  </a:lnTo>
                  <a:lnTo>
                    <a:pt x="0" y="1510"/>
                  </a:lnTo>
                  <a:lnTo>
                    <a:pt x="2" y="1414"/>
                  </a:lnTo>
                  <a:lnTo>
                    <a:pt x="11" y="1320"/>
                  </a:lnTo>
                  <a:lnTo>
                    <a:pt x="25" y="1227"/>
                  </a:lnTo>
                  <a:lnTo>
                    <a:pt x="45" y="1135"/>
                  </a:lnTo>
                  <a:lnTo>
                    <a:pt x="70" y="1045"/>
                  </a:lnTo>
                  <a:lnTo>
                    <a:pt x="101" y="957"/>
                  </a:lnTo>
                  <a:lnTo>
                    <a:pt x="137" y="870"/>
                  </a:lnTo>
                  <a:lnTo>
                    <a:pt x="178" y="786"/>
                  </a:lnTo>
                  <a:lnTo>
                    <a:pt x="224" y="705"/>
                  </a:lnTo>
                  <a:lnTo>
                    <a:pt x="275" y="626"/>
                  </a:lnTo>
                  <a:lnTo>
                    <a:pt x="331" y="550"/>
                  </a:lnTo>
                  <a:lnTo>
                    <a:pt x="392" y="477"/>
                  </a:lnTo>
                  <a:lnTo>
                    <a:pt x="458" y="407"/>
                  </a:lnTo>
                  <a:lnTo>
                    <a:pt x="525" y="345"/>
                  </a:lnTo>
                  <a:lnTo>
                    <a:pt x="594" y="286"/>
                  </a:lnTo>
                  <a:lnTo>
                    <a:pt x="667" y="232"/>
                  </a:lnTo>
                  <a:lnTo>
                    <a:pt x="743" y="182"/>
                  </a:lnTo>
                  <a:lnTo>
                    <a:pt x="822" y="137"/>
                  </a:lnTo>
                  <a:lnTo>
                    <a:pt x="903" y="96"/>
                  </a:lnTo>
                  <a:lnTo>
                    <a:pt x="986" y="60"/>
                  </a:lnTo>
                  <a:lnTo>
                    <a:pt x="1072" y="29"/>
                  </a:lnTo>
                  <a:lnTo>
                    <a:pt x="1159" y="4"/>
                  </a:lnTo>
                  <a:lnTo>
                    <a:pt x="118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79" name="Group 24">
            <a:extLst>
              <a:ext uri="{FF2B5EF4-FFF2-40B4-BE49-F238E27FC236}">
                <a16:creationId xmlns="" xmlns:a16="http://schemas.microsoft.com/office/drawing/2014/main" id="{46E21B00-AC2E-264E-BC91-CDA36C584FA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03660" y="4196726"/>
            <a:ext cx="197217" cy="324000"/>
            <a:chOff x="3494" y="865"/>
            <a:chExt cx="140" cy="230"/>
          </a:xfrm>
          <a:solidFill>
            <a:schemeClr val="bg1"/>
          </a:solidFill>
        </p:grpSpPr>
        <p:sp>
          <p:nvSpPr>
            <p:cNvPr id="80" name="Freeform 26">
              <a:extLst>
                <a:ext uri="{FF2B5EF4-FFF2-40B4-BE49-F238E27FC236}">
                  <a16:creationId xmlns="" xmlns:a16="http://schemas.microsoft.com/office/drawing/2014/main" id="{1E9DBFC2-6F6C-A944-9169-0D4967591B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7" y="865"/>
              <a:ext cx="13" cy="17"/>
            </a:xfrm>
            <a:custGeom>
              <a:avLst/>
              <a:gdLst>
                <a:gd name="T0" fmla="*/ 102 w 204"/>
                <a:gd name="T1" fmla="*/ 0 h 252"/>
                <a:gd name="T2" fmla="*/ 125 w 204"/>
                <a:gd name="T3" fmla="*/ 3 h 252"/>
                <a:gd name="T4" fmla="*/ 147 w 204"/>
                <a:gd name="T5" fmla="*/ 11 h 252"/>
                <a:gd name="T6" fmla="*/ 166 w 204"/>
                <a:gd name="T7" fmla="*/ 22 h 252"/>
                <a:gd name="T8" fmla="*/ 182 w 204"/>
                <a:gd name="T9" fmla="*/ 39 h 252"/>
                <a:gd name="T10" fmla="*/ 193 w 204"/>
                <a:gd name="T11" fmla="*/ 58 h 252"/>
                <a:gd name="T12" fmla="*/ 202 w 204"/>
                <a:gd name="T13" fmla="*/ 79 h 252"/>
                <a:gd name="T14" fmla="*/ 204 w 204"/>
                <a:gd name="T15" fmla="*/ 103 h 252"/>
                <a:gd name="T16" fmla="*/ 204 w 204"/>
                <a:gd name="T17" fmla="*/ 252 h 252"/>
                <a:gd name="T18" fmla="*/ 0 w 204"/>
                <a:gd name="T19" fmla="*/ 252 h 252"/>
                <a:gd name="T20" fmla="*/ 0 w 204"/>
                <a:gd name="T21" fmla="*/ 103 h 252"/>
                <a:gd name="T22" fmla="*/ 3 w 204"/>
                <a:gd name="T23" fmla="*/ 79 h 252"/>
                <a:gd name="T24" fmla="*/ 10 w 204"/>
                <a:gd name="T25" fmla="*/ 58 h 252"/>
                <a:gd name="T26" fmla="*/ 22 w 204"/>
                <a:gd name="T27" fmla="*/ 39 h 252"/>
                <a:gd name="T28" fmla="*/ 38 w 204"/>
                <a:gd name="T29" fmla="*/ 22 h 252"/>
                <a:gd name="T30" fmla="*/ 57 w 204"/>
                <a:gd name="T31" fmla="*/ 11 h 252"/>
                <a:gd name="T32" fmla="*/ 78 w 204"/>
                <a:gd name="T33" fmla="*/ 3 h 252"/>
                <a:gd name="T34" fmla="*/ 102 w 204"/>
                <a:gd name="T35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4" h="252">
                  <a:moveTo>
                    <a:pt x="102" y="0"/>
                  </a:moveTo>
                  <a:lnTo>
                    <a:pt x="125" y="3"/>
                  </a:lnTo>
                  <a:lnTo>
                    <a:pt x="147" y="11"/>
                  </a:lnTo>
                  <a:lnTo>
                    <a:pt x="166" y="22"/>
                  </a:lnTo>
                  <a:lnTo>
                    <a:pt x="182" y="39"/>
                  </a:lnTo>
                  <a:lnTo>
                    <a:pt x="193" y="58"/>
                  </a:lnTo>
                  <a:lnTo>
                    <a:pt x="202" y="79"/>
                  </a:lnTo>
                  <a:lnTo>
                    <a:pt x="204" y="103"/>
                  </a:lnTo>
                  <a:lnTo>
                    <a:pt x="204" y="252"/>
                  </a:lnTo>
                  <a:lnTo>
                    <a:pt x="0" y="252"/>
                  </a:lnTo>
                  <a:lnTo>
                    <a:pt x="0" y="103"/>
                  </a:lnTo>
                  <a:lnTo>
                    <a:pt x="3" y="79"/>
                  </a:lnTo>
                  <a:lnTo>
                    <a:pt x="10" y="58"/>
                  </a:lnTo>
                  <a:lnTo>
                    <a:pt x="22" y="39"/>
                  </a:lnTo>
                  <a:lnTo>
                    <a:pt x="38" y="22"/>
                  </a:lnTo>
                  <a:lnTo>
                    <a:pt x="57" y="11"/>
                  </a:lnTo>
                  <a:lnTo>
                    <a:pt x="78" y="3"/>
                  </a:lnTo>
                  <a:lnTo>
                    <a:pt x="10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27">
              <a:extLst>
                <a:ext uri="{FF2B5EF4-FFF2-40B4-BE49-F238E27FC236}">
                  <a16:creationId xmlns="" xmlns:a16="http://schemas.microsoft.com/office/drawing/2014/main" id="{24636603-49D5-5C45-9F50-6051E882FC6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4" y="889"/>
              <a:ext cx="140" cy="46"/>
            </a:xfrm>
            <a:custGeom>
              <a:avLst/>
              <a:gdLst>
                <a:gd name="T0" fmla="*/ 23 w 2097"/>
                <a:gd name="T1" fmla="*/ 0 h 689"/>
                <a:gd name="T2" fmla="*/ 1843 w 2097"/>
                <a:gd name="T3" fmla="*/ 0 h 689"/>
                <a:gd name="T4" fmla="*/ 1864 w 2097"/>
                <a:gd name="T5" fmla="*/ 2 h 689"/>
                <a:gd name="T6" fmla="*/ 1883 w 2097"/>
                <a:gd name="T7" fmla="*/ 10 h 689"/>
                <a:gd name="T8" fmla="*/ 1900 w 2097"/>
                <a:gd name="T9" fmla="*/ 22 h 689"/>
                <a:gd name="T10" fmla="*/ 1913 w 2097"/>
                <a:gd name="T11" fmla="*/ 38 h 689"/>
                <a:gd name="T12" fmla="*/ 2086 w 2097"/>
                <a:gd name="T13" fmla="*/ 309 h 689"/>
                <a:gd name="T14" fmla="*/ 2095 w 2097"/>
                <a:gd name="T15" fmla="*/ 327 h 689"/>
                <a:gd name="T16" fmla="*/ 2097 w 2097"/>
                <a:gd name="T17" fmla="*/ 344 h 689"/>
                <a:gd name="T18" fmla="*/ 2095 w 2097"/>
                <a:gd name="T19" fmla="*/ 363 h 689"/>
                <a:gd name="T20" fmla="*/ 2086 w 2097"/>
                <a:gd name="T21" fmla="*/ 380 h 689"/>
                <a:gd name="T22" fmla="*/ 1913 w 2097"/>
                <a:gd name="T23" fmla="*/ 651 h 689"/>
                <a:gd name="T24" fmla="*/ 1900 w 2097"/>
                <a:gd name="T25" fmla="*/ 667 h 689"/>
                <a:gd name="T26" fmla="*/ 1883 w 2097"/>
                <a:gd name="T27" fmla="*/ 679 h 689"/>
                <a:gd name="T28" fmla="*/ 1864 w 2097"/>
                <a:gd name="T29" fmla="*/ 687 h 689"/>
                <a:gd name="T30" fmla="*/ 1843 w 2097"/>
                <a:gd name="T31" fmla="*/ 689 h 689"/>
                <a:gd name="T32" fmla="*/ 23 w 2097"/>
                <a:gd name="T33" fmla="*/ 689 h 689"/>
                <a:gd name="T34" fmla="*/ 14 w 2097"/>
                <a:gd name="T35" fmla="*/ 687 h 689"/>
                <a:gd name="T36" fmla="*/ 5 w 2097"/>
                <a:gd name="T37" fmla="*/ 680 h 689"/>
                <a:gd name="T38" fmla="*/ 1 w 2097"/>
                <a:gd name="T39" fmla="*/ 672 h 689"/>
                <a:gd name="T40" fmla="*/ 0 w 2097"/>
                <a:gd name="T41" fmla="*/ 663 h 689"/>
                <a:gd name="T42" fmla="*/ 3 w 2097"/>
                <a:gd name="T43" fmla="*/ 652 h 689"/>
                <a:gd name="T44" fmla="*/ 192 w 2097"/>
                <a:gd name="T45" fmla="*/ 358 h 689"/>
                <a:gd name="T46" fmla="*/ 195 w 2097"/>
                <a:gd name="T47" fmla="*/ 350 h 689"/>
                <a:gd name="T48" fmla="*/ 195 w 2097"/>
                <a:gd name="T49" fmla="*/ 340 h 689"/>
                <a:gd name="T50" fmla="*/ 192 w 2097"/>
                <a:gd name="T51" fmla="*/ 332 h 689"/>
                <a:gd name="T52" fmla="*/ 3 w 2097"/>
                <a:gd name="T53" fmla="*/ 37 h 689"/>
                <a:gd name="T54" fmla="*/ 0 w 2097"/>
                <a:gd name="T55" fmla="*/ 26 h 689"/>
                <a:gd name="T56" fmla="*/ 0 w 2097"/>
                <a:gd name="T57" fmla="*/ 17 h 689"/>
                <a:gd name="T58" fmla="*/ 5 w 2097"/>
                <a:gd name="T59" fmla="*/ 8 h 689"/>
                <a:gd name="T60" fmla="*/ 13 w 2097"/>
                <a:gd name="T61" fmla="*/ 2 h 689"/>
                <a:gd name="T62" fmla="*/ 23 w 2097"/>
                <a:gd name="T63" fmla="*/ 0 h 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097" h="689">
                  <a:moveTo>
                    <a:pt x="23" y="0"/>
                  </a:moveTo>
                  <a:lnTo>
                    <a:pt x="1843" y="0"/>
                  </a:lnTo>
                  <a:lnTo>
                    <a:pt x="1864" y="2"/>
                  </a:lnTo>
                  <a:lnTo>
                    <a:pt x="1883" y="10"/>
                  </a:lnTo>
                  <a:lnTo>
                    <a:pt x="1900" y="22"/>
                  </a:lnTo>
                  <a:lnTo>
                    <a:pt x="1913" y="38"/>
                  </a:lnTo>
                  <a:lnTo>
                    <a:pt x="2086" y="309"/>
                  </a:lnTo>
                  <a:lnTo>
                    <a:pt x="2095" y="327"/>
                  </a:lnTo>
                  <a:lnTo>
                    <a:pt x="2097" y="344"/>
                  </a:lnTo>
                  <a:lnTo>
                    <a:pt x="2095" y="363"/>
                  </a:lnTo>
                  <a:lnTo>
                    <a:pt x="2086" y="380"/>
                  </a:lnTo>
                  <a:lnTo>
                    <a:pt x="1913" y="651"/>
                  </a:lnTo>
                  <a:lnTo>
                    <a:pt x="1900" y="667"/>
                  </a:lnTo>
                  <a:lnTo>
                    <a:pt x="1883" y="679"/>
                  </a:lnTo>
                  <a:lnTo>
                    <a:pt x="1864" y="687"/>
                  </a:lnTo>
                  <a:lnTo>
                    <a:pt x="1843" y="689"/>
                  </a:lnTo>
                  <a:lnTo>
                    <a:pt x="23" y="689"/>
                  </a:lnTo>
                  <a:lnTo>
                    <a:pt x="14" y="687"/>
                  </a:lnTo>
                  <a:lnTo>
                    <a:pt x="5" y="680"/>
                  </a:lnTo>
                  <a:lnTo>
                    <a:pt x="1" y="672"/>
                  </a:lnTo>
                  <a:lnTo>
                    <a:pt x="0" y="663"/>
                  </a:lnTo>
                  <a:lnTo>
                    <a:pt x="3" y="652"/>
                  </a:lnTo>
                  <a:lnTo>
                    <a:pt x="192" y="358"/>
                  </a:lnTo>
                  <a:lnTo>
                    <a:pt x="195" y="350"/>
                  </a:lnTo>
                  <a:lnTo>
                    <a:pt x="195" y="340"/>
                  </a:lnTo>
                  <a:lnTo>
                    <a:pt x="192" y="332"/>
                  </a:lnTo>
                  <a:lnTo>
                    <a:pt x="3" y="37"/>
                  </a:lnTo>
                  <a:lnTo>
                    <a:pt x="0" y="26"/>
                  </a:lnTo>
                  <a:lnTo>
                    <a:pt x="0" y="17"/>
                  </a:lnTo>
                  <a:lnTo>
                    <a:pt x="5" y="8"/>
                  </a:lnTo>
                  <a:lnTo>
                    <a:pt x="13" y="2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28">
              <a:extLst>
                <a:ext uri="{FF2B5EF4-FFF2-40B4-BE49-F238E27FC236}">
                  <a16:creationId xmlns="" xmlns:a16="http://schemas.microsoft.com/office/drawing/2014/main" id="{975A4523-B68E-FB49-87ED-B32649CFF9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8" y="958"/>
              <a:ext cx="56" cy="46"/>
            </a:xfrm>
            <a:custGeom>
              <a:avLst/>
              <a:gdLst>
                <a:gd name="T0" fmla="*/ 0 w 844"/>
                <a:gd name="T1" fmla="*/ 0 h 690"/>
                <a:gd name="T2" fmla="*/ 821 w 844"/>
                <a:gd name="T3" fmla="*/ 0 h 690"/>
                <a:gd name="T4" fmla="*/ 830 w 844"/>
                <a:gd name="T5" fmla="*/ 3 h 690"/>
                <a:gd name="T6" fmla="*/ 839 w 844"/>
                <a:gd name="T7" fmla="*/ 9 h 690"/>
                <a:gd name="T8" fmla="*/ 843 w 844"/>
                <a:gd name="T9" fmla="*/ 17 h 690"/>
                <a:gd name="T10" fmla="*/ 844 w 844"/>
                <a:gd name="T11" fmla="*/ 28 h 690"/>
                <a:gd name="T12" fmla="*/ 841 w 844"/>
                <a:gd name="T13" fmla="*/ 37 h 690"/>
                <a:gd name="T14" fmla="*/ 651 w 844"/>
                <a:gd name="T15" fmla="*/ 332 h 690"/>
                <a:gd name="T16" fmla="*/ 648 w 844"/>
                <a:gd name="T17" fmla="*/ 341 h 690"/>
                <a:gd name="T18" fmla="*/ 648 w 844"/>
                <a:gd name="T19" fmla="*/ 349 h 690"/>
                <a:gd name="T20" fmla="*/ 651 w 844"/>
                <a:gd name="T21" fmla="*/ 357 h 690"/>
                <a:gd name="T22" fmla="*/ 840 w 844"/>
                <a:gd name="T23" fmla="*/ 654 h 690"/>
                <a:gd name="T24" fmla="*/ 844 w 844"/>
                <a:gd name="T25" fmla="*/ 663 h 690"/>
                <a:gd name="T26" fmla="*/ 843 w 844"/>
                <a:gd name="T27" fmla="*/ 673 h 690"/>
                <a:gd name="T28" fmla="*/ 839 w 844"/>
                <a:gd name="T29" fmla="*/ 682 h 690"/>
                <a:gd name="T30" fmla="*/ 830 w 844"/>
                <a:gd name="T31" fmla="*/ 688 h 690"/>
                <a:gd name="T32" fmla="*/ 820 w 844"/>
                <a:gd name="T33" fmla="*/ 690 h 690"/>
                <a:gd name="T34" fmla="*/ 0 w 844"/>
                <a:gd name="T35" fmla="*/ 690 h 690"/>
                <a:gd name="T36" fmla="*/ 0 w 844"/>
                <a:gd name="T37" fmla="*/ 0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44" h="690">
                  <a:moveTo>
                    <a:pt x="0" y="0"/>
                  </a:moveTo>
                  <a:lnTo>
                    <a:pt x="821" y="0"/>
                  </a:lnTo>
                  <a:lnTo>
                    <a:pt x="830" y="3"/>
                  </a:lnTo>
                  <a:lnTo>
                    <a:pt x="839" y="9"/>
                  </a:lnTo>
                  <a:lnTo>
                    <a:pt x="843" y="17"/>
                  </a:lnTo>
                  <a:lnTo>
                    <a:pt x="844" y="28"/>
                  </a:lnTo>
                  <a:lnTo>
                    <a:pt x="841" y="37"/>
                  </a:lnTo>
                  <a:lnTo>
                    <a:pt x="651" y="332"/>
                  </a:lnTo>
                  <a:lnTo>
                    <a:pt x="648" y="341"/>
                  </a:lnTo>
                  <a:lnTo>
                    <a:pt x="648" y="349"/>
                  </a:lnTo>
                  <a:lnTo>
                    <a:pt x="651" y="357"/>
                  </a:lnTo>
                  <a:lnTo>
                    <a:pt x="840" y="654"/>
                  </a:lnTo>
                  <a:lnTo>
                    <a:pt x="844" y="663"/>
                  </a:lnTo>
                  <a:lnTo>
                    <a:pt x="843" y="673"/>
                  </a:lnTo>
                  <a:lnTo>
                    <a:pt x="839" y="682"/>
                  </a:lnTo>
                  <a:lnTo>
                    <a:pt x="830" y="688"/>
                  </a:lnTo>
                  <a:lnTo>
                    <a:pt x="820" y="690"/>
                  </a:lnTo>
                  <a:lnTo>
                    <a:pt x="0" y="69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Freeform 29">
              <a:extLst>
                <a:ext uri="{FF2B5EF4-FFF2-40B4-BE49-F238E27FC236}">
                  <a16:creationId xmlns="" xmlns:a16="http://schemas.microsoft.com/office/drawing/2014/main" id="{CDA131F3-F4C3-9B41-95EF-C5578C8081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4" y="958"/>
              <a:ext cx="56" cy="46"/>
            </a:xfrm>
            <a:custGeom>
              <a:avLst/>
              <a:gdLst>
                <a:gd name="T0" fmla="*/ 254 w 838"/>
                <a:gd name="T1" fmla="*/ 0 h 690"/>
                <a:gd name="T2" fmla="*/ 838 w 838"/>
                <a:gd name="T3" fmla="*/ 0 h 690"/>
                <a:gd name="T4" fmla="*/ 838 w 838"/>
                <a:gd name="T5" fmla="*/ 690 h 690"/>
                <a:gd name="T6" fmla="*/ 254 w 838"/>
                <a:gd name="T7" fmla="*/ 690 h 690"/>
                <a:gd name="T8" fmla="*/ 233 w 838"/>
                <a:gd name="T9" fmla="*/ 687 h 690"/>
                <a:gd name="T10" fmla="*/ 214 w 838"/>
                <a:gd name="T11" fmla="*/ 680 h 690"/>
                <a:gd name="T12" fmla="*/ 197 w 838"/>
                <a:gd name="T13" fmla="*/ 668 h 690"/>
                <a:gd name="T14" fmla="*/ 183 w 838"/>
                <a:gd name="T15" fmla="*/ 651 h 690"/>
                <a:gd name="T16" fmla="*/ 10 w 838"/>
                <a:gd name="T17" fmla="*/ 381 h 690"/>
                <a:gd name="T18" fmla="*/ 3 w 838"/>
                <a:gd name="T19" fmla="*/ 364 h 690"/>
                <a:gd name="T20" fmla="*/ 0 w 838"/>
                <a:gd name="T21" fmla="*/ 345 h 690"/>
                <a:gd name="T22" fmla="*/ 3 w 838"/>
                <a:gd name="T23" fmla="*/ 327 h 690"/>
                <a:gd name="T24" fmla="*/ 10 w 838"/>
                <a:gd name="T25" fmla="*/ 309 h 690"/>
                <a:gd name="T26" fmla="*/ 183 w 838"/>
                <a:gd name="T27" fmla="*/ 38 h 690"/>
                <a:gd name="T28" fmla="*/ 197 w 838"/>
                <a:gd name="T29" fmla="*/ 22 h 690"/>
                <a:gd name="T30" fmla="*/ 214 w 838"/>
                <a:gd name="T31" fmla="*/ 11 h 690"/>
                <a:gd name="T32" fmla="*/ 233 w 838"/>
                <a:gd name="T33" fmla="*/ 4 h 690"/>
                <a:gd name="T34" fmla="*/ 254 w 838"/>
                <a:gd name="T35" fmla="*/ 0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38" h="690">
                  <a:moveTo>
                    <a:pt x="254" y="0"/>
                  </a:moveTo>
                  <a:lnTo>
                    <a:pt x="838" y="0"/>
                  </a:lnTo>
                  <a:lnTo>
                    <a:pt x="838" y="690"/>
                  </a:lnTo>
                  <a:lnTo>
                    <a:pt x="254" y="690"/>
                  </a:lnTo>
                  <a:lnTo>
                    <a:pt x="233" y="687"/>
                  </a:lnTo>
                  <a:lnTo>
                    <a:pt x="214" y="680"/>
                  </a:lnTo>
                  <a:lnTo>
                    <a:pt x="197" y="668"/>
                  </a:lnTo>
                  <a:lnTo>
                    <a:pt x="183" y="651"/>
                  </a:lnTo>
                  <a:lnTo>
                    <a:pt x="10" y="381"/>
                  </a:lnTo>
                  <a:lnTo>
                    <a:pt x="3" y="364"/>
                  </a:lnTo>
                  <a:lnTo>
                    <a:pt x="0" y="345"/>
                  </a:lnTo>
                  <a:lnTo>
                    <a:pt x="3" y="327"/>
                  </a:lnTo>
                  <a:lnTo>
                    <a:pt x="10" y="309"/>
                  </a:lnTo>
                  <a:lnTo>
                    <a:pt x="183" y="38"/>
                  </a:lnTo>
                  <a:lnTo>
                    <a:pt x="197" y="22"/>
                  </a:lnTo>
                  <a:lnTo>
                    <a:pt x="214" y="11"/>
                  </a:lnTo>
                  <a:lnTo>
                    <a:pt x="233" y="4"/>
                  </a:lnTo>
                  <a:lnTo>
                    <a:pt x="2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Freeform 30">
              <a:extLst>
                <a:ext uri="{FF2B5EF4-FFF2-40B4-BE49-F238E27FC236}">
                  <a16:creationId xmlns="" xmlns:a16="http://schemas.microsoft.com/office/drawing/2014/main" id="{2B4312EC-84EC-A44D-8691-57FFFA7042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3" y="942"/>
              <a:ext cx="62" cy="153"/>
            </a:xfrm>
            <a:custGeom>
              <a:avLst/>
              <a:gdLst>
                <a:gd name="T0" fmla="*/ 361 w 926"/>
                <a:gd name="T1" fmla="*/ 0 h 2303"/>
                <a:gd name="T2" fmla="*/ 565 w 926"/>
                <a:gd name="T3" fmla="*/ 0 h 2303"/>
                <a:gd name="T4" fmla="*/ 565 w 926"/>
                <a:gd name="T5" fmla="*/ 1945 h 2303"/>
                <a:gd name="T6" fmla="*/ 786 w 926"/>
                <a:gd name="T7" fmla="*/ 1945 h 2303"/>
                <a:gd name="T8" fmla="*/ 815 w 926"/>
                <a:gd name="T9" fmla="*/ 1947 h 2303"/>
                <a:gd name="T10" fmla="*/ 841 w 926"/>
                <a:gd name="T11" fmla="*/ 1955 h 2303"/>
                <a:gd name="T12" fmla="*/ 864 w 926"/>
                <a:gd name="T13" fmla="*/ 1968 h 2303"/>
                <a:gd name="T14" fmla="*/ 885 w 926"/>
                <a:gd name="T15" fmla="*/ 1985 h 2303"/>
                <a:gd name="T16" fmla="*/ 902 w 926"/>
                <a:gd name="T17" fmla="*/ 2005 h 2303"/>
                <a:gd name="T18" fmla="*/ 914 w 926"/>
                <a:gd name="T19" fmla="*/ 2030 h 2303"/>
                <a:gd name="T20" fmla="*/ 922 w 926"/>
                <a:gd name="T21" fmla="*/ 2056 h 2303"/>
                <a:gd name="T22" fmla="*/ 926 w 926"/>
                <a:gd name="T23" fmla="*/ 2083 h 2303"/>
                <a:gd name="T24" fmla="*/ 926 w 926"/>
                <a:gd name="T25" fmla="*/ 2303 h 2303"/>
                <a:gd name="T26" fmla="*/ 0 w 926"/>
                <a:gd name="T27" fmla="*/ 2303 h 2303"/>
                <a:gd name="T28" fmla="*/ 0 w 926"/>
                <a:gd name="T29" fmla="*/ 2083 h 2303"/>
                <a:gd name="T30" fmla="*/ 3 w 926"/>
                <a:gd name="T31" fmla="*/ 2056 h 2303"/>
                <a:gd name="T32" fmla="*/ 11 w 926"/>
                <a:gd name="T33" fmla="*/ 2030 h 2303"/>
                <a:gd name="T34" fmla="*/ 24 w 926"/>
                <a:gd name="T35" fmla="*/ 2005 h 2303"/>
                <a:gd name="T36" fmla="*/ 41 w 926"/>
                <a:gd name="T37" fmla="*/ 1985 h 2303"/>
                <a:gd name="T38" fmla="*/ 62 w 926"/>
                <a:gd name="T39" fmla="*/ 1968 h 2303"/>
                <a:gd name="T40" fmla="*/ 85 w 926"/>
                <a:gd name="T41" fmla="*/ 1955 h 2303"/>
                <a:gd name="T42" fmla="*/ 111 w 926"/>
                <a:gd name="T43" fmla="*/ 1947 h 2303"/>
                <a:gd name="T44" fmla="*/ 139 w 926"/>
                <a:gd name="T45" fmla="*/ 1945 h 2303"/>
                <a:gd name="T46" fmla="*/ 361 w 926"/>
                <a:gd name="T47" fmla="*/ 1945 h 2303"/>
                <a:gd name="T48" fmla="*/ 361 w 926"/>
                <a:gd name="T49" fmla="*/ 0 h 2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926" h="2303">
                  <a:moveTo>
                    <a:pt x="361" y="0"/>
                  </a:moveTo>
                  <a:lnTo>
                    <a:pt x="565" y="0"/>
                  </a:lnTo>
                  <a:lnTo>
                    <a:pt x="565" y="1945"/>
                  </a:lnTo>
                  <a:lnTo>
                    <a:pt x="786" y="1945"/>
                  </a:lnTo>
                  <a:lnTo>
                    <a:pt x="815" y="1947"/>
                  </a:lnTo>
                  <a:lnTo>
                    <a:pt x="841" y="1955"/>
                  </a:lnTo>
                  <a:lnTo>
                    <a:pt x="864" y="1968"/>
                  </a:lnTo>
                  <a:lnTo>
                    <a:pt x="885" y="1985"/>
                  </a:lnTo>
                  <a:lnTo>
                    <a:pt x="902" y="2005"/>
                  </a:lnTo>
                  <a:lnTo>
                    <a:pt x="914" y="2030"/>
                  </a:lnTo>
                  <a:lnTo>
                    <a:pt x="922" y="2056"/>
                  </a:lnTo>
                  <a:lnTo>
                    <a:pt x="926" y="2083"/>
                  </a:lnTo>
                  <a:lnTo>
                    <a:pt x="926" y="2303"/>
                  </a:lnTo>
                  <a:lnTo>
                    <a:pt x="0" y="2303"/>
                  </a:lnTo>
                  <a:lnTo>
                    <a:pt x="0" y="2083"/>
                  </a:lnTo>
                  <a:lnTo>
                    <a:pt x="3" y="2056"/>
                  </a:lnTo>
                  <a:lnTo>
                    <a:pt x="11" y="2030"/>
                  </a:lnTo>
                  <a:lnTo>
                    <a:pt x="24" y="2005"/>
                  </a:lnTo>
                  <a:lnTo>
                    <a:pt x="41" y="1985"/>
                  </a:lnTo>
                  <a:lnTo>
                    <a:pt x="62" y="1968"/>
                  </a:lnTo>
                  <a:lnTo>
                    <a:pt x="85" y="1955"/>
                  </a:lnTo>
                  <a:lnTo>
                    <a:pt x="111" y="1947"/>
                  </a:lnTo>
                  <a:lnTo>
                    <a:pt x="139" y="1945"/>
                  </a:lnTo>
                  <a:lnTo>
                    <a:pt x="361" y="1945"/>
                  </a:lnTo>
                  <a:lnTo>
                    <a:pt x="36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xmlns="" val="2644224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355E1EFF-0E64-B54C-89ED-BC2DC9EE1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052" y="1284187"/>
            <a:ext cx="5093447" cy="605292"/>
          </a:xfrm>
        </p:spPr>
        <p:txBody>
          <a:bodyPr/>
          <a:lstStyle/>
          <a:p>
            <a:r>
              <a:rPr lang="ru-RU" sz="1800" dirty="0"/>
              <a:t>Основные требования, предъявляемые</a:t>
            </a:r>
            <a:br>
              <a:rPr lang="ru-RU" sz="1800" dirty="0"/>
            </a:br>
            <a:r>
              <a:rPr lang="ru-RU" sz="1800" dirty="0"/>
              <a:t>к информации управленческого учета: </a:t>
            </a:r>
            <a:endParaRPr lang="ru-RU" sz="1800" b="1" dirty="0"/>
          </a:p>
        </p:txBody>
      </p:sp>
      <p:sp>
        <p:nvSpPr>
          <p:cNvPr id="21" name="Parallelogram 81">
            <a:extLst>
              <a:ext uri="{FF2B5EF4-FFF2-40B4-BE49-F238E27FC236}">
                <a16:creationId xmlns="" xmlns:a16="http://schemas.microsoft.com/office/drawing/2014/main" id="{EBEB2ED5-C66A-AF44-B342-987C2A9E2759}"/>
              </a:ext>
            </a:extLst>
          </p:cNvPr>
          <p:cNvSpPr/>
          <p:nvPr/>
        </p:nvSpPr>
        <p:spPr>
          <a:xfrm>
            <a:off x="387932" y="2259576"/>
            <a:ext cx="3143206" cy="570739"/>
          </a:xfrm>
          <a:prstGeom prst="parallelogram">
            <a:avLst>
              <a:gd name="adj" fmla="val 4970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2" name="Parallelogram 87">
            <a:extLst>
              <a:ext uri="{FF2B5EF4-FFF2-40B4-BE49-F238E27FC236}">
                <a16:creationId xmlns="" xmlns:a16="http://schemas.microsoft.com/office/drawing/2014/main" id="{FB5858F4-B1C6-564B-A570-D03B64471333}"/>
              </a:ext>
            </a:extLst>
          </p:cNvPr>
          <p:cNvSpPr/>
          <p:nvPr/>
        </p:nvSpPr>
        <p:spPr>
          <a:xfrm flipH="1">
            <a:off x="387931" y="2830315"/>
            <a:ext cx="1880348" cy="258705"/>
          </a:xfrm>
          <a:prstGeom prst="parallelogram">
            <a:avLst>
              <a:gd name="adj" fmla="val 112414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3" name="Parallelogram 81">
            <a:extLst>
              <a:ext uri="{FF2B5EF4-FFF2-40B4-BE49-F238E27FC236}">
                <a16:creationId xmlns="" xmlns:a16="http://schemas.microsoft.com/office/drawing/2014/main" id="{8287F325-4669-B54C-80C1-AD7CACAC3075}"/>
              </a:ext>
            </a:extLst>
          </p:cNvPr>
          <p:cNvSpPr/>
          <p:nvPr/>
        </p:nvSpPr>
        <p:spPr>
          <a:xfrm>
            <a:off x="387932" y="3086570"/>
            <a:ext cx="3143206" cy="570739"/>
          </a:xfrm>
          <a:prstGeom prst="parallelogram">
            <a:avLst>
              <a:gd name="adj" fmla="val 49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9" name="Parallelogram 81">
            <a:extLst>
              <a:ext uri="{FF2B5EF4-FFF2-40B4-BE49-F238E27FC236}">
                <a16:creationId xmlns="" xmlns:a16="http://schemas.microsoft.com/office/drawing/2014/main" id="{A1FCCBD6-596C-A249-BB18-766580DB6D44}"/>
              </a:ext>
            </a:extLst>
          </p:cNvPr>
          <p:cNvSpPr/>
          <p:nvPr/>
        </p:nvSpPr>
        <p:spPr>
          <a:xfrm>
            <a:off x="3189699" y="2259576"/>
            <a:ext cx="2291680" cy="570739"/>
          </a:xfrm>
          <a:prstGeom prst="parallelogram">
            <a:avLst>
              <a:gd name="adj" fmla="val 49706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0" name="Parallelogram 81">
            <a:extLst>
              <a:ext uri="{FF2B5EF4-FFF2-40B4-BE49-F238E27FC236}">
                <a16:creationId xmlns="" xmlns:a16="http://schemas.microsoft.com/office/drawing/2014/main" id="{5E6A0B4D-2004-404E-B1F2-EE960AEB3DB0}"/>
              </a:ext>
            </a:extLst>
          </p:cNvPr>
          <p:cNvSpPr/>
          <p:nvPr/>
        </p:nvSpPr>
        <p:spPr>
          <a:xfrm>
            <a:off x="3189699" y="3086570"/>
            <a:ext cx="2291680" cy="570739"/>
          </a:xfrm>
          <a:prstGeom prst="parallelogram">
            <a:avLst>
              <a:gd name="adj" fmla="val 49706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2" name="Parallelogram 87">
            <a:extLst>
              <a:ext uri="{FF2B5EF4-FFF2-40B4-BE49-F238E27FC236}">
                <a16:creationId xmlns="" xmlns:a16="http://schemas.microsoft.com/office/drawing/2014/main" id="{E0858EED-94B2-6E4F-BD09-E2944716D8F4}"/>
              </a:ext>
            </a:extLst>
          </p:cNvPr>
          <p:cNvSpPr/>
          <p:nvPr/>
        </p:nvSpPr>
        <p:spPr>
          <a:xfrm flipH="1">
            <a:off x="387931" y="3659654"/>
            <a:ext cx="1880348" cy="258705"/>
          </a:xfrm>
          <a:prstGeom prst="parallelogram">
            <a:avLst>
              <a:gd name="adj" fmla="val 112414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5" name="Parallelogram 81">
            <a:extLst>
              <a:ext uri="{FF2B5EF4-FFF2-40B4-BE49-F238E27FC236}">
                <a16:creationId xmlns="" xmlns:a16="http://schemas.microsoft.com/office/drawing/2014/main" id="{7678CC51-7681-714C-A33F-759D01F462E8}"/>
              </a:ext>
            </a:extLst>
          </p:cNvPr>
          <p:cNvSpPr/>
          <p:nvPr/>
        </p:nvSpPr>
        <p:spPr>
          <a:xfrm>
            <a:off x="387932" y="3915909"/>
            <a:ext cx="3143206" cy="570739"/>
          </a:xfrm>
          <a:prstGeom prst="parallelogram">
            <a:avLst>
              <a:gd name="adj" fmla="val 49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1" name="Parallelogram 81">
            <a:extLst>
              <a:ext uri="{FF2B5EF4-FFF2-40B4-BE49-F238E27FC236}">
                <a16:creationId xmlns="" xmlns:a16="http://schemas.microsoft.com/office/drawing/2014/main" id="{CB7F5608-873F-2A4F-8A8E-1C54AE9CBC2F}"/>
              </a:ext>
            </a:extLst>
          </p:cNvPr>
          <p:cNvSpPr/>
          <p:nvPr/>
        </p:nvSpPr>
        <p:spPr>
          <a:xfrm>
            <a:off x="3189699" y="3915909"/>
            <a:ext cx="2291680" cy="570739"/>
          </a:xfrm>
          <a:prstGeom prst="parallelogram">
            <a:avLst>
              <a:gd name="adj" fmla="val 49706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8672B373-3329-AA4B-B305-B9E792C2BCCA}"/>
              </a:ext>
            </a:extLst>
          </p:cNvPr>
          <p:cNvSpPr txBox="1"/>
          <p:nvPr/>
        </p:nvSpPr>
        <p:spPr>
          <a:xfrm>
            <a:off x="593167" y="2347001"/>
            <a:ext cx="492067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2000" b="1" dirty="0">
                <a:solidFill>
                  <a:schemeClr val="bg1"/>
                </a:solidFill>
                <a:ea typeface="Roboto" pitchFamily="2" charset="0"/>
              </a:rPr>
              <a:t>01</a:t>
            </a:r>
            <a:endParaRPr lang="bg-BG" sz="2000" b="1" dirty="0">
              <a:solidFill>
                <a:schemeClr val="bg1"/>
              </a:solidFill>
              <a:ea typeface="Roboto" pitchFamily="2" charset="0"/>
            </a:endParaRPr>
          </a:p>
        </p:txBody>
      </p:sp>
      <p:sp>
        <p:nvSpPr>
          <p:cNvPr id="10" name="Rectangle 11">
            <a:extLst>
              <a:ext uri="{FF2B5EF4-FFF2-40B4-BE49-F238E27FC236}">
                <a16:creationId xmlns="" xmlns:a16="http://schemas.microsoft.com/office/drawing/2014/main" id="{FCE0A8E7-FA95-1646-BFB7-ECD41C8EA0EC}"/>
              </a:ext>
            </a:extLst>
          </p:cNvPr>
          <p:cNvSpPr/>
          <p:nvPr/>
        </p:nvSpPr>
        <p:spPr>
          <a:xfrm>
            <a:off x="1006549" y="2377780"/>
            <a:ext cx="19502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</a:rPr>
              <a:t>Своевременность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4" name="Rectangle 11">
            <a:extLst>
              <a:ext uri="{FF2B5EF4-FFF2-40B4-BE49-F238E27FC236}">
                <a16:creationId xmlns="" xmlns:a16="http://schemas.microsoft.com/office/drawing/2014/main" id="{85044E81-CC2E-1C47-8710-76DDEF057E3A}"/>
              </a:ext>
            </a:extLst>
          </p:cNvPr>
          <p:cNvSpPr/>
          <p:nvPr/>
        </p:nvSpPr>
        <p:spPr>
          <a:xfrm>
            <a:off x="1066063" y="3017927"/>
            <a:ext cx="2003611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</a:rPr>
              <a:t>Сопоставимость </a:t>
            </a:r>
          </a:p>
          <a:p>
            <a:r>
              <a:rPr lang="ru-RU" sz="1100" dirty="0">
                <a:solidFill>
                  <a:schemeClr val="bg1"/>
                </a:solidFill>
              </a:rPr>
              <a:t>(по периодам, структурным подразделениям)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7" name="Rectangle 11">
            <a:extLst>
              <a:ext uri="{FF2B5EF4-FFF2-40B4-BE49-F238E27FC236}">
                <a16:creationId xmlns="" xmlns:a16="http://schemas.microsoft.com/office/drawing/2014/main" id="{DA14D899-441E-BD4C-855B-FAA6D162D650}"/>
              </a:ext>
            </a:extLst>
          </p:cNvPr>
          <p:cNvSpPr/>
          <p:nvPr/>
        </p:nvSpPr>
        <p:spPr>
          <a:xfrm>
            <a:off x="1085234" y="4033226"/>
            <a:ext cx="21044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</a:rPr>
              <a:t>Конфиденциальность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8" name="Rectangle 11">
            <a:extLst>
              <a:ext uri="{FF2B5EF4-FFF2-40B4-BE49-F238E27FC236}">
                <a16:creationId xmlns="" xmlns:a16="http://schemas.microsoft.com/office/drawing/2014/main" id="{41C7F68C-B7E2-2147-BF2B-CF3DBE8EA403}"/>
              </a:ext>
            </a:extLst>
          </p:cNvPr>
          <p:cNvSpPr/>
          <p:nvPr/>
        </p:nvSpPr>
        <p:spPr>
          <a:xfrm>
            <a:off x="3797015" y="4033226"/>
            <a:ext cx="21044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</a:rPr>
              <a:t>Адресность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6A633568-C754-1242-A474-0E500079DEC0}"/>
              </a:ext>
            </a:extLst>
          </p:cNvPr>
          <p:cNvSpPr txBox="1"/>
          <p:nvPr/>
        </p:nvSpPr>
        <p:spPr>
          <a:xfrm>
            <a:off x="3383633" y="2347001"/>
            <a:ext cx="492067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2000" b="1" dirty="0">
                <a:solidFill>
                  <a:schemeClr val="bg1"/>
                </a:solidFill>
                <a:ea typeface="Roboto" pitchFamily="2" charset="0"/>
              </a:rPr>
              <a:t>02</a:t>
            </a:r>
            <a:endParaRPr lang="bg-BG" sz="2000" b="1" dirty="0">
              <a:solidFill>
                <a:schemeClr val="bg1"/>
              </a:solidFill>
              <a:ea typeface="Roboto" pitchFamily="2" charset="0"/>
            </a:endParaRPr>
          </a:p>
        </p:txBody>
      </p:sp>
      <p:sp>
        <p:nvSpPr>
          <p:cNvPr id="34" name="Rectangle 11">
            <a:extLst>
              <a:ext uri="{FF2B5EF4-FFF2-40B4-BE49-F238E27FC236}">
                <a16:creationId xmlns="" xmlns:a16="http://schemas.microsoft.com/office/drawing/2014/main" id="{055DF1F2-7FA1-5B4C-8EE7-8E739A37F83D}"/>
              </a:ext>
            </a:extLst>
          </p:cNvPr>
          <p:cNvSpPr/>
          <p:nvPr/>
        </p:nvSpPr>
        <p:spPr>
          <a:xfrm>
            <a:off x="3797015" y="2377780"/>
            <a:ext cx="19502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</a:rPr>
              <a:t>Достаточность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="" xmlns:a16="http://schemas.microsoft.com/office/drawing/2014/main" id="{50EFBF80-D3D0-394E-8A15-22A039B2A737}"/>
              </a:ext>
            </a:extLst>
          </p:cNvPr>
          <p:cNvSpPr txBox="1"/>
          <p:nvPr/>
        </p:nvSpPr>
        <p:spPr>
          <a:xfrm>
            <a:off x="593167" y="3148667"/>
            <a:ext cx="492067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2000" b="1" dirty="0">
                <a:solidFill>
                  <a:schemeClr val="bg1"/>
                </a:solidFill>
                <a:ea typeface="Roboto" pitchFamily="2" charset="0"/>
              </a:rPr>
              <a:t>03</a:t>
            </a:r>
            <a:endParaRPr lang="bg-BG" sz="2000" b="1" dirty="0">
              <a:solidFill>
                <a:schemeClr val="bg1"/>
              </a:solidFill>
              <a:ea typeface="Roboto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E6E0D56A-CCFA-0849-B37A-D193260A5053}"/>
              </a:ext>
            </a:extLst>
          </p:cNvPr>
          <p:cNvSpPr txBox="1"/>
          <p:nvPr/>
        </p:nvSpPr>
        <p:spPr>
          <a:xfrm>
            <a:off x="3383633" y="3169604"/>
            <a:ext cx="492067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2000" b="1" dirty="0">
                <a:solidFill>
                  <a:schemeClr val="bg1"/>
                </a:solidFill>
                <a:ea typeface="Roboto" pitchFamily="2" charset="0"/>
              </a:rPr>
              <a:t>04</a:t>
            </a:r>
            <a:endParaRPr lang="bg-BG" sz="2000" b="1" dirty="0">
              <a:solidFill>
                <a:schemeClr val="bg1"/>
              </a:solidFill>
              <a:ea typeface="Roboto" pitchFamily="2" charset="0"/>
            </a:endParaRPr>
          </a:p>
        </p:txBody>
      </p:sp>
      <p:sp>
        <p:nvSpPr>
          <p:cNvPr id="39" name="Rectangle 11">
            <a:extLst>
              <a:ext uri="{FF2B5EF4-FFF2-40B4-BE49-F238E27FC236}">
                <a16:creationId xmlns="" xmlns:a16="http://schemas.microsoft.com/office/drawing/2014/main" id="{AC0E8EAC-33CE-E24A-BA13-81EDBCE32B89}"/>
              </a:ext>
            </a:extLst>
          </p:cNvPr>
          <p:cNvSpPr/>
          <p:nvPr/>
        </p:nvSpPr>
        <p:spPr>
          <a:xfrm>
            <a:off x="3797015" y="3191183"/>
            <a:ext cx="19502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</a:rPr>
              <a:t>Достоверность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="" xmlns:a16="http://schemas.microsoft.com/office/drawing/2014/main" id="{632198F4-1907-2648-A55D-80D7FCF3AACC}"/>
              </a:ext>
            </a:extLst>
          </p:cNvPr>
          <p:cNvSpPr txBox="1"/>
          <p:nvPr/>
        </p:nvSpPr>
        <p:spPr>
          <a:xfrm>
            <a:off x="593167" y="4005680"/>
            <a:ext cx="492067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2000" b="1" dirty="0">
                <a:solidFill>
                  <a:schemeClr val="bg1"/>
                </a:solidFill>
                <a:ea typeface="Roboto" pitchFamily="2" charset="0"/>
              </a:rPr>
              <a:t>05</a:t>
            </a:r>
            <a:endParaRPr lang="bg-BG" sz="2000" b="1" dirty="0">
              <a:solidFill>
                <a:schemeClr val="bg1"/>
              </a:solidFill>
              <a:ea typeface="Roboto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FB8F26FF-2607-1A4D-9D95-342D202A69CB}"/>
              </a:ext>
            </a:extLst>
          </p:cNvPr>
          <p:cNvSpPr txBox="1"/>
          <p:nvPr/>
        </p:nvSpPr>
        <p:spPr>
          <a:xfrm>
            <a:off x="3383633" y="4005680"/>
            <a:ext cx="492067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bg-BG" sz="2000" b="1" dirty="0">
                <a:solidFill>
                  <a:schemeClr val="bg1"/>
                </a:solidFill>
                <a:ea typeface="Roboto" pitchFamily="2" charset="0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xmlns="" val="2685820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355E1EFF-0E64-B54C-89ED-BC2DC9EE1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052" y="1284187"/>
            <a:ext cx="5093447" cy="605292"/>
          </a:xfrm>
        </p:spPr>
        <p:txBody>
          <a:bodyPr/>
          <a:lstStyle/>
          <a:p>
            <a:r>
              <a:rPr lang="ru-RU" sz="1800" dirty="0"/>
              <a:t>Пользователи информации управленческого учета и отчетности</a:t>
            </a:r>
            <a:endParaRPr lang="ru-RU" sz="1800" b="1" dirty="0"/>
          </a:p>
        </p:txBody>
      </p:sp>
      <p:sp>
        <p:nvSpPr>
          <p:cNvPr id="12" name="Rectangle 10">
            <a:extLst>
              <a:ext uri="{FF2B5EF4-FFF2-40B4-BE49-F238E27FC236}">
                <a16:creationId xmlns="" xmlns:a16="http://schemas.microsoft.com/office/drawing/2014/main" id="{0F036EEA-799C-184F-B4B1-4EF789305386}"/>
              </a:ext>
            </a:extLst>
          </p:cNvPr>
          <p:cNvSpPr/>
          <p:nvPr/>
        </p:nvSpPr>
        <p:spPr>
          <a:xfrm>
            <a:off x="437549" y="2235884"/>
            <a:ext cx="1809464" cy="8488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3" name="Rectangle 11">
            <a:extLst>
              <a:ext uri="{FF2B5EF4-FFF2-40B4-BE49-F238E27FC236}">
                <a16:creationId xmlns="" xmlns:a16="http://schemas.microsoft.com/office/drawing/2014/main" id="{C5CA1BF4-E741-E941-A950-85AF78828A0C}"/>
              </a:ext>
            </a:extLst>
          </p:cNvPr>
          <p:cNvSpPr/>
          <p:nvPr/>
        </p:nvSpPr>
        <p:spPr>
          <a:xfrm>
            <a:off x="2247013" y="2235884"/>
            <a:ext cx="2899145" cy="84880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4" name="Isosceles Triangle 12">
            <a:extLst>
              <a:ext uri="{FF2B5EF4-FFF2-40B4-BE49-F238E27FC236}">
                <a16:creationId xmlns="" xmlns:a16="http://schemas.microsoft.com/office/drawing/2014/main" id="{179A519C-E094-2E4F-A825-D133A28AE5B1}"/>
              </a:ext>
            </a:extLst>
          </p:cNvPr>
          <p:cNvSpPr/>
          <p:nvPr/>
        </p:nvSpPr>
        <p:spPr>
          <a:xfrm rot="5400000">
            <a:off x="2124664" y="2563695"/>
            <a:ext cx="437881" cy="193183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5" name="Rectangle 11">
            <a:extLst>
              <a:ext uri="{FF2B5EF4-FFF2-40B4-BE49-F238E27FC236}">
                <a16:creationId xmlns="" xmlns:a16="http://schemas.microsoft.com/office/drawing/2014/main" id="{65BBBCB4-67BD-D143-ADC1-2E072A91355F}"/>
              </a:ext>
            </a:extLst>
          </p:cNvPr>
          <p:cNvSpPr/>
          <p:nvPr/>
        </p:nvSpPr>
        <p:spPr>
          <a:xfrm>
            <a:off x="940953" y="2405943"/>
            <a:ext cx="15657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b="1" dirty="0">
                <a:solidFill>
                  <a:schemeClr val="bg1"/>
                </a:solidFill>
              </a:rPr>
              <a:t>Внутренние</a:t>
            </a:r>
          </a:p>
          <a:p>
            <a:r>
              <a:rPr lang="ru-RU" sz="1400" b="1" dirty="0">
                <a:solidFill>
                  <a:schemeClr val="bg1"/>
                </a:solidFill>
              </a:rPr>
              <a:t>пользователи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6" name="Rectangle 11">
            <a:extLst>
              <a:ext uri="{FF2B5EF4-FFF2-40B4-BE49-F238E27FC236}">
                <a16:creationId xmlns="" xmlns:a16="http://schemas.microsoft.com/office/drawing/2014/main" id="{EB4EDF4B-D678-5E4E-B0AE-C7BA83BC0249}"/>
              </a:ext>
            </a:extLst>
          </p:cNvPr>
          <p:cNvSpPr/>
          <p:nvPr/>
        </p:nvSpPr>
        <p:spPr>
          <a:xfrm>
            <a:off x="2469371" y="2225442"/>
            <a:ext cx="270514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ru-RU" sz="1400" dirty="0">
                <a:solidFill>
                  <a:schemeClr val="bg1"/>
                </a:solidFill>
              </a:rPr>
              <a:t>руководство высшего звена 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ru-RU" sz="1400" dirty="0">
                <a:solidFill>
                  <a:schemeClr val="bg1"/>
                </a:solidFill>
              </a:rPr>
              <a:t>руководители структурных подразделений</a:t>
            </a:r>
          </a:p>
        </p:txBody>
      </p:sp>
      <p:sp>
        <p:nvSpPr>
          <p:cNvPr id="17" name="Rectangle 10">
            <a:extLst>
              <a:ext uri="{FF2B5EF4-FFF2-40B4-BE49-F238E27FC236}">
                <a16:creationId xmlns="" xmlns:a16="http://schemas.microsoft.com/office/drawing/2014/main" id="{91E65B62-EC7D-6B43-BA83-125D9FDFBF03}"/>
              </a:ext>
            </a:extLst>
          </p:cNvPr>
          <p:cNvSpPr/>
          <p:nvPr/>
        </p:nvSpPr>
        <p:spPr>
          <a:xfrm>
            <a:off x="437549" y="3270786"/>
            <a:ext cx="1809464" cy="106677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8" name="Rectangle 11">
            <a:extLst>
              <a:ext uri="{FF2B5EF4-FFF2-40B4-BE49-F238E27FC236}">
                <a16:creationId xmlns="" xmlns:a16="http://schemas.microsoft.com/office/drawing/2014/main" id="{520F21DF-7233-154E-A7E5-62D719898527}"/>
              </a:ext>
            </a:extLst>
          </p:cNvPr>
          <p:cNvSpPr/>
          <p:nvPr/>
        </p:nvSpPr>
        <p:spPr>
          <a:xfrm>
            <a:off x="2247013" y="3270786"/>
            <a:ext cx="2927499" cy="1066776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9" name="Isosceles Triangle 12">
            <a:extLst>
              <a:ext uri="{FF2B5EF4-FFF2-40B4-BE49-F238E27FC236}">
                <a16:creationId xmlns="" xmlns:a16="http://schemas.microsoft.com/office/drawing/2014/main" id="{739E6680-68EA-7F41-8A47-C9431751743A}"/>
              </a:ext>
            </a:extLst>
          </p:cNvPr>
          <p:cNvSpPr/>
          <p:nvPr/>
        </p:nvSpPr>
        <p:spPr>
          <a:xfrm rot="5400000">
            <a:off x="2124664" y="3702361"/>
            <a:ext cx="437881" cy="193183"/>
          </a:xfrm>
          <a:prstGeom prst="triangl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0" name="Rectangle 11">
            <a:extLst>
              <a:ext uri="{FF2B5EF4-FFF2-40B4-BE49-F238E27FC236}">
                <a16:creationId xmlns="" xmlns:a16="http://schemas.microsoft.com/office/drawing/2014/main" id="{9F73A4C6-0C09-DD48-A243-8EAE8519D23A}"/>
              </a:ext>
            </a:extLst>
          </p:cNvPr>
          <p:cNvSpPr/>
          <p:nvPr/>
        </p:nvSpPr>
        <p:spPr>
          <a:xfrm>
            <a:off x="940952" y="3537343"/>
            <a:ext cx="15657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b="1" dirty="0">
                <a:solidFill>
                  <a:schemeClr val="bg1"/>
                </a:solidFill>
              </a:rPr>
              <a:t>Внешние</a:t>
            </a:r>
          </a:p>
          <a:p>
            <a:r>
              <a:rPr lang="ru-RU" sz="1400" b="1" dirty="0">
                <a:solidFill>
                  <a:schemeClr val="bg1"/>
                </a:solidFill>
              </a:rPr>
              <a:t>пользователи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21" name="Rectangle 11">
            <a:extLst>
              <a:ext uri="{FF2B5EF4-FFF2-40B4-BE49-F238E27FC236}">
                <a16:creationId xmlns="" xmlns:a16="http://schemas.microsoft.com/office/drawing/2014/main" id="{75273855-81B5-A24E-8257-6A4286D65922}"/>
              </a:ext>
            </a:extLst>
          </p:cNvPr>
          <p:cNvSpPr/>
          <p:nvPr/>
        </p:nvSpPr>
        <p:spPr>
          <a:xfrm>
            <a:off x="2469371" y="3260344"/>
            <a:ext cx="270514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ru-RU" sz="1400" dirty="0">
                <a:solidFill>
                  <a:schemeClr val="bg1"/>
                </a:solidFill>
              </a:rPr>
              <a:t>финансовые институты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ru-RU" sz="1400" dirty="0">
                <a:solidFill>
                  <a:schemeClr val="bg1"/>
                </a:solidFill>
              </a:rPr>
              <a:t>потенциальные инвесторы или партнеры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ru-RU" sz="1400" dirty="0">
                <a:solidFill>
                  <a:schemeClr val="bg1"/>
                </a:solidFill>
              </a:rPr>
              <a:t>аудиторы, оценщики</a:t>
            </a:r>
          </a:p>
        </p:txBody>
      </p:sp>
      <p:grpSp>
        <p:nvGrpSpPr>
          <p:cNvPr id="27" name="Group 1702">
            <a:extLst>
              <a:ext uri="{FF2B5EF4-FFF2-40B4-BE49-F238E27FC236}">
                <a16:creationId xmlns="" xmlns:a16="http://schemas.microsoft.com/office/drawing/2014/main" id="{81DCE722-5062-FB46-9409-CA13B0A2113C}"/>
              </a:ext>
            </a:extLst>
          </p:cNvPr>
          <p:cNvGrpSpPr/>
          <p:nvPr/>
        </p:nvGrpSpPr>
        <p:grpSpPr>
          <a:xfrm>
            <a:off x="566195" y="3650521"/>
            <a:ext cx="309563" cy="296863"/>
            <a:chOff x="11560175" y="1223963"/>
            <a:chExt cx="309563" cy="296863"/>
          </a:xfrm>
          <a:solidFill>
            <a:schemeClr val="bg1"/>
          </a:solidFill>
        </p:grpSpPr>
        <p:sp>
          <p:nvSpPr>
            <p:cNvPr id="28" name="Freeform 118">
              <a:extLst>
                <a:ext uri="{FF2B5EF4-FFF2-40B4-BE49-F238E27FC236}">
                  <a16:creationId xmlns="" xmlns:a16="http://schemas.microsoft.com/office/drawing/2014/main" id="{34F3EC50-49CB-DA44-AF2E-5CEEA2D271C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560175" y="1223963"/>
              <a:ext cx="309563" cy="296863"/>
            </a:xfrm>
            <a:custGeom>
              <a:avLst/>
              <a:gdLst>
                <a:gd name="T0" fmla="*/ 1326 w 3308"/>
                <a:gd name="T1" fmla="*/ 1012 h 3187"/>
                <a:gd name="T2" fmla="*/ 1059 w 3308"/>
                <a:gd name="T3" fmla="*/ 1335 h 3187"/>
                <a:gd name="T4" fmla="*/ 1034 w 3308"/>
                <a:gd name="T5" fmla="*/ 1756 h 3187"/>
                <a:gd name="T6" fmla="*/ 1168 w 3308"/>
                <a:gd name="T7" fmla="*/ 1963 h 3187"/>
                <a:gd name="T8" fmla="*/ 1290 w 3308"/>
                <a:gd name="T9" fmla="*/ 1865 h 3187"/>
                <a:gd name="T10" fmla="*/ 1464 w 3308"/>
                <a:gd name="T11" fmla="*/ 1787 h 3187"/>
                <a:gd name="T12" fmla="*/ 1596 w 3308"/>
                <a:gd name="T13" fmla="*/ 2081 h 3187"/>
                <a:gd name="T14" fmla="*/ 1610 w 3308"/>
                <a:gd name="T15" fmla="*/ 1904 h 3187"/>
                <a:gd name="T16" fmla="*/ 1647 w 3308"/>
                <a:gd name="T17" fmla="*/ 1852 h 3187"/>
                <a:gd name="T18" fmla="*/ 1685 w 3308"/>
                <a:gd name="T19" fmla="*/ 1847 h 3187"/>
                <a:gd name="T20" fmla="*/ 1734 w 3308"/>
                <a:gd name="T21" fmla="*/ 1859 h 3187"/>
                <a:gd name="T22" fmla="*/ 1748 w 3308"/>
                <a:gd name="T23" fmla="*/ 1934 h 3187"/>
                <a:gd name="T24" fmla="*/ 1785 w 3308"/>
                <a:gd name="T25" fmla="*/ 2032 h 3187"/>
                <a:gd name="T26" fmla="*/ 1939 w 3308"/>
                <a:gd name="T27" fmla="*/ 1807 h 3187"/>
                <a:gd name="T28" fmla="*/ 2131 w 3308"/>
                <a:gd name="T29" fmla="*/ 1883 h 3187"/>
                <a:gd name="T30" fmla="*/ 2206 w 3308"/>
                <a:gd name="T31" fmla="*/ 1999 h 3187"/>
                <a:gd name="T32" fmla="*/ 2349 w 3308"/>
                <a:gd name="T33" fmla="*/ 1641 h 3187"/>
                <a:gd name="T34" fmla="*/ 2250 w 3308"/>
                <a:gd name="T35" fmla="*/ 1226 h 3187"/>
                <a:gd name="T36" fmla="*/ 1929 w 3308"/>
                <a:gd name="T37" fmla="*/ 957 h 3187"/>
                <a:gd name="T38" fmla="*/ 2477 w 3308"/>
                <a:gd name="T39" fmla="*/ 3 h 3187"/>
                <a:gd name="T40" fmla="*/ 2695 w 3308"/>
                <a:gd name="T41" fmla="*/ 148 h 3187"/>
                <a:gd name="T42" fmla="*/ 2725 w 3308"/>
                <a:gd name="T43" fmla="*/ 382 h 3187"/>
                <a:gd name="T44" fmla="*/ 2553 w 3308"/>
                <a:gd name="T45" fmla="*/ 579 h 3187"/>
                <a:gd name="T46" fmla="*/ 2164 w 3308"/>
                <a:gd name="T47" fmla="*/ 908 h 3187"/>
                <a:gd name="T48" fmla="*/ 2442 w 3308"/>
                <a:gd name="T49" fmla="*/ 1256 h 3187"/>
                <a:gd name="T50" fmla="*/ 2725 w 3308"/>
                <a:gd name="T51" fmla="*/ 1610 h 3187"/>
                <a:gd name="T52" fmla="*/ 2924 w 3308"/>
                <a:gd name="T53" fmla="*/ 1424 h 3187"/>
                <a:gd name="T54" fmla="*/ 3200 w 3308"/>
                <a:gd name="T55" fmla="*/ 1482 h 3187"/>
                <a:gd name="T56" fmla="*/ 3308 w 3308"/>
                <a:gd name="T57" fmla="*/ 1712 h 3187"/>
                <a:gd name="T58" fmla="*/ 3229 w 3308"/>
                <a:gd name="T59" fmla="*/ 1916 h 3187"/>
                <a:gd name="T60" fmla="*/ 2967 w 3308"/>
                <a:gd name="T61" fmla="*/ 2011 h 3187"/>
                <a:gd name="T62" fmla="*/ 2749 w 3308"/>
                <a:gd name="T63" fmla="*/ 1867 h 3187"/>
                <a:gd name="T64" fmla="*/ 2429 w 3308"/>
                <a:gd name="T65" fmla="*/ 1934 h 3187"/>
                <a:gd name="T66" fmla="*/ 2119 w 3308"/>
                <a:gd name="T67" fmla="*/ 2285 h 3187"/>
                <a:gd name="T68" fmla="*/ 2107 w 3308"/>
                <a:gd name="T69" fmla="*/ 2615 h 3187"/>
                <a:gd name="T70" fmla="*/ 2272 w 3308"/>
                <a:gd name="T71" fmla="*/ 2842 h 3187"/>
                <a:gd name="T72" fmla="*/ 2180 w 3308"/>
                <a:gd name="T73" fmla="*/ 3107 h 3187"/>
                <a:gd name="T74" fmla="*/ 1935 w 3308"/>
                <a:gd name="T75" fmla="*/ 3185 h 3187"/>
                <a:gd name="T76" fmla="*/ 1716 w 3308"/>
                <a:gd name="T77" fmla="*/ 3038 h 3187"/>
                <a:gd name="T78" fmla="*/ 1701 w 3308"/>
                <a:gd name="T79" fmla="*/ 2764 h 3187"/>
                <a:gd name="T80" fmla="*/ 1734 w 3308"/>
                <a:gd name="T81" fmla="*/ 2412 h 3187"/>
                <a:gd name="T82" fmla="*/ 1276 w 3308"/>
                <a:gd name="T83" fmla="*/ 2311 h 3187"/>
                <a:gd name="T84" fmla="*/ 946 w 3308"/>
                <a:gd name="T85" fmla="*/ 1977 h 3187"/>
                <a:gd name="T86" fmla="*/ 578 w 3308"/>
                <a:gd name="T87" fmla="*/ 2159 h 3187"/>
                <a:gd name="T88" fmla="*/ 381 w 3308"/>
                <a:gd name="T89" fmla="*/ 2332 h 3187"/>
                <a:gd name="T90" fmla="*/ 148 w 3308"/>
                <a:gd name="T91" fmla="*/ 2302 h 3187"/>
                <a:gd name="T92" fmla="*/ 3 w 3308"/>
                <a:gd name="T93" fmla="*/ 2084 h 3187"/>
                <a:gd name="T94" fmla="*/ 62 w 3308"/>
                <a:gd name="T95" fmla="*/ 1858 h 3187"/>
                <a:gd name="T96" fmla="*/ 300 w 3308"/>
                <a:gd name="T97" fmla="*/ 1742 h 3187"/>
                <a:gd name="T98" fmla="*/ 531 w 3308"/>
                <a:gd name="T99" fmla="*/ 1849 h 3187"/>
                <a:gd name="T100" fmla="*/ 859 w 3308"/>
                <a:gd name="T101" fmla="*/ 1439 h 3187"/>
                <a:gd name="T102" fmla="*/ 937 w 3308"/>
                <a:gd name="T103" fmla="*/ 984 h 3187"/>
                <a:gd name="T104" fmla="*/ 660 w 3308"/>
                <a:gd name="T105" fmla="*/ 1006 h 3187"/>
                <a:gd name="T106" fmla="*/ 487 w 3308"/>
                <a:gd name="T107" fmla="*/ 809 h 3187"/>
                <a:gd name="T108" fmla="*/ 517 w 3308"/>
                <a:gd name="T109" fmla="*/ 575 h 3187"/>
                <a:gd name="T110" fmla="*/ 734 w 3308"/>
                <a:gd name="T111" fmla="*/ 430 h 3187"/>
                <a:gd name="T112" fmla="*/ 960 w 3308"/>
                <a:gd name="T113" fmla="*/ 490 h 3187"/>
                <a:gd name="T114" fmla="*/ 1077 w 3308"/>
                <a:gd name="T115" fmla="*/ 728 h 3187"/>
                <a:gd name="T116" fmla="*/ 1232 w 3308"/>
                <a:gd name="T117" fmla="*/ 878 h 3187"/>
                <a:gd name="T118" fmla="*/ 1678 w 3308"/>
                <a:gd name="T119" fmla="*/ 748 h 3187"/>
                <a:gd name="T120" fmla="*/ 2223 w 3308"/>
                <a:gd name="T121" fmla="*/ 514 h 3187"/>
                <a:gd name="T122" fmla="*/ 2138 w 3308"/>
                <a:gd name="T123" fmla="*/ 260 h 3187"/>
                <a:gd name="T124" fmla="*/ 2284 w 3308"/>
                <a:gd name="T125" fmla="*/ 41 h 3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308" h="3187">
                  <a:moveTo>
                    <a:pt x="1682" y="911"/>
                  </a:moveTo>
                  <a:lnTo>
                    <a:pt x="1617" y="914"/>
                  </a:lnTo>
                  <a:lnTo>
                    <a:pt x="1554" y="923"/>
                  </a:lnTo>
                  <a:lnTo>
                    <a:pt x="1494" y="937"/>
                  </a:lnTo>
                  <a:lnTo>
                    <a:pt x="1435" y="957"/>
                  </a:lnTo>
                  <a:lnTo>
                    <a:pt x="1379" y="982"/>
                  </a:lnTo>
                  <a:lnTo>
                    <a:pt x="1326" y="1012"/>
                  </a:lnTo>
                  <a:lnTo>
                    <a:pt x="1277" y="1047"/>
                  </a:lnTo>
                  <a:lnTo>
                    <a:pt x="1230" y="1086"/>
                  </a:lnTo>
                  <a:lnTo>
                    <a:pt x="1187" y="1129"/>
                  </a:lnTo>
                  <a:lnTo>
                    <a:pt x="1148" y="1175"/>
                  </a:lnTo>
                  <a:lnTo>
                    <a:pt x="1113" y="1226"/>
                  </a:lnTo>
                  <a:lnTo>
                    <a:pt x="1084" y="1279"/>
                  </a:lnTo>
                  <a:lnTo>
                    <a:pt x="1059" y="1335"/>
                  </a:lnTo>
                  <a:lnTo>
                    <a:pt x="1039" y="1393"/>
                  </a:lnTo>
                  <a:lnTo>
                    <a:pt x="1024" y="1454"/>
                  </a:lnTo>
                  <a:lnTo>
                    <a:pt x="1015" y="1518"/>
                  </a:lnTo>
                  <a:lnTo>
                    <a:pt x="1012" y="1582"/>
                  </a:lnTo>
                  <a:lnTo>
                    <a:pt x="1014" y="1642"/>
                  </a:lnTo>
                  <a:lnTo>
                    <a:pt x="1022" y="1699"/>
                  </a:lnTo>
                  <a:lnTo>
                    <a:pt x="1034" y="1756"/>
                  </a:lnTo>
                  <a:lnTo>
                    <a:pt x="1051" y="1810"/>
                  </a:lnTo>
                  <a:lnTo>
                    <a:pt x="1072" y="1861"/>
                  </a:lnTo>
                  <a:lnTo>
                    <a:pt x="1097" y="1912"/>
                  </a:lnTo>
                  <a:lnTo>
                    <a:pt x="1127" y="1959"/>
                  </a:lnTo>
                  <a:lnTo>
                    <a:pt x="1159" y="2003"/>
                  </a:lnTo>
                  <a:lnTo>
                    <a:pt x="1163" y="1983"/>
                  </a:lnTo>
                  <a:lnTo>
                    <a:pt x="1168" y="1963"/>
                  </a:lnTo>
                  <a:lnTo>
                    <a:pt x="1175" y="1944"/>
                  </a:lnTo>
                  <a:lnTo>
                    <a:pt x="1185" y="1926"/>
                  </a:lnTo>
                  <a:lnTo>
                    <a:pt x="1198" y="1909"/>
                  </a:lnTo>
                  <a:lnTo>
                    <a:pt x="1214" y="1895"/>
                  </a:lnTo>
                  <a:lnTo>
                    <a:pt x="1234" y="1883"/>
                  </a:lnTo>
                  <a:lnTo>
                    <a:pt x="1257" y="1874"/>
                  </a:lnTo>
                  <a:lnTo>
                    <a:pt x="1290" y="1865"/>
                  </a:lnTo>
                  <a:lnTo>
                    <a:pt x="1321" y="1855"/>
                  </a:lnTo>
                  <a:lnTo>
                    <a:pt x="1350" y="1843"/>
                  </a:lnTo>
                  <a:lnTo>
                    <a:pt x="1377" y="1831"/>
                  </a:lnTo>
                  <a:lnTo>
                    <a:pt x="1403" y="1819"/>
                  </a:lnTo>
                  <a:lnTo>
                    <a:pt x="1426" y="1808"/>
                  </a:lnTo>
                  <a:lnTo>
                    <a:pt x="1447" y="1797"/>
                  </a:lnTo>
                  <a:lnTo>
                    <a:pt x="1464" y="1787"/>
                  </a:lnTo>
                  <a:lnTo>
                    <a:pt x="1478" y="1778"/>
                  </a:lnTo>
                  <a:lnTo>
                    <a:pt x="1488" y="1772"/>
                  </a:lnTo>
                  <a:lnTo>
                    <a:pt x="1495" y="1767"/>
                  </a:lnTo>
                  <a:lnTo>
                    <a:pt x="1497" y="1766"/>
                  </a:lnTo>
                  <a:lnTo>
                    <a:pt x="1580" y="2032"/>
                  </a:lnTo>
                  <a:lnTo>
                    <a:pt x="1596" y="2082"/>
                  </a:lnTo>
                  <a:lnTo>
                    <a:pt x="1596" y="2081"/>
                  </a:lnTo>
                  <a:lnTo>
                    <a:pt x="1609" y="2123"/>
                  </a:lnTo>
                  <a:lnTo>
                    <a:pt x="1653" y="1997"/>
                  </a:lnTo>
                  <a:lnTo>
                    <a:pt x="1637" y="1973"/>
                  </a:lnTo>
                  <a:lnTo>
                    <a:pt x="1625" y="1952"/>
                  </a:lnTo>
                  <a:lnTo>
                    <a:pt x="1617" y="1934"/>
                  </a:lnTo>
                  <a:lnTo>
                    <a:pt x="1612" y="1918"/>
                  </a:lnTo>
                  <a:lnTo>
                    <a:pt x="1610" y="1904"/>
                  </a:lnTo>
                  <a:lnTo>
                    <a:pt x="1611" y="1892"/>
                  </a:lnTo>
                  <a:lnTo>
                    <a:pt x="1613" y="1881"/>
                  </a:lnTo>
                  <a:lnTo>
                    <a:pt x="1618" y="1872"/>
                  </a:lnTo>
                  <a:lnTo>
                    <a:pt x="1624" y="1865"/>
                  </a:lnTo>
                  <a:lnTo>
                    <a:pt x="1631" y="1860"/>
                  </a:lnTo>
                  <a:lnTo>
                    <a:pt x="1639" y="1856"/>
                  </a:lnTo>
                  <a:lnTo>
                    <a:pt x="1647" y="1852"/>
                  </a:lnTo>
                  <a:lnTo>
                    <a:pt x="1655" y="1850"/>
                  </a:lnTo>
                  <a:lnTo>
                    <a:pt x="1664" y="1849"/>
                  </a:lnTo>
                  <a:lnTo>
                    <a:pt x="1671" y="1848"/>
                  </a:lnTo>
                  <a:lnTo>
                    <a:pt x="1676" y="1847"/>
                  </a:lnTo>
                  <a:lnTo>
                    <a:pt x="1681" y="1847"/>
                  </a:lnTo>
                  <a:lnTo>
                    <a:pt x="1683" y="1847"/>
                  </a:lnTo>
                  <a:lnTo>
                    <a:pt x="1685" y="1847"/>
                  </a:lnTo>
                  <a:lnTo>
                    <a:pt x="1689" y="1847"/>
                  </a:lnTo>
                  <a:lnTo>
                    <a:pt x="1695" y="1848"/>
                  </a:lnTo>
                  <a:lnTo>
                    <a:pt x="1702" y="1848"/>
                  </a:lnTo>
                  <a:lnTo>
                    <a:pt x="1710" y="1850"/>
                  </a:lnTo>
                  <a:lnTo>
                    <a:pt x="1718" y="1852"/>
                  </a:lnTo>
                  <a:lnTo>
                    <a:pt x="1726" y="1855"/>
                  </a:lnTo>
                  <a:lnTo>
                    <a:pt x="1734" y="1859"/>
                  </a:lnTo>
                  <a:lnTo>
                    <a:pt x="1741" y="1865"/>
                  </a:lnTo>
                  <a:lnTo>
                    <a:pt x="1747" y="1872"/>
                  </a:lnTo>
                  <a:lnTo>
                    <a:pt x="1751" y="1881"/>
                  </a:lnTo>
                  <a:lnTo>
                    <a:pt x="1754" y="1891"/>
                  </a:lnTo>
                  <a:lnTo>
                    <a:pt x="1755" y="1903"/>
                  </a:lnTo>
                  <a:lnTo>
                    <a:pt x="1753" y="1917"/>
                  </a:lnTo>
                  <a:lnTo>
                    <a:pt x="1748" y="1934"/>
                  </a:lnTo>
                  <a:lnTo>
                    <a:pt x="1740" y="1952"/>
                  </a:lnTo>
                  <a:lnTo>
                    <a:pt x="1728" y="1973"/>
                  </a:lnTo>
                  <a:lnTo>
                    <a:pt x="1712" y="1997"/>
                  </a:lnTo>
                  <a:lnTo>
                    <a:pt x="1756" y="2123"/>
                  </a:lnTo>
                  <a:lnTo>
                    <a:pt x="1769" y="2081"/>
                  </a:lnTo>
                  <a:lnTo>
                    <a:pt x="1769" y="2082"/>
                  </a:lnTo>
                  <a:lnTo>
                    <a:pt x="1785" y="2032"/>
                  </a:lnTo>
                  <a:lnTo>
                    <a:pt x="1868" y="1766"/>
                  </a:lnTo>
                  <a:lnTo>
                    <a:pt x="1870" y="1767"/>
                  </a:lnTo>
                  <a:lnTo>
                    <a:pt x="1877" y="1772"/>
                  </a:lnTo>
                  <a:lnTo>
                    <a:pt x="1888" y="1778"/>
                  </a:lnTo>
                  <a:lnTo>
                    <a:pt x="1902" y="1786"/>
                  </a:lnTo>
                  <a:lnTo>
                    <a:pt x="1919" y="1796"/>
                  </a:lnTo>
                  <a:lnTo>
                    <a:pt x="1939" y="1807"/>
                  </a:lnTo>
                  <a:lnTo>
                    <a:pt x="1962" y="1819"/>
                  </a:lnTo>
                  <a:lnTo>
                    <a:pt x="1987" y="1831"/>
                  </a:lnTo>
                  <a:lnTo>
                    <a:pt x="2015" y="1843"/>
                  </a:lnTo>
                  <a:lnTo>
                    <a:pt x="2044" y="1855"/>
                  </a:lnTo>
                  <a:lnTo>
                    <a:pt x="2075" y="1865"/>
                  </a:lnTo>
                  <a:lnTo>
                    <a:pt x="2109" y="1874"/>
                  </a:lnTo>
                  <a:lnTo>
                    <a:pt x="2131" y="1883"/>
                  </a:lnTo>
                  <a:lnTo>
                    <a:pt x="2150" y="1894"/>
                  </a:lnTo>
                  <a:lnTo>
                    <a:pt x="2166" y="1908"/>
                  </a:lnTo>
                  <a:lnTo>
                    <a:pt x="2179" y="1924"/>
                  </a:lnTo>
                  <a:lnTo>
                    <a:pt x="2189" y="1941"/>
                  </a:lnTo>
                  <a:lnTo>
                    <a:pt x="2196" y="1960"/>
                  </a:lnTo>
                  <a:lnTo>
                    <a:pt x="2202" y="1980"/>
                  </a:lnTo>
                  <a:lnTo>
                    <a:pt x="2206" y="1999"/>
                  </a:lnTo>
                  <a:lnTo>
                    <a:pt x="2238" y="1955"/>
                  </a:lnTo>
                  <a:lnTo>
                    <a:pt x="2266" y="1908"/>
                  </a:lnTo>
                  <a:lnTo>
                    <a:pt x="2291" y="1858"/>
                  </a:lnTo>
                  <a:lnTo>
                    <a:pt x="2312" y="1807"/>
                  </a:lnTo>
                  <a:lnTo>
                    <a:pt x="2329" y="1754"/>
                  </a:lnTo>
                  <a:lnTo>
                    <a:pt x="2342" y="1698"/>
                  </a:lnTo>
                  <a:lnTo>
                    <a:pt x="2349" y="1641"/>
                  </a:lnTo>
                  <a:lnTo>
                    <a:pt x="2353" y="1582"/>
                  </a:lnTo>
                  <a:lnTo>
                    <a:pt x="2350" y="1518"/>
                  </a:lnTo>
                  <a:lnTo>
                    <a:pt x="2341" y="1454"/>
                  </a:lnTo>
                  <a:lnTo>
                    <a:pt x="2326" y="1394"/>
                  </a:lnTo>
                  <a:lnTo>
                    <a:pt x="2305" y="1335"/>
                  </a:lnTo>
                  <a:lnTo>
                    <a:pt x="2280" y="1279"/>
                  </a:lnTo>
                  <a:lnTo>
                    <a:pt x="2250" y="1226"/>
                  </a:lnTo>
                  <a:lnTo>
                    <a:pt x="2216" y="1175"/>
                  </a:lnTo>
                  <a:lnTo>
                    <a:pt x="2177" y="1129"/>
                  </a:lnTo>
                  <a:lnTo>
                    <a:pt x="2135" y="1086"/>
                  </a:lnTo>
                  <a:lnTo>
                    <a:pt x="2087" y="1048"/>
                  </a:lnTo>
                  <a:lnTo>
                    <a:pt x="2038" y="1012"/>
                  </a:lnTo>
                  <a:lnTo>
                    <a:pt x="1985" y="982"/>
                  </a:lnTo>
                  <a:lnTo>
                    <a:pt x="1929" y="957"/>
                  </a:lnTo>
                  <a:lnTo>
                    <a:pt x="1870" y="937"/>
                  </a:lnTo>
                  <a:lnTo>
                    <a:pt x="1809" y="923"/>
                  </a:lnTo>
                  <a:lnTo>
                    <a:pt x="1747" y="914"/>
                  </a:lnTo>
                  <a:lnTo>
                    <a:pt x="1682" y="911"/>
                  </a:lnTo>
                  <a:close/>
                  <a:moveTo>
                    <a:pt x="2435" y="0"/>
                  </a:moveTo>
                  <a:lnTo>
                    <a:pt x="2437" y="0"/>
                  </a:lnTo>
                  <a:lnTo>
                    <a:pt x="2477" y="3"/>
                  </a:lnTo>
                  <a:lnTo>
                    <a:pt x="2516" y="10"/>
                  </a:lnTo>
                  <a:lnTo>
                    <a:pt x="2554" y="23"/>
                  </a:lnTo>
                  <a:lnTo>
                    <a:pt x="2588" y="40"/>
                  </a:lnTo>
                  <a:lnTo>
                    <a:pt x="2620" y="62"/>
                  </a:lnTo>
                  <a:lnTo>
                    <a:pt x="2649" y="88"/>
                  </a:lnTo>
                  <a:lnTo>
                    <a:pt x="2674" y="116"/>
                  </a:lnTo>
                  <a:lnTo>
                    <a:pt x="2695" y="148"/>
                  </a:lnTo>
                  <a:lnTo>
                    <a:pt x="2712" y="182"/>
                  </a:lnTo>
                  <a:lnTo>
                    <a:pt x="2725" y="220"/>
                  </a:lnTo>
                  <a:lnTo>
                    <a:pt x="2733" y="258"/>
                  </a:lnTo>
                  <a:lnTo>
                    <a:pt x="2736" y="299"/>
                  </a:lnTo>
                  <a:lnTo>
                    <a:pt x="2736" y="302"/>
                  </a:lnTo>
                  <a:lnTo>
                    <a:pt x="2733" y="342"/>
                  </a:lnTo>
                  <a:lnTo>
                    <a:pt x="2725" y="382"/>
                  </a:lnTo>
                  <a:lnTo>
                    <a:pt x="2712" y="419"/>
                  </a:lnTo>
                  <a:lnTo>
                    <a:pt x="2695" y="453"/>
                  </a:lnTo>
                  <a:lnTo>
                    <a:pt x="2673" y="485"/>
                  </a:lnTo>
                  <a:lnTo>
                    <a:pt x="2648" y="515"/>
                  </a:lnTo>
                  <a:lnTo>
                    <a:pt x="2619" y="540"/>
                  </a:lnTo>
                  <a:lnTo>
                    <a:pt x="2587" y="562"/>
                  </a:lnTo>
                  <a:lnTo>
                    <a:pt x="2553" y="579"/>
                  </a:lnTo>
                  <a:lnTo>
                    <a:pt x="2515" y="592"/>
                  </a:lnTo>
                  <a:lnTo>
                    <a:pt x="2476" y="600"/>
                  </a:lnTo>
                  <a:lnTo>
                    <a:pt x="2435" y="603"/>
                  </a:lnTo>
                  <a:lnTo>
                    <a:pt x="2407" y="601"/>
                  </a:lnTo>
                  <a:lnTo>
                    <a:pt x="2379" y="597"/>
                  </a:lnTo>
                  <a:lnTo>
                    <a:pt x="2352" y="590"/>
                  </a:lnTo>
                  <a:lnTo>
                    <a:pt x="2164" y="908"/>
                  </a:lnTo>
                  <a:lnTo>
                    <a:pt x="2215" y="947"/>
                  </a:lnTo>
                  <a:lnTo>
                    <a:pt x="2262" y="991"/>
                  </a:lnTo>
                  <a:lnTo>
                    <a:pt x="2305" y="1037"/>
                  </a:lnTo>
                  <a:lnTo>
                    <a:pt x="2346" y="1088"/>
                  </a:lnTo>
                  <a:lnTo>
                    <a:pt x="2382" y="1141"/>
                  </a:lnTo>
                  <a:lnTo>
                    <a:pt x="2414" y="1198"/>
                  </a:lnTo>
                  <a:lnTo>
                    <a:pt x="2442" y="1256"/>
                  </a:lnTo>
                  <a:lnTo>
                    <a:pt x="2465" y="1317"/>
                  </a:lnTo>
                  <a:lnTo>
                    <a:pt x="2483" y="1381"/>
                  </a:lnTo>
                  <a:lnTo>
                    <a:pt x="2497" y="1446"/>
                  </a:lnTo>
                  <a:lnTo>
                    <a:pt x="2505" y="1513"/>
                  </a:lnTo>
                  <a:lnTo>
                    <a:pt x="2508" y="1581"/>
                  </a:lnTo>
                  <a:lnTo>
                    <a:pt x="2508" y="1587"/>
                  </a:lnTo>
                  <a:lnTo>
                    <a:pt x="2725" y="1610"/>
                  </a:lnTo>
                  <a:lnTo>
                    <a:pt x="2742" y="1572"/>
                  </a:lnTo>
                  <a:lnTo>
                    <a:pt x="2764" y="1538"/>
                  </a:lnTo>
                  <a:lnTo>
                    <a:pt x="2789" y="1507"/>
                  </a:lnTo>
                  <a:lnTo>
                    <a:pt x="2818" y="1480"/>
                  </a:lnTo>
                  <a:lnTo>
                    <a:pt x="2851" y="1456"/>
                  </a:lnTo>
                  <a:lnTo>
                    <a:pt x="2886" y="1437"/>
                  </a:lnTo>
                  <a:lnTo>
                    <a:pt x="2924" y="1424"/>
                  </a:lnTo>
                  <a:lnTo>
                    <a:pt x="2965" y="1415"/>
                  </a:lnTo>
                  <a:lnTo>
                    <a:pt x="3008" y="1412"/>
                  </a:lnTo>
                  <a:lnTo>
                    <a:pt x="3051" y="1415"/>
                  </a:lnTo>
                  <a:lnTo>
                    <a:pt x="3092" y="1424"/>
                  </a:lnTo>
                  <a:lnTo>
                    <a:pt x="3131" y="1438"/>
                  </a:lnTo>
                  <a:lnTo>
                    <a:pt x="3167" y="1457"/>
                  </a:lnTo>
                  <a:lnTo>
                    <a:pt x="3200" y="1482"/>
                  </a:lnTo>
                  <a:lnTo>
                    <a:pt x="3230" y="1510"/>
                  </a:lnTo>
                  <a:lnTo>
                    <a:pt x="3255" y="1542"/>
                  </a:lnTo>
                  <a:lnTo>
                    <a:pt x="3276" y="1577"/>
                  </a:lnTo>
                  <a:lnTo>
                    <a:pt x="3292" y="1616"/>
                  </a:lnTo>
                  <a:lnTo>
                    <a:pt x="3303" y="1656"/>
                  </a:lnTo>
                  <a:lnTo>
                    <a:pt x="3308" y="1698"/>
                  </a:lnTo>
                  <a:lnTo>
                    <a:pt x="3308" y="1712"/>
                  </a:lnTo>
                  <a:lnTo>
                    <a:pt x="3308" y="1719"/>
                  </a:lnTo>
                  <a:lnTo>
                    <a:pt x="3308" y="1727"/>
                  </a:lnTo>
                  <a:lnTo>
                    <a:pt x="3302" y="1770"/>
                  </a:lnTo>
                  <a:lnTo>
                    <a:pt x="3292" y="1811"/>
                  </a:lnTo>
                  <a:lnTo>
                    <a:pt x="3276" y="1849"/>
                  </a:lnTo>
                  <a:lnTo>
                    <a:pt x="3255" y="1884"/>
                  </a:lnTo>
                  <a:lnTo>
                    <a:pt x="3229" y="1916"/>
                  </a:lnTo>
                  <a:lnTo>
                    <a:pt x="3199" y="1944"/>
                  </a:lnTo>
                  <a:lnTo>
                    <a:pt x="3166" y="1968"/>
                  </a:lnTo>
                  <a:lnTo>
                    <a:pt x="3130" y="1987"/>
                  </a:lnTo>
                  <a:lnTo>
                    <a:pt x="3092" y="2001"/>
                  </a:lnTo>
                  <a:lnTo>
                    <a:pt x="3050" y="2010"/>
                  </a:lnTo>
                  <a:lnTo>
                    <a:pt x="3008" y="2013"/>
                  </a:lnTo>
                  <a:lnTo>
                    <a:pt x="2967" y="2011"/>
                  </a:lnTo>
                  <a:lnTo>
                    <a:pt x="2928" y="2003"/>
                  </a:lnTo>
                  <a:lnTo>
                    <a:pt x="2892" y="1990"/>
                  </a:lnTo>
                  <a:lnTo>
                    <a:pt x="2857" y="1973"/>
                  </a:lnTo>
                  <a:lnTo>
                    <a:pt x="2826" y="1952"/>
                  </a:lnTo>
                  <a:lnTo>
                    <a:pt x="2797" y="1928"/>
                  </a:lnTo>
                  <a:lnTo>
                    <a:pt x="2772" y="1900"/>
                  </a:lnTo>
                  <a:lnTo>
                    <a:pt x="2749" y="1867"/>
                  </a:lnTo>
                  <a:lnTo>
                    <a:pt x="2732" y="1834"/>
                  </a:lnTo>
                  <a:lnTo>
                    <a:pt x="2718" y="1797"/>
                  </a:lnTo>
                  <a:lnTo>
                    <a:pt x="2710" y="1759"/>
                  </a:lnTo>
                  <a:lnTo>
                    <a:pt x="2492" y="1738"/>
                  </a:lnTo>
                  <a:lnTo>
                    <a:pt x="2476" y="1805"/>
                  </a:lnTo>
                  <a:lnTo>
                    <a:pt x="2455" y="1871"/>
                  </a:lnTo>
                  <a:lnTo>
                    <a:pt x="2429" y="1934"/>
                  </a:lnTo>
                  <a:lnTo>
                    <a:pt x="2397" y="1995"/>
                  </a:lnTo>
                  <a:lnTo>
                    <a:pt x="2361" y="2053"/>
                  </a:lnTo>
                  <a:lnTo>
                    <a:pt x="2321" y="2106"/>
                  </a:lnTo>
                  <a:lnTo>
                    <a:pt x="2275" y="2158"/>
                  </a:lnTo>
                  <a:lnTo>
                    <a:pt x="2227" y="2204"/>
                  </a:lnTo>
                  <a:lnTo>
                    <a:pt x="2175" y="2247"/>
                  </a:lnTo>
                  <a:lnTo>
                    <a:pt x="2119" y="2285"/>
                  </a:lnTo>
                  <a:lnTo>
                    <a:pt x="2060" y="2320"/>
                  </a:lnTo>
                  <a:lnTo>
                    <a:pt x="1998" y="2349"/>
                  </a:lnTo>
                  <a:lnTo>
                    <a:pt x="1934" y="2373"/>
                  </a:lnTo>
                  <a:lnTo>
                    <a:pt x="1983" y="2585"/>
                  </a:lnTo>
                  <a:lnTo>
                    <a:pt x="2026" y="2590"/>
                  </a:lnTo>
                  <a:lnTo>
                    <a:pt x="2067" y="2600"/>
                  </a:lnTo>
                  <a:lnTo>
                    <a:pt x="2107" y="2615"/>
                  </a:lnTo>
                  <a:lnTo>
                    <a:pt x="2143" y="2636"/>
                  </a:lnTo>
                  <a:lnTo>
                    <a:pt x="2175" y="2661"/>
                  </a:lnTo>
                  <a:lnTo>
                    <a:pt x="2204" y="2691"/>
                  </a:lnTo>
                  <a:lnTo>
                    <a:pt x="2229" y="2725"/>
                  </a:lnTo>
                  <a:lnTo>
                    <a:pt x="2249" y="2761"/>
                  </a:lnTo>
                  <a:lnTo>
                    <a:pt x="2263" y="2800"/>
                  </a:lnTo>
                  <a:lnTo>
                    <a:pt x="2272" y="2842"/>
                  </a:lnTo>
                  <a:lnTo>
                    <a:pt x="2276" y="2886"/>
                  </a:lnTo>
                  <a:lnTo>
                    <a:pt x="2273" y="2929"/>
                  </a:lnTo>
                  <a:lnTo>
                    <a:pt x="2264" y="2970"/>
                  </a:lnTo>
                  <a:lnTo>
                    <a:pt x="2250" y="3009"/>
                  </a:lnTo>
                  <a:lnTo>
                    <a:pt x="2231" y="3045"/>
                  </a:lnTo>
                  <a:lnTo>
                    <a:pt x="2207" y="3078"/>
                  </a:lnTo>
                  <a:lnTo>
                    <a:pt x="2180" y="3107"/>
                  </a:lnTo>
                  <a:lnTo>
                    <a:pt x="2148" y="3133"/>
                  </a:lnTo>
                  <a:lnTo>
                    <a:pt x="2114" y="3154"/>
                  </a:lnTo>
                  <a:lnTo>
                    <a:pt x="2075" y="3170"/>
                  </a:lnTo>
                  <a:lnTo>
                    <a:pt x="2035" y="3181"/>
                  </a:lnTo>
                  <a:lnTo>
                    <a:pt x="2006" y="3186"/>
                  </a:lnTo>
                  <a:lnTo>
                    <a:pt x="1976" y="3187"/>
                  </a:lnTo>
                  <a:lnTo>
                    <a:pt x="1935" y="3185"/>
                  </a:lnTo>
                  <a:lnTo>
                    <a:pt x="1896" y="3177"/>
                  </a:lnTo>
                  <a:lnTo>
                    <a:pt x="1858" y="3164"/>
                  </a:lnTo>
                  <a:lnTo>
                    <a:pt x="1824" y="3147"/>
                  </a:lnTo>
                  <a:lnTo>
                    <a:pt x="1792" y="3124"/>
                  </a:lnTo>
                  <a:lnTo>
                    <a:pt x="1763" y="3099"/>
                  </a:lnTo>
                  <a:lnTo>
                    <a:pt x="1738" y="3070"/>
                  </a:lnTo>
                  <a:lnTo>
                    <a:pt x="1716" y="3038"/>
                  </a:lnTo>
                  <a:lnTo>
                    <a:pt x="1699" y="3004"/>
                  </a:lnTo>
                  <a:lnTo>
                    <a:pt x="1686" y="2966"/>
                  </a:lnTo>
                  <a:lnTo>
                    <a:pt x="1678" y="2927"/>
                  </a:lnTo>
                  <a:lnTo>
                    <a:pt x="1675" y="2886"/>
                  </a:lnTo>
                  <a:lnTo>
                    <a:pt x="1679" y="2843"/>
                  </a:lnTo>
                  <a:lnTo>
                    <a:pt x="1687" y="2802"/>
                  </a:lnTo>
                  <a:lnTo>
                    <a:pt x="1701" y="2764"/>
                  </a:lnTo>
                  <a:lnTo>
                    <a:pt x="1720" y="2728"/>
                  </a:lnTo>
                  <a:lnTo>
                    <a:pt x="1744" y="2695"/>
                  </a:lnTo>
                  <a:lnTo>
                    <a:pt x="1772" y="2665"/>
                  </a:lnTo>
                  <a:lnTo>
                    <a:pt x="1803" y="2640"/>
                  </a:lnTo>
                  <a:lnTo>
                    <a:pt x="1837" y="2619"/>
                  </a:lnTo>
                  <a:lnTo>
                    <a:pt x="1789" y="2406"/>
                  </a:lnTo>
                  <a:lnTo>
                    <a:pt x="1734" y="2412"/>
                  </a:lnTo>
                  <a:lnTo>
                    <a:pt x="1678" y="2414"/>
                  </a:lnTo>
                  <a:lnTo>
                    <a:pt x="1605" y="2411"/>
                  </a:lnTo>
                  <a:lnTo>
                    <a:pt x="1535" y="2402"/>
                  </a:lnTo>
                  <a:lnTo>
                    <a:pt x="1467" y="2387"/>
                  </a:lnTo>
                  <a:lnTo>
                    <a:pt x="1400" y="2367"/>
                  </a:lnTo>
                  <a:lnTo>
                    <a:pt x="1337" y="2341"/>
                  </a:lnTo>
                  <a:lnTo>
                    <a:pt x="1276" y="2311"/>
                  </a:lnTo>
                  <a:lnTo>
                    <a:pt x="1218" y="2275"/>
                  </a:lnTo>
                  <a:lnTo>
                    <a:pt x="1163" y="2235"/>
                  </a:lnTo>
                  <a:lnTo>
                    <a:pt x="1112" y="2191"/>
                  </a:lnTo>
                  <a:lnTo>
                    <a:pt x="1064" y="2143"/>
                  </a:lnTo>
                  <a:lnTo>
                    <a:pt x="1021" y="2091"/>
                  </a:lnTo>
                  <a:lnTo>
                    <a:pt x="981" y="2036"/>
                  </a:lnTo>
                  <a:lnTo>
                    <a:pt x="946" y="1977"/>
                  </a:lnTo>
                  <a:lnTo>
                    <a:pt x="917" y="1916"/>
                  </a:lnTo>
                  <a:lnTo>
                    <a:pt x="601" y="2022"/>
                  </a:lnTo>
                  <a:lnTo>
                    <a:pt x="602" y="2032"/>
                  </a:lnTo>
                  <a:lnTo>
                    <a:pt x="602" y="2042"/>
                  </a:lnTo>
                  <a:lnTo>
                    <a:pt x="599" y="2083"/>
                  </a:lnTo>
                  <a:lnTo>
                    <a:pt x="591" y="2121"/>
                  </a:lnTo>
                  <a:lnTo>
                    <a:pt x="578" y="2159"/>
                  </a:lnTo>
                  <a:lnTo>
                    <a:pt x="561" y="2194"/>
                  </a:lnTo>
                  <a:lnTo>
                    <a:pt x="538" y="2226"/>
                  </a:lnTo>
                  <a:lnTo>
                    <a:pt x="513" y="2254"/>
                  </a:lnTo>
                  <a:lnTo>
                    <a:pt x="484" y="2280"/>
                  </a:lnTo>
                  <a:lnTo>
                    <a:pt x="453" y="2302"/>
                  </a:lnTo>
                  <a:lnTo>
                    <a:pt x="418" y="2319"/>
                  </a:lnTo>
                  <a:lnTo>
                    <a:pt x="381" y="2332"/>
                  </a:lnTo>
                  <a:lnTo>
                    <a:pt x="342" y="2340"/>
                  </a:lnTo>
                  <a:lnTo>
                    <a:pt x="301" y="2343"/>
                  </a:lnTo>
                  <a:lnTo>
                    <a:pt x="298" y="2343"/>
                  </a:lnTo>
                  <a:lnTo>
                    <a:pt x="258" y="2340"/>
                  </a:lnTo>
                  <a:lnTo>
                    <a:pt x="219" y="2332"/>
                  </a:lnTo>
                  <a:lnTo>
                    <a:pt x="182" y="2320"/>
                  </a:lnTo>
                  <a:lnTo>
                    <a:pt x="148" y="2302"/>
                  </a:lnTo>
                  <a:lnTo>
                    <a:pt x="116" y="2280"/>
                  </a:lnTo>
                  <a:lnTo>
                    <a:pt x="87" y="2255"/>
                  </a:lnTo>
                  <a:lnTo>
                    <a:pt x="62" y="2227"/>
                  </a:lnTo>
                  <a:lnTo>
                    <a:pt x="40" y="2195"/>
                  </a:lnTo>
                  <a:lnTo>
                    <a:pt x="23" y="2161"/>
                  </a:lnTo>
                  <a:lnTo>
                    <a:pt x="11" y="2123"/>
                  </a:lnTo>
                  <a:lnTo>
                    <a:pt x="3" y="2084"/>
                  </a:lnTo>
                  <a:lnTo>
                    <a:pt x="0" y="2044"/>
                  </a:lnTo>
                  <a:lnTo>
                    <a:pt x="0" y="2043"/>
                  </a:lnTo>
                  <a:lnTo>
                    <a:pt x="3" y="2001"/>
                  </a:lnTo>
                  <a:lnTo>
                    <a:pt x="11" y="1962"/>
                  </a:lnTo>
                  <a:lnTo>
                    <a:pt x="24" y="1925"/>
                  </a:lnTo>
                  <a:lnTo>
                    <a:pt x="41" y="1891"/>
                  </a:lnTo>
                  <a:lnTo>
                    <a:pt x="62" y="1858"/>
                  </a:lnTo>
                  <a:lnTo>
                    <a:pt x="88" y="1829"/>
                  </a:lnTo>
                  <a:lnTo>
                    <a:pt x="117" y="1804"/>
                  </a:lnTo>
                  <a:lnTo>
                    <a:pt x="149" y="1782"/>
                  </a:lnTo>
                  <a:lnTo>
                    <a:pt x="184" y="1765"/>
                  </a:lnTo>
                  <a:lnTo>
                    <a:pt x="221" y="1752"/>
                  </a:lnTo>
                  <a:lnTo>
                    <a:pt x="259" y="1744"/>
                  </a:lnTo>
                  <a:lnTo>
                    <a:pt x="300" y="1742"/>
                  </a:lnTo>
                  <a:lnTo>
                    <a:pt x="340" y="1744"/>
                  </a:lnTo>
                  <a:lnTo>
                    <a:pt x="377" y="1751"/>
                  </a:lnTo>
                  <a:lnTo>
                    <a:pt x="413" y="1763"/>
                  </a:lnTo>
                  <a:lnTo>
                    <a:pt x="447" y="1779"/>
                  </a:lnTo>
                  <a:lnTo>
                    <a:pt x="478" y="1799"/>
                  </a:lnTo>
                  <a:lnTo>
                    <a:pt x="506" y="1823"/>
                  </a:lnTo>
                  <a:lnTo>
                    <a:pt x="531" y="1849"/>
                  </a:lnTo>
                  <a:lnTo>
                    <a:pt x="554" y="1880"/>
                  </a:lnTo>
                  <a:lnTo>
                    <a:pt x="869" y="1774"/>
                  </a:lnTo>
                  <a:lnTo>
                    <a:pt x="856" y="1711"/>
                  </a:lnTo>
                  <a:lnTo>
                    <a:pt x="849" y="1647"/>
                  </a:lnTo>
                  <a:lnTo>
                    <a:pt x="846" y="1581"/>
                  </a:lnTo>
                  <a:lnTo>
                    <a:pt x="850" y="1510"/>
                  </a:lnTo>
                  <a:lnTo>
                    <a:pt x="859" y="1439"/>
                  </a:lnTo>
                  <a:lnTo>
                    <a:pt x="873" y="1371"/>
                  </a:lnTo>
                  <a:lnTo>
                    <a:pt x="893" y="1304"/>
                  </a:lnTo>
                  <a:lnTo>
                    <a:pt x="919" y="1241"/>
                  </a:lnTo>
                  <a:lnTo>
                    <a:pt x="949" y="1179"/>
                  </a:lnTo>
                  <a:lnTo>
                    <a:pt x="984" y="1122"/>
                  </a:lnTo>
                  <a:lnTo>
                    <a:pt x="1025" y="1067"/>
                  </a:lnTo>
                  <a:lnTo>
                    <a:pt x="937" y="984"/>
                  </a:lnTo>
                  <a:lnTo>
                    <a:pt x="900" y="1003"/>
                  </a:lnTo>
                  <a:lnTo>
                    <a:pt x="862" y="1018"/>
                  </a:lnTo>
                  <a:lnTo>
                    <a:pt x="820" y="1027"/>
                  </a:lnTo>
                  <a:lnTo>
                    <a:pt x="777" y="1030"/>
                  </a:lnTo>
                  <a:lnTo>
                    <a:pt x="736" y="1027"/>
                  </a:lnTo>
                  <a:lnTo>
                    <a:pt x="697" y="1019"/>
                  </a:lnTo>
                  <a:lnTo>
                    <a:pt x="660" y="1006"/>
                  </a:lnTo>
                  <a:lnTo>
                    <a:pt x="625" y="989"/>
                  </a:lnTo>
                  <a:lnTo>
                    <a:pt x="593" y="967"/>
                  </a:lnTo>
                  <a:lnTo>
                    <a:pt x="565" y="942"/>
                  </a:lnTo>
                  <a:lnTo>
                    <a:pt x="538" y="913"/>
                  </a:lnTo>
                  <a:lnTo>
                    <a:pt x="517" y="881"/>
                  </a:lnTo>
                  <a:lnTo>
                    <a:pt x="500" y="846"/>
                  </a:lnTo>
                  <a:lnTo>
                    <a:pt x="487" y="809"/>
                  </a:lnTo>
                  <a:lnTo>
                    <a:pt x="479" y="770"/>
                  </a:lnTo>
                  <a:lnTo>
                    <a:pt x="476" y="729"/>
                  </a:lnTo>
                  <a:lnTo>
                    <a:pt x="476" y="726"/>
                  </a:lnTo>
                  <a:lnTo>
                    <a:pt x="479" y="686"/>
                  </a:lnTo>
                  <a:lnTo>
                    <a:pt x="487" y="647"/>
                  </a:lnTo>
                  <a:lnTo>
                    <a:pt x="500" y="609"/>
                  </a:lnTo>
                  <a:lnTo>
                    <a:pt x="517" y="575"/>
                  </a:lnTo>
                  <a:lnTo>
                    <a:pt x="538" y="543"/>
                  </a:lnTo>
                  <a:lnTo>
                    <a:pt x="564" y="515"/>
                  </a:lnTo>
                  <a:lnTo>
                    <a:pt x="593" y="490"/>
                  </a:lnTo>
                  <a:lnTo>
                    <a:pt x="625" y="468"/>
                  </a:lnTo>
                  <a:lnTo>
                    <a:pt x="659" y="450"/>
                  </a:lnTo>
                  <a:lnTo>
                    <a:pt x="696" y="438"/>
                  </a:lnTo>
                  <a:lnTo>
                    <a:pt x="734" y="430"/>
                  </a:lnTo>
                  <a:lnTo>
                    <a:pt x="776" y="427"/>
                  </a:lnTo>
                  <a:lnTo>
                    <a:pt x="777" y="427"/>
                  </a:lnTo>
                  <a:lnTo>
                    <a:pt x="818" y="430"/>
                  </a:lnTo>
                  <a:lnTo>
                    <a:pt x="857" y="438"/>
                  </a:lnTo>
                  <a:lnTo>
                    <a:pt x="893" y="451"/>
                  </a:lnTo>
                  <a:lnTo>
                    <a:pt x="928" y="468"/>
                  </a:lnTo>
                  <a:lnTo>
                    <a:pt x="960" y="490"/>
                  </a:lnTo>
                  <a:lnTo>
                    <a:pt x="989" y="516"/>
                  </a:lnTo>
                  <a:lnTo>
                    <a:pt x="1015" y="544"/>
                  </a:lnTo>
                  <a:lnTo>
                    <a:pt x="1036" y="576"/>
                  </a:lnTo>
                  <a:lnTo>
                    <a:pt x="1054" y="611"/>
                  </a:lnTo>
                  <a:lnTo>
                    <a:pt x="1066" y="649"/>
                  </a:lnTo>
                  <a:lnTo>
                    <a:pt x="1074" y="688"/>
                  </a:lnTo>
                  <a:lnTo>
                    <a:pt x="1077" y="728"/>
                  </a:lnTo>
                  <a:lnTo>
                    <a:pt x="1075" y="768"/>
                  </a:lnTo>
                  <a:lnTo>
                    <a:pt x="1067" y="805"/>
                  </a:lnTo>
                  <a:lnTo>
                    <a:pt x="1056" y="840"/>
                  </a:lnTo>
                  <a:lnTo>
                    <a:pt x="1040" y="874"/>
                  </a:lnTo>
                  <a:lnTo>
                    <a:pt x="1128" y="957"/>
                  </a:lnTo>
                  <a:lnTo>
                    <a:pt x="1178" y="916"/>
                  </a:lnTo>
                  <a:lnTo>
                    <a:pt x="1232" y="878"/>
                  </a:lnTo>
                  <a:lnTo>
                    <a:pt x="1288" y="845"/>
                  </a:lnTo>
                  <a:lnTo>
                    <a:pt x="1347" y="817"/>
                  </a:lnTo>
                  <a:lnTo>
                    <a:pt x="1409" y="793"/>
                  </a:lnTo>
                  <a:lnTo>
                    <a:pt x="1474" y="774"/>
                  </a:lnTo>
                  <a:lnTo>
                    <a:pt x="1540" y="760"/>
                  </a:lnTo>
                  <a:lnTo>
                    <a:pt x="1607" y="751"/>
                  </a:lnTo>
                  <a:lnTo>
                    <a:pt x="1678" y="748"/>
                  </a:lnTo>
                  <a:lnTo>
                    <a:pt x="1741" y="751"/>
                  </a:lnTo>
                  <a:lnTo>
                    <a:pt x="1803" y="758"/>
                  </a:lnTo>
                  <a:lnTo>
                    <a:pt x="1864" y="770"/>
                  </a:lnTo>
                  <a:lnTo>
                    <a:pt x="1923" y="786"/>
                  </a:lnTo>
                  <a:lnTo>
                    <a:pt x="1981" y="806"/>
                  </a:lnTo>
                  <a:lnTo>
                    <a:pt x="2035" y="830"/>
                  </a:lnTo>
                  <a:lnTo>
                    <a:pt x="2223" y="514"/>
                  </a:lnTo>
                  <a:lnTo>
                    <a:pt x="2198" y="484"/>
                  </a:lnTo>
                  <a:lnTo>
                    <a:pt x="2176" y="452"/>
                  </a:lnTo>
                  <a:lnTo>
                    <a:pt x="2159" y="418"/>
                  </a:lnTo>
                  <a:lnTo>
                    <a:pt x="2146" y="381"/>
                  </a:lnTo>
                  <a:lnTo>
                    <a:pt x="2138" y="341"/>
                  </a:lnTo>
                  <a:lnTo>
                    <a:pt x="2135" y="301"/>
                  </a:lnTo>
                  <a:lnTo>
                    <a:pt x="2138" y="260"/>
                  </a:lnTo>
                  <a:lnTo>
                    <a:pt x="2146" y="221"/>
                  </a:lnTo>
                  <a:lnTo>
                    <a:pt x="2159" y="184"/>
                  </a:lnTo>
                  <a:lnTo>
                    <a:pt x="2176" y="149"/>
                  </a:lnTo>
                  <a:lnTo>
                    <a:pt x="2198" y="117"/>
                  </a:lnTo>
                  <a:lnTo>
                    <a:pt x="2223" y="88"/>
                  </a:lnTo>
                  <a:lnTo>
                    <a:pt x="2252" y="62"/>
                  </a:lnTo>
                  <a:lnTo>
                    <a:pt x="2284" y="41"/>
                  </a:lnTo>
                  <a:lnTo>
                    <a:pt x="2318" y="23"/>
                  </a:lnTo>
                  <a:lnTo>
                    <a:pt x="2356" y="11"/>
                  </a:lnTo>
                  <a:lnTo>
                    <a:pt x="2395" y="3"/>
                  </a:lnTo>
                  <a:lnTo>
                    <a:pt x="243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19">
              <a:extLst>
                <a:ext uri="{FF2B5EF4-FFF2-40B4-BE49-F238E27FC236}">
                  <a16:creationId xmlns="" xmlns:a16="http://schemas.microsoft.com/office/drawing/2014/main" id="{EA25D269-2B48-B14F-872B-CB406FD05B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90350" y="1322388"/>
              <a:ext cx="52388" cy="69850"/>
            </a:xfrm>
            <a:custGeom>
              <a:avLst/>
              <a:gdLst>
                <a:gd name="T0" fmla="*/ 316 w 558"/>
                <a:gd name="T1" fmla="*/ 1 h 742"/>
                <a:gd name="T2" fmla="*/ 361 w 558"/>
                <a:gd name="T3" fmla="*/ 12 h 742"/>
                <a:gd name="T4" fmla="*/ 397 w 558"/>
                <a:gd name="T5" fmla="*/ 29 h 742"/>
                <a:gd name="T6" fmla="*/ 430 w 558"/>
                <a:gd name="T7" fmla="*/ 52 h 742"/>
                <a:gd name="T8" fmla="*/ 451 w 558"/>
                <a:gd name="T9" fmla="*/ 74 h 742"/>
                <a:gd name="T10" fmla="*/ 461 w 558"/>
                <a:gd name="T11" fmla="*/ 87 h 742"/>
                <a:gd name="T12" fmla="*/ 463 w 558"/>
                <a:gd name="T13" fmla="*/ 89 h 742"/>
                <a:gd name="T14" fmla="*/ 471 w 558"/>
                <a:gd name="T15" fmla="*/ 91 h 742"/>
                <a:gd name="T16" fmla="*/ 485 w 558"/>
                <a:gd name="T17" fmla="*/ 96 h 742"/>
                <a:gd name="T18" fmla="*/ 500 w 558"/>
                <a:gd name="T19" fmla="*/ 107 h 742"/>
                <a:gd name="T20" fmla="*/ 516 w 558"/>
                <a:gd name="T21" fmla="*/ 126 h 742"/>
                <a:gd name="T22" fmla="*/ 530 w 558"/>
                <a:gd name="T23" fmla="*/ 155 h 742"/>
                <a:gd name="T24" fmla="*/ 539 w 558"/>
                <a:gd name="T25" fmla="*/ 195 h 742"/>
                <a:gd name="T26" fmla="*/ 542 w 558"/>
                <a:gd name="T27" fmla="*/ 248 h 742"/>
                <a:gd name="T28" fmla="*/ 534 w 558"/>
                <a:gd name="T29" fmla="*/ 318 h 742"/>
                <a:gd name="T30" fmla="*/ 525 w 558"/>
                <a:gd name="T31" fmla="*/ 353 h 742"/>
                <a:gd name="T32" fmla="*/ 538 w 558"/>
                <a:gd name="T33" fmla="*/ 354 h 742"/>
                <a:gd name="T34" fmla="*/ 549 w 558"/>
                <a:gd name="T35" fmla="*/ 362 h 742"/>
                <a:gd name="T36" fmla="*/ 557 w 558"/>
                <a:gd name="T37" fmla="*/ 378 h 742"/>
                <a:gd name="T38" fmla="*/ 557 w 558"/>
                <a:gd name="T39" fmla="*/ 407 h 742"/>
                <a:gd name="T40" fmla="*/ 549 w 558"/>
                <a:gd name="T41" fmla="*/ 450 h 742"/>
                <a:gd name="T42" fmla="*/ 531 w 558"/>
                <a:gd name="T43" fmla="*/ 498 h 742"/>
                <a:gd name="T44" fmla="*/ 516 w 558"/>
                <a:gd name="T45" fmla="*/ 523 h 742"/>
                <a:gd name="T46" fmla="*/ 502 w 558"/>
                <a:gd name="T47" fmla="*/ 530 h 742"/>
                <a:gd name="T48" fmla="*/ 488 w 558"/>
                <a:gd name="T49" fmla="*/ 582 h 742"/>
                <a:gd name="T50" fmla="*/ 459 w 558"/>
                <a:gd name="T51" fmla="*/ 634 h 742"/>
                <a:gd name="T52" fmla="*/ 419 w 558"/>
                <a:gd name="T53" fmla="*/ 681 h 742"/>
                <a:gd name="T54" fmla="*/ 368 w 558"/>
                <a:gd name="T55" fmla="*/ 719 h 742"/>
                <a:gd name="T56" fmla="*/ 310 w 558"/>
                <a:gd name="T57" fmla="*/ 740 h 742"/>
                <a:gd name="T58" fmla="*/ 249 w 558"/>
                <a:gd name="T59" fmla="*/ 740 h 742"/>
                <a:gd name="T60" fmla="*/ 189 w 558"/>
                <a:gd name="T61" fmla="*/ 719 h 742"/>
                <a:gd name="T62" fmla="*/ 138 w 558"/>
                <a:gd name="T63" fmla="*/ 681 h 742"/>
                <a:gd name="T64" fmla="*/ 99 w 558"/>
                <a:gd name="T65" fmla="*/ 634 h 742"/>
                <a:gd name="T66" fmla="*/ 72 w 558"/>
                <a:gd name="T67" fmla="*/ 582 h 742"/>
                <a:gd name="T68" fmla="*/ 58 w 558"/>
                <a:gd name="T69" fmla="*/ 530 h 742"/>
                <a:gd name="T70" fmla="*/ 44 w 558"/>
                <a:gd name="T71" fmla="*/ 523 h 742"/>
                <a:gd name="T72" fmla="*/ 27 w 558"/>
                <a:gd name="T73" fmla="*/ 498 h 742"/>
                <a:gd name="T74" fmla="*/ 10 w 558"/>
                <a:gd name="T75" fmla="*/ 450 h 742"/>
                <a:gd name="T76" fmla="*/ 1 w 558"/>
                <a:gd name="T77" fmla="*/ 407 h 742"/>
                <a:gd name="T78" fmla="*/ 2 w 558"/>
                <a:gd name="T79" fmla="*/ 379 h 742"/>
                <a:gd name="T80" fmla="*/ 9 w 558"/>
                <a:gd name="T81" fmla="*/ 362 h 742"/>
                <a:gd name="T82" fmla="*/ 20 w 558"/>
                <a:gd name="T83" fmla="*/ 355 h 742"/>
                <a:gd name="T84" fmla="*/ 33 w 558"/>
                <a:gd name="T85" fmla="*/ 354 h 742"/>
                <a:gd name="T86" fmla="*/ 24 w 558"/>
                <a:gd name="T87" fmla="*/ 319 h 742"/>
                <a:gd name="T88" fmla="*/ 17 w 558"/>
                <a:gd name="T89" fmla="*/ 260 h 742"/>
                <a:gd name="T90" fmla="*/ 23 w 558"/>
                <a:gd name="T91" fmla="*/ 206 h 742"/>
                <a:gd name="T92" fmla="*/ 44 w 558"/>
                <a:gd name="T93" fmla="*/ 154 h 742"/>
                <a:gd name="T94" fmla="*/ 73 w 558"/>
                <a:gd name="T95" fmla="*/ 109 h 742"/>
                <a:gd name="T96" fmla="*/ 108 w 558"/>
                <a:gd name="T97" fmla="*/ 72 h 742"/>
                <a:gd name="T98" fmla="*/ 150 w 558"/>
                <a:gd name="T99" fmla="*/ 41 h 742"/>
                <a:gd name="T100" fmla="*/ 209 w 558"/>
                <a:gd name="T101" fmla="*/ 10 h 742"/>
                <a:gd name="T102" fmla="*/ 263 w 558"/>
                <a:gd name="T103" fmla="*/ 0 h 7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58" h="742">
                  <a:moveTo>
                    <a:pt x="291" y="0"/>
                  </a:moveTo>
                  <a:lnTo>
                    <a:pt x="316" y="1"/>
                  </a:lnTo>
                  <a:lnTo>
                    <a:pt x="340" y="6"/>
                  </a:lnTo>
                  <a:lnTo>
                    <a:pt x="361" y="12"/>
                  </a:lnTo>
                  <a:lnTo>
                    <a:pt x="380" y="20"/>
                  </a:lnTo>
                  <a:lnTo>
                    <a:pt x="397" y="29"/>
                  </a:lnTo>
                  <a:lnTo>
                    <a:pt x="415" y="40"/>
                  </a:lnTo>
                  <a:lnTo>
                    <a:pt x="430" y="52"/>
                  </a:lnTo>
                  <a:lnTo>
                    <a:pt x="442" y="64"/>
                  </a:lnTo>
                  <a:lnTo>
                    <a:pt x="451" y="74"/>
                  </a:lnTo>
                  <a:lnTo>
                    <a:pt x="457" y="82"/>
                  </a:lnTo>
                  <a:lnTo>
                    <a:pt x="461" y="87"/>
                  </a:lnTo>
                  <a:lnTo>
                    <a:pt x="462" y="89"/>
                  </a:lnTo>
                  <a:lnTo>
                    <a:pt x="463" y="89"/>
                  </a:lnTo>
                  <a:lnTo>
                    <a:pt x="466" y="90"/>
                  </a:lnTo>
                  <a:lnTo>
                    <a:pt x="471" y="91"/>
                  </a:lnTo>
                  <a:lnTo>
                    <a:pt x="478" y="93"/>
                  </a:lnTo>
                  <a:lnTo>
                    <a:pt x="485" y="96"/>
                  </a:lnTo>
                  <a:lnTo>
                    <a:pt x="492" y="101"/>
                  </a:lnTo>
                  <a:lnTo>
                    <a:pt x="500" y="107"/>
                  </a:lnTo>
                  <a:lnTo>
                    <a:pt x="508" y="116"/>
                  </a:lnTo>
                  <a:lnTo>
                    <a:pt x="516" y="126"/>
                  </a:lnTo>
                  <a:lnTo>
                    <a:pt x="524" y="140"/>
                  </a:lnTo>
                  <a:lnTo>
                    <a:pt x="530" y="155"/>
                  </a:lnTo>
                  <a:lnTo>
                    <a:pt x="536" y="173"/>
                  </a:lnTo>
                  <a:lnTo>
                    <a:pt x="539" y="195"/>
                  </a:lnTo>
                  <a:lnTo>
                    <a:pt x="542" y="220"/>
                  </a:lnTo>
                  <a:lnTo>
                    <a:pt x="542" y="248"/>
                  </a:lnTo>
                  <a:lnTo>
                    <a:pt x="539" y="282"/>
                  </a:lnTo>
                  <a:lnTo>
                    <a:pt x="534" y="318"/>
                  </a:lnTo>
                  <a:lnTo>
                    <a:pt x="531" y="336"/>
                  </a:lnTo>
                  <a:lnTo>
                    <a:pt x="525" y="353"/>
                  </a:lnTo>
                  <a:lnTo>
                    <a:pt x="532" y="353"/>
                  </a:lnTo>
                  <a:lnTo>
                    <a:pt x="538" y="354"/>
                  </a:lnTo>
                  <a:lnTo>
                    <a:pt x="544" y="357"/>
                  </a:lnTo>
                  <a:lnTo>
                    <a:pt x="549" y="362"/>
                  </a:lnTo>
                  <a:lnTo>
                    <a:pt x="554" y="369"/>
                  </a:lnTo>
                  <a:lnTo>
                    <a:pt x="557" y="378"/>
                  </a:lnTo>
                  <a:lnTo>
                    <a:pt x="558" y="390"/>
                  </a:lnTo>
                  <a:lnTo>
                    <a:pt x="557" y="407"/>
                  </a:lnTo>
                  <a:lnTo>
                    <a:pt x="554" y="427"/>
                  </a:lnTo>
                  <a:lnTo>
                    <a:pt x="549" y="450"/>
                  </a:lnTo>
                  <a:lnTo>
                    <a:pt x="540" y="477"/>
                  </a:lnTo>
                  <a:lnTo>
                    <a:pt x="531" y="498"/>
                  </a:lnTo>
                  <a:lnTo>
                    <a:pt x="523" y="513"/>
                  </a:lnTo>
                  <a:lnTo>
                    <a:pt x="516" y="523"/>
                  </a:lnTo>
                  <a:lnTo>
                    <a:pt x="509" y="528"/>
                  </a:lnTo>
                  <a:lnTo>
                    <a:pt x="502" y="530"/>
                  </a:lnTo>
                  <a:lnTo>
                    <a:pt x="497" y="556"/>
                  </a:lnTo>
                  <a:lnTo>
                    <a:pt x="488" y="582"/>
                  </a:lnTo>
                  <a:lnTo>
                    <a:pt x="474" y="608"/>
                  </a:lnTo>
                  <a:lnTo>
                    <a:pt x="459" y="634"/>
                  </a:lnTo>
                  <a:lnTo>
                    <a:pt x="441" y="658"/>
                  </a:lnTo>
                  <a:lnTo>
                    <a:pt x="419" y="681"/>
                  </a:lnTo>
                  <a:lnTo>
                    <a:pt x="395" y="702"/>
                  </a:lnTo>
                  <a:lnTo>
                    <a:pt x="368" y="719"/>
                  </a:lnTo>
                  <a:lnTo>
                    <a:pt x="339" y="732"/>
                  </a:lnTo>
                  <a:lnTo>
                    <a:pt x="310" y="740"/>
                  </a:lnTo>
                  <a:lnTo>
                    <a:pt x="280" y="742"/>
                  </a:lnTo>
                  <a:lnTo>
                    <a:pt x="249" y="740"/>
                  </a:lnTo>
                  <a:lnTo>
                    <a:pt x="219" y="732"/>
                  </a:lnTo>
                  <a:lnTo>
                    <a:pt x="189" y="719"/>
                  </a:lnTo>
                  <a:lnTo>
                    <a:pt x="162" y="702"/>
                  </a:lnTo>
                  <a:lnTo>
                    <a:pt x="138" y="681"/>
                  </a:lnTo>
                  <a:lnTo>
                    <a:pt x="117" y="659"/>
                  </a:lnTo>
                  <a:lnTo>
                    <a:pt x="99" y="634"/>
                  </a:lnTo>
                  <a:lnTo>
                    <a:pt x="84" y="608"/>
                  </a:lnTo>
                  <a:lnTo>
                    <a:pt x="72" y="582"/>
                  </a:lnTo>
                  <a:lnTo>
                    <a:pt x="63" y="556"/>
                  </a:lnTo>
                  <a:lnTo>
                    <a:pt x="58" y="530"/>
                  </a:lnTo>
                  <a:lnTo>
                    <a:pt x="51" y="528"/>
                  </a:lnTo>
                  <a:lnTo>
                    <a:pt x="44" y="523"/>
                  </a:lnTo>
                  <a:lnTo>
                    <a:pt x="36" y="513"/>
                  </a:lnTo>
                  <a:lnTo>
                    <a:pt x="27" y="498"/>
                  </a:lnTo>
                  <a:lnTo>
                    <a:pt x="19" y="477"/>
                  </a:lnTo>
                  <a:lnTo>
                    <a:pt x="10" y="450"/>
                  </a:lnTo>
                  <a:lnTo>
                    <a:pt x="4" y="427"/>
                  </a:lnTo>
                  <a:lnTo>
                    <a:pt x="1" y="407"/>
                  </a:lnTo>
                  <a:lnTo>
                    <a:pt x="0" y="391"/>
                  </a:lnTo>
                  <a:lnTo>
                    <a:pt x="2" y="379"/>
                  </a:lnTo>
                  <a:lnTo>
                    <a:pt x="4" y="369"/>
                  </a:lnTo>
                  <a:lnTo>
                    <a:pt x="9" y="362"/>
                  </a:lnTo>
                  <a:lnTo>
                    <a:pt x="14" y="358"/>
                  </a:lnTo>
                  <a:lnTo>
                    <a:pt x="20" y="355"/>
                  </a:lnTo>
                  <a:lnTo>
                    <a:pt x="27" y="354"/>
                  </a:lnTo>
                  <a:lnTo>
                    <a:pt x="33" y="354"/>
                  </a:lnTo>
                  <a:lnTo>
                    <a:pt x="28" y="336"/>
                  </a:lnTo>
                  <a:lnTo>
                    <a:pt x="24" y="319"/>
                  </a:lnTo>
                  <a:lnTo>
                    <a:pt x="19" y="290"/>
                  </a:lnTo>
                  <a:lnTo>
                    <a:pt x="17" y="260"/>
                  </a:lnTo>
                  <a:lnTo>
                    <a:pt x="18" y="233"/>
                  </a:lnTo>
                  <a:lnTo>
                    <a:pt x="23" y="206"/>
                  </a:lnTo>
                  <a:lnTo>
                    <a:pt x="31" y="179"/>
                  </a:lnTo>
                  <a:lnTo>
                    <a:pt x="44" y="154"/>
                  </a:lnTo>
                  <a:lnTo>
                    <a:pt x="57" y="131"/>
                  </a:lnTo>
                  <a:lnTo>
                    <a:pt x="73" y="109"/>
                  </a:lnTo>
                  <a:lnTo>
                    <a:pt x="89" y="91"/>
                  </a:lnTo>
                  <a:lnTo>
                    <a:pt x="108" y="72"/>
                  </a:lnTo>
                  <a:lnTo>
                    <a:pt x="129" y="55"/>
                  </a:lnTo>
                  <a:lnTo>
                    <a:pt x="150" y="41"/>
                  </a:lnTo>
                  <a:lnTo>
                    <a:pt x="178" y="24"/>
                  </a:lnTo>
                  <a:lnTo>
                    <a:pt x="209" y="10"/>
                  </a:lnTo>
                  <a:lnTo>
                    <a:pt x="234" y="4"/>
                  </a:lnTo>
                  <a:lnTo>
                    <a:pt x="263" y="0"/>
                  </a:lnTo>
                  <a:lnTo>
                    <a:pt x="29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0" name="Group 1712">
            <a:extLst>
              <a:ext uri="{FF2B5EF4-FFF2-40B4-BE49-F238E27FC236}">
                <a16:creationId xmlns="" xmlns:a16="http://schemas.microsoft.com/office/drawing/2014/main" id="{20089D0F-F32E-9640-8BA3-2B6741746F32}"/>
              </a:ext>
            </a:extLst>
          </p:cNvPr>
          <p:cNvGrpSpPr/>
          <p:nvPr/>
        </p:nvGrpSpPr>
        <p:grpSpPr>
          <a:xfrm>
            <a:off x="566195" y="2540554"/>
            <a:ext cx="304800" cy="268287"/>
            <a:chOff x="4954588" y="1239838"/>
            <a:chExt cx="304800" cy="268287"/>
          </a:xfrm>
          <a:solidFill>
            <a:schemeClr val="bg1"/>
          </a:solidFill>
        </p:grpSpPr>
        <p:sp>
          <p:nvSpPr>
            <p:cNvPr id="31" name="Freeform 190">
              <a:extLst>
                <a:ext uri="{FF2B5EF4-FFF2-40B4-BE49-F238E27FC236}">
                  <a16:creationId xmlns="" xmlns:a16="http://schemas.microsoft.com/office/drawing/2014/main" id="{4A868E14-CC64-8D44-A5EB-68E360BA1AD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6976" y="1270000"/>
              <a:ext cx="149225" cy="96837"/>
            </a:xfrm>
            <a:custGeom>
              <a:avLst/>
              <a:gdLst>
                <a:gd name="T0" fmla="*/ 1352 w 1697"/>
                <a:gd name="T1" fmla="*/ 0 h 1101"/>
                <a:gd name="T2" fmla="*/ 1574 w 1697"/>
                <a:gd name="T3" fmla="*/ 222 h 1101"/>
                <a:gd name="T4" fmla="*/ 1697 w 1697"/>
                <a:gd name="T5" fmla="*/ 346 h 1101"/>
                <a:gd name="T6" fmla="*/ 1352 w 1697"/>
                <a:gd name="T7" fmla="*/ 689 h 1101"/>
                <a:gd name="T8" fmla="*/ 1228 w 1697"/>
                <a:gd name="T9" fmla="*/ 567 h 1101"/>
                <a:gd name="T10" fmla="*/ 1363 w 1697"/>
                <a:gd name="T11" fmla="*/ 431 h 1101"/>
                <a:gd name="T12" fmla="*/ 583 w 1697"/>
                <a:gd name="T13" fmla="*/ 431 h 1101"/>
                <a:gd name="T14" fmla="*/ 532 w 1697"/>
                <a:gd name="T15" fmla="*/ 435 h 1101"/>
                <a:gd name="T16" fmla="*/ 483 w 1697"/>
                <a:gd name="T17" fmla="*/ 444 h 1101"/>
                <a:gd name="T18" fmla="*/ 436 w 1697"/>
                <a:gd name="T19" fmla="*/ 460 h 1101"/>
                <a:gd name="T20" fmla="*/ 392 w 1697"/>
                <a:gd name="T21" fmla="*/ 480 h 1101"/>
                <a:gd name="T22" fmla="*/ 350 w 1697"/>
                <a:gd name="T23" fmla="*/ 506 h 1101"/>
                <a:gd name="T24" fmla="*/ 312 w 1697"/>
                <a:gd name="T25" fmla="*/ 535 h 1101"/>
                <a:gd name="T26" fmla="*/ 277 w 1697"/>
                <a:gd name="T27" fmla="*/ 570 h 1101"/>
                <a:gd name="T28" fmla="*/ 247 w 1697"/>
                <a:gd name="T29" fmla="*/ 607 h 1101"/>
                <a:gd name="T30" fmla="*/ 222 w 1697"/>
                <a:gd name="T31" fmla="*/ 649 h 1101"/>
                <a:gd name="T32" fmla="*/ 202 w 1697"/>
                <a:gd name="T33" fmla="*/ 693 h 1101"/>
                <a:gd name="T34" fmla="*/ 186 w 1697"/>
                <a:gd name="T35" fmla="*/ 740 h 1101"/>
                <a:gd name="T36" fmla="*/ 177 w 1697"/>
                <a:gd name="T37" fmla="*/ 791 h 1101"/>
                <a:gd name="T38" fmla="*/ 174 w 1697"/>
                <a:gd name="T39" fmla="*/ 841 h 1101"/>
                <a:gd name="T40" fmla="*/ 174 w 1697"/>
                <a:gd name="T41" fmla="*/ 1101 h 1101"/>
                <a:gd name="T42" fmla="*/ 0 w 1697"/>
                <a:gd name="T43" fmla="*/ 1101 h 1101"/>
                <a:gd name="T44" fmla="*/ 0 w 1697"/>
                <a:gd name="T45" fmla="*/ 841 h 1101"/>
                <a:gd name="T46" fmla="*/ 3 w 1697"/>
                <a:gd name="T47" fmla="*/ 782 h 1101"/>
                <a:gd name="T48" fmla="*/ 11 w 1697"/>
                <a:gd name="T49" fmla="*/ 724 h 1101"/>
                <a:gd name="T50" fmla="*/ 26 w 1697"/>
                <a:gd name="T51" fmla="*/ 668 h 1101"/>
                <a:gd name="T52" fmla="*/ 46 w 1697"/>
                <a:gd name="T53" fmla="*/ 615 h 1101"/>
                <a:gd name="T54" fmla="*/ 70 w 1697"/>
                <a:gd name="T55" fmla="*/ 563 h 1101"/>
                <a:gd name="T56" fmla="*/ 99 w 1697"/>
                <a:gd name="T57" fmla="*/ 515 h 1101"/>
                <a:gd name="T58" fmla="*/ 133 w 1697"/>
                <a:gd name="T59" fmla="*/ 470 h 1101"/>
                <a:gd name="T60" fmla="*/ 171 w 1697"/>
                <a:gd name="T61" fmla="*/ 429 h 1101"/>
                <a:gd name="T62" fmla="*/ 213 w 1697"/>
                <a:gd name="T63" fmla="*/ 392 h 1101"/>
                <a:gd name="T64" fmla="*/ 258 w 1697"/>
                <a:gd name="T65" fmla="*/ 357 h 1101"/>
                <a:gd name="T66" fmla="*/ 306 w 1697"/>
                <a:gd name="T67" fmla="*/ 329 h 1101"/>
                <a:gd name="T68" fmla="*/ 356 w 1697"/>
                <a:gd name="T69" fmla="*/ 304 h 1101"/>
                <a:gd name="T70" fmla="*/ 410 w 1697"/>
                <a:gd name="T71" fmla="*/ 284 h 1101"/>
                <a:gd name="T72" fmla="*/ 466 w 1697"/>
                <a:gd name="T73" fmla="*/ 269 h 1101"/>
                <a:gd name="T74" fmla="*/ 524 w 1697"/>
                <a:gd name="T75" fmla="*/ 261 h 1101"/>
                <a:gd name="T76" fmla="*/ 583 w 1697"/>
                <a:gd name="T77" fmla="*/ 258 h 1101"/>
                <a:gd name="T78" fmla="*/ 1363 w 1697"/>
                <a:gd name="T79" fmla="*/ 258 h 1101"/>
                <a:gd name="T80" fmla="*/ 1229 w 1697"/>
                <a:gd name="T81" fmla="*/ 123 h 1101"/>
                <a:gd name="T82" fmla="*/ 1352 w 1697"/>
                <a:gd name="T83" fmla="*/ 0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697" h="1101">
                  <a:moveTo>
                    <a:pt x="1352" y="0"/>
                  </a:moveTo>
                  <a:lnTo>
                    <a:pt x="1574" y="222"/>
                  </a:lnTo>
                  <a:lnTo>
                    <a:pt x="1697" y="346"/>
                  </a:lnTo>
                  <a:lnTo>
                    <a:pt x="1352" y="689"/>
                  </a:lnTo>
                  <a:lnTo>
                    <a:pt x="1228" y="567"/>
                  </a:lnTo>
                  <a:lnTo>
                    <a:pt x="1363" y="431"/>
                  </a:lnTo>
                  <a:lnTo>
                    <a:pt x="583" y="431"/>
                  </a:lnTo>
                  <a:lnTo>
                    <a:pt x="532" y="435"/>
                  </a:lnTo>
                  <a:lnTo>
                    <a:pt x="483" y="444"/>
                  </a:lnTo>
                  <a:lnTo>
                    <a:pt x="436" y="460"/>
                  </a:lnTo>
                  <a:lnTo>
                    <a:pt x="392" y="480"/>
                  </a:lnTo>
                  <a:lnTo>
                    <a:pt x="350" y="506"/>
                  </a:lnTo>
                  <a:lnTo>
                    <a:pt x="312" y="535"/>
                  </a:lnTo>
                  <a:lnTo>
                    <a:pt x="277" y="570"/>
                  </a:lnTo>
                  <a:lnTo>
                    <a:pt x="247" y="607"/>
                  </a:lnTo>
                  <a:lnTo>
                    <a:pt x="222" y="649"/>
                  </a:lnTo>
                  <a:lnTo>
                    <a:pt x="202" y="693"/>
                  </a:lnTo>
                  <a:lnTo>
                    <a:pt x="186" y="740"/>
                  </a:lnTo>
                  <a:lnTo>
                    <a:pt x="177" y="791"/>
                  </a:lnTo>
                  <a:lnTo>
                    <a:pt x="174" y="841"/>
                  </a:lnTo>
                  <a:lnTo>
                    <a:pt x="174" y="1101"/>
                  </a:lnTo>
                  <a:lnTo>
                    <a:pt x="0" y="1101"/>
                  </a:lnTo>
                  <a:lnTo>
                    <a:pt x="0" y="841"/>
                  </a:lnTo>
                  <a:lnTo>
                    <a:pt x="3" y="782"/>
                  </a:lnTo>
                  <a:lnTo>
                    <a:pt x="11" y="724"/>
                  </a:lnTo>
                  <a:lnTo>
                    <a:pt x="26" y="668"/>
                  </a:lnTo>
                  <a:lnTo>
                    <a:pt x="46" y="615"/>
                  </a:lnTo>
                  <a:lnTo>
                    <a:pt x="70" y="563"/>
                  </a:lnTo>
                  <a:lnTo>
                    <a:pt x="99" y="515"/>
                  </a:lnTo>
                  <a:lnTo>
                    <a:pt x="133" y="470"/>
                  </a:lnTo>
                  <a:lnTo>
                    <a:pt x="171" y="429"/>
                  </a:lnTo>
                  <a:lnTo>
                    <a:pt x="213" y="392"/>
                  </a:lnTo>
                  <a:lnTo>
                    <a:pt x="258" y="357"/>
                  </a:lnTo>
                  <a:lnTo>
                    <a:pt x="306" y="329"/>
                  </a:lnTo>
                  <a:lnTo>
                    <a:pt x="356" y="304"/>
                  </a:lnTo>
                  <a:lnTo>
                    <a:pt x="410" y="284"/>
                  </a:lnTo>
                  <a:lnTo>
                    <a:pt x="466" y="269"/>
                  </a:lnTo>
                  <a:lnTo>
                    <a:pt x="524" y="261"/>
                  </a:lnTo>
                  <a:lnTo>
                    <a:pt x="583" y="258"/>
                  </a:lnTo>
                  <a:lnTo>
                    <a:pt x="1363" y="258"/>
                  </a:lnTo>
                  <a:lnTo>
                    <a:pt x="1229" y="123"/>
                  </a:lnTo>
                  <a:lnTo>
                    <a:pt x="13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91">
              <a:extLst>
                <a:ext uri="{FF2B5EF4-FFF2-40B4-BE49-F238E27FC236}">
                  <a16:creationId xmlns="" xmlns:a16="http://schemas.microsoft.com/office/drawing/2014/main" id="{876754AF-D3B8-F246-87DA-1615E40B6E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2538" y="1384300"/>
              <a:ext cx="149225" cy="98425"/>
            </a:xfrm>
            <a:custGeom>
              <a:avLst/>
              <a:gdLst>
                <a:gd name="T0" fmla="*/ 1523 w 1697"/>
                <a:gd name="T1" fmla="*/ 0 h 1101"/>
                <a:gd name="T2" fmla="*/ 1697 w 1697"/>
                <a:gd name="T3" fmla="*/ 0 h 1101"/>
                <a:gd name="T4" fmla="*/ 1697 w 1697"/>
                <a:gd name="T5" fmla="*/ 259 h 1101"/>
                <a:gd name="T6" fmla="*/ 1693 w 1697"/>
                <a:gd name="T7" fmla="*/ 319 h 1101"/>
                <a:gd name="T8" fmla="*/ 1685 w 1697"/>
                <a:gd name="T9" fmla="*/ 376 h 1101"/>
                <a:gd name="T10" fmla="*/ 1670 w 1697"/>
                <a:gd name="T11" fmla="*/ 433 h 1101"/>
                <a:gd name="T12" fmla="*/ 1650 w 1697"/>
                <a:gd name="T13" fmla="*/ 486 h 1101"/>
                <a:gd name="T14" fmla="*/ 1626 w 1697"/>
                <a:gd name="T15" fmla="*/ 538 h 1101"/>
                <a:gd name="T16" fmla="*/ 1597 w 1697"/>
                <a:gd name="T17" fmla="*/ 586 h 1101"/>
                <a:gd name="T18" fmla="*/ 1564 w 1697"/>
                <a:gd name="T19" fmla="*/ 631 h 1101"/>
                <a:gd name="T20" fmla="*/ 1526 w 1697"/>
                <a:gd name="T21" fmla="*/ 672 h 1101"/>
                <a:gd name="T22" fmla="*/ 1484 w 1697"/>
                <a:gd name="T23" fmla="*/ 709 h 1101"/>
                <a:gd name="T24" fmla="*/ 1439 w 1697"/>
                <a:gd name="T25" fmla="*/ 743 h 1101"/>
                <a:gd name="T26" fmla="*/ 1391 w 1697"/>
                <a:gd name="T27" fmla="*/ 772 h 1101"/>
                <a:gd name="T28" fmla="*/ 1339 w 1697"/>
                <a:gd name="T29" fmla="*/ 797 h 1101"/>
                <a:gd name="T30" fmla="*/ 1286 w 1697"/>
                <a:gd name="T31" fmla="*/ 817 h 1101"/>
                <a:gd name="T32" fmla="*/ 1230 w 1697"/>
                <a:gd name="T33" fmla="*/ 831 h 1101"/>
                <a:gd name="T34" fmla="*/ 1172 w 1697"/>
                <a:gd name="T35" fmla="*/ 840 h 1101"/>
                <a:gd name="T36" fmla="*/ 1112 w 1697"/>
                <a:gd name="T37" fmla="*/ 843 h 1101"/>
                <a:gd name="T38" fmla="*/ 333 w 1697"/>
                <a:gd name="T39" fmla="*/ 843 h 1101"/>
                <a:gd name="T40" fmla="*/ 468 w 1697"/>
                <a:gd name="T41" fmla="*/ 977 h 1101"/>
                <a:gd name="T42" fmla="*/ 344 w 1697"/>
                <a:gd name="T43" fmla="*/ 1101 h 1101"/>
                <a:gd name="T44" fmla="*/ 124 w 1697"/>
                <a:gd name="T45" fmla="*/ 880 h 1101"/>
                <a:gd name="T46" fmla="*/ 0 w 1697"/>
                <a:gd name="T47" fmla="*/ 756 h 1101"/>
                <a:gd name="T48" fmla="*/ 344 w 1697"/>
                <a:gd name="T49" fmla="*/ 412 h 1101"/>
                <a:gd name="T50" fmla="*/ 469 w 1697"/>
                <a:gd name="T51" fmla="*/ 536 h 1101"/>
                <a:gd name="T52" fmla="*/ 334 w 1697"/>
                <a:gd name="T53" fmla="*/ 670 h 1101"/>
                <a:gd name="T54" fmla="*/ 1113 w 1697"/>
                <a:gd name="T55" fmla="*/ 670 h 1101"/>
                <a:gd name="T56" fmla="*/ 1164 w 1697"/>
                <a:gd name="T57" fmla="*/ 666 h 1101"/>
                <a:gd name="T58" fmla="*/ 1214 w 1697"/>
                <a:gd name="T59" fmla="*/ 657 h 1101"/>
                <a:gd name="T60" fmla="*/ 1261 w 1697"/>
                <a:gd name="T61" fmla="*/ 642 h 1101"/>
                <a:gd name="T62" fmla="*/ 1306 w 1697"/>
                <a:gd name="T63" fmla="*/ 621 h 1101"/>
                <a:gd name="T64" fmla="*/ 1347 w 1697"/>
                <a:gd name="T65" fmla="*/ 596 h 1101"/>
                <a:gd name="T66" fmla="*/ 1385 w 1697"/>
                <a:gd name="T67" fmla="*/ 566 h 1101"/>
                <a:gd name="T68" fmla="*/ 1419 w 1697"/>
                <a:gd name="T69" fmla="*/ 532 h 1101"/>
                <a:gd name="T70" fmla="*/ 1449 w 1697"/>
                <a:gd name="T71" fmla="*/ 494 h 1101"/>
                <a:gd name="T72" fmla="*/ 1474 w 1697"/>
                <a:gd name="T73" fmla="*/ 453 h 1101"/>
                <a:gd name="T74" fmla="*/ 1495 w 1697"/>
                <a:gd name="T75" fmla="*/ 408 h 1101"/>
                <a:gd name="T76" fmla="*/ 1510 w 1697"/>
                <a:gd name="T77" fmla="*/ 361 h 1101"/>
                <a:gd name="T78" fmla="*/ 1520 w 1697"/>
                <a:gd name="T79" fmla="*/ 312 h 1101"/>
                <a:gd name="T80" fmla="*/ 1523 w 1697"/>
                <a:gd name="T81" fmla="*/ 260 h 1101"/>
                <a:gd name="T82" fmla="*/ 1523 w 1697"/>
                <a:gd name="T83" fmla="*/ 260 h 1101"/>
                <a:gd name="T84" fmla="*/ 1523 w 1697"/>
                <a:gd name="T85" fmla="*/ 0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697" h="1101">
                  <a:moveTo>
                    <a:pt x="1523" y="0"/>
                  </a:moveTo>
                  <a:lnTo>
                    <a:pt x="1697" y="0"/>
                  </a:lnTo>
                  <a:lnTo>
                    <a:pt x="1697" y="259"/>
                  </a:lnTo>
                  <a:lnTo>
                    <a:pt x="1693" y="319"/>
                  </a:lnTo>
                  <a:lnTo>
                    <a:pt x="1685" y="376"/>
                  </a:lnTo>
                  <a:lnTo>
                    <a:pt x="1670" y="433"/>
                  </a:lnTo>
                  <a:lnTo>
                    <a:pt x="1650" y="486"/>
                  </a:lnTo>
                  <a:lnTo>
                    <a:pt x="1626" y="538"/>
                  </a:lnTo>
                  <a:lnTo>
                    <a:pt x="1597" y="586"/>
                  </a:lnTo>
                  <a:lnTo>
                    <a:pt x="1564" y="631"/>
                  </a:lnTo>
                  <a:lnTo>
                    <a:pt x="1526" y="672"/>
                  </a:lnTo>
                  <a:lnTo>
                    <a:pt x="1484" y="709"/>
                  </a:lnTo>
                  <a:lnTo>
                    <a:pt x="1439" y="743"/>
                  </a:lnTo>
                  <a:lnTo>
                    <a:pt x="1391" y="772"/>
                  </a:lnTo>
                  <a:lnTo>
                    <a:pt x="1339" y="797"/>
                  </a:lnTo>
                  <a:lnTo>
                    <a:pt x="1286" y="817"/>
                  </a:lnTo>
                  <a:lnTo>
                    <a:pt x="1230" y="831"/>
                  </a:lnTo>
                  <a:lnTo>
                    <a:pt x="1172" y="840"/>
                  </a:lnTo>
                  <a:lnTo>
                    <a:pt x="1112" y="843"/>
                  </a:lnTo>
                  <a:lnTo>
                    <a:pt x="333" y="843"/>
                  </a:lnTo>
                  <a:lnTo>
                    <a:pt x="468" y="977"/>
                  </a:lnTo>
                  <a:lnTo>
                    <a:pt x="344" y="1101"/>
                  </a:lnTo>
                  <a:lnTo>
                    <a:pt x="124" y="880"/>
                  </a:lnTo>
                  <a:lnTo>
                    <a:pt x="0" y="756"/>
                  </a:lnTo>
                  <a:lnTo>
                    <a:pt x="344" y="412"/>
                  </a:lnTo>
                  <a:lnTo>
                    <a:pt x="469" y="536"/>
                  </a:lnTo>
                  <a:lnTo>
                    <a:pt x="334" y="670"/>
                  </a:lnTo>
                  <a:lnTo>
                    <a:pt x="1113" y="670"/>
                  </a:lnTo>
                  <a:lnTo>
                    <a:pt x="1164" y="666"/>
                  </a:lnTo>
                  <a:lnTo>
                    <a:pt x="1214" y="657"/>
                  </a:lnTo>
                  <a:lnTo>
                    <a:pt x="1261" y="642"/>
                  </a:lnTo>
                  <a:lnTo>
                    <a:pt x="1306" y="621"/>
                  </a:lnTo>
                  <a:lnTo>
                    <a:pt x="1347" y="596"/>
                  </a:lnTo>
                  <a:lnTo>
                    <a:pt x="1385" y="566"/>
                  </a:lnTo>
                  <a:lnTo>
                    <a:pt x="1419" y="532"/>
                  </a:lnTo>
                  <a:lnTo>
                    <a:pt x="1449" y="494"/>
                  </a:lnTo>
                  <a:lnTo>
                    <a:pt x="1474" y="453"/>
                  </a:lnTo>
                  <a:lnTo>
                    <a:pt x="1495" y="408"/>
                  </a:lnTo>
                  <a:lnTo>
                    <a:pt x="1510" y="361"/>
                  </a:lnTo>
                  <a:lnTo>
                    <a:pt x="1520" y="312"/>
                  </a:lnTo>
                  <a:lnTo>
                    <a:pt x="1523" y="260"/>
                  </a:lnTo>
                  <a:lnTo>
                    <a:pt x="1523" y="260"/>
                  </a:lnTo>
                  <a:lnTo>
                    <a:pt x="15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92">
              <a:extLst>
                <a:ext uri="{FF2B5EF4-FFF2-40B4-BE49-F238E27FC236}">
                  <a16:creationId xmlns="" xmlns:a16="http://schemas.microsoft.com/office/drawing/2014/main" id="{CCE58861-4EFE-0F4C-BF26-D50E33462004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5726" y="1239838"/>
              <a:ext cx="77788" cy="123825"/>
            </a:xfrm>
            <a:custGeom>
              <a:avLst/>
              <a:gdLst>
                <a:gd name="T0" fmla="*/ 440 w 895"/>
                <a:gd name="T1" fmla="*/ 0 h 1399"/>
                <a:gd name="T2" fmla="*/ 486 w 895"/>
                <a:gd name="T3" fmla="*/ 9 h 1399"/>
                <a:gd name="T4" fmla="*/ 521 w 895"/>
                <a:gd name="T5" fmla="*/ 23 h 1399"/>
                <a:gd name="T6" fmla="*/ 546 w 895"/>
                <a:gd name="T7" fmla="*/ 39 h 1399"/>
                <a:gd name="T8" fmla="*/ 562 w 895"/>
                <a:gd name="T9" fmla="*/ 53 h 1399"/>
                <a:gd name="T10" fmla="*/ 567 w 895"/>
                <a:gd name="T11" fmla="*/ 58 h 1399"/>
                <a:gd name="T12" fmla="*/ 629 w 895"/>
                <a:gd name="T13" fmla="*/ 61 h 1399"/>
                <a:gd name="T14" fmla="*/ 681 w 895"/>
                <a:gd name="T15" fmla="*/ 80 h 1399"/>
                <a:gd name="T16" fmla="*/ 721 w 895"/>
                <a:gd name="T17" fmla="*/ 116 h 1399"/>
                <a:gd name="T18" fmla="*/ 752 w 895"/>
                <a:gd name="T19" fmla="*/ 163 h 1399"/>
                <a:gd name="T20" fmla="*/ 774 w 895"/>
                <a:gd name="T21" fmla="*/ 222 h 1399"/>
                <a:gd name="T22" fmla="*/ 787 w 895"/>
                <a:gd name="T23" fmla="*/ 290 h 1399"/>
                <a:gd name="T24" fmla="*/ 794 w 895"/>
                <a:gd name="T25" fmla="*/ 366 h 1399"/>
                <a:gd name="T26" fmla="*/ 792 w 895"/>
                <a:gd name="T27" fmla="*/ 446 h 1399"/>
                <a:gd name="T28" fmla="*/ 785 w 895"/>
                <a:gd name="T29" fmla="*/ 530 h 1399"/>
                <a:gd name="T30" fmla="*/ 789 w 895"/>
                <a:gd name="T31" fmla="*/ 602 h 1399"/>
                <a:gd name="T32" fmla="*/ 803 w 895"/>
                <a:gd name="T33" fmla="*/ 658 h 1399"/>
                <a:gd name="T34" fmla="*/ 822 w 895"/>
                <a:gd name="T35" fmla="*/ 700 h 1399"/>
                <a:gd name="T36" fmla="*/ 844 w 895"/>
                <a:gd name="T37" fmla="*/ 729 h 1399"/>
                <a:gd name="T38" fmla="*/ 866 w 895"/>
                <a:gd name="T39" fmla="*/ 748 h 1399"/>
                <a:gd name="T40" fmla="*/ 884 w 895"/>
                <a:gd name="T41" fmla="*/ 758 h 1399"/>
                <a:gd name="T42" fmla="*/ 894 w 895"/>
                <a:gd name="T43" fmla="*/ 763 h 1399"/>
                <a:gd name="T44" fmla="*/ 871 w 895"/>
                <a:gd name="T45" fmla="*/ 784 h 1399"/>
                <a:gd name="T46" fmla="*/ 814 w 895"/>
                <a:gd name="T47" fmla="*/ 816 h 1399"/>
                <a:gd name="T48" fmla="*/ 752 w 895"/>
                <a:gd name="T49" fmla="*/ 835 h 1399"/>
                <a:gd name="T50" fmla="*/ 693 w 895"/>
                <a:gd name="T51" fmla="*/ 845 h 1399"/>
                <a:gd name="T52" fmla="*/ 647 w 895"/>
                <a:gd name="T53" fmla="*/ 849 h 1399"/>
                <a:gd name="T54" fmla="*/ 620 w 895"/>
                <a:gd name="T55" fmla="*/ 849 h 1399"/>
                <a:gd name="T56" fmla="*/ 616 w 895"/>
                <a:gd name="T57" fmla="*/ 910 h 1399"/>
                <a:gd name="T58" fmla="*/ 450 w 895"/>
                <a:gd name="T59" fmla="*/ 1399 h 1399"/>
                <a:gd name="T60" fmla="*/ 284 w 895"/>
                <a:gd name="T61" fmla="*/ 851 h 1399"/>
                <a:gd name="T62" fmla="*/ 199 w 895"/>
                <a:gd name="T63" fmla="*/ 846 h 1399"/>
                <a:gd name="T64" fmla="*/ 131 w 895"/>
                <a:gd name="T65" fmla="*/ 834 h 1399"/>
                <a:gd name="T66" fmla="*/ 79 w 895"/>
                <a:gd name="T67" fmla="*/ 816 h 1399"/>
                <a:gd name="T68" fmla="*/ 43 w 895"/>
                <a:gd name="T69" fmla="*/ 796 h 1399"/>
                <a:gd name="T70" fmla="*/ 18 w 895"/>
                <a:gd name="T71" fmla="*/ 778 h 1399"/>
                <a:gd name="T72" fmla="*/ 4 w 895"/>
                <a:gd name="T73" fmla="*/ 765 h 1399"/>
                <a:gd name="T74" fmla="*/ 0 w 895"/>
                <a:gd name="T75" fmla="*/ 759 h 1399"/>
                <a:gd name="T76" fmla="*/ 4 w 895"/>
                <a:gd name="T77" fmla="*/ 759 h 1399"/>
                <a:gd name="T78" fmla="*/ 13 w 895"/>
                <a:gd name="T79" fmla="*/ 756 h 1399"/>
                <a:gd name="T80" fmla="*/ 29 w 895"/>
                <a:gd name="T81" fmla="*/ 749 h 1399"/>
                <a:gd name="T82" fmla="*/ 47 w 895"/>
                <a:gd name="T83" fmla="*/ 734 h 1399"/>
                <a:gd name="T84" fmla="*/ 66 w 895"/>
                <a:gd name="T85" fmla="*/ 710 h 1399"/>
                <a:gd name="T86" fmla="*/ 85 w 895"/>
                <a:gd name="T87" fmla="*/ 676 h 1399"/>
                <a:gd name="T88" fmla="*/ 100 w 895"/>
                <a:gd name="T89" fmla="*/ 626 h 1399"/>
                <a:gd name="T90" fmla="*/ 112 w 895"/>
                <a:gd name="T91" fmla="*/ 560 h 1399"/>
                <a:gd name="T92" fmla="*/ 117 w 895"/>
                <a:gd name="T93" fmla="*/ 477 h 1399"/>
                <a:gd name="T94" fmla="*/ 117 w 895"/>
                <a:gd name="T95" fmla="*/ 375 h 1399"/>
                <a:gd name="T96" fmla="*/ 125 w 895"/>
                <a:gd name="T97" fmla="*/ 284 h 1399"/>
                <a:gd name="T98" fmla="*/ 142 w 895"/>
                <a:gd name="T99" fmla="*/ 211 h 1399"/>
                <a:gd name="T100" fmla="*/ 165 w 895"/>
                <a:gd name="T101" fmla="*/ 152 h 1399"/>
                <a:gd name="T102" fmla="*/ 194 w 895"/>
                <a:gd name="T103" fmla="*/ 108 h 1399"/>
                <a:gd name="T104" fmla="*/ 224 w 895"/>
                <a:gd name="T105" fmla="*/ 75 h 1399"/>
                <a:gd name="T106" fmla="*/ 254 w 895"/>
                <a:gd name="T107" fmla="*/ 52 h 1399"/>
                <a:gd name="T108" fmla="*/ 284 w 895"/>
                <a:gd name="T109" fmla="*/ 35 h 1399"/>
                <a:gd name="T110" fmla="*/ 308 w 895"/>
                <a:gd name="T111" fmla="*/ 24 h 1399"/>
                <a:gd name="T112" fmla="*/ 353 w 895"/>
                <a:gd name="T113" fmla="*/ 10 h 1399"/>
                <a:gd name="T114" fmla="*/ 413 w 895"/>
                <a:gd name="T115" fmla="*/ 0 h 13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895" h="1399">
                  <a:moveTo>
                    <a:pt x="413" y="0"/>
                  </a:moveTo>
                  <a:lnTo>
                    <a:pt x="440" y="0"/>
                  </a:lnTo>
                  <a:lnTo>
                    <a:pt x="464" y="4"/>
                  </a:lnTo>
                  <a:lnTo>
                    <a:pt x="486" y="9"/>
                  </a:lnTo>
                  <a:lnTo>
                    <a:pt x="505" y="16"/>
                  </a:lnTo>
                  <a:lnTo>
                    <a:pt x="521" y="23"/>
                  </a:lnTo>
                  <a:lnTo>
                    <a:pt x="535" y="32"/>
                  </a:lnTo>
                  <a:lnTo>
                    <a:pt x="546" y="39"/>
                  </a:lnTo>
                  <a:lnTo>
                    <a:pt x="556" y="46"/>
                  </a:lnTo>
                  <a:lnTo>
                    <a:pt x="562" y="53"/>
                  </a:lnTo>
                  <a:lnTo>
                    <a:pt x="565" y="57"/>
                  </a:lnTo>
                  <a:lnTo>
                    <a:pt x="567" y="58"/>
                  </a:lnTo>
                  <a:lnTo>
                    <a:pt x="599" y="57"/>
                  </a:lnTo>
                  <a:lnTo>
                    <a:pt x="629" y="61"/>
                  </a:lnTo>
                  <a:lnTo>
                    <a:pt x="655" y="68"/>
                  </a:lnTo>
                  <a:lnTo>
                    <a:pt x="681" y="80"/>
                  </a:lnTo>
                  <a:lnTo>
                    <a:pt x="701" y="96"/>
                  </a:lnTo>
                  <a:lnTo>
                    <a:pt x="721" y="116"/>
                  </a:lnTo>
                  <a:lnTo>
                    <a:pt x="738" y="138"/>
                  </a:lnTo>
                  <a:lnTo>
                    <a:pt x="752" y="163"/>
                  </a:lnTo>
                  <a:lnTo>
                    <a:pt x="764" y="191"/>
                  </a:lnTo>
                  <a:lnTo>
                    <a:pt x="774" y="222"/>
                  </a:lnTo>
                  <a:lnTo>
                    <a:pt x="782" y="255"/>
                  </a:lnTo>
                  <a:lnTo>
                    <a:pt x="787" y="290"/>
                  </a:lnTo>
                  <a:lnTo>
                    <a:pt x="792" y="327"/>
                  </a:lnTo>
                  <a:lnTo>
                    <a:pt x="794" y="366"/>
                  </a:lnTo>
                  <a:lnTo>
                    <a:pt x="794" y="405"/>
                  </a:lnTo>
                  <a:lnTo>
                    <a:pt x="792" y="446"/>
                  </a:lnTo>
                  <a:lnTo>
                    <a:pt x="788" y="488"/>
                  </a:lnTo>
                  <a:lnTo>
                    <a:pt x="785" y="530"/>
                  </a:lnTo>
                  <a:lnTo>
                    <a:pt x="786" y="569"/>
                  </a:lnTo>
                  <a:lnTo>
                    <a:pt x="789" y="602"/>
                  </a:lnTo>
                  <a:lnTo>
                    <a:pt x="795" y="632"/>
                  </a:lnTo>
                  <a:lnTo>
                    <a:pt x="803" y="658"/>
                  </a:lnTo>
                  <a:lnTo>
                    <a:pt x="811" y="680"/>
                  </a:lnTo>
                  <a:lnTo>
                    <a:pt x="822" y="700"/>
                  </a:lnTo>
                  <a:lnTo>
                    <a:pt x="833" y="715"/>
                  </a:lnTo>
                  <a:lnTo>
                    <a:pt x="844" y="729"/>
                  </a:lnTo>
                  <a:lnTo>
                    <a:pt x="855" y="739"/>
                  </a:lnTo>
                  <a:lnTo>
                    <a:pt x="866" y="748"/>
                  </a:lnTo>
                  <a:lnTo>
                    <a:pt x="875" y="754"/>
                  </a:lnTo>
                  <a:lnTo>
                    <a:pt x="884" y="758"/>
                  </a:lnTo>
                  <a:lnTo>
                    <a:pt x="890" y="761"/>
                  </a:lnTo>
                  <a:lnTo>
                    <a:pt x="894" y="763"/>
                  </a:lnTo>
                  <a:lnTo>
                    <a:pt x="895" y="763"/>
                  </a:lnTo>
                  <a:lnTo>
                    <a:pt x="871" y="784"/>
                  </a:lnTo>
                  <a:lnTo>
                    <a:pt x="844" y="802"/>
                  </a:lnTo>
                  <a:lnTo>
                    <a:pt x="814" y="816"/>
                  </a:lnTo>
                  <a:lnTo>
                    <a:pt x="783" y="826"/>
                  </a:lnTo>
                  <a:lnTo>
                    <a:pt x="752" y="835"/>
                  </a:lnTo>
                  <a:lnTo>
                    <a:pt x="721" y="841"/>
                  </a:lnTo>
                  <a:lnTo>
                    <a:pt x="693" y="845"/>
                  </a:lnTo>
                  <a:lnTo>
                    <a:pt x="668" y="848"/>
                  </a:lnTo>
                  <a:lnTo>
                    <a:pt x="647" y="849"/>
                  </a:lnTo>
                  <a:lnTo>
                    <a:pt x="630" y="849"/>
                  </a:lnTo>
                  <a:lnTo>
                    <a:pt x="620" y="849"/>
                  </a:lnTo>
                  <a:lnTo>
                    <a:pt x="616" y="849"/>
                  </a:lnTo>
                  <a:lnTo>
                    <a:pt x="616" y="910"/>
                  </a:lnTo>
                  <a:lnTo>
                    <a:pt x="617" y="913"/>
                  </a:lnTo>
                  <a:lnTo>
                    <a:pt x="450" y="1399"/>
                  </a:lnTo>
                  <a:lnTo>
                    <a:pt x="284" y="913"/>
                  </a:lnTo>
                  <a:lnTo>
                    <a:pt x="284" y="851"/>
                  </a:lnTo>
                  <a:lnTo>
                    <a:pt x="239" y="850"/>
                  </a:lnTo>
                  <a:lnTo>
                    <a:pt x="199" y="846"/>
                  </a:lnTo>
                  <a:lnTo>
                    <a:pt x="163" y="841"/>
                  </a:lnTo>
                  <a:lnTo>
                    <a:pt x="131" y="834"/>
                  </a:lnTo>
                  <a:lnTo>
                    <a:pt x="103" y="825"/>
                  </a:lnTo>
                  <a:lnTo>
                    <a:pt x="79" y="816"/>
                  </a:lnTo>
                  <a:lnTo>
                    <a:pt x="59" y="806"/>
                  </a:lnTo>
                  <a:lnTo>
                    <a:pt x="43" y="796"/>
                  </a:lnTo>
                  <a:lnTo>
                    <a:pt x="28" y="787"/>
                  </a:lnTo>
                  <a:lnTo>
                    <a:pt x="18" y="778"/>
                  </a:lnTo>
                  <a:lnTo>
                    <a:pt x="9" y="771"/>
                  </a:lnTo>
                  <a:lnTo>
                    <a:pt x="4" y="765"/>
                  </a:lnTo>
                  <a:lnTo>
                    <a:pt x="1" y="760"/>
                  </a:lnTo>
                  <a:lnTo>
                    <a:pt x="0" y="759"/>
                  </a:lnTo>
                  <a:lnTo>
                    <a:pt x="1" y="759"/>
                  </a:lnTo>
                  <a:lnTo>
                    <a:pt x="4" y="759"/>
                  </a:lnTo>
                  <a:lnTo>
                    <a:pt x="8" y="758"/>
                  </a:lnTo>
                  <a:lnTo>
                    <a:pt x="13" y="756"/>
                  </a:lnTo>
                  <a:lnTo>
                    <a:pt x="21" y="753"/>
                  </a:lnTo>
                  <a:lnTo>
                    <a:pt x="29" y="749"/>
                  </a:lnTo>
                  <a:lnTo>
                    <a:pt x="37" y="743"/>
                  </a:lnTo>
                  <a:lnTo>
                    <a:pt x="47" y="734"/>
                  </a:lnTo>
                  <a:lnTo>
                    <a:pt x="56" y="724"/>
                  </a:lnTo>
                  <a:lnTo>
                    <a:pt x="66" y="710"/>
                  </a:lnTo>
                  <a:lnTo>
                    <a:pt x="75" y="694"/>
                  </a:lnTo>
                  <a:lnTo>
                    <a:pt x="85" y="676"/>
                  </a:lnTo>
                  <a:lnTo>
                    <a:pt x="93" y="653"/>
                  </a:lnTo>
                  <a:lnTo>
                    <a:pt x="100" y="626"/>
                  </a:lnTo>
                  <a:lnTo>
                    <a:pt x="107" y="595"/>
                  </a:lnTo>
                  <a:lnTo>
                    <a:pt x="112" y="560"/>
                  </a:lnTo>
                  <a:lnTo>
                    <a:pt x="115" y="522"/>
                  </a:lnTo>
                  <a:lnTo>
                    <a:pt x="117" y="477"/>
                  </a:lnTo>
                  <a:lnTo>
                    <a:pt x="117" y="427"/>
                  </a:lnTo>
                  <a:lnTo>
                    <a:pt x="117" y="375"/>
                  </a:lnTo>
                  <a:lnTo>
                    <a:pt x="120" y="327"/>
                  </a:lnTo>
                  <a:lnTo>
                    <a:pt x="125" y="284"/>
                  </a:lnTo>
                  <a:lnTo>
                    <a:pt x="133" y="245"/>
                  </a:lnTo>
                  <a:lnTo>
                    <a:pt x="142" y="211"/>
                  </a:lnTo>
                  <a:lnTo>
                    <a:pt x="153" y="179"/>
                  </a:lnTo>
                  <a:lnTo>
                    <a:pt x="165" y="152"/>
                  </a:lnTo>
                  <a:lnTo>
                    <a:pt x="179" y="129"/>
                  </a:lnTo>
                  <a:lnTo>
                    <a:pt x="194" y="108"/>
                  </a:lnTo>
                  <a:lnTo>
                    <a:pt x="208" y="90"/>
                  </a:lnTo>
                  <a:lnTo>
                    <a:pt x="224" y="75"/>
                  </a:lnTo>
                  <a:lnTo>
                    <a:pt x="240" y="62"/>
                  </a:lnTo>
                  <a:lnTo>
                    <a:pt x="254" y="52"/>
                  </a:lnTo>
                  <a:lnTo>
                    <a:pt x="269" y="42"/>
                  </a:lnTo>
                  <a:lnTo>
                    <a:pt x="284" y="35"/>
                  </a:lnTo>
                  <a:lnTo>
                    <a:pt x="296" y="30"/>
                  </a:lnTo>
                  <a:lnTo>
                    <a:pt x="308" y="24"/>
                  </a:lnTo>
                  <a:lnTo>
                    <a:pt x="318" y="20"/>
                  </a:lnTo>
                  <a:lnTo>
                    <a:pt x="353" y="10"/>
                  </a:lnTo>
                  <a:lnTo>
                    <a:pt x="384" y="2"/>
                  </a:lnTo>
                  <a:lnTo>
                    <a:pt x="4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193">
              <a:extLst>
                <a:ext uri="{FF2B5EF4-FFF2-40B4-BE49-F238E27FC236}">
                  <a16:creationId xmlns="" xmlns:a16="http://schemas.microsoft.com/office/drawing/2014/main" id="{2AD76BB0-FB97-4D4C-94A2-CA79E4CB71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1438" y="1325563"/>
              <a:ext cx="107950" cy="41275"/>
            </a:xfrm>
            <a:custGeom>
              <a:avLst/>
              <a:gdLst>
                <a:gd name="T0" fmla="*/ 384 w 1228"/>
                <a:gd name="T1" fmla="*/ 0 h 471"/>
                <a:gd name="T2" fmla="*/ 317 w 1228"/>
                <a:gd name="T3" fmla="*/ 195 h 471"/>
                <a:gd name="T4" fmla="*/ 409 w 1228"/>
                <a:gd name="T5" fmla="*/ 188 h 471"/>
                <a:gd name="T6" fmla="*/ 613 w 1228"/>
                <a:gd name="T7" fmla="*/ 439 h 471"/>
                <a:gd name="T8" fmla="*/ 817 w 1228"/>
                <a:gd name="T9" fmla="*/ 188 h 471"/>
                <a:gd name="T10" fmla="*/ 909 w 1228"/>
                <a:gd name="T11" fmla="*/ 195 h 471"/>
                <a:gd name="T12" fmla="*/ 843 w 1228"/>
                <a:gd name="T13" fmla="*/ 0 h 471"/>
                <a:gd name="T14" fmla="*/ 861 w 1228"/>
                <a:gd name="T15" fmla="*/ 11 h 471"/>
                <a:gd name="T16" fmla="*/ 879 w 1228"/>
                <a:gd name="T17" fmla="*/ 20 h 471"/>
                <a:gd name="T18" fmla="*/ 1090 w 1228"/>
                <a:gd name="T19" fmla="*/ 123 h 471"/>
                <a:gd name="T20" fmla="*/ 1116 w 1228"/>
                <a:gd name="T21" fmla="*/ 139 h 471"/>
                <a:gd name="T22" fmla="*/ 1139 w 1228"/>
                <a:gd name="T23" fmla="*/ 157 h 471"/>
                <a:gd name="T24" fmla="*/ 1159 w 1228"/>
                <a:gd name="T25" fmla="*/ 179 h 471"/>
                <a:gd name="T26" fmla="*/ 1174 w 1228"/>
                <a:gd name="T27" fmla="*/ 204 h 471"/>
                <a:gd name="T28" fmla="*/ 1186 w 1228"/>
                <a:gd name="T29" fmla="*/ 232 h 471"/>
                <a:gd name="T30" fmla="*/ 1194 w 1228"/>
                <a:gd name="T31" fmla="*/ 261 h 471"/>
                <a:gd name="T32" fmla="*/ 1228 w 1228"/>
                <a:gd name="T33" fmla="*/ 445 h 471"/>
                <a:gd name="T34" fmla="*/ 1228 w 1228"/>
                <a:gd name="T35" fmla="*/ 456 h 471"/>
                <a:gd name="T36" fmla="*/ 1223 w 1228"/>
                <a:gd name="T37" fmla="*/ 464 h 471"/>
                <a:gd name="T38" fmla="*/ 1215 w 1228"/>
                <a:gd name="T39" fmla="*/ 469 h 471"/>
                <a:gd name="T40" fmla="*/ 1206 w 1228"/>
                <a:gd name="T41" fmla="*/ 471 h 471"/>
                <a:gd name="T42" fmla="*/ 22 w 1228"/>
                <a:gd name="T43" fmla="*/ 471 h 471"/>
                <a:gd name="T44" fmla="*/ 13 w 1228"/>
                <a:gd name="T45" fmla="*/ 469 h 471"/>
                <a:gd name="T46" fmla="*/ 6 w 1228"/>
                <a:gd name="T47" fmla="*/ 464 h 471"/>
                <a:gd name="T48" fmla="*/ 1 w 1228"/>
                <a:gd name="T49" fmla="*/ 456 h 471"/>
                <a:gd name="T50" fmla="*/ 0 w 1228"/>
                <a:gd name="T51" fmla="*/ 445 h 471"/>
                <a:gd name="T52" fmla="*/ 34 w 1228"/>
                <a:gd name="T53" fmla="*/ 261 h 471"/>
                <a:gd name="T54" fmla="*/ 42 w 1228"/>
                <a:gd name="T55" fmla="*/ 232 h 471"/>
                <a:gd name="T56" fmla="*/ 55 w 1228"/>
                <a:gd name="T57" fmla="*/ 204 h 471"/>
                <a:gd name="T58" fmla="*/ 71 w 1228"/>
                <a:gd name="T59" fmla="*/ 179 h 471"/>
                <a:gd name="T60" fmla="*/ 90 w 1228"/>
                <a:gd name="T61" fmla="*/ 157 h 471"/>
                <a:gd name="T62" fmla="*/ 113 w 1228"/>
                <a:gd name="T63" fmla="*/ 139 h 471"/>
                <a:gd name="T64" fmla="*/ 139 w 1228"/>
                <a:gd name="T65" fmla="*/ 123 h 471"/>
                <a:gd name="T66" fmla="*/ 342 w 1228"/>
                <a:gd name="T67" fmla="*/ 22 h 471"/>
                <a:gd name="T68" fmla="*/ 384 w 1228"/>
                <a:gd name="T69" fmla="*/ 0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28" h="471">
                  <a:moveTo>
                    <a:pt x="384" y="0"/>
                  </a:moveTo>
                  <a:lnTo>
                    <a:pt x="317" y="195"/>
                  </a:lnTo>
                  <a:lnTo>
                    <a:pt x="409" y="188"/>
                  </a:lnTo>
                  <a:lnTo>
                    <a:pt x="613" y="439"/>
                  </a:lnTo>
                  <a:lnTo>
                    <a:pt x="817" y="188"/>
                  </a:lnTo>
                  <a:lnTo>
                    <a:pt x="909" y="195"/>
                  </a:lnTo>
                  <a:lnTo>
                    <a:pt x="843" y="0"/>
                  </a:lnTo>
                  <a:lnTo>
                    <a:pt x="861" y="11"/>
                  </a:lnTo>
                  <a:lnTo>
                    <a:pt x="879" y="20"/>
                  </a:lnTo>
                  <a:lnTo>
                    <a:pt x="1090" y="123"/>
                  </a:lnTo>
                  <a:lnTo>
                    <a:pt x="1116" y="139"/>
                  </a:lnTo>
                  <a:lnTo>
                    <a:pt x="1139" y="157"/>
                  </a:lnTo>
                  <a:lnTo>
                    <a:pt x="1159" y="179"/>
                  </a:lnTo>
                  <a:lnTo>
                    <a:pt x="1174" y="204"/>
                  </a:lnTo>
                  <a:lnTo>
                    <a:pt x="1186" y="232"/>
                  </a:lnTo>
                  <a:lnTo>
                    <a:pt x="1194" y="261"/>
                  </a:lnTo>
                  <a:lnTo>
                    <a:pt x="1228" y="445"/>
                  </a:lnTo>
                  <a:lnTo>
                    <a:pt x="1228" y="456"/>
                  </a:lnTo>
                  <a:lnTo>
                    <a:pt x="1223" y="464"/>
                  </a:lnTo>
                  <a:lnTo>
                    <a:pt x="1215" y="469"/>
                  </a:lnTo>
                  <a:lnTo>
                    <a:pt x="1206" y="471"/>
                  </a:lnTo>
                  <a:lnTo>
                    <a:pt x="22" y="471"/>
                  </a:lnTo>
                  <a:lnTo>
                    <a:pt x="13" y="469"/>
                  </a:lnTo>
                  <a:lnTo>
                    <a:pt x="6" y="464"/>
                  </a:lnTo>
                  <a:lnTo>
                    <a:pt x="1" y="456"/>
                  </a:lnTo>
                  <a:lnTo>
                    <a:pt x="0" y="445"/>
                  </a:lnTo>
                  <a:lnTo>
                    <a:pt x="34" y="261"/>
                  </a:lnTo>
                  <a:lnTo>
                    <a:pt x="42" y="232"/>
                  </a:lnTo>
                  <a:lnTo>
                    <a:pt x="55" y="204"/>
                  </a:lnTo>
                  <a:lnTo>
                    <a:pt x="71" y="179"/>
                  </a:lnTo>
                  <a:lnTo>
                    <a:pt x="90" y="157"/>
                  </a:lnTo>
                  <a:lnTo>
                    <a:pt x="113" y="139"/>
                  </a:lnTo>
                  <a:lnTo>
                    <a:pt x="139" y="123"/>
                  </a:lnTo>
                  <a:lnTo>
                    <a:pt x="342" y="22"/>
                  </a:lnTo>
                  <a:lnTo>
                    <a:pt x="38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194">
              <a:extLst>
                <a:ext uri="{FF2B5EF4-FFF2-40B4-BE49-F238E27FC236}">
                  <a16:creationId xmlns="" xmlns:a16="http://schemas.microsoft.com/office/drawing/2014/main" id="{293CFB7F-E8C4-3040-8B35-A68D07C8E0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8876" y="1381125"/>
              <a:ext cx="79375" cy="123825"/>
            </a:xfrm>
            <a:custGeom>
              <a:avLst/>
              <a:gdLst>
                <a:gd name="T0" fmla="*/ 441 w 897"/>
                <a:gd name="T1" fmla="*/ 0 h 1398"/>
                <a:gd name="T2" fmla="*/ 486 w 897"/>
                <a:gd name="T3" fmla="*/ 8 h 1398"/>
                <a:gd name="T4" fmla="*/ 522 w 897"/>
                <a:gd name="T5" fmla="*/ 23 h 1398"/>
                <a:gd name="T6" fmla="*/ 548 w 897"/>
                <a:gd name="T7" fmla="*/ 39 h 1398"/>
                <a:gd name="T8" fmla="*/ 563 w 897"/>
                <a:gd name="T9" fmla="*/ 52 h 1398"/>
                <a:gd name="T10" fmla="*/ 568 w 897"/>
                <a:gd name="T11" fmla="*/ 57 h 1398"/>
                <a:gd name="T12" fmla="*/ 630 w 897"/>
                <a:gd name="T13" fmla="*/ 60 h 1398"/>
                <a:gd name="T14" fmla="*/ 681 w 897"/>
                <a:gd name="T15" fmla="*/ 80 h 1398"/>
                <a:gd name="T16" fmla="*/ 722 w 897"/>
                <a:gd name="T17" fmla="*/ 115 h 1398"/>
                <a:gd name="T18" fmla="*/ 753 w 897"/>
                <a:gd name="T19" fmla="*/ 163 h 1398"/>
                <a:gd name="T20" fmla="*/ 775 w 897"/>
                <a:gd name="T21" fmla="*/ 222 h 1398"/>
                <a:gd name="T22" fmla="*/ 789 w 897"/>
                <a:gd name="T23" fmla="*/ 290 h 1398"/>
                <a:gd name="T24" fmla="*/ 794 w 897"/>
                <a:gd name="T25" fmla="*/ 365 h 1398"/>
                <a:gd name="T26" fmla="*/ 793 w 897"/>
                <a:gd name="T27" fmla="*/ 447 h 1398"/>
                <a:gd name="T28" fmla="*/ 787 w 897"/>
                <a:gd name="T29" fmla="*/ 530 h 1398"/>
                <a:gd name="T30" fmla="*/ 790 w 897"/>
                <a:gd name="T31" fmla="*/ 602 h 1398"/>
                <a:gd name="T32" fmla="*/ 804 w 897"/>
                <a:gd name="T33" fmla="*/ 657 h 1398"/>
                <a:gd name="T34" fmla="*/ 824 w 897"/>
                <a:gd name="T35" fmla="*/ 699 h 1398"/>
                <a:gd name="T36" fmla="*/ 846 w 897"/>
                <a:gd name="T37" fmla="*/ 728 h 1398"/>
                <a:gd name="T38" fmla="*/ 868 w 897"/>
                <a:gd name="T39" fmla="*/ 748 h 1398"/>
                <a:gd name="T40" fmla="*/ 884 w 897"/>
                <a:gd name="T41" fmla="*/ 759 h 1398"/>
                <a:gd name="T42" fmla="*/ 895 w 897"/>
                <a:gd name="T43" fmla="*/ 763 h 1398"/>
                <a:gd name="T44" fmla="*/ 873 w 897"/>
                <a:gd name="T45" fmla="*/ 785 h 1398"/>
                <a:gd name="T46" fmla="*/ 815 w 897"/>
                <a:gd name="T47" fmla="*/ 815 h 1398"/>
                <a:gd name="T48" fmla="*/ 753 w 897"/>
                <a:gd name="T49" fmla="*/ 835 h 1398"/>
                <a:gd name="T50" fmla="*/ 695 w 897"/>
                <a:gd name="T51" fmla="*/ 844 h 1398"/>
                <a:gd name="T52" fmla="*/ 648 w 897"/>
                <a:gd name="T53" fmla="*/ 849 h 1398"/>
                <a:gd name="T54" fmla="*/ 620 w 897"/>
                <a:gd name="T55" fmla="*/ 850 h 1398"/>
                <a:gd name="T56" fmla="*/ 616 w 897"/>
                <a:gd name="T57" fmla="*/ 909 h 1398"/>
                <a:gd name="T58" fmla="*/ 451 w 897"/>
                <a:gd name="T59" fmla="*/ 1398 h 1398"/>
                <a:gd name="T60" fmla="*/ 284 w 897"/>
                <a:gd name="T61" fmla="*/ 851 h 1398"/>
                <a:gd name="T62" fmla="*/ 199 w 897"/>
                <a:gd name="T63" fmla="*/ 846 h 1398"/>
                <a:gd name="T64" fmla="*/ 132 w 897"/>
                <a:gd name="T65" fmla="*/ 834 h 1398"/>
                <a:gd name="T66" fmla="*/ 81 w 897"/>
                <a:gd name="T67" fmla="*/ 816 h 1398"/>
                <a:gd name="T68" fmla="*/ 43 w 897"/>
                <a:gd name="T69" fmla="*/ 796 h 1398"/>
                <a:gd name="T70" fmla="*/ 18 w 897"/>
                <a:gd name="T71" fmla="*/ 777 h 1398"/>
                <a:gd name="T72" fmla="*/ 5 w 897"/>
                <a:gd name="T73" fmla="*/ 765 h 1398"/>
                <a:gd name="T74" fmla="*/ 0 w 897"/>
                <a:gd name="T75" fmla="*/ 760 h 1398"/>
                <a:gd name="T76" fmla="*/ 5 w 897"/>
                <a:gd name="T77" fmla="*/ 759 h 1398"/>
                <a:gd name="T78" fmla="*/ 15 w 897"/>
                <a:gd name="T79" fmla="*/ 756 h 1398"/>
                <a:gd name="T80" fmla="*/ 30 w 897"/>
                <a:gd name="T81" fmla="*/ 748 h 1398"/>
                <a:gd name="T82" fmla="*/ 48 w 897"/>
                <a:gd name="T83" fmla="*/ 733 h 1398"/>
                <a:gd name="T84" fmla="*/ 67 w 897"/>
                <a:gd name="T85" fmla="*/ 710 h 1398"/>
                <a:gd name="T86" fmla="*/ 85 w 897"/>
                <a:gd name="T87" fmla="*/ 675 h 1398"/>
                <a:gd name="T88" fmla="*/ 101 w 897"/>
                <a:gd name="T89" fmla="*/ 626 h 1398"/>
                <a:gd name="T90" fmla="*/ 113 w 897"/>
                <a:gd name="T91" fmla="*/ 561 h 1398"/>
                <a:gd name="T92" fmla="*/ 119 w 897"/>
                <a:gd name="T93" fmla="*/ 477 h 1398"/>
                <a:gd name="T94" fmla="*/ 119 w 897"/>
                <a:gd name="T95" fmla="*/ 374 h 1398"/>
                <a:gd name="T96" fmla="*/ 126 w 897"/>
                <a:gd name="T97" fmla="*/ 283 h 1398"/>
                <a:gd name="T98" fmla="*/ 143 w 897"/>
                <a:gd name="T99" fmla="*/ 210 h 1398"/>
                <a:gd name="T100" fmla="*/ 167 w 897"/>
                <a:gd name="T101" fmla="*/ 152 h 1398"/>
                <a:gd name="T102" fmla="*/ 194 w 897"/>
                <a:gd name="T103" fmla="*/ 107 h 1398"/>
                <a:gd name="T104" fmla="*/ 225 w 897"/>
                <a:gd name="T105" fmla="*/ 75 h 1398"/>
                <a:gd name="T106" fmla="*/ 256 w 897"/>
                <a:gd name="T107" fmla="*/ 51 h 1398"/>
                <a:gd name="T108" fmla="*/ 284 w 897"/>
                <a:gd name="T109" fmla="*/ 35 h 1398"/>
                <a:gd name="T110" fmla="*/ 309 w 897"/>
                <a:gd name="T111" fmla="*/ 25 h 1398"/>
                <a:gd name="T112" fmla="*/ 353 w 897"/>
                <a:gd name="T113" fmla="*/ 9 h 1398"/>
                <a:gd name="T114" fmla="*/ 414 w 897"/>
                <a:gd name="T115" fmla="*/ 0 h 13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897" h="1398">
                  <a:moveTo>
                    <a:pt x="414" y="0"/>
                  </a:moveTo>
                  <a:lnTo>
                    <a:pt x="441" y="0"/>
                  </a:lnTo>
                  <a:lnTo>
                    <a:pt x="465" y="3"/>
                  </a:lnTo>
                  <a:lnTo>
                    <a:pt x="486" y="8"/>
                  </a:lnTo>
                  <a:lnTo>
                    <a:pt x="506" y="15"/>
                  </a:lnTo>
                  <a:lnTo>
                    <a:pt x="522" y="23"/>
                  </a:lnTo>
                  <a:lnTo>
                    <a:pt x="537" y="31"/>
                  </a:lnTo>
                  <a:lnTo>
                    <a:pt x="548" y="39"/>
                  </a:lnTo>
                  <a:lnTo>
                    <a:pt x="557" y="47"/>
                  </a:lnTo>
                  <a:lnTo>
                    <a:pt x="563" y="52"/>
                  </a:lnTo>
                  <a:lnTo>
                    <a:pt x="567" y="56"/>
                  </a:lnTo>
                  <a:lnTo>
                    <a:pt x="568" y="57"/>
                  </a:lnTo>
                  <a:lnTo>
                    <a:pt x="601" y="57"/>
                  </a:lnTo>
                  <a:lnTo>
                    <a:pt x="630" y="60"/>
                  </a:lnTo>
                  <a:lnTo>
                    <a:pt x="657" y="69"/>
                  </a:lnTo>
                  <a:lnTo>
                    <a:pt x="681" y="80"/>
                  </a:lnTo>
                  <a:lnTo>
                    <a:pt x="703" y="96"/>
                  </a:lnTo>
                  <a:lnTo>
                    <a:pt x="722" y="115"/>
                  </a:lnTo>
                  <a:lnTo>
                    <a:pt x="739" y="138"/>
                  </a:lnTo>
                  <a:lnTo>
                    <a:pt x="753" y="163"/>
                  </a:lnTo>
                  <a:lnTo>
                    <a:pt x="765" y="191"/>
                  </a:lnTo>
                  <a:lnTo>
                    <a:pt x="775" y="222"/>
                  </a:lnTo>
                  <a:lnTo>
                    <a:pt x="783" y="255"/>
                  </a:lnTo>
                  <a:lnTo>
                    <a:pt x="789" y="290"/>
                  </a:lnTo>
                  <a:lnTo>
                    <a:pt x="792" y="327"/>
                  </a:lnTo>
                  <a:lnTo>
                    <a:pt x="794" y="365"/>
                  </a:lnTo>
                  <a:lnTo>
                    <a:pt x="794" y="405"/>
                  </a:lnTo>
                  <a:lnTo>
                    <a:pt x="793" y="447"/>
                  </a:lnTo>
                  <a:lnTo>
                    <a:pt x="789" y="487"/>
                  </a:lnTo>
                  <a:lnTo>
                    <a:pt x="787" y="530"/>
                  </a:lnTo>
                  <a:lnTo>
                    <a:pt x="787" y="568"/>
                  </a:lnTo>
                  <a:lnTo>
                    <a:pt x="790" y="602"/>
                  </a:lnTo>
                  <a:lnTo>
                    <a:pt x="796" y="632"/>
                  </a:lnTo>
                  <a:lnTo>
                    <a:pt x="804" y="657"/>
                  </a:lnTo>
                  <a:lnTo>
                    <a:pt x="813" y="680"/>
                  </a:lnTo>
                  <a:lnTo>
                    <a:pt x="824" y="699"/>
                  </a:lnTo>
                  <a:lnTo>
                    <a:pt x="834" y="715"/>
                  </a:lnTo>
                  <a:lnTo>
                    <a:pt x="846" y="728"/>
                  </a:lnTo>
                  <a:lnTo>
                    <a:pt x="856" y="739"/>
                  </a:lnTo>
                  <a:lnTo>
                    <a:pt x="868" y="748"/>
                  </a:lnTo>
                  <a:lnTo>
                    <a:pt x="877" y="754"/>
                  </a:lnTo>
                  <a:lnTo>
                    <a:pt x="884" y="759"/>
                  </a:lnTo>
                  <a:lnTo>
                    <a:pt x="892" y="762"/>
                  </a:lnTo>
                  <a:lnTo>
                    <a:pt x="895" y="763"/>
                  </a:lnTo>
                  <a:lnTo>
                    <a:pt x="897" y="764"/>
                  </a:lnTo>
                  <a:lnTo>
                    <a:pt x="873" y="785"/>
                  </a:lnTo>
                  <a:lnTo>
                    <a:pt x="845" y="801"/>
                  </a:lnTo>
                  <a:lnTo>
                    <a:pt x="815" y="815"/>
                  </a:lnTo>
                  <a:lnTo>
                    <a:pt x="784" y="827"/>
                  </a:lnTo>
                  <a:lnTo>
                    <a:pt x="753" y="835"/>
                  </a:lnTo>
                  <a:lnTo>
                    <a:pt x="723" y="841"/>
                  </a:lnTo>
                  <a:lnTo>
                    <a:pt x="695" y="844"/>
                  </a:lnTo>
                  <a:lnTo>
                    <a:pt x="670" y="848"/>
                  </a:lnTo>
                  <a:lnTo>
                    <a:pt x="648" y="849"/>
                  </a:lnTo>
                  <a:lnTo>
                    <a:pt x="631" y="850"/>
                  </a:lnTo>
                  <a:lnTo>
                    <a:pt x="620" y="850"/>
                  </a:lnTo>
                  <a:lnTo>
                    <a:pt x="616" y="850"/>
                  </a:lnTo>
                  <a:lnTo>
                    <a:pt x="616" y="909"/>
                  </a:lnTo>
                  <a:lnTo>
                    <a:pt x="617" y="913"/>
                  </a:lnTo>
                  <a:lnTo>
                    <a:pt x="451" y="1398"/>
                  </a:lnTo>
                  <a:lnTo>
                    <a:pt x="284" y="912"/>
                  </a:lnTo>
                  <a:lnTo>
                    <a:pt x="284" y="851"/>
                  </a:lnTo>
                  <a:lnTo>
                    <a:pt x="239" y="850"/>
                  </a:lnTo>
                  <a:lnTo>
                    <a:pt x="199" y="846"/>
                  </a:lnTo>
                  <a:lnTo>
                    <a:pt x="164" y="841"/>
                  </a:lnTo>
                  <a:lnTo>
                    <a:pt x="132" y="834"/>
                  </a:lnTo>
                  <a:lnTo>
                    <a:pt x="104" y="826"/>
                  </a:lnTo>
                  <a:lnTo>
                    <a:pt x="81" y="816"/>
                  </a:lnTo>
                  <a:lnTo>
                    <a:pt x="60" y="806"/>
                  </a:lnTo>
                  <a:lnTo>
                    <a:pt x="43" y="796"/>
                  </a:lnTo>
                  <a:lnTo>
                    <a:pt x="30" y="787"/>
                  </a:lnTo>
                  <a:lnTo>
                    <a:pt x="18" y="777"/>
                  </a:lnTo>
                  <a:lnTo>
                    <a:pt x="11" y="770"/>
                  </a:lnTo>
                  <a:lnTo>
                    <a:pt x="5" y="765"/>
                  </a:lnTo>
                  <a:lnTo>
                    <a:pt x="2" y="761"/>
                  </a:lnTo>
                  <a:lnTo>
                    <a:pt x="0" y="760"/>
                  </a:lnTo>
                  <a:lnTo>
                    <a:pt x="2" y="760"/>
                  </a:lnTo>
                  <a:lnTo>
                    <a:pt x="5" y="759"/>
                  </a:lnTo>
                  <a:lnTo>
                    <a:pt x="9" y="757"/>
                  </a:lnTo>
                  <a:lnTo>
                    <a:pt x="15" y="756"/>
                  </a:lnTo>
                  <a:lnTo>
                    <a:pt x="22" y="753"/>
                  </a:lnTo>
                  <a:lnTo>
                    <a:pt x="30" y="748"/>
                  </a:lnTo>
                  <a:lnTo>
                    <a:pt x="39" y="742"/>
                  </a:lnTo>
                  <a:lnTo>
                    <a:pt x="48" y="733"/>
                  </a:lnTo>
                  <a:lnTo>
                    <a:pt x="58" y="723"/>
                  </a:lnTo>
                  <a:lnTo>
                    <a:pt x="67" y="710"/>
                  </a:lnTo>
                  <a:lnTo>
                    <a:pt x="77" y="694"/>
                  </a:lnTo>
                  <a:lnTo>
                    <a:pt x="85" y="675"/>
                  </a:lnTo>
                  <a:lnTo>
                    <a:pt x="94" y="652"/>
                  </a:lnTo>
                  <a:lnTo>
                    <a:pt x="101" y="626"/>
                  </a:lnTo>
                  <a:lnTo>
                    <a:pt x="108" y="595"/>
                  </a:lnTo>
                  <a:lnTo>
                    <a:pt x="113" y="561"/>
                  </a:lnTo>
                  <a:lnTo>
                    <a:pt x="117" y="521"/>
                  </a:lnTo>
                  <a:lnTo>
                    <a:pt x="119" y="477"/>
                  </a:lnTo>
                  <a:lnTo>
                    <a:pt x="118" y="427"/>
                  </a:lnTo>
                  <a:lnTo>
                    <a:pt x="119" y="374"/>
                  </a:lnTo>
                  <a:lnTo>
                    <a:pt x="121" y="326"/>
                  </a:lnTo>
                  <a:lnTo>
                    <a:pt x="126" y="283"/>
                  </a:lnTo>
                  <a:lnTo>
                    <a:pt x="133" y="245"/>
                  </a:lnTo>
                  <a:lnTo>
                    <a:pt x="143" y="210"/>
                  </a:lnTo>
                  <a:lnTo>
                    <a:pt x="154" y="180"/>
                  </a:lnTo>
                  <a:lnTo>
                    <a:pt x="167" y="152"/>
                  </a:lnTo>
                  <a:lnTo>
                    <a:pt x="181" y="128"/>
                  </a:lnTo>
                  <a:lnTo>
                    <a:pt x="194" y="107"/>
                  </a:lnTo>
                  <a:lnTo>
                    <a:pt x="210" y="90"/>
                  </a:lnTo>
                  <a:lnTo>
                    <a:pt x="225" y="75"/>
                  </a:lnTo>
                  <a:lnTo>
                    <a:pt x="240" y="61"/>
                  </a:lnTo>
                  <a:lnTo>
                    <a:pt x="256" y="51"/>
                  </a:lnTo>
                  <a:lnTo>
                    <a:pt x="271" y="43"/>
                  </a:lnTo>
                  <a:lnTo>
                    <a:pt x="284" y="35"/>
                  </a:lnTo>
                  <a:lnTo>
                    <a:pt x="298" y="29"/>
                  </a:lnTo>
                  <a:lnTo>
                    <a:pt x="309" y="25"/>
                  </a:lnTo>
                  <a:lnTo>
                    <a:pt x="320" y="21"/>
                  </a:lnTo>
                  <a:lnTo>
                    <a:pt x="353" y="9"/>
                  </a:lnTo>
                  <a:lnTo>
                    <a:pt x="386" y="3"/>
                  </a:lnTo>
                  <a:lnTo>
                    <a:pt x="4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195">
              <a:extLst>
                <a:ext uri="{FF2B5EF4-FFF2-40B4-BE49-F238E27FC236}">
                  <a16:creationId xmlns="" xmlns:a16="http://schemas.microsoft.com/office/drawing/2014/main" id="{E326FF00-19F4-C14C-BAD2-732CAA52C3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4588" y="1465263"/>
              <a:ext cx="107950" cy="42862"/>
            </a:xfrm>
            <a:custGeom>
              <a:avLst/>
              <a:gdLst>
                <a:gd name="T0" fmla="*/ 385 w 1226"/>
                <a:gd name="T1" fmla="*/ 0 h 471"/>
                <a:gd name="T2" fmla="*/ 318 w 1226"/>
                <a:gd name="T3" fmla="*/ 194 h 471"/>
                <a:gd name="T4" fmla="*/ 411 w 1226"/>
                <a:gd name="T5" fmla="*/ 187 h 471"/>
                <a:gd name="T6" fmla="*/ 615 w 1226"/>
                <a:gd name="T7" fmla="*/ 437 h 471"/>
                <a:gd name="T8" fmla="*/ 819 w 1226"/>
                <a:gd name="T9" fmla="*/ 187 h 471"/>
                <a:gd name="T10" fmla="*/ 911 w 1226"/>
                <a:gd name="T11" fmla="*/ 194 h 471"/>
                <a:gd name="T12" fmla="*/ 845 w 1226"/>
                <a:gd name="T13" fmla="*/ 0 h 471"/>
                <a:gd name="T14" fmla="*/ 863 w 1226"/>
                <a:gd name="T15" fmla="*/ 10 h 471"/>
                <a:gd name="T16" fmla="*/ 882 w 1226"/>
                <a:gd name="T17" fmla="*/ 18 h 471"/>
                <a:gd name="T18" fmla="*/ 1090 w 1226"/>
                <a:gd name="T19" fmla="*/ 122 h 471"/>
                <a:gd name="T20" fmla="*/ 1116 w 1226"/>
                <a:gd name="T21" fmla="*/ 138 h 471"/>
                <a:gd name="T22" fmla="*/ 1139 w 1226"/>
                <a:gd name="T23" fmla="*/ 157 h 471"/>
                <a:gd name="T24" fmla="*/ 1159 w 1226"/>
                <a:gd name="T25" fmla="*/ 179 h 471"/>
                <a:gd name="T26" fmla="*/ 1175 w 1226"/>
                <a:gd name="T27" fmla="*/ 204 h 471"/>
                <a:gd name="T28" fmla="*/ 1188 w 1226"/>
                <a:gd name="T29" fmla="*/ 231 h 471"/>
                <a:gd name="T30" fmla="*/ 1195 w 1226"/>
                <a:gd name="T31" fmla="*/ 260 h 471"/>
                <a:gd name="T32" fmla="*/ 1226 w 1226"/>
                <a:gd name="T33" fmla="*/ 444 h 471"/>
                <a:gd name="T34" fmla="*/ 1226 w 1226"/>
                <a:gd name="T35" fmla="*/ 455 h 471"/>
                <a:gd name="T36" fmla="*/ 1222 w 1226"/>
                <a:gd name="T37" fmla="*/ 462 h 471"/>
                <a:gd name="T38" fmla="*/ 1215 w 1226"/>
                <a:gd name="T39" fmla="*/ 469 h 471"/>
                <a:gd name="T40" fmla="*/ 1205 w 1226"/>
                <a:gd name="T41" fmla="*/ 471 h 471"/>
                <a:gd name="T42" fmla="*/ 22 w 1226"/>
                <a:gd name="T43" fmla="*/ 471 h 471"/>
                <a:gd name="T44" fmla="*/ 13 w 1226"/>
                <a:gd name="T45" fmla="*/ 469 h 471"/>
                <a:gd name="T46" fmla="*/ 5 w 1226"/>
                <a:gd name="T47" fmla="*/ 462 h 471"/>
                <a:gd name="T48" fmla="*/ 1 w 1226"/>
                <a:gd name="T49" fmla="*/ 455 h 471"/>
                <a:gd name="T50" fmla="*/ 0 w 1226"/>
                <a:gd name="T51" fmla="*/ 444 h 471"/>
                <a:gd name="T52" fmla="*/ 34 w 1226"/>
                <a:gd name="T53" fmla="*/ 260 h 471"/>
                <a:gd name="T54" fmla="*/ 42 w 1226"/>
                <a:gd name="T55" fmla="*/ 231 h 471"/>
                <a:gd name="T56" fmla="*/ 54 w 1226"/>
                <a:gd name="T57" fmla="*/ 204 h 471"/>
                <a:gd name="T58" fmla="*/ 70 w 1226"/>
                <a:gd name="T59" fmla="*/ 179 h 471"/>
                <a:gd name="T60" fmla="*/ 90 w 1226"/>
                <a:gd name="T61" fmla="*/ 157 h 471"/>
                <a:gd name="T62" fmla="*/ 113 w 1226"/>
                <a:gd name="T63" fmla="*/ 138 h 471"/>
                <a:gd name="T64" fmla="*/ 138 w 1226"/>
                <a:gd name="T65" fmla="*/ 122 h 471"/>
                <a:gd name="T66" fmla="*/ 344 w 1226"/>
                <a:gd name="T67" fmla="*/ 21 h 471"/>
                <a:gd name="T68" fmla="*/ 385 w 1226"/>
                <a:gd name="T69" fmla="*/ 0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26" h="471">
                  <a:moveTo>
                    <a:pt x="385" y="0"/>
                  </a:moveTo>
                  <a:lnTo>
                    <a:pt x="318" y="194"/>
                  </a:lnTo>
                  <a:lnTo>
                    <a:pt x="411" y="187"/>
                  </a:lnTo>
                  <a:lnTo>
                    <a:pt x="615" y="437"/>
                  </a:lnTo>
                  <a:lnTo>
                    <a:pt x="819" y="187"/>
                  </a:lnTo>
                  <a:lnTo>
                    <a:pt x="911" y="194"/>
                  </a:lnTo>
                  <a:lnTo>
                    <a:pt x="845" y="0"/>
                  </a:lnTo>
                  <a:lnTo>
                    <a:pt x="863" y="10"/>
                  </a:lnTo>
                  <a:lnTo>
                    <a:pt x="882" y="18"/>
                  </a:lnTo>
                  <a:lnTo>
                    <a:pt x="1090" y="122"/>
                  </a:lnTo>
                  <a:lnTo>
                    <a:pt x="1116" y="138"/>
                  </a:lnTo>
                  <a:lnTo>
                    <a:pt x="1139" y="157"/>
                  </a:lnTo>
                  <a:lnTo>
                    <a:pt x="1159" y="179"/>
                  </a:lnTo>
                  <a:lnTo>
                    <a:pt x="1175" y="204"/>
                  </a:lnTo>
                  <a:lnTo>
                    <a:pt x="1188" y="231"/>
                  </a:lnTo>
                  <a:lnTo>
                    <a:pt x="1195" y="260"/>
                  </a:lnTo>
                  <a:lnTo>
                    <a:pt x="1226" y="444"/>
                  </a:lnTo>
                  <a:lnTo>
                    <a:pt x="1226" y="455"/>
                  </a:lnTo>
                  <a:lnTo>
                    <a:pt x="1222" y="462"/>
                  </a:lnTo>
                  <a:lnTo>
                    <a:pt x="1215" y="469"/>
                  </a:lnTo>
                  <a:lnTo>
                    <a:pt x="1205" y="471"/>
                  </a:lnTo>
                  <a:lnTo>
                    <a:pt x="22" y="471"/>
                  </a:lnTo>
                  <a:lnTo>
                    <a:pt x="13" y="469"/>
                  </a:lnTo>
                  <a:lnTo>
                    <a:pt x="5" y="462"/>
                  </a:lnTo>
                  <a:lnTo>
                    <a:pt x="1" y="455"/>
                  </a:lnTo>
                  <a:lnTo>
                    <a:pt x="0" y="444"/>
                  </a:lnTo>
                  <a:lnTo>
                    <a:pt x="34" y="260"/>
                  </a:lnTo>
                  <a:lnTo>
                    <a:pt x="42" y="231"/>
                  </a:lnTo>
                  <a:lnTo>
                    <a:pt x="54" y="204"/>
                  </a:lnTo>
                  <a:lnTo>
                    <a:pt x="70" y="179"/>
                  </a:lnTo>
                  <a:lnTo>
                    <a:pt x="90" y="157"/>
                  </a:lnTo>
                  <a:lnTo>
                    <a:pt x="113" y="138"/>
                  </a:lnTo>
                  <a:lnTo>
                    <a:pt x="138" y="122"/>
                  </a:lnTo>
                  <a:lnTo>
                    <a:pt x="344" y="21"/>
                  </a:lnTo>
                  <a:lnTo>
                    <a:pt x="38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xmlns="" val="1352327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355E1EFF-0E64-B54C-89ED-BC2DC9EE1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052" y="1284187"/>
            <a:ext cx="5093447" cy="605292"/>
          </a:xfrm>
        </p:spPr>
        <p:txBody>
          <a:bodyPr anchor="ctr"/>
          <a:lstStyle/>
          <a:p>
            <a:r>
              <a:rPr lang="ru-RU" sz="1800" dirty="0"/>
              <a:t>Аудит управленческого учета</a:t>
            </a:r>
            <a:endParaRPr lang="ru-RU" sz="1800" b="1" dirty="0"/>
          </a:p>
        </p:txBody>
      </p:sp>
      <p:sp>
        <p:nvSpPr>
          <p:cNvPr id="10" name="Rectangle 11">
            <a:extLst>
              <a:ext uri="{FF2B5EF4-FFF2-40B4-BE49-F238E27FC236}">
                <a16:creationId xmlns="" xmlns:a16="http://schemas.microsoft.com/office/drawing/2014/main" id="{FCE0A8E7-FA95-1646-BFB7-ECD41C8EA0EC}"/>
              </a:ext>
            </a:extLst>
          </p:cNvPr>
          <p:cNvSpPr/>
          <p:nvPr/>
        </p:nvSpPr>
        <p:spPr>
          <a:xfrm>
            <a:off x="1307750" y="1997063"/>
            <a:ext cx="370372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Диагностика предприятия с целью контроля </a:t>
            </a:r>
          </a:p>
          <a:p>
            <a:r>
              <a:rPr lang="ru-RU" sz="1400" dirty="0"/>
              <a:t>и совершенствования системы управленческого учета на всех этапах деятельности предприятия</a:t>
            </a:r>
            <a:endParaRPr lang="en-US" sz="1400" dirty="0"/>
          </a:p>
        </p:txBody>
      </p:sp>
      <p:sp>
        <p:nvSpPr>
          <p:cNvPr id="9" name="Rectangle 11">
            <a:extLst>
              <a:ext uri="{FF2B5EF4-FFF2-40B4-BE49-F238E27FC236}">
                <a16:creationId xmlns="" xmlns:a16="http://schemas.microsoft.com/office/drawing/2014/main" id="{204671A7-56E7-EE45-9417-150B0D301875}"/>
              </a:ext>
            </a:extLst>
          </p:cNvPr>
          <p:cNvSpPr/>
          <p:nvPr/>
        </p:nvSpPr>
        <p:spPr>
          <a:xfrm>
            <a:off x="1307750" y="3043504"/>
            <a:ext cx="370372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Оценка эффективности системы управленческого учета</a:t>
            </a:r>
            <a:endParaRPr lang="en-US" sz="1400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42DE27E0-FBB1-854B-9D14-F3EC66B03208}"/>
              </a:ext>
            </a:extLst>
          </p:cNvPr>
          <p:cNvSpPr/>
          <p:nvPr/>
        </p:nvSpPr>
        <p:spPr>
          <a:xfrm>
            <a:off x="1307750" y="3883946"/>
            <a:ext cx="370372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Независимая оценка достоверности управленческой информации и отчетности</a:t>
            </a:r>
            <a:endParaRPr lang="en-US" sz="1400" dirty="0"/>
          </a:p>
        </p:txBody>
      </p:sp>
      <p:sp>
        <p:nvSpPr>
          <p:cNvPr id="14" name="Oval 73">
            <a:extLst>
              <a:ext uri="{FF2B5EF4-FFF2-40B4-BE49-F238E27FC236}">
                <a16:creationId xmlns="" xmlns:a16="http://schemas.microsoft.com/office/drawing/2014/main" id="{AF2406D3-EA19-2649-A45E-F07ED556250E}"/>
              </a:ext>
            </a:extLst>
          </p:cNvPr>
          <p:cNvSpPr/>
          <p:nvPr/>
        </p:nvSpPr>
        <p:spPr>
          <a:xfrm>
            <a:off x="626217" y="2139858"/>
            <a:ext cx="545406" cy="545406"/>
          </a:xfrm>
          <a:prstGeom prst="ellipse">
            <a:avLst/>
          </a:prstGeom>
          <a:solidFill>
            <a:schemeClr val="accent2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5" name="Oval 73">
            <a:extLst>
              <a:ext uri="{FF2B5EF4-FFF2-40B4-BE49-F238E27FC236}">
                <a16:creationId xmlns="" xmlns:a16="http://schemas.microsoft.com/office/drawing/2014/main" id="{24BD1798-29DB-184D-9692-6CED5AC8718E}"/>
              </a:ext>
            </a:extLst>
          </p:cNvPr>
          <p:cNvSpPr/>
          <p:nvPr/>
        </p:nvSpPr>
        <p:spPr>
          <a:xfrm>
            <a:off x="626217" y="3063188"/>
            <a:ext cx="545406" cy="545406"/>
          </a:xfrm>
          <a:prstGeom prst="ellipse">
            <a:avLst/>
          </a:prstGeom>
          <a:solidFill>
            <a:schemeClr val="accent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6" name="Oval 73">
            <a:extLst>
              <a:ext uri="{FF2B5EF4-FFF2-40B4-BE49-F238E27FC236}">
                <a16:creationId xmlns="" xmlns:a16="http://schemas.microsoft.com/office/drawing/2014/main" id="{105DABED-457C-1649-8506-5DCB68CAB7C6}"/>
              </a:ext>
            </a:extLst>
          </p:cNvPr>
          <p:cNvSpPr/>
          <p:nvPr/>
        </p:nvSpPr>
        <p:spPr>
          <a:xfrm>
            <a:off x="626217" y="3903630"/>
            <a:ext cx="545406" cy="545406"/>
          </a:xfrm>
          <a:prstGeom prst="ellipse">
            <a:avLst/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8" name="Freeform 255">
            <a:extLst>
              <a:ext uri="{FF2B5EF4-FFF2-40B4-BE49-F238E27FC236}">
                <a16:creationId xmlns="" xmlns:a16="http://schemas.microsoft.com/office/drawing/2014/main" id="{1D2EBB0E-A18B-1F40-9975-BA4AF67E16D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56266" y="2267403"/>
            <a:ext cx="289315" cy="288000"/>
          </a:xfrm>
          <a:custGeom>
            <a:avLst/>
            <a:gdLst>
              <a:gd name="T0" fmla="*/ 1206 w 3298"/>
              <a:gd name="T1" fmla="*/ 1250 h 3507"/>
              <a:gd name="T2" fmla="*/ 1166 w 3298"/>
              <a:gd name="T3" fmla="*/ 1303 h 3507"/>
              <a:gd name="T4" fmla="*/ 1166 w 3298"/>
              <a:gd name="T5" fmla="*/ 1368 h 3507"/>
              <a:gd name="T6" fmla="*/ 2880 w 3298"/>
              <a:gd name="T7" fmla="*/ 3204 h 3507"/>
              <a:gd name="T8" fmla="*/ 2936 w 3298"/>
              <a:gd name="T9" fmla="*/ 3233 h 3507"/>
              <a:gd name="T10" fmla="*/ 2996 w 3298"/>
              <a:gd name="T11" fmla="*/ 3218 h 3507"/>
              <a:gd name="T12" fmla="*/ 3035 w 3298"/>
              <a:gd name="T13" fmla="*/ 3166 h 3507"/>
              <a:gd name="T14" fmla="*/ 3035 w 3298"/>
              <a:gd name="T15" fmla="*/ 3101 h 3507"/>
              <a:gd name="T16" fmla="*/ 1323 w 3298"/>
              <a:gd name="T17" fmla="*/ 1264 h 3507"/>
              <a:gd name="T18" fmla="*/ 1266 w 3298"/>
              <a:gd name="T19" fmla="*/ 1235 h 3507"/>
              <a:gd name="T20" fmla="*/ 791 w 3298"/>
              <a:gd name="T21" fmla="*/ 2 h 3507"/>
              <a:gd name="T22" fmla="*/ 957 w 3298"/>
              <a:gd name="T23" fmla="*/ 36 h 3507"/>
              <a:gd name="T24" fmla="*/ 1112 w 3298"/>
              <a:gd name="T25" fmla="*/ 112 h 3507"/>
              <a:gd name="T26" fmla="*/ 1250 w 3298"/>
              <a:gd name="T27" fmla="*/ 227 h 3507"/>
              <a:gd name="T28" fmla="*/ 1366 w 3298"/>
              <a:gd name="T29" fmla="*/ 386 h 3507"/>
              <a:gd name="T30" fmla="*/ 1437 w 3298"/>
              <a:gd name="T31" fmla="*/ 564 h 3507"/>
              <a:gd name="T32" fmla="*/ 1465 w 3298"/>
              <a:gd name="T33" fmla="*/ 753 h 3507"/>
              <a:gd name="T34" fmla="*/ 1456 w 3298"/>
              <a:gd name="T35" fmla="*/ 924 h 3507"/>
              <a:gd name="T36" fmla="*/ 1479 w 3298"/>
              <a:gd name="T37" fmla="*/ 1050 h 3507"/>
              <a:gd name="T38" fmla="*/ 1547 w 3298"/>
              <a:gd name="T39" fmla="*/ 1158 h 3507"/>
              <a:gd name="T40" fmla="*/ 3253 w 3298"/>
              <a:gd name="T41" fmla="*/ 2988 h 3507"/>
              <a:gd name="T42" fmla="*/ 3293 w 3298"/>
              <a:gd name="T43" fmla="*/ 3103 h 3507"/>
              <a:gd name="T44" fmla="*/ 3293 w 3298"/>
              <a:gd name="T45" fmla="*/ 3225 h 3507"/>
              <a:gd name="T46" fmla="*/ 3253 w 3298"/>
              <a:gd name="T47" fmla="*/ 3340 h 3507"/>
              <a:gd name="T48" fmla="*/ 3173 w 3298"/>
              <a:gd name="T49" fmla="*/ 3436 h 3507"/>
              <a:gd name="T50" fmla="*/ 3069 w 3298"/>
              <a:gd name="T51" fmla="*/ 3492 h 3507"/>
              <a:gd name="T52" fmla="*/ 2956 w 3298"/>
              <a:gd name="T53" fmla="*/ 3507 h 3507"/>
              <a:gd name="T54" fmla="*/ 2845 w 3298"/>
              <a:gd name="T55" fmla="*/ 3479 h 3507"/>
              <a:gd name="T56" fmla="*/ 2746 w 3298"/>
              <a:gd name="T57" fmla="*/ 3407 h 3507"/>
              <a:gd name="T58" fmla="*/ 1025 w 3298"/>
              <a:gd name="T59" fmla="*/ 1592 h 3507"/>
              <a:gd name="T60" fmla="*/ 910 w 3298"/>
              <a:gd name="T61" fmla="*/ 1551 h 3507"/>
              <a:gd name="T62" fmla="*/ 769 w 3298"/>
              <a:gd name="T63" fmla="*/ 1556 h 3507"/>
              <a:gd name="T64" fmla="*/ 591 w 3298"/>
              <a:gd name="T65" fmla="*/ 1543 h 3507"/>
              <a:gd name="T66" fmla="*/ 418 w 3298"/>
              <a:gd name="T67" fmla="*/ 1483 h 3507"/>
              <a:gd name="T68" fmla="*/ 262 w 3298"/>
              <a:gd name="T69" fmla="*/ 1375 h 3507"/>
              <a:gd name="T70" fmla="*/ 138 w 3298"/>
              <a:gd name="T71" fmla="*/ 1233 h 3507"/>
              <a:gd name="T72" fmla="*/ 54 w 3298"/>
              <a:gd name="T73" fmla="*/ 1073 h 3507"/>
              <a:gd name="T74" fmla="*/ 9 w 3298"/>
              <a:gd name="T75" fmla="*/ 900 h 3507"/>
              <a:gd name="T76" fmla="*/ 2 w 3298"/>
              <a:gd name="T77" fmla="*/ 722 h 3507"/>
              <a:gd name="T78" fmla="*/ 21 w 3298"/>
              <a:gd name="T79" fmla="*/ 637 h 3507"/>
              <a:gd name="T80" fmla="*/ 57 w 3298"/>
              <a:gd name="T81" fmla="*/ 624 h 3507"/>
              <a:gd name="T82" fmla="*/ 304 w 3298"/>
              <a:gd name="T83" fmla="*/ 873 h 3507"/>
              <a:gd name="T84" fmla="*/ 393 w 3298"/>
              <a:gd name="T85" fmla="*/ 936 h 3507"/>
              <a:gd name="T86" fmla="*/ 494 w 3298"/>
              <a:gd name="T87" fmla="*/ 957 h 3507"/>
              <a:gd name="T88" fmla="*/ 596 w 3298"/>
              <a:gd name="T89" fmla="*/ 936 h 3507"/>
              <a:gd name="T90" fmla="*/ 685 w 3298"/>
              <a:gd name="T91" fmla="*/ 873 h 3507"/>
              <a:gd name="T92" fmla="*/ 865 w 3298"/>
              <a:gd name="T93" fmla="*/ 667 h 3507"/>
              <a:gd name="T94" fmla="*/ 898 w 3298"/>
              <a:gd name="T95" fmla="*/ 561 h 3507"/>
              <a:gd name="T96" fmla="*/ 891 w 3298"/>
              <a:gd name="T97" fmla="*/ 452 h 3507"/>
              <a:gd name="T98" fmla="*/ 845 w 3298"/>
              <a:gd name="T99" fmla="*/ 351 h 3507"/>
              <a:gd name="T100" fmla="*/ 592 w 3298"/>
              <a:gd name="T101" fmla="*/ 74 h 3507"/>
              <a:gd name="T102" fmla="*/ 592 w 3298"/>
              <a:gd name="T103" fmla="*/ 33 h 3507"/>
              <a:gd name="T104" fmla="*/ 625 w 3298"/>
              <a:gd name="T105" fmla="*/ 8 h 35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3298" h="3507">
                <a:moveTo>
                  <a:pt x="1245" y="1235"/>
                </a:moveTo>
                <a:lnTo>
                  <a:pt x="1225" y="1241"/>
                </a:lnTo>
                <a:lnTo>
                  <a:pt x="1206" y="1250"/>
                </a:lnTo>
                <a:lnTo>
                  <a:pt x="1189" y="1264"/>
                </a:lnTo>
                <a:lnTo>
                  <a:pt x="1175" y="1282"/>
                </a:lnTo>
                <a:lnTo>
                  <a:pt x="1166" y="1303"/>
                </a:lnTo>
                <a:lnTo>
                  <a:pt x="1162" y="1324"/>
                </a:lnTo>
                <a:lnTo>
                  <a:pt x="1162" y="1346"/>
                </a:lnTo>
                <a:lnTo>
                  <a:pt x="1166" y="1368"/>
                </a:lnTo>
                <a:lnTo>
                  <a:pt x="1175" y="1388"/>
                </a:lnTo>
                <a:lnTo>
                  <a:pt x="1189" y="1406"/>
                </a:lnTo>
                <a:lnTo>
                  <a:pt x="2880" y="3204"/>
                </a:lnTo>
                <a:lnTo>
                  <a:pt x="2897" y="3218"/>
                </a:lnTo>
                <a:lnTo>
                  <a:pt x="2916" y="3228"/>
                </a:lnTo>
                <a:lnTo>
                  <a:pt x="2936" y="3233"/>
                </a:lnTo>
                <a:lnTo>
                  <a:pt x="2957" y="3233"/>
                </a:lnTo>
                <a:lnTo>
                  <a:pt x="2977" y="3228"/>
                </a:lnTo>
                <a:lnTo>
                  <a:pt x="2996" y="3218"/>
                </a:lnTo>
                <a:lnTo>
                  <a:pt x="3013" y="3204"/>
                </a:lnTo>
                <a:lnTo>
                  <a:pt x="3026" y="3186"/>
                </a:lnTo>
                <a:lnTo>
                  <a:pt x="3035" y="3166"/>
                </a:lnTo>
                <a:lnTo>
                  <a:pt x="3040" y="3145"/>
                </a:lnTo>
                <a:lnTo>
                  <a:pt x="3040" y="3122"/>
                </a:lnTo>
                <a:lnTo>
                  <a:pt x="3035" y="3101"/>
                </a:lnTo>
                <a:lnTo>
                  <a:pt x="3026" y="3081"/>
                </a:lnTo>
                <a:lnTo>
                  <a:pt x="3013" y="3063"/>
                </a:lnTo>
                <a:lnTo>
                  <a:pt x="1323" y="1264"/>
                </a:lnTo>
                <a:lnTo>
                  <a:pt x="1306" y="1250"/>
                </a:lnTo>
                <a:lnTo>
                  <a:pt x="1287" y="1241"/>
                </a:lnTo>
                <a:lnTo>
                  <a:pt x="1266" y="1235"/>
                </a:lnTo>
                <a:lnTo>
                  <a:pt x="1245" y="1235"/>
                </a:lnTo>
                <a:close/>
                <a:moveTo>
                  <a:pt x="736" y="0"/>
                </a:moveTo>
                <a:lnTo>
                  <a:pt x="791" y="2"/>
                </a:lnTo>
                <a:lnTo>
                  <a:pt x="847" y="9"/>
                </a:lnTo>
                <a:lnTo>
                  <a:pt x="901" y="20"/>
                </a:lnTo>
                <a:lnTo>
                  <a:pt x="957" y="36"/>
                </a:lnTo>
                <a:lnTo>
                  <a:pt x="1010" y="58"/>
                </a:lnTo>
                <a:lnTo>
                  <a:pt x="1061" y="82"/>
                </a:lnTo>
                <a:lnTo>
                  <a:pt x="1112" y="112"/>
                </a:lnTo>
                <a:lnTo>
                  <a:pt x="1160" y="146"/>
                </a:lnTo>
                <a:lnTo>
                  <a:pt x="1206" y="185"/>
                </a:lnTo>
                <a:lnTo>
                  <a:pt x="1250" y="227"/>
                </a:lnTo>
                <a:lnTo>
                  <a:pt x="1294" y="278"/>
                </a:lnTo>
                <a:lnTo>
                  <a:pt x="1332" y="331"/>
                </a:lnTo>
                <a:lnTo>
                  <a:pt x="1366" y="386"/>
                </a:lnTo>
                <a:lnTo>
                  <a:pt x="1394" y="444"/>
                </a:lnTo>
                <a:lnTo>
                  <a:pt x="1418" y="504"/>
                </a:lnTo>
                <a:lnTo>
                  <a:pt x="1437" y="564"/>
                </a:lnTo>
                <a:lnTo>
                  <a:pt x="1451" y="627"/>
                </a:lnTo>
                <a:lnTo>
                  <a:pt x="1460" y="690"/>
                </a:lnTo>
                <a:lnTo>
                  <a:pt x="1465" y="753"/>
                </a:lnTo>
                <a:lnTo>
                  <a:pt x="1464" y="817"/>
                </a:lnTo>
                <a:lnTo>
                  <a:pt x="1459" y="880"/>
                </a:lnTo>
                <a:lnTo>
                  <a:pt x="1456" y="924"/>
                </a:lnTo>
                <a:lnTo>
                  <a:pt x="1459" y="968"/>
                </a:lnTo>
                <a:lnTo>
                  <a:pt x="1466" y="1009"/>
                </a:lnTo>
                <a:lnTo>
                  <a:pt x="1479" y="1050"/>
                </a:lnTo>
                <a:lnTo>
                  <a:pt x="1497" y="1089"/>
                </a:lnTo>
                <a:lnTo>
                  <a:pt x="1520" y="1124"/>
                </a:lnTo>
                <a:lnTo>
                  <a:pt x="1547" y="1158"/>
                </a:lnTo>
                <a:lnTo>
                  <a:pt x="3204" y="2922"/>
                </a:lnTo>
                <a:lnTo>
                  <a:pt x="3231" y="2954"/>
                </a:lnTo>
                <a:lnTo>
                  <a:pt x="3253" y="2988"/>
                </a:lnTo>
                <a:lnTo>
                  <a:pt x="3271" y="3025"/>
                </a:lnTo>
                <a:lnTo>
                  <a:pt x="3285" y="3064"/>
                </a:lnTo>
                <a:lnTo>
                  <a:pt x="3293" y="3103"/>
                </a:lnTo>
                <a:lnTo>
                  <a:pt x="3298" y="3144"/>
                </a:lnTo>
                <a:lnTo>
                  <a:pt x="3298" y="3184"/>
                </a:lnTo>
                <a:lnTo>
                  <a:pt x="3293" y="3225"/>
                </a:lnTo>
                <a:lnTo>
                  <a:pt x="3284" y="3264"/>
                </a:lnTo>
                <a:lnTo>
                  <a:pt x="3271" y="3303"/>
                </a:lnTo>
                <a:lnTo>
                  <a:pt x="3253" y="3340"/>
                </a:lnTo>
                <a:lnTo>
                  <a:pt x="3230" y="3374"/>
                </a:lnTo>
                <a:lnTo>
                  <a:pt x="3204" y="3407"/>
                </a:lnTo>
                <a:lnTo>
                  <a:pt x="3173" y="3436"/>
                </a:lnTo>
                <a:lnTo>
                  <a:pt x="3141" y="3459"/>
                </a:lnTo>
                <a:lnTo>
                  <a:pt x="3105" y="3479"/>
                </a:lnTo>
                <a:lnTo>
                  <a:pt x="3069" y="3492"/>
                </a:lnTo>
                <a:lnTo>
                  <a:pt x="3032" y="3502"/>
                </a:lnTo>
                <a:lnTo>
                  <a:pt x="2994" y="3507"/>
                </a:lnTo>
                <a:lnTo>
                  <a:pt x="2956" y="3507"/>
                </a:lnTo>
                <a:lnTo>
                  <a:pt x="2918" y="3503"/>
                </a:lnTo>
                <a:lnTo>
                  <a:pt x="2881" y="3494"/>
                </a:lnTo>
                <a:lnTo>
                  <a:pt x="2845" y="3479"/>
                </a:lnTo>
                <a:lnTo>
                  <a:pt x="2810" y="3460"/>
                </a:lnTo>
                <a:lnTo>
                  <a:pt x="2778" y="3436"/>
                </a:lnTo>
                <a:lnTo>
                  <a:pt x="2746" y="3407"/>
                </a:lnTo>
                <a:lnTo>
                  <a:pt x="1090" y="1645"/>
                </a:lnTo>
                <a:lnTo>
                  <a:pt x="1059" y="1616"/>
                </a:lnTo>
                <a:lnTo>
                  <a:pt x="1025" y="1592"/>
                </a:lnTo>
                <a:lnTo>
                  <a:pt x="989" y="1574"/>
                </a:lnTo>
                <a:lnTo>
                  <a:pt x="951" y="1560"/>
                </a:lnTo>
                <a:lnTo>
                  <a:pt x="910" y="1551"/>
                </a:lnTo>
                <a:lnTo>
                  <a:pt x="870" y="1548"/>
                </a:lnTo>
                <a:lnTo>
                  <a:pt x="829" y="1551"/>
                </a:lnTo>
                <a:lnTo>
                  <a:pt x="769" y="1556"/>
                </a:lnTo>
                <a:lnTo>
                  <a:pt x="709" y="1558"/>
                </a:lnTo>
                <a:lnTo>
                  <a:pt x="650" y="1552"/>
                </a:lnTo>
                <a:lnTo>
                  <a:pt x="591" y="1543"/>
                </a:lnTo>
                <a:lnTo>
                  <a:pt x="531" y="1528"/>
                </a:lnTo>
                <a:lnTo>
                  <a:pt x="474" y="1507"/>
                </a:lnTo>
                <a:lnTo>
                  <a:pt x="418" y="1483"/>
                </a:lnTo>
                <a:lnTo>
                  <a:pt x="364" y="1452"/>
                </a:lnTo>
                <a:lnTo>
                  <a:pt x="312" y="1417"/>
                </a:lnTo>
                <a:lnTo>
                  <a:pt x="262" y="1375"/>
                </a:lnTo>
                <a:lnTo>
                  <a:pt x="215" y="1329"/>
                </a:lnTo>
                <a:lnTo>
                  <a:pt x="174" y="1283"/>
                </a:lnTo>
                <a:lnTo>
                  <a:pt x="138" y="1233"/>
                </a:lnTo>
                <a:lnTo>
                  <a:pt x="105" y="1182"/>
                </a:lnTo>
                <a:lnTo>
                  <a:pt x="78" y="1129"/>
                </a:lnTo>
                <a:lnTo>
                  <a:pt x="54" y="1073"/>
                </a:lnTo>
                <a:lnTo>
                  <a:pt x="35" y="1017"/>
                </a:lnTo>
                <a:lnTo>
                  <a:pt x="20" y="959"/>
                </a:lnTo>
                <a:lnTo>
                  <a:pt x="9" y="900"/>
                </a:lnTo>
                <a:lnTo>
                  <a:pt x="3" y="842"/>
                </a:lnTo>
                <a:lnTo>
                  <a:pt x="0" y="782"/>
                </a:lnTo>
                <a:lnTo>
                  <a:pt x="2" y="722"/>
                </a:lnTo>
                <a:lnTo>
                  <a:pt x="8" y="664"/>
                </a:lnTo>
                <a:lnTo>
                  <a:pt x="13" y="649"/>
                </a:lnTo>
                <a:lnTo>
                  <a:pt x="21" y="637"/>
                </a:lnTo>
                <a:lnTo>
                  <a:pt x="31" y="628"/>
                </a:lnTo>
                <a:lnTo>
                  <a:pt x="44" y="624"/>
                </a:lnTo>
                <a:lnTo>
                  <a:pt x="57" y="624"/>
                </a:lnTo>
                <a:lnTo>
                  <a:pt x="70" y="628"/>
                </a:lnTo>
                <a:lnTo>
                  <a:pt x="82" y="637"/>
                </a:lnTo>
                <a:lnTo>
                  <a:pt x="304" y="873"/>
                </a:lnTo>
                <a:lnTo>
                  <a:pt x="331" y="898"/>
                </a:lnTo>
                <a:lnTo>
                  <a:pt x="361" y="920"/>
                </a:lnTo>
                <a:lnTo>
                  <a:pt x="393" y="936"/>
                </a:lnTo>
                <a:lnTo>
                  <a:pt x="426" y="947"/>
                </a:lnTo>
                <a:lnTo>
                  <a:pt x="460" y="955"/>
                </a:lnTo>
                <a:lnTo>
                  <a:pt x="494" y="957"/>
                </a:lnTo>
                <a:lnTo>
                  <a:pt x="529" y="955"/>
                </a:lnTo>
                <a:lnTo>
                  <a:pt x="563" y="947"/>
                </a:lnTo>
                <a:lnTo>
                  <a:pt x="596" y="936"/>
                </a:lnTo>
                <a:lnTo>
                  <a:pt x="628" y="920"/>
                </a:lnTo>
                <a:lnTo>
                  <a:pt x="658" y="898"/>
                </a:lnTo>
                <a:lnTo>
                  <a:pt x="685" y="873"/>
                </a:lnTo>
                <a:lnTo>
                  <a:pt x="821" y="728"/>
                </a:lnTo>
                <a:lnTo>
                  <a:pt x="845" y="699"/>
                </a:lnTo>
                <a:lnTo>
                  <a:pt x="865" y="667"/>
                </a:lnTo>
                <a:lnTo>
                  <a:pt x="880" y="633"/>
                </a:lnTo>
                <a:lnTo>
                  <a:pt x="891" y="598"/>
                </a:lnTo>
                <a:lnTo>
                  <a:pt x="898" y="561"/>
                </a:lnTo>
                <a:lnTo>
                  <a:pt x="900" y="525"/>
                </a:lnTo>
                <a:lnTo>
                  <a:pt x="898" y="489"/>
                </a:lnTo>
                <a:lnTo>
                  <a:pt x="891" y="452"/>
                </a:lnTo>
                <a:lnTo>
                  <a:pt x="880" y="417"/>
                </a:lnTo>
                <a:lnTo>
                  <a:pt x="865" y="383"/>
                </a:lnTo>
                <a:lnTo>
                  <a:pt x="845" y="351"/>
                </a:lnTo>
                <a:lnTo>
                  <a:pt x="821" y="322"/>
                </a:lnTo>
                <a:lnTo>
                  <a:pt x="600" y="87"/>
                </a:lnTo>
                <a:lnTo>
                  <a:pt x="592" y="74"/>
                </a:lnTo>
                <a:lnTo>
                  <a:pt x="588" y="60"/>
                </a:lnTo>
                <a:lnTo>
                  <a:pt x="588" y="46"/>
                </a:lnTo>
                <a:lnTo>
                  <a:pt x="592" y="33"/>
                </a:lnTo>
                <a:lnTo>
                  <a:pt x="600" y="22"/>
                </a:lnTo>
                <a:lnTo>
                  <a:pt x="611" y="13"/>
                </a:lnTo>
                <a:lnTo>
                  <a:pt x="625" y="8"/>
                </a:lnTo>
                <a:lnTo>
                  <a:pt x="680" y="1"/>
                </a:lnTo>
                <a:lnTo>
                  <a:pt x="736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9" name="Group 37">
            <a:extLst>
              <a:ext uri="{FF2B5EF4-FFF2-40B4-BE49-F238E27FC236}">
                <a16:creationId xmlns="" xmlns:a16="http://schemas.microsoft.com/office/drawing/2014/main" id="{5F9280D2-0B9E-B749-B992-AF214E6D5F6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70706" y="3227891"/>
            <a:ext cx="256427" cy="216000"/>
            <a:chOff x="6791" y="3505"/>
            <a:chExt cx="222" cy="187"/>
          </a:xfrm>
          <a:solidFill>
            <a:schemeClr val="bg1"/>
          </a:solidFill>
        </p:grpSpPr>
        <p:sp>
          <p:nvSpPr>
            <p:cNvPr id="20" name="Freeform 39">
              <a:extLst>
                <a:ext uri="{FF2B5EF4-FFF2-40B4-BE49-F238E27FC236}">
                  <a16:creationId xmlns="" xmlns:a16="http://schemas.microsoft.com/office/drawing/2014/main" id="{7F441F0F-B6CC-DF4D-AFCE-548E9A94074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6" y="3626"/>
              <a:ext cx="36" cy="66"/>
            </a:xfrm>
            <a:custGeom>
              <a:avLst/>
              <a:gdLst>
                <a:gd name="T0" fmla="*/ 537 w 537"/>
                <a:gd name="T1" fmla="*/ 0 h 1003"/>
                <a:gd name="T2" fmla="*/ 537 w 537"/>
                <a:gd name="T3" fmla="*/ 944 h 1003"/>
                <a:gd name="T4" fmla="*/ 535 w 537"/>
                <a:gd name="T5" fmla="*/ 960 h 1003"/>
                <a:gd name="T6" fmla="*/ 529 w 537"/>
                <a:gd name="T7" fmla="*/ 974 h 1003"/>
                <a:gd name="T8" fmla="*/ 520 w 537"/>
                <a:gd name="T9" fmla="*/ 986 h 1003"/>
                <a:gd name="T10" fmla="*/ 508 w 537"/>
                <a:gd name="T11" fmla="*/ 995 h 1003"/>
                <a:gd name="T12" fmla="*/ 493 w 537"/>
                <a:gd name="T13" fmla="*/ 1001 h 1003"/>
                <a:gd name="T14" fmla="*/ 477 w 537"/>
                <a:gd name="T15" fmla="*/ 1003 h 1003"/>
                <a:gd name="T16" fmla="*/ 61 w 537"/>
                <a:gd name="T17" fmla="*/ 1003 h 1003"/>
                <a:gd name="T18" fmla="*/ 44 w 537"/>
                <a:gd name="T19" fmla="*/ 1001 h 1003"/>
                <a:gd name="T20" fmla="*/ 30 w 537"/>
                <a:gd name="T21" fmla="*/ 995 h 1003"/>
                <a:gd name="T22" fmla="*/ 18 w 537"/>
                <a:gd name="T23" fmla="*/ 986 h 1003"/>
                <a:gd name="T24" fmla="*/ 8 w 537"/>
                <a:gd name="T25" fmla="*/ 973 h 1003"/>
                <a:gd name="T26" fmla="*/ 2 w 537"/>
                <a:gd name="T27" fmla="*/ 959 h 1003"/>
                <a:gd name="T28" fmla="*/ 0 w 537"/>
                <a:gd name="T29" fmla="*/ 944 h 1003"/>
                <a:gd name="T30" fmla="*/ 0 w 537"/>
                <a:gd name="T31" fmla="*/ 407 h 1003"/>
                <a:gd name="T32" fmla="*/ 43 w 537"/>
                <a:gd name="T33" fmla="*/ 402 h 1003"/>
                <a:gd name="T34" fmla="*/ 86 w 537"/>
                <a:gd name="T35" fmla="*/ 391 h 1003"/>
                <a:gd name="T36" fmla="*/ 126 w 537"/>
                <a:gd name="T37" fmla="*/ 376 h 1003"/>
                <a:gd name="T38" fmla="*/ 165 w 537"/>
                <a:gd name="T39" fmla="*/ 355 h 1003"/>
                <a:gd name="T40" fmla="*/ 201 w 537"/>
                <a:gd name="T41" fmla="*/ 330 h 1003"/>
                <a:gd name="T42" fmla="*/ 235 w 537"/>
                <a:gd name="T43" fmla="*/ 301 h 1003"/>
                <a:gd name="T44" fmla="*/ 537 w 537"/>
                <a:gd name="T45" fmla="*/ 0 h 10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37" h="1003">
                  <a:moveTo>
                    <a:pt x="537" y="0"/>
                  </a:moveTo>
                  <a:lnTo>
                    <a:pt x="537" y="944"/>
                  </a:lnTo>
                  <a:lnTo>
                    <a:pt x="535" y="960"/>
                  </a:lnTo>
                  <a:lnTo>
                    <a:pt x="529" y="974"/>
                  </a:lnTo>
                  <a:lnTo>
                    <a:pt x="520" y="986"/>
                  </a:lnTo>
                  <a:lnTo>
                    <a:pt x="508" y="995"/>
                  </a:lnTo>
                  <a:lnTo>
                    <a:pt x="493" y="1001"/>
                  </a:lnTo>
                  <a:lnTo>
                    <a:pt x="477" y="1003"/>
                  </a:lnTo>
                  <a:lnTo>
                    <a:pt x="61" y="1003"/>
                  </a:lnTo>
                  <a:lnTo>
                    <a:pt x="44" y="1001"/>
                  </a:lnTo>
                  <a:lnTo>
                    <a:pt x="30" y="995"/>
                  </a:lnTo>
                  <a:lnTo>
                    <a:pt x="18" y="986"/>
                  </a:lnTo>
                  <a:lnTo>
                    <a:pt x="8" y="973"/>
                  </a:lnTo>
                  <a:lnTo>
                    <a:pt x="2" y="959"/>
                  </a:lnTo>
                  <a:lnTo>
                    <a:pt x="0" y="944"/>
                  </a:lnTo>
                  <a:lnTo>
                    <a:pt x="0" y="407"/>
                  </a:lnTo>
                  <a:lnTo>
                    <a:pt x="43" y="402"/>
                  </a:lnTo>
                  <a:lnTo>
                    <a:pt x="86" y="391"/>
                  </a:lnTo>
                  <a:lnTo>
                    <a:pt x="126" y="376"/>
                  </a:lnTo>
                  <a:lnTo>
                    <a:pt x="165" y="355"/>
                  </a:lnTo>
                  <a:lnTo>
                    <a:pt x="201" y="330"/>
                  </a:lnTo>
                  <a:lnTo>
                    <a:pt x="235" y="301"/>
                  </a:lnTo>
                  <a:lnTo>
                    <a:pt x="5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40">
              <a:extLst>
                <a:ext uri="{FF2B5EF4-FFF2-40B4-BE49-F238E27FC236}">
                  <a16:creationId xmlns="" xmlns:a16="http://schemas.microsoft.com/office/drawing/2014/main" id="{59F325C3-710E-8B46-A5D5-948513C6BB3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6" y="3625"/>
              <a:ext cx="35" cy="67"/>
            </a:xfrm>
            <a:custGeom>
              <a:avLst/>
              <a:gdLst>
                <a:gd name="T0" fmla="*/ 0 w 537"/>
                <a:gd name="T1" fmla="*/ 0 h 1010"/>
                <a:gd name="T2" fmla="*/ 286 w 537"/>
                <a:gd name="T3" fmla="*/ 285 h 1010"/>
                <a:gd name="T4" fmla="*/ 317 w 537"/>
                <a:gd name="T5" fmla="*/ 312 h 1010"/>
                <a:gd name="T6" fmla="*/ 349 w 537"/>
                <a:gd name="T7" fmla="*/ 334 h 1010"/>
                <a:gd name="T8" fmla="*/ 383 w 537"/>
                <a:gd name="T9" fmla="*/ 354 h 1010"/>
                <a:gd name="T10" fmla="*/ 420 w 537"/>
                <a:gd name="T11" fmla="*/ 369 h 1010"/>
                <a:gd name="T12" fmla="*/ 457 w 537"/>
                <a:gd name="T13" fmla="*/ 381 h 1010"/>
                <a:gd name="T14" fmla="*/ 496 w 537"/>
                <a:gd name="T15" fmla="*/ 388 h 1010"/>
                <a:gd name="T16" fmla="*/ 537 w 537"/>
                <a:gd name="T17" fmla="*/ 391 h 1010"/>
                <a:gd name="T18" fmla="*/ 537 w 537"/>
                <a:gd name="T19" fmla="*/ 951 h 1010"/>
                <a:gd name="T20" fmla="*/ 535 w 537"/>
                <a:gd name="T21" fmla="*/ 967 h 1010"/>
                <a:gd name="T22" fmla="*/ 529 w 537"/>
                <a:gd name="T23" fmla="*/ 981 h 1010"/>
                <a:gd name="T24" fmla="*/ 519 w 537"/>
                <a:gd name="T25" fmla="*/ 993 h 1010"/>
                <a:gd name="T26" fmla="*/ 507 w 537"/>
                <a:gd name="T27" fmla="*/ 1002 h 1010"/>
                <a:gd name="T28" fmla="*/ 492 w 537"/>
                <a:gd name="T29" fmla="*/ 1008 h 1010"/>
                <a:gd name="T30" fmla="*/ 477 w 537"/>
                <a:gd name="T31" fmla="*/ 1010 h 1010"/>
                <a:gd name="T32" fmla="*/ 60 w 537"/>
                <a:gd name="T33" fmla="*/ 1010 h 1010"/>
                <a:gd name="T34" fmla="*/ 44 w 537"/>
                <a:gd name="T35" fmla="*/ 1008 h 1010"/>
                <a:gd name="T36" fmla="*/ 30 w 537"/>
                <a:gd name="T37" fmla="*/ 1002 h 1010"/>
                <a:gd name="T38" fmla="*/ 18 w 537"/>
                <a:gd name="T39" fmla="*/ 993 h 1010"/>
                <a:gd name="T40" fmla="*/ 8 w 537"/>
                <a:gd name="T41" fmla="*/ 980 h 1010"/>
                <a:gd name="T42" fmla="*/ 2 w 537"/>
                <a:gd name="T43" fmla="*/ 966 h 1010"/>
                <a:gd name="T44" fmla="*/ 0 w 537"/>
                <a:gd name="T45" fmla="*/ 951 h 1010"/>
                <a:gd name="T46" fmla="*/ 0 w 537"/>
                <a:gd name="T47" fmla="*/ 0 h 10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37" h="1010">
                  <a:moveTo>
                    <a:pt x="0" y="0"/>
                  </a:moveTo>
                  <a:lnTo>
                    <a:pt x="286" y="285"/>
                  </a:lnTo>
                  <a:lnTo>
                    <a:pt x="317" y="312"/>
                  </a:lnTo>
                  <a:lnTo>
                    <a:pt x="349" y="334"/>
                  </a:lnTo>
                  <a:lnTo>
                    <a:pt x="383" y="354"/>
                  </a:lnTo>
                  <a:lnTo>
                    <a:pt x="420" y="369"/>
                  </a:lnTo>
                  <a:lnTo>
                    <a:pt x="457" y="381"/>
                  </a:lnTo>
                  <a:lnTo>
                    <a:pt x="496" y="388"/>
                  </a:lnTo>
                  <a:lnTo>
                    <a:pt x="537" y="391"/>
                  </a:lnTo>
                  <a:lnTo>
                    <a:pt x="537" y="951"/>
                  </a:lnTo>
                  <a:lnTo>
                    <a:pt x="535" y="967"/>
                  </a:lnTo>
                  <a:lnTo>
                    <a:pt x="529" y="981"/>
                  </a:lnTo>
                  <a:lnTo>
                    <a:pt x="519" y="993"/>
                  </a:lnTo>
                  <a:lnTo>
                    <a:pt x="507" y="1002"/>
                  </a:lnTo>
                  <a:lnTo>
                    <a:pt x="492" y="1008"/>
                  </a:lnTo>
                  <a:lnTo>
                    <a:pt x="477" y="1010"/>
                  </a:lnTo>
                  <a:lnTo>
                    <a:pt x="60" y="1010"/>
                  </a:lnTo>
                  <a:lnTo>
                    <a:pt x="44" y="1008"/>
                  </a:lnTo>
                  <a:lnTo>
                    <a:pt x="30" y="1002"/>
                  </a:lnTo>
                  <a:lnTo>
                    <a:pt x="18" y="993"/>
                  </a:lnTo>
                  <a:lnTo>
                    <a:pt x="8" y="980"/>
                  </a:lnTo>
                  <a:lnTo>
                    <a:pt x="2" y="966"/>
                  </a:lnTo>
                  <a:lnTo>
                    <a:pt x="0" y="95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41">
              <a:extLst>
                <a:ext uri="{FF2B5EF4-FFF2-40B4-BE49-F238E27FC236}">
                  <a16:creationId xmlns="" xmlns:a16="http://schemas.microsoft.com/office/drawing/2014/main" id="{C135F3DC-D4DC-F04D-9AEA-F084AE92FD44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5" y="3612"/>
              <a:ext cx="36" cy="80"/>
            </a:xfrm>
            <a:custGeom>
              <a:avLst/>
              <a:gdLst>
                <a:gd name="T0" fmla="*/ 537 w 537"/>
                <a:gd name="T1" fmla="*/ 0 h 1201"/>
                <a:gd name="T2" fmla="*/ 537 w 537"/>
                <a:gd name="T3" fmla="*/ 1142 h 1201"/>
                <a:gd name="T4" fmla="*/ 535 w 537"/>
                <a:gd name="T5" fmla="*/ 1158 h 1201"/>
                <a:gd name="T6" fmla="*/ 529 w 537"/>
                <a:gd name="T7" fmla="*/ 1172 h 1201"/>
                <a:gd name="T8" fmla="*/ 520 w 537"/>
                <a:gd name="T9" fmla="*/ 1184 h 1201"/>
                <a:gd name="T10" fmla="*/ 507 w 537"/>
                <a:gd name="T11" fmla="*/ 1193 h 1201"/>
                <a:gd name="T12" fmla="*/ 493 w 537"/>
                <a:gd name="T13" fmla="*/ 1199 h 1201"/>
                <a:gd name="T14" fmla="*/ 478 w 537"/>
                <a:gd name="T15" fmla="*/ 1201 h 1201"/>
                <a:gd name="T16" fmla="*/ 61 w 537"/>
                <a:gd name="T17" fmla="*/ 1201 h 1201"/>
                <a:gd name="T18" fmla="*/ 45 w 537"/>
                <a:gd name="T19" fmla="*/ 1199 h 1201"/>
                <a:gd name="T20" fmla="*/ 30 w 537"/>
                <a:gd name="T21" fmla="*/ 1193 h 1201"/>
                <a:gd name="T22" fmla="*/ 18 w 537"/>
                <a:gd name="T23" fmla="*/ 1184 h 1201"/>
                <a:gd name="T24" fmla="*/ 9 w 537"/>
                <a:gd name="T25" fmla="*/ 1171 h 1201"/>
                <a:gd name="T26" fmla="*/ 2 w 537"/>
                <a:gd name="T27" fmla="*/ 1157 h 1201"/>
                <a:gd name="T28" fmla="*/ 0 w 537"/>
                <a:gd name="T29" fmla="*/ 1142 h 1201"/>
                <a:gd name="T30" fmla="*/ 0 w 537"/>
                <a:gd name="T31" fmla="*/ 523 h 1201"/>
                <a:gd name="T32" fmla="*/ 32 w 537"/>
                <a:gd name="T33" fmla="*/ 501 h 1201"/>
                <a:gd name="T34" fmla="*/ 60 w 537"/>
                <a:gd name="T35" fmla="*/ 475 h 1201"/>
                <a:gd name="T36" fmla="*/ 537 w 537"/>
                <a:gd name="T37" fmla="*/ 0 h 1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37" h="1201">
                  <a:moveTo>
                    <a:pt x="537" y="0"/>
                  </a:moveTo>
                  <a:lnTo>
                    <a:pt x="537" y="1142"/>
                  </a:lnTo>
                  <a:lnTo>
                    <a:pt x="535" y="1158"/>
                  </a:lnTo>
                  <a:lnTo>
                    <a:pt x="529" y="1172"/>
                  </a:lnTo>
                  <a:lnTo>
                    <a:pt x="520" y="1184"/>
                  </a:lnTo>
                  <a:lnTo>
                    <a:pt x="507" y="1193"/>
                  </a:lnTo>
                  <a:lnTo>
                    <a:pt x="493" y="1199"/>
                  </a:lnTo>
                  <a:lnTo>
                    <a:pt x="478" y="1201"/>
                  </a:lnTo>
                  <a:lnTo>
                    <a:pt x="61" y="1201"/>
                  </a:lnTo>
                  <a:lnTo>
                    <a:pt x="45" y="1199"/>
                  </a:lnTo>
                  <a:lnTo>
                    <a:pt x="30" y="1193"/>
                  </a:lnTo>
                  <a:lnTo>
                    <a:pt x="18" y="1184"/>
                  </a:lnTo>
                  <a:lnTo>
                    <a:pt x="9" y="1171"/>
                  </a:lnTo>
                  <a:lnTo>
                    <a:pt x="2" y="1157"/>
                  </a:lnTo>
                  <a:lnTo>
                    <a:pt x="0" y="1142"/>
                  </a:lnTo>
                  <a:lnTo>
                    <a:pt x="0" y="523"/>
                  </a:lnTo>
                  <a:lnTo>
                    <a:pt x="32" y="501"/>
                  </a:lnTo>
                  <a:lnTo>
                    <a:pt x="60" y="475"/>
                  </a:lnTo>
                  <a:lnTo>
                    <a:pt x="5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42">
              <a:extLst>
                <a:ext uri="{FF2B5EF4-FFF2-40B4-BE49-F238E27FC236}">
                  <a16:creationId xmlns="" xmlns:a16="http://schemas.microsoft.com/office/drawing/2014/main" id="{62ADF856-CB78-424D-B81C-3C4819679A3A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5" y="3566"/>
              <a:ext cx="36" cy="126"/>
            </a:xfrm>
            <a:custGeom>
              <a:avLst/>
              <a:gdLst>
                <a:gd name="T0" fmla="*/ 497 w 537"/>
                <a:gd name="T1" fmla="*/ 0 h 1902"/>
                <a:gd name="T2" fmla="*/ 506 w 537"/>
                <a:gd name="T3" fmla="*/ 9 h 1902"/>
                <a:gd name="T4" fmla="*/ 514 w 537"/>
                <a:gd name="T5" fmla="*/ 17 h 1902"/>
                <a:gd name="T6" fmla="*/ 525 w 537"/>
                <a:gd name="T7" fmla="*/ 27 h 1902"/>
                <a:gd name="T8" fmla="*/ 537 w 537"/>
                <a:gd name="T9" fmla="*/ 38 h 1902"/>
                <a:gd name="T10" fmla="*/ 537 w 537"/>
                <a:gd name="T11" fmla="*/ 1843 h 1902"/>
                <a:gd name="T12" fmla="*/ 535 w 537"/>
                <a:gd name="T13" fmla="*/ 1859 h 1902"/>
                <a:gd name="T14" fmla="*/ 529 w 537"/>
                <a:gd name="T15" fmla="*/ 1873 h 1902"/>
                <a:gd name="T16" fmla="*/ 519 w 537"/>
                <a:gd name="T17" fmla="*/ 1885 h 1902"/>
                <a:gd name="T18" fmla="*/ 507 w 537"/>
                <a:gd name="T19" fmla="*/ 1894 h 1902"/>
                <a:gd name="T20" fmla="*/ 493 w 537"/>
                <a:gd name="T21" fmla="*/ 1900 h 1902"/>
                <a:gd name="T22" fmla="*/ 476 w 537"/>
                <a:gd name="T23" fmla="*/ 1902 h 1902"/>
                <a:gd name="T24" fmla="*/ 60 w 537"/>
                <a:gd name="T25" fmla="*/ 1902 h 1902"/>
                <a:gd name="T26" fmla="*/ 45 w 537"/>
                <a:gd name="T27" fmla="*/ 1900 h 1902"/>
                <a:gd name="T28" fmla="*/ 29 w 537"/>
                <a:gd name="T29" fmla="*/ 1894 h 1902"/>
                <a:gd name="T30" fmla="*/ 17 w 537"/>
                <a:gd name="T31" fmla="*/ 1885 h 1902"/>
                <a:gd name="T32" fmla="*/ 8 w 537"/>
                <a:gd name="T33" fmla="*/ 1872 h 1902"/>
                <a:gd name="T34" fmla="*/ 2 w 537"/>
                <a:gd name="T35" fmla="*/ 1858 h 1902"/>
                <a:gd name="T36" fmla="*/ 0 w 537"/>
                <a:gd name="T37" fmla="*/ 1843 h 1902"/>
                <a:gd name="T38" fmla="*/ 0 w 537"/>
                <a:gd name="T39" fmla="*/ 494 h 1902"/>
                <a:gd name="T40" fmla="*/ 497 w 537"/>
                <a:gd name="T41" fmla="*/ 0 h 1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37" h="1902">
                  <a:moveTo>
                    <a:pt x="497" y="0"/>
                  </a:moveTo>
                  <a:lnTo>
                    <a:pt x="506" y="9"/>
                  </a:lnTo>
                  <a:lnTo>
                    <a:pt x="514" y="17"/>
                  </a:lnTo>
                  <a:lnTo>
                    <a:pt x="525" y="27"/>
                  </a:lnTo>
                  <a:lnTo>
                    <a:pt x="537" y="38"/>
                  </a:lnTo>
                  <a:lnTo>
                    <a:pt x="537" y="1843"/>
                  </a:lnTo>
                  <a:lnTo>
                    <a:pt x="535" y="1859"/>
                  </a:lnTo>
                  <a:lnTo>
                    <a:pt x="529" y="1873"/>
                  </a:lnTo>
                  <a:lnTo>
                    <a:pt x="519" y="1885"/>
                  </a:lnTo>
                  <a:lnTo>
                    <a:pt x="507" y="1894"/>
                  </a:lnTo>
                  <a:lnTo>
                    <a:pt x="493" y="1900"/>
                  </a:lnTo>
                  <a:lnTo>
                    <a:pt x="476" y="1902"/>
                  </a:lnTo>
                  <a:lnTo>
                    <a:pt x="60" y="1902"/>
                  </a:lnTo>
                  <a:lnTo>
                    <a:pt x="45" y="1900"/>
                  </a:lnTo>
                  <a:lnTo>
                    <a:pt x="29" y="1894"/>
                  </a:lnTo>
                  <a:lnTo>
                    <a:pt x="17" y="1885"/>
                  </a:lnTo>
                  <a:lnTo>
                    <a:pt x="8" y="1872"/>
                  </a:lnTo>
                  <a:lnTo>
                    <a:pt x="2" y="1858"/>
                  </a:lnTo>
                  <a:lnTo>
                    <a:pt x="0" y="1843"/>
                  </a:lnTo>
                  <a:lnTo>
                    <a:pt x="0" y="494"/>
                  </a:lnTo>
                  <a:lnTo>
                    <a:pt x="49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43">
              <a:extLst>
                <a:ext uri="{FF2B5EF4-FFF2-40B4-BE49-F238E27FC236}">
                  <a16:creationId xmlns="" xmlns:a16="http://schemas.microsoft.com/office/drawing/2014/main" id="{EA18F5CD-A046-3842-9D79-7974D8DACA8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1" y="3505"/>
              <a:ext cx="222" cy="135"/>
            </a:xfrm>
            <a:custGeom>
              <a:avLst/>
              <a:gdLst>
                <a:gd name="T0" fmla="*/ 3208 w 3324"/>
                <a:gd name="T1" fmla="*/ 0 h 2016"/>
                <a:gd name="T2" fmla="*/ 3258 w 3324"/>
                <a:gd name="T3" fmla="*/ 8 h 2016"/>
                <a:gd name="T4" fmla="*/ 3296 w 3324"/>
                <a:gd name="T5" fmla="*/ 32 h 2016"/>
                <a:gd name="T6" fmla="*/ 3318 w 3324"/>
                <a:gd name="T7" fmla="*/ 71 h 2016"/>
                <a:gd name="T8" fmla="*/ 3324 w 3324"/>
                <a:gd name="T9" fmla="*/ 123 h 2016"/>
                <a:gd name="T10" fmla="*/ 3297 w 3324"/>
                <a:gd name="T11" fmla="*/ 688 h 2016"/>
                <a:gd name="T12" fmla="*/ 3292 w 3324"/>
                <a:gd name="T13" fmla="*/ 726 h 2016"/>
                <a:gd name="T14" fmla="*/ 3276 w 3324"/>
                <a:gd name="T15" fmla="*/ 765 h 2016"/>
                <a:gd name="T16" fmla="*/ 3247 w 3324"/>
                <a:gd name="T17" fmla="*/ 794 h 2016"/>
                <a:gd name="T18" fmla="*/ 3216 w 3324"/>
                <a:gd name="T19" fmla="*/ 811 h 2016"/>
                <a:gd name="T20" fmla="*/ 3184 w 3324"/>
                <a:gd name="T21" fmla="*/ 817 h 2016"/>
                <a:gd name="T22" fmla="*/ 3150 w 3324"/>
                <a:gd name="T23" fmla="*/ 810 h 2016"/>
                <a:gd name="T24" fmla="*/ 3124 w 3324"/>
                <a:gd name="T25" fmla="*/ 794 h 2016"/>
                <a:gd name="T26" fmla="*/ 3104 w 3324"/>
                <a:gd name="T27" fmla="*/ 775 h 2016"/>
                <a:gd name="T28" fmla="*/ 1633 w 3324"/>
                <a:gd name="T29" fmla="*/ 1943 h 2016"/>
                <a:gd name="T30" fmla="*/ 1589 w 3324"/>
                <a:gd name="T31" fmla="*/ 1974 h 2016"/>
                <a:gd name="T32" fmla="*/ 1540 w 3324"/>
                <a:gd name="T33" fmla="*/ 1990 h 2016"/>
                <a:gd name="T34" fmla="*/ 1486 w 3324"/>
                <a:gd name="T35" fmla="*/ 1990 h 2016"/>
                <a:gd name="T36" fmla="*/ 1437 w 3324"/>
                <a:gd name="T37" fmla="*/ 1974 h 2016"/>
                <a:gd name="T38" fmla="*/ 1395 w 3324"/>
                <a:gd name="T39" fmla="*/ 1943 h 2016"/>
                <a:gd name="T40" fmla="*/ 317 w 3324"/>
                <a:gd name="T41" fmla="*/ 1967 h 2016"/>
                <a:gd name="T42" fmla="*/ 274 w 3324"/>
                <a:gd name="T43" fmla="*/ 1998 h 2016"/>
                <a:gd name="T44" fmla="*/ 225 w 3324"/>
                <a:gd name="T45" fmla="*/ 2014 h 2016"/>
                <a:gd name="T46" fmla="*/ 172 w 3324"/>
                <a:gd name="T47" fmla="*/ 2014 h 2016"/>
                <a:gd name="T48" fmla="*/ 122 w 3324"/>
                <a:gd name="T49" fmla="*/ 1998 h 2016"/>
                <a:gd name="T50" fmla="*/ 80 w 3324"/>
                <a:gd name="T51" fmla="*/ 1967 h 2016"/>
                <a:gd name="T52" fmla="*/ 28 w 3324"/>
                <a:gd name="T53" fmla="*/ 1912 h 2016"/>
                <a:gd name="T54" fmla="*/ 4 w 3324"/>
                <a:gd name="T55" fmla="*/ 1860 h 2016"/>
                <a:gd name="T56" fmla="*/ 0 w 3324"/>
                <a:gd name="T57" fmla="*/ 1804 h 2016"/>
                <a:gd name="T58" fmla="*/ 14 w 3324"/>
                <a:gd name="T59" fmla="*/ 1749 h 2016"/>
                <a:gd name="T60" fmla="*/ 48 w 3324"/>
                <a:gd name="T61" fmla="*/ 1700 h 2016"/>
                <a:gd name="T62" fmla="*/ 770 w 3324"/>
                <a:gd name="T63" fmla="*/ 986 h 2016"/>
                <a:gd name="T64" fmla="*/ 816 w 3324"/>
                <a:gd name="T65" fmla="*/ 962 h 2016"/>
                <a:gd name="T66" fmla="*/ 868 w 3324"/>
                <a:gd name="T67" fmla="*/ 954 h 2016"/>
                <a:gd name="T68" fmla="*/ 920 w 3324"/>
                <a:gd name="T69" fmla="*/ 962 h 2016"/>
                <a:gd name="T70" fmla="*/ 967 w 3324"/>
                <a:gd name="T71" fmla="*/ 986 h 2016"/>
                <a:gd name="T72" fmla="*/ 1514 w 3324"/>
                <a:gd name="T73" fmla="*/ 1527 h 2016"/>
                <a:gd name="T74" fmla="*/ 2583 w 3324"/>
                <a:gd name="T75" fmla="*/ 259 h 2016"/>
                <a:gd name="T76" fmla="*/ 2528 w 3324"/>
                <a:gd name="T77" fmla="*/ 203 h 2016"/>
                <a:gd name="T78" fmla="*/ 2513 w 3324"/>
                <a:gd name="T79" fmla="*/ 184 h 2016"/>
                <a:gd name="T80" fmla="*/ 2500 w 3324"/>
                <a:gd name="T81" fmla="*/ 159 h 2016"/>
                <a:gd name="T82" fmla="*/ 2494 w 3324"/>
                <a:gd name="T83" fmla="*/ 127 h 2016"/>
                <a:gd name="T84" fmla="*/ 2505 w 3324"/>
                <a:gd name="T85" fmla="*/ 88 h 2016"/>
                <a:gd name="T86" fmla="*/ 2526 w 3324"/>
                <a:gd name="T87" fmla="*/ 57 h 2016"/>
                <a:gd name="T88" fmla="*/ 2556 w 3324"/>
                <a:gd name="T89" fmla="*/ 37 h 2016"/>
                <a:gd name="T90" fmla="*/ 2586 w 3324"/>
                <a:gd name="T91" fmla="*/ 29 h 2016"/>
                <a:gd name="T92" fmla="*/ 2616 w 3324"/>
                <a:gd name="T93" fmla="*/ 27 h 2016"/>
                <a:gd name="T94" fmla="*/ 3197 w 3324"/>
                <a:gd name="T95" fmla="*/ 0 h 20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324" h="2016">
                  <a:moveTo>
                    <a:pt x="3197" y="0"/>
                  </a:moveTo>
                  <a:lnTo>
                    <a:pt x="3208" y="0"/>
                  </a:lnTo>
                  <a:lnTo>
                    <a:pt x="3234" y="2"/>
                  </a:lnTo>
                  <a:lnTo>
                    <a:pt x="3258" y="8"/>
                  </a:lnTo>
                  <a:lnTo>
                    <a:pt x="3279" y="18"/>
                  </a:lnTo>
                  <a:lnTo>
                    <a:pt x="3296" y="32"/>
                  </a:lnTo>
                  <a:lnTo>
                    <a:pt x="3309" y="49"/>
                  </a:lnTo>
                  <a:lnTo>
                    <a:pt x="3318" y="71"/>
                  </a:lnTo>
                  <a:lnTo>
                    <a:pt x="3323" y="95"/>
                  </a:lnTo>
                  <a:lnTo>
                    <a:pt x="3324" y="123"/>
                  </a:lnTo>
                  <a:lnTo>
                    <a:pt x="3315" y="311"/>
                  </a:lnTo>
                  <a:lnTo>
                    <a:pt x="3297" y="688"/>
                  </a:lnTo>
                  <a:lnTo>
                    <a:pt x="3296" y="706"/>
                  </a:lnTo>
                  <a:lnTo>
                    <a:pt x="3292" y="726"/>
                  </a:lnTo>
                  <a:lnTo>
                    <a:pt x="3286" y="745"/>
                  </a:lnTo>
                  <a:lnTo>
                    <a:pt x="3276" y="765"/>
                  </a:lnTo>
                  <a:lnTo>
                    <a:pt x="3260" y="783"/>
                  </a:lnTo>
                  <a:lnTo>
                    <a:pt x="3247" y="794"/>
                  </a:lnTo>
                  <a:lnTo>
                    <a:pt x="3232" y="804"/>
                  </a:lnTo>
                  <a:lnTo>
                    <a:pt x="3216" y="811"/>
                  </a:lnTo>
                  <a:lnTo>
                    <a:pt x="3200" y="816"/>
                  </a:lnTo>
                  <a:lnTo>
                    <a:pt x="3184" y="817"/>
                  </a:lnTo>
                  <a:lnTo>
                    <a:pt x="3167" y="815"/>
                  </a:lnTo>
                  <a:lnTo>
                    <a:pt x="3150" y="810"/>
                  </a:lnTo>
                  <a:lnTo>
                    <a:pt x="3137" y="803"/>
                  </a:lnTo>
                  <a:lnTo>
                    <a:pt x="3124" y="794"/>
                  </a:lnTo>
                  <a:lnTo>
                    <a:pt x="3114" y="784"/>
                  </a:lnTo>
                  <a:lnTo>
                    <a:pt x="3104" y="775"/>
                  </a:lnTo>
                  <a:lnTo>
                    <a:pt x="2955" y="627"/>
                  </a:lnTo>
                  <a:lnTo>
                    <a:pt x="1633" y="1943"/>
                  </a:lnTo>
                  <a:lnTo>
                    <a:pt x="1612" y="1960"/>
                  </a:lnTo>
                  <a:lnTo>
                    <a:pt x="1589" y="1974"/>
                  </a:lnTo>
                  <a:lnTo>
                    <a:pt x="1565" y="1984"/>
                  </a:lnTo>
                  <a:lnTo>
                    <a:pt x="1540" y="1990"/>
                  </a:lnTo>
                  <a:lnTo>
                    <a:pt x="1514" y="1992"/>
                  </a:lnTo>
                  <a:lnTo>
                    <a:pt x="1486" y="1990"/>
                  </a:lnTo>
                  <a:lnTo>
                    <a:pt x="1461" y="1984"/>
                  </a:lnTo>
                  <a:lnTo>
                    <a:pt x="1437" y="1974"/>
                  </a:lnTo>
                  <a:lnTo>
                    <a:pt x="1415" y="1960"/>
                  </a:lnTo>
                  <a:lnTo>
                    <a:pt x="1395" y="1943"/>
                  </a:lnTo>
                  <a:lnTo>
                    <a:pt x="868" y="1419"/>
                  </a:lnTo>
                  <a:lnTo>
                    <a:pt x="317" y="1967"/>
                  </a:lnTo>
                  <a:lnTo>
                    <a:pt x="297" y="1984"/>
                  </a:lnTo>
                  <a:lnTo>
                    <a:pt x="274" y="1998"/>
                  </a:lnTo>
                  <a:lnTo>
                    <a:pt x="250" y="2008"/>
                  </a:lnTo>
                  <a:lnTo>
                    <a:pt x="225" y="2014"/>
                  </a:lnTo>
                  <a:lnTo>
                    <a:pt x="199" y="2016"/>
                  </a:lnTo>
                  <a:lnTo>
                    <a:pt x="172" y="2014"/>
                  </a:lnTo>
                  <a:lnTo>
                    <a:pt x="146" y="2008"/>
                  </a:lnTo>
                  <a:lnTo>
                    <a:pt x="122" y="1998"/>
                  </a:lnTo>
                  <a:lnTo>
                    <a:pt x="100" y="1984"/>
                  </a:lnTo>
                  <a:lnTo>
                    <a:pt x="80" y="1967"/>
                  </a:lnTo>
                  <a:lnTo>
                    <a:pt x="48" y="1936"/>
                  </a:lnTo>
                  <a:lnTo>
                    <a:pt x="28" y="1912"/>
                  </a:lnTo>
                  <a:lnTo>
                    <a:pt x="14" y="1887"/>
                  </a:lnTo>
                  <a:lnTo>
                    <a:pt x="4" y="1860"/>
                  </a:lnTo>
                  <a:lnTo>
                    <a:pt x="0" y="1832"/>
                  </a:lnTo>
                  <a:lnTo>
                    <a:pt x="0" y="1804"/>
                  </a:lnTo>
                  <a:lnTo>
                    <a:pt x="4" y="1776"/>
                  </a:lnTo>
                  <a:lnTo>
                    <a:pt x="14" y="1749"/>
                  </a:lnTo>
                  <a:lnTo>
                    <a:pt x="28" y="1723"/>
                  </a:lnTo>
                  <a:lnTo>
                    <a:pt x="48" y="1700"/>
                  </a:lnTo>
                  <a:lnTo>
                    <a:pt x="750" y="1003"/>
                  </a:lnTo>
                  <a:lnTo>
                    <a:pt x="770" y="986"/>
                  </a:lnTo>
                  <a:lnTo>
                    <a:pt x="792" y="972"/>
                  </a:lnTo>
                  <a:lnTo>
                    <a:pt x="816" y="962"/>
                  </a:lnTo>
                  <a:lnTo>
                    <a:pt x="842" y="956"/>
                  </a:lnTo>
                  <a:lnTo>
                    <a:pt x="868" y="954"/>
                  </a:lnTo>
                  <a:lnTo>
                    <a:pt x="894" y="956"/>
                  </a:lnTo>
                  <a:lnTo>
                    <a:pt x="920" y="962"/>
                  </a:lnTo>
                  <a:lnTo>
                    <a:pt x="945" y="972"/>
                  </a:lnTo>
                  <a:lnTo>
                    <a:pt x="967" y="986"/>
                  </a:lnTo>
                  <a:lnTo>
                    <a:pt x="987" y="1003"/>
                  </a:lnTo>
                  <a:lnTo>
                    <a:pt x="1514" y="1527"/>
                  </a:lnTo>
                  <a:lnTo>
                    <a:pt x="2685" y="360"/>
                  </a:lnTo>
                  <a:lnTo>
                    <a:pt x="2583" y="259"/>
                  </a:lnTo>
                  <a:lnTo>
                    <a:pt x="2535" y="210"/>
                  </a:lnTo>
                  <a:lnTo>
                    <a:pt x="2528" y="203"/>
                  </a:lnTo>
                  <a:lnTo>
                    <a:pt x="2521" y="194"/>
                  </a:lnTo>
                  <a:lnTo>
                    <a:pt x="2513" y="184"/>
                  </a:lnTo>
                  <a:lnTo>
                    <a:pt x="2506" y="172"/>
                  </a:lnTo>
                  <a:lnTo>
                    <a:pt x="2500" y="159"/>
                  </a:lnTo>
                  <a:lnTo>
                    <a:pt x="2495" y="144"/>
                  </a:lnTo>
                  <a:lnTo>
                    <a:pt x="2494" y="127"/>
                  </a:lnTo>
                  <a:lnTo>
                    <a:pt x="2498" y="108"/>
                  </a:lnTo>
                  <a:lnTo>
                    <a:pt x="2505" y="88"/>
                  </a:lnTo>
                  <a:lnTo>
                    <a:pt x="2514" y="72"/>
                  </a:lnTo>
                  <a:lnTo>
                    <a:pt x="2526" y="57"/>
                  </a:lnTo>
                  <a:lnTo>
                    <a:pt x="2540" y="45"/>
                  </a:lnTo>
                  <a:lnTo>
                    <a:pt x="2556" y="37"/>
                  </a:lnTo>
                  <a:lnTo>
                    <a:pt x="2571" y="32"/>
                  </a:lnTo>
                  <a:lnTo>
                    <a:pt x="2586" y="29"/>
                  </a:lnTo>
                  <a:lnTo>
                    <a:pt x="2601" y="28"/>
                  </a:lnTo>
                  <a:lnTo>
                    <a:pt x="2616" y="27"/>
                  </a:lnTo>
                  <a:lnTo>
                    <a:pt x="2906" y="13"/>
                  </a:lnTo>
                  <a:lnTo>
                    <a:pt x="319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4" name="Group 1036">
            <a:extLst>
              <a:ext uri="{FF2B5EF4-FFF2-40B4-BE49-F238E27FC236}">
                <a16:creationId xmlns="" xmlns:a16="http://schemas.microsoft.com/office/drawing/2014/main" id="{EAA68153-7F6A-8A49-811D-98EA2670158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00129" y="4059194"/>
            <a:ext cx="253543" cy="252000"/>
            <a:chOff x="9876" y="-1946"/>
            <a:chExt cx="822" cy="817"/>
          </a:xfrm>
          <a:solidFill>
            <a:schemeClr val="bg1"/>
          </a:solidFill>
        </p:grpSpPr>
        <p:sp>
          <p:nvSpPr>
            <p:cNvPr id="35" name="Freeform 1038">
              <a:extLst>
                <a:ext uri="{FF2B5EF4-FFF2-40B4-BE49-F238E27FC236}">
                  <a16:creationId xmlns="" xmlns:a16="http://schemas.microsoft.com/office/drawing/2014/main" id="{B68B14CF-2A24-EA43-BB65-D633003648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16" y="-1801"/>
              <a:ext cx="356" cy="75"/>
            </a:xfrm>
            <a:custGeom>
              <a:avLst/>
              <a:gdLst>
                <a:gd name="T0" fmla="*/ 149 w 1421"/>
                <a:gd name="T1" fmla="*/ 0 h 298"/>
                <a:gd name="T2" fmla="*/ 1272 w 1421"/>
                <a:gd name="T3" fmla="*/ 0 h 298"/>
                <a:gd name="T4" fmla="*/ 1302 w 1421"/>
                <a:gd name="T5" fmla="*/ 3 h 298"/>
                <a:gd name="T6" fmla="*/ 1330 w 1421"/>
                <a:gd name="T7" fmla="*/ 12 h 298"/>
                <a:gd name="T8" fmla="*/ 1356 w 1421"/>
                <a:gd name="T9" fmla="*/ 25 h 298"/>
                <a:gd name="T10" fmla="*/ 1378 w 1421"/>
                <a:gd name="T11" fmla="*/ 44 h 298"/>
                <a:gd name="T12" fmla="*/ 1396 w 1421"/>
                <a:gd name="T13" fmla="*/ 66 h 298"/>
                <a:gd name="T14" fmla="*/ 1410 w 1421"/>
                <a:gd name="T15" fmla="*/ 91 h 298"/>
                <a:gd name="T16" fmla="*/ 1418 w 1421"/>
                <a:gd name="T17" fmla="*/ 119 h 298"/>
                <a:gd name="T18" fmla="*/ 1421 w 1421"/>
                <a:gd name="T19" fmla="*/ 149 h 298"/>
                <a:gd name="T20" fmla="*/ 1418 w 1421"/>
                <a:gd name="T21" fmla="*/ 179 h 298"/>
                <a:gd name="T22" fmla="*/ 1410 w 1421"/>
                <a:gd name="T23" fmla="*/ 206 h 298"/>
                <a:gd name="T24" fmla="*/ 1396 w 1421"/>
                <a:gd name="T25" fmla="*/ 232 h 298"/>
                <a:gd name="T26" fmla="*/ 1378 w 1421"/>
                <a:gd name="T27" fmla="*/ 254 h 298"/>
                <a:gd name="T28" fmla="*/ 1356 w 1421"/>
                <a:gd name="T29" fmla="*/ 272 h 298"/>
                <a:gd name="T30" fmla="*/ 1330 w 1421"/>
                <a:gd name="T31" fmla="*/ 285 h 298"/>
                <a:gd name="T32" fmla="*/ 1302 w 1421"/>
                <a:gd name="T33" fmla="*/ 295 h 298"/>
                <a:gd name="T34" fmla="*/ 1272 w 1421"/>
                <a:gd name="T35" fmla="*/ 298 h 298"/>
                <a:gd name="T36" fmla="*/ 149 w 1421"/>
                <a:gd name="T37" fmla="*/ 298 h 298"/>
                <a:gd name="T38" fmla="*/ 119 w 1421"/>
                <a:gd name="T39" fmla="*/ 295 h 298"/>
                <a:gd name="T40" fmla="*/ 91 w 1421"/>
                <a:gd name="T41" fmla="*/ 285 h 298"/>
                <a:gd name="T42" fmla="*/ 65 w 1421"/>
                <a:gd name="T43" fmla="*/ 272 h 298"/>
                <a:gd name="T44" fmla="*/ 44 w 1421"/>
                <a:gd name="T45" fmla="*/ 254 h 298"/>
                <a:gd name="T46" fmla="*/ 25 w 1421"/>
                <a:gd name="T47" fmla="*/ 232 h 298"/>
                <a:gd name="T48" fmla="*/ 11 w 1421"/>
                <a:gd name="T49" fmla="*/ 206 h 298"/>
                <a:gd name="T50" fmla="*/ 3 w 1421"/>
                <a:gd name="T51" fmla="*/ 179 h 298"/>
                <a:gd name="T52" fmla="*/ 0 w 1421"/>
                <a:gd name="T53" fmla="*/ 149 h 298"/>
                <a:gd name="T54" fmla="*/ 3 w 1421"/>
                <a:gd name="T55" fmla="*/ 119 h 298"/>
                <a:gd name="T56" fmla="*/ 11 w 1421"/>
                <a:gd name="T57" fmla="*/ 91 h 298"/>
                <a:gd name="T58" fmla="*/ 25 w 1421"/>
                <a:gd name="T59" fmla="*/ 66 h 298"/>
                <a:gd name="T60" fmla="*/ 44 w 1421"/>
                <a:gd name="T61" fmla="*/ 44 h 298"/>
                <a:gd name="T62" fmla="*/ 65 w 1421"/>
                <a:gd name="T63" fmla="*/ 25 h 298"/>
                <a:gd name="T64" fmla="*/ 91 w 1421"/>
                <a:gd name="T65" fmla="*/ 12 h 298"/>
                <a:gd name="T66" fmla="*/ 119 w 1421"/>
                <a:gd name="T67" fmla="*/ 3 h 298"/>
                <a:gd name="T68" fmla="*/ 149 w 1421"/>
                <a:gd name="T69" fmla="*/ 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21" h="298">
                  <a:moveTo>
                    <a:pt x="149" y="0"/>
                  </a:moveTo>
                  <a:lnTo>
                    <a:pt x="1272" y="0"/>
                  </a:lnTo>
                  <a:lnTo>
                    <a:pt x="1302" y="3"/>
                  </a:lnTo>
                  <a:lnTo>
                    <a:pt x="1330" y="12"/>
                  </a:lnTo>
                  <a:lnTo>
                    <a:pt x="1356" y="25"/>
                  </a:lnTo>
                  <a:lnTo>
                    <a:pt x="1378" y="44"/>
                  </a:lnTo>
                  <a:lnTo>
                    <a:pt x="1396" y="66"/>
                  </a:lnTo>
                  <a:lnTo>
                    <a:pt x="1410" y="91"/>
                  </a:lnTo>
                  <a:lnTo>
                    <a:pt x="1418" y="119"/>
                  </a:lnTo>
                  <a:lnTo>
                    <a:pt x="1421" y="149"/>
                  </a:lnTo>
                  <a:lnTo>
                    <a:pt x="1418" y="179"/>
                  </a:lnTo>
                  <a:lnTo>
                    <a:pt x="1410" y="206"/>
                  </a:lnTo>
                  <a:lnTo>
                    <a:pt x="1396" y="232"/>
                  </a:lnTo>
                  <a:lnTo>
                    <a:pt x="1378" y="254"/>
                  </a:lnTo>
                  <a:lnTo>
                    <a:pt x="1356" y="272"/>
                  </a:lnTo>
                  <a:lnTo>
                    <a:pt x="1330" y="285"/>
                  </a:lnTo>
                  <a:lnTo>
                    <a:pt x="1302" y="295"/>
                  </a:lnTo>
                  <a:lnTo>
                    <a:pt x="1272" y="298"/>
                  </a:lnTo>
                  <a:lnTo>
                    <a:pt x="149" y="298"/>
                  </a:lnTo>
                  <a:lnTo>
                    <a:pt x="119" y="295"/>
                  </a:lnTo>
                  <a:lnTo>
                    <a:pt x="91" y="285"/>
                  </a:lnTo>
                  <a:lnTo>
                    <a:pt x="65" y="272"/>
                  </a:lnTo>
                  <a:lnTo>
                    <a:pt x="44" y="254"/>
                  </a:lnTo>
                  <a:lnTo>
                    <a:pt x="25" y="232"/>
                  </a:lnTo>
                  <a:lnTo>
                    <a:pt x="11" y="206"/>
                  </a:lnTo>
                  <a:lnTo>
                    <a:pt x="3" y="179"/>
                  </a:lnTo>
                  <a:lnTo>
                    <a:pt x="0" y="149"/>
                  </a:lnTo>
                  <a:lnTo>
                    <a:pt x="3" y="119"/>
                  </a:lnTo>
                  <a:lnTo>
                    <a:pt x="11" y="91"/>
                  </a:lnTo>
                  <a:lnTo>
                    <a:pt x="25" y="66"/>
                  </a:lnTo>
                  <a:lnTo>
                    <a:pt x="44" y="44"/>
                  </a:lnTo>
                  <a:lnTo>
                    <a:pt x="65" y="25"/>
                  </a:lnTo>
                  <a:lnTo>
                    <a:pt x="91" y="12"/>
                  </a:lnTo>
                  <a:lnTo>
                    <a:pt x="119" y="3"/>
                  </a:lnTo>
                  <a:lnTo>
                    <a:pt x="14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1039">
              <a:extLst>
                <a:ext uri="{FF2B5EF4-FFF2-40B4-BE49-F238E27FC236}">
                  <a16:creationId xmlns="" xmlns:a16="http://schemas.microsoft.com/office/drawing/2014/main" id="{4D5CFDC8-4083-E543-BC33-51F6A69A38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16" y="-1662"/>
              <a:ext cx="356" cy="75"/>
            </a:xfrm>
            <a:custGeom>
              <a:avLst/>
              <a:gdLst>
                <a:gd name="T0" fmla="*/ 149 w 1421"/>
                <a:gd name="T1" fmla="*/ 0 h 298"/>
                <a:gd name="T2" fmla="*/ 1272 w 1421"/>
                <a:gd name="T3" fmla="*/ 0 h 298"/>
                <a:gd name="T4" fmla="*/ 1302 w 1421"/>
                <a:gd name="T5" fmla="*/ 3 h 298"/>
                <a:gd name="T6" fmla="*/ 1330 w 1421"/>
                <a:gd name="T7" fmla="*/ 12 h 298"/>
                <a:gd name="T8" fmla="*/ 1356 w 1421"/>
                <a:gd name="T9" fmla="*/ 26 h 298"/>
                <a:gd name="T10" fmla="*/ 1378 w 1421"/>
                <a:gd name="T11" fmla="*/ 44 h 298"/>
                <a:gd name="T12" fmla="*/ 1396 w 1421"/>
                <a:gd name="T13" fmla="*/ 66 h 298"/>
                <a:gd name="T14" fmla="*/ 1410 w 1421"/>
                <a:gd name="T15" fmla="*/ 91 h 298"/>
                <a:gd name="T16" fmla="*/ 1418 w 1421"/>
                <a:gd name="T17" fmla="*/ 119 h 298"/>
                <a:gd name="T18" fmla="*/ 1421 w 1421"/>
                <a:gd name="T19" fmla="*/ 149 h 298"/>
                <a:gd name="T20" fmla="*/ 1418 w 1421"/>
                <a:gd name="T21" fmla="*/ 179 h 298"/>
                <a:gd name="T22" fmla="*/ 1410 w 1421"/>
                <a:gd name="T23" fmla="*/ 207 h 298"/>
                <a:gd name="T24" fmla="*/ 1396 w 1421"/>
                <a:gd name="T25" fmla="*/ 232 h 298"/>
                <a:gd name="T26" fmla="*/ 1378 w 1421"/>
                <a:gd name="T27" fmla="*/ 255 h 298"/>
                <a:gd name="T28" fmla="*/ 1356 w 1421"/>
                <a:gd name="T29" fmla="*/ 272 h 298"/>
                <a:gd name="T30" fmla="*/ 1330 w 1421"/>
                <a:gd name="T31" fmla="*/ 287 h 298"/>
                <a:gd name="T32" fmla="*/ 1302 w 1421"/>
                <a:gd name="T33" fmla="*/ 295 h 298"/>
                <a:gd name="T34" fmla="*/ 1272 w 1421"/>
                <a:gd name="T35" fmla="*/ 298 h 298"/>
                <a:gd name="T36" fmla="*/ 149 w 1421"/>
                <a:gd name="T37" fmla="*/ 298 h 298"/>
                <a:gd name="T38" fmla="*/ 119 w 1421"/>
                <a:gd name="T39" fmla="*/ 295 h 298"/>
                <a:gd name="T40" fmla="*/ 91 w 1421"/>
                <a:gd name="T41" fmla="*/ 287 h 298"/>
                <a:gd name="T42" fmla="*/ 65 w 1421"/>
                <a:gd name="T43" fmla="*/ 272 h 298"/>
                <a:gd name="T44" fmla="*/ 44 w 1421"/>
                <a:gd name="T45" fmla="*/ 255 h 298"/>
                <a:gd name="T46" fmla="*/ 25 w 1421"/>
                <a:gd name="T47" fmla="*/ 232 h 298"/>
                <a:gd name="T48" fmla="*/ 11 w 1421"/>
                <a:gd name="T49" fmla="*/ 207 h 298"/>
                <a:gd name="T50" fmla="*/ 3 w 1421"/>
                <a:gd name="T51" fmla="*/ 179 h 298"/>
                <a:gd name="T52" fmla="*/ 0 w 1421"/>
                <a:gd name="T53" fmla="*/ 149 h 298"/>
                <a:gd name="T54" fmla="*/ 3 w 1421"/>
                <a:gd name="T55" fmla="*/ 119 h 298"/>
                <a:gd name="T56" fmla="*/ 11 w 1421"/>
                <a:gd name="T57" fmla="*/ 91 h 298"/>
                <a:gd name="T58" fmla="*/ 25 w 1421"/>
                <a:gd name="T59" fmla="*/ 66 h 298"/>
                <a:gd name="T60" fmla="*/ 44 w 1421"/>
                <a:gd name="T61" fmla="*/ 44 h 298"/>
                <a:gd name="T62" fmla="*/ 65 w 1421"/>
                <a:gd name="T63" fmla="*/ 26 h 298"/>
                <a:gd name="T64" fmla="*/ 91 w 1421"/>
                <a:gd name="T65" fmla="*/ 12 h 298"/>
                <a:gd name="T66" fmla="*/ 119 w 1421"/>
                <a:gd name="T67" fmla="*/ 3 h 298"/>
                <a:gd name="T68" fmla="*/ 149 w 1421"/>
                <a:gd name="T69" fmla="*/ 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21" h="298">
                  <a:moveTo>
                    <a:pt x="149" y="0"/>
                  </a:moveTo>
                  <a:lnTo>
                    <a:pt x="1272" y="0"/>
                  </a:lnTo>
                  <a:lnTo>
                    <a:pt x="1302" y="3"/>
                  </a:lnTo>
                  <a:lnTo>
                    <a:pt x="1330" y="12"/>
                  </a:lnTo>
                  <a:lnTo>
                    <a:pt x="1356" y="26"/>
                  </a:lnTo>
                  <a:lnTo>
                    <a:pt x="1378" y="44"/>
                  </a:lnTo>
                  <a:lnTo>
                    <a:pt x="1396" y="66"/>
                  </a:lnTo>
                  <a:lnTo>
                    <a:pt x="1410" y="91"/>
                  </a:lnTo>
                  <a:lnTo>
                    <a:pt x="1418" y="119"/>
                  </a:lnTo>
                  <a:lnTo>
                    <a:pt x="1421" y="149"/>
                  </a:lnTo>
                  <a:lnTo>
                    <a:pt x="1418" y="179"/>
                  </a:lnTo>
                  <a:lnTo>
                    <a:pt x="1410" y="207"/>
                  </a:lnTo>
                  <a:lnTo>
                    <a:pt x="1396" y="232"/>
                  </a:lnTo>
                  <a:lnTo>
                    <a:pt x="1378" y="255"/>
                  </a:lnTo>
                  <a:lnTo>
                    <a:pt x="1356" y="272"/>
                  </a:lnTo>
                  <a:lnTo>
                    <a:pt x="1330" y="287"/>
                  </a:lnTo>
                  <a:lnTo>
                    <a:pt x="1302" y="295"/>
                  </a:lnTo>
                  <a:lnTo>
                    <a:pt x="1272" y="298"/>
                  </a:lnTo>
                  <a:lnTo>
                    <a:pt x="149" y="298"/>
                  </a:lnTo>
                  <a:lnTo>
                    <a:pt x="119" y="295"/>
                  </a:lnTo>
                  <a:lnTo>
                    <a:pt x="91" y="287"/>
                  </a:lnTo>
                  <a:lnTo>
                    <a:pt x="65" y="272"/>
                  </a:lnTo>
                  <a:lnTo>
                    <a:pt x="44" y="255"/>
                  </a:lnTo>
                  <a:lnTo>
                    <a:pt x="25" y="232"/>
                  </a:lnTo>
                  <a:lnTo>
                    <a:pt x="11" y="207"/>
                  </a:lnTo>
                  <a:lnTo>
                    <a:pt x="3" y="179"/>
                  </a:lnTo>
                  <a:lnTo>
                    <a:pt x="0" y="149"/>
                  </a:lnTo>
                  <a:lnTo>
                    <a:pt x="3" y="119"/>
                  </a:lnTo>
                  <a:lnTo>
                    <a:pt x="11" y="91"/>
                  </a:lnTo>
                  <a:lnTo>
                    <a:pt x="25" y="66"/>
                  </a:lnTo>
                  <a:lnTo>
                    <a:pt x="44" y="44"/>
                  </a:lnTo>
                  <a:lnTo>
                    <a:pt x="65" y="26"/>
                  </a:lnTo>
                  <a:lnTo>
                    <a:pt x="91" y="12"/>
                  </a:lnTo>
                  <a:lnTo>
                    <a:pt x="119" y="3"/>
                  </a:lnTo>
                  <a:lnTo>
                    <a:pt x="14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1040">
              <a:extLst>
                <a:ext uri="{FF2B5EF4-FFF2-40B4-BE49-F238E27FC236}">
                  <a16:creationId xmlns="" xmlns:a16="http://schemas.microsoft.com/office/drawing/2014/main" id="{94C4D2C1-71F0-A14D-B887-51A559BA0D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16" y="-1522"/>
              <a:ext cx="215" cy="74"/>
            </a:xfrm>
            <a:custGeom>
              <a:avLst/>
              <a:gdLst>
                <a:gd name="T0" fmla="*/ 149 w 860"/>
                <a:gd name="T1" fmla="*/ 0 h 297"/>
                <a:gd name="T2" fmla="*/ 711 w 860"/>
                <a:gd name="T3" fmla="*/ 0 h 297"/>
                <a:gd name="T4" fmla="*/ 741 w 860"/>
                <a:gd name="T5" fmla="*/ 3 h 297"/>
                <a:gd name="T6" fmla="*/ 769 w 860"/>
                <a:gd name="T7" fmla="*/ 11 h 297"/>
                <a:gd name="T8" fmla="*/ 795 w 860"/>
                <a:gd name="T9" fmla="*/ 26 h 297"/>
                <a:gd name="T10" fmla="*/ 817 w 860"/>
                <a:gd name="T11" fmla="*/ 43 h 297"/>
                <a:gd name="T12" fmla="*/ 835 w 860"/>
                <a:gd name="T13" fmla="*/ 66 h 297"/>
                <a:gd name="T14" fmla="*/ 849 w 860"/>
                <a:gd name="T15" fmla="*/ 90 h 297"/>
                <a:gd name="T16" fmla="*/ 857 w 860"/>
                <a:gd name="T17" fmla="*/ 118 h 297"/>
                <a:gd name="T18" fmla="*/ 860 w 860"/>
                <a:gd name="T19" fmla="*/ 149 h 297"/>
                <a:gd name="T20" fmla="*/ 857 w 860"/>
                <a:gd name="T21" fmla="*/ 179 h 297"/>
                <a:gd name="T22" fmla="*/ 849 w 860"/>
                <a:gd name="T23" fmla="*/ 207 h 297"/>
                <a:gd name="T24" fmla="*/ 835 w 860"/>
                <a:gd name="T25" fmla="*/ 231 h 297"/>
                <a:gd name="T26" fmla="*/ 817 w 860"/>
                <a:gd name="T27" fmla="*/ 254 h 297"/>
                <a:gd name="T28" fmla="*/ 795 w 860"/>
                <a:gd name="T29" fmla="*/ 271 h 297"/>
                <a:gd name="T30" fmla="*/ 769 w 860"/>
                <a:gd name="T31" fmla="*/ 286 h 297"/>
                <a:gd name="T32" fmla="*/ 741 w 860"/>
                <a:gd name="T33" fmla="*/ 294 h 297"/>
                <a:gd name="T34" fmla="*/ 711 w 860"/>
                <a:gd name="T35" fmla="*/ 297 h 297"/>
                <a:gd name="T36" fmla="*/ 149 w 860"/>
                <a:gd name="T37" fmla="*/ 297 h 297"/>
                <a:gd name="T38" fmla="*/ 119 w 860"/>
                <a:gd name="T39" fmla="*/ 294 h 297"/>
                <a:gd name="T40" fmla="*/ 91 w 860"/>
                <a:gd name="T41" fmla="*/ 286 h 297"/>
                <a:gd name="T42" fmla="*/ 65 w 860"/>
                <a:gd name="T43" fmla="*/ 271 h 297"/>
                <a:gd name="T44" fmla="*/ 44 w 860"/>
                <a:gd name="T45" fmla="*/ 254 h 297"/>
                <a:gd name="T46" fmla="*/ 25 w 860"/>
                <a:gd name="T47" fmla="*/ 231 h 297"/>
                <a:gd name="T48" fmla="*/ 11 w 860"/>
                <a:gd name="T49" fmla="*/ 207 h 297"/>
                <a:gd name="T50" fmla="*/ 3 w 860"/>
                <a:gd name="T51" fmla="*/ 179 h 297"/>
                <a:gd name="T52" fmla="*/ 0 w 860"/>
                <a:gd name="T53" fmla="*/ 149 h 297"/>
                <a:gd name="T54" fmla="*/ 3 w 860"/>
                <a:gd name="T55" fmla="*/ 118 h 297"/>
                <a:gd name="T56" fmla="*/ 11 w 860"/>
                <a:gd name="T57" fmla="*/ 90 h 297"/>
                <a:gd name="T58" fmla="*/ 25 w 860"/>
                <a:gd name="T59" fmla="*/ 66 h 297"/>
                <a:gd name="T60" fmla="*/ 44 w 860"/>
                <a:gd name="T61" fmla="*/ 43 h 297"/>
                <a:gd name="T62" fmla="*/ 65 w 860"/>
                <a:gd name="T63" fmla="*/ 26 h 297"/>
                <a:gd name="T64" fmla="*/ 91 w 860"/>
                <a:gd name="T65" fmla="*/ 11 h 297"/>
                <a:gd name="T66" fmla="*/ 119 w 860"/>
                <a:gd name="T67" fmla="*/ 3 h 297"/>
                <a:gd name="T68" fmla="*/ 149 w 860"/>
                <a:gd name="T69" fmla="*/ 0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0" h="297">
                  <a:moveTo>
                    <a:pt x="149" y="0"/>
                  </a:moveTo>
                  <a:lnTo>
                    <a:pt x="711" y="0"/>
                  </a:lnTo>
                  <a:lnTo>
                    <a:pt x="741" y="3"/>
                  </a:lnTo>
                  <a:lnTo>
                    <a:pt x="769" y="11"/>
                  </a:lnTo>
                  <a:lnTo>
                    <a:pt x="795" y="26"/>
                  </a:lnTo>
                  <a:lnTo>
                    <a:pt x="817" y="43"/>
                  </a:lnTo>
                  <a:lnTo>
                    <a:pt x="835" y="66"/>
                  </a:lnTo>
                  <a:lnTo>
                    <a:pt x="849" y="90"/>
                  </a:lnTo>
                  <a:lnTo>
                    <a:pt x="857" y="118"/>
                  </a:lnTo>
                  <a:lnTo>
                    <a:pt x="860" y="149"/>
                  </a:lnTo>
                  <a:lnTo>
                    <a:pt x="857" y="179"/>
                  </a:lnTo>
                  <a:lnTo>
                    <a:pt x="849" y="207"/>
                  </a:lnTo>
                  <a:lnTo>
                    <a:pt x="835" y="231"/>
                  </a:lnTo>
                  <a:lnTo>
                    <a:pt x="817" y="254"/>
                  </a:lnTo>
                  <a:lnTo>
                    <a:pt x="795" y="271"/>
                  </a:lnTo>
                  <a:lnTo>
                    <a:pt x="769" y="286"/>
                  </a:lnTo>
                  <a:lnTo>
                    <a:pt x="741" y="294"/>
                  </a:lnTo>
                  <a:lnTo>
                    <a:pt x="711" y="297"/>
                  </a:lnTo>
                  <a:lnTo>
                    <a:pt x="149" y="297"/>
                  </a:lnTo>
                  <a:lnTo>
                    <a:pt x="119" y="294"/>
                  </a:lnTo>
                  <a:lnTo>
                    <a:pt x="91" y="286"/>
                  </a:lnTo>
                  <a:lnTo>
                    <a:pt x="65" y="271"/>
                  </a:lnTo>
                  <a:lnTo>
                    <a:pt x="44" y="254"/>
                  </a:lnTo>
                  <a:lnTo>
                    <a:pt x="25" y="231"/>
                  </a:lnTo>
                  <a:lnTo>
                    <a:pt x="11" y="207"/>
                  </a:lnTo>
                  <a:lnTo>
                    <a:pt x="3" y="179"/>
                  </a:lnTo>
                  <a:lnTo>
                    <a:pt x="0" y="149"/>
                  </a:lnTo>
                  <a:lnTo>
                    <a:pt x="3" y="118"/>
                  </a:lnTo>
                  <a:lnTo>
                    <a:pt x="11" y="90"/>
                  </a:lnTo>
                  <a:lnTo>
                    <a:pt x="25" y="66"/>
                  </a:lnTo>
                  <a:lnTo>
                    <a:pt x="44" y="43"/>
                  </a:lnTo>
                  <a:lnTo>
                    <a:pt x="65" y="26"/>
                  </a:lnTo>
                  <a:lnTo>
                    <a:pt x="91" y="11"/>
                  </a:lnTo>
                  <a:lnTo>
                    <a:pt x="119" y="3"/>
                  </a:lnTo>
                  <a:lnTo>
                    <a:pt x="14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1041">
              <a:extLst>
                <a:ext uri="{FF2B5EF4-FFF2-40B4-BE49-F238E27FC236}">
                  <a16:creationId xmlns="" xmlns:a16="http://schemas.microsoft.com/office/drawing/2014/main" id="{2CDEFAEF-4CCC-4A40-A14A-F9A333FDF079}"/>
                </a:ext>
              </a:extLst>
            </p:cNvPr>
            <p:cNvSpPr>
              <a:spLocks/>
            </p:cNvSpPr>
            <p:nvPr/>
          </p:nvSpPr>
          <p:spPr bwMode="auto">
            <a:xfrm>
              <a:off x="9876" y="-1946"/>
              <a:ext cx="636" cy="817"/>
            </a:xfrm>
            <a:custGeom>
              <a:avLst/>
              <a:gdLst>
                <a:gd name="T0" fmla="*/ 150 w 2545"/>
                <a:gd name="T1" fmla="*/ 0 h 3271"/>
                <a:gd name="T2" fmla="*/ 2395 w 2545"/>
                <a:gd name="T3" fmla="*/ 0 h 3271"/>
                <a:gd name="T4" fmla="*/ 2425 w 2545"/>
                <a:gd name="T5" fmla="*/ 3 h 3271"/>
                <a:gd name="T6" fmla="*/ 2453 w 2545"/>
                <a:gd name="T7" fmla="*/ 11 h 3271"/>
                <a:gd name="T8" fmla="*/ 2479 w 2545"/>
                <a:gd name="T9" fmla="*/ 26 h 3271"/>
                <a:gd name="T10" fmla="*/ 2501 w 2545"/>
                <a:gd name="T11" fmla="*/ 43 h 3271"/>
                <a:gd name="T12" fmla="*/ 2520 w 2545"/>
                <a:gd name="T13" fmla="*/ 66 h 3271"/>
                <a:gd name="T14" fmla="*/ 2533 w 2545"/>
                <a:gd name="T15" fmla="*/ 90 h 3271"/>
                <a:gd name="T16" fmla="*/ 2542 w 2545"/>
                <a:gd name="T17" fmla="*/ 118 h 3271"/>
                <a:gd name="T18" fmla="*/ 2545 w 2545"/>
                <a:gd name="T19" fmla="*/ 148 h 3271"/>
                <a:gd name="T20" fmla="*/ 2545 w 2545"/>
                <a:gd name="T21" fmla="*/ 369 h 3271"/>
                <a:gd name="T22" fmla="*/ 2246 w 2545"/>
                <a:gd name="T23" fmla="*/ 885 h 3271"/>
                <a:gd name="T24" fmla="*/ 2246 w 2545"/>
                <a:gd name="T25" fmla="*/ 297 h 3271"/>
                <a:gd name="T26" fmla="*/ 300 w 2545"/>
                <a:gd name="T27" fmla="*/ 297 h 3271"/>
                <a:gd name="T28" fmla="*/ 300 w 2545"/>
                <a:gd name="T29" fmla="*/ 2973 h 3271"/>
                <a:gd name="T30" fmla="*/ 2246 w 2545"/>
                <a:gd name="T31" fmla="*/ 2973 h 3271"/>
                <a:gd name="T32" fmla="*/ 2246 w 2545"/>
                <a:gd name="T33" fmla="*/ 2603 h 3271"/>
                <a:gd name="T34" fmla="*/ 2403 w 2545"/>
                <a:gd name="T35" fmla="*/ 2500 h 3271"/>
                <a:gd name="T36" fmla="*/ 2430 w 2545"/>
                <a:gd name="T37" fmla="*/ 2478 h 3271"/>
                <a:gd name="T38" fmla="*/ 2454 w 2545"/>
                <a:gd name="T39" fmla="*/ 2453 h 3271"/>
                <a:gd name="T40" fmla="*/ 2474 w 2545"/>
                <a:gd name="T41" fmla="*/ 2425 h 3271"/>
                <a:gd name="T42" fmla="*/ 2545 w 2545"/>
                <a:gd name="T43" fmla="*/ 2302 h 3271"/>
                <a:gd name="T44" fmla="*/ 2545 w 2545"/>
                <a:gd name="T45" fmla="*/ 3122 h 3271"/>
                <a:gd name="T46" fmla="*/ 2542 w 2545"/>
                <a:gd name="T47" fmla="*/ 3151 h 3271"/>
                <a:gd name="T48" fmla="*/ 2533 w 2545"/>
                <a:gd name="T49" fmla="*/ 3179 h 3271"/>
                <a:gd name="T50" fmla="*/ 2520 w 2545"/>
                <a:gd name="T51" fmla="*/ 3205 h 3271"/>
                <a:gd name="T52" fmla="*/ 2501 w 2545"/>
                <a:gd name="T53" fmla="*/ 3226 h 3271"/>
                <a:gd name="T54" fmla="*/ 2479 w 2545"/>
                <a:gd name="T55" fmla="*/ 3245 h 3271"/>
                <a:gd name="T56" fmla="*/ 2453 w 2545"/>
                <a:gd name="T57" fmla="*/ 3258 h 3271"/>
                <a:gd name="T58" fmla="*/ 2425 w 2545"/>
                <a:gd name="T59" fmla="*/ 3268 h 3271"/>
                <a:gd name="T60" fmla="*/ 2395 w 2545"/>
                <a:gd name="T61" fmla="*/ 3271 h 3271"/>
                <a:gd name="T62" fmla="*/ 150 w 2545"/>
                <a:gd name="T63" fmla="*/ 3271 h 3271"/>
                <a:gd name="T64" fmla="*/ 120 w 2545"/>
                <a:gd name="T65" fmla="*/ 3268 h 3271"/>
                <a:gd name="T66" fmla="*/ 92 w 2545"/>
                <a:gd name="T67" fmla="*/ 3258 h 3271"/>
                <a:gd name="T68" fmla="*/ 66 w 2545"/>
                <a:gd name="T69" fmla="*/ 3245 h 3271"/>
                <a:gd name="T70" fmla="*/ 44 w 2545"/>
                <a:gd name="T71" fmla="*/ 3226 h 3271"/>
                <a:gd name="T72" fmla="*/ 26 w 2545"/>
                <a:gd name="T73" fmla="*/ 3205 h 3271"/>
                <a:gd name="T74" fmla="*/ 12 w 2545"/>
                <a:gd name="T75" fmla="*/ 3179 h 3271"/>
                <a:gd name="T76" fmla="*/ 3 w 2545"/>
                <a:gd name="T77" fmla="*/ 3151 h 3271"/>
                <a:gd name="T78" fmla="*/ 0 w 2545"/>
                <a:gd name="T79" fmla="*/ 3122 h 3271"/>
                <a:gd name="T80" fmla="*/ 0 w 2545"/>
                <a:gd name="T81" fmla="*/ 148 h 3271"/>
                <a:gd name="T82" fmla="*/ 3 w 2545"/>
                <a:gd name="T83" fmla="*/ 118 h 3271"/>
                <a:gd name="T84" fmla="*/ 12 w 2545"/>
                <a:gd name="T85" fmla="*/ 90 h 3271"/>
                <a:gd name="T86" fmla="*/ 26 w 2545"/>
                <a:gd name="T87" fmla="*/ 66 h 3271"/>
                <a:gd name="T88" fmla="*/ 44 w 2545"/>
                <a:gd name="T89" fmla="*/ 43 h 3271"/>
                <a:gd name="T90" fmla="*/ 66 w 2545"/>
                <a:gd name="T91" fmla="*/ 26 h 3271"/>
                <a:gd name="T92" fmla="*/ 92 w 2545"/>
                <a:gd name="T93" fmla="*/ 11 h 3271"/>
                <a:gd name="T94" fmla="*/ 120 w 2545"/>
                <a:gd name="T95" fmla="*/ 3 h 3271"/>
                <a:gd name="T96" fmla="*/ 150 w 2545"/>
                <a:gd name="T97" fmla="*/ 0 h 3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545" h="3271">
                  <a:moveTo>
                    <a:pt x="150" y="0"/>
                  </a:moveTo>
                  <a:lnTo>
                    <a:pt x="2395" y="0"/>
                  </a:lnTo>
                  <a:lnTo>
                    <a:pt x="2425" y="3"/>
                  </a:lnTo>
                  <a:lnTo>
                    <a:pt x="2453" y="11"/>
                  </a:lnTo>
                  <a:lnTo>
                    <a:pt x="2479" y="26"/>
                  </a:lnTo>
                  <a:lnTo>
                    <a:pt x="2501" y="43"/>
                  </a:lnTo>
                  <a:lnTo>
                    <a:pt x="2520" y="66"/>
                  </a:lnTo>
                  <a:lnTo>
                    <a:pt x="2533" y="90"/>
                  </a:lnTo>
                  <a:lnTo>
                    <a:pt x="2542" y="118"/>
                  </a:lnTo>
                  <a:lnTo>
                    <a:pt x="2545" y="148"/>
                  </a:lnTo>
                  <a:lnTo>
                    <a:pt x="2545" y="369"/>
                  </a:lnTo>
                  <a:lnTo>
                    <a:pt x="2246" y="885"/>
                  </a:lnTo>
                  <a:lnTo>
                    <a:pt x="2246" y="297"/>
                  </a:lnTo>
                  <a:lnTo>
                    <a:pt x="300" y="297"/>
                  </a:lnTo>
                  <a:lnTo>
                    <a:pt x="300" y="2973"/>
                  </a:lnTo>
                  <a:lnTo>
                    <a:pt x="2246" y="2973"/>
                  </a:lnTo>
                  <a:lnTo>
                    <a:pt x="2246" y="2603"/>
                  </a:lnTo>
                  <a:lnTo>
                    <a:pt x="2403" y="2500"/>
                  </a:lnTo>
                  <a:lnTo>
                    <a:pt x="2430" y="2478"/>
                  </a:lnTo>
                  <a:lnTo>
                    <a:pt x="2454" y="2453"/>
                  </a:lnTo>
                  <a:lnTo>
                    <a:pt x="2474" y="2425"/>
                  </a:lnTo>
                  <a:lnTo>
                    <a:pt x="2545" y="2302"/>
                  </a:lnTo>
                  <a:lnTo>
                    <a:pt x="2545" y="3122"/>
                  </a:lnTo>
                  <a:lnTo>
                    <a:pt x="2542" y="3151"/>
                  </a:lnTo>
                  <a:lnTo>
                    <a:pt x="2533" y="3179"/>
                  </a:lnTo>
                  <a:lnTo>
                    <a:pt x="2520" y="3205"/>
                  </a:lnTo>
                  <a:lnTo>
                    <a:pt x="2501" y="3226"/>
                  </a:lnTo>
                  <a:lnTo>
                    <a:pt x="2479" y="3245"/>
                  </a:lnTo>
                  <a:lnTo>
                    <a:pt x="2453" y="3258"/>
                  </a:lnTo>
                  <a:lnTo>
                    <a:pt x="2425" y="3268"/>
                  </a:lnTo>
                  <a:lnTo>
                    <a:pt x="2395" y="3271"/>
                  </a:lnTo>
                  <a:lnTo>
                    <a:pt x="150" y="3271"/>
                  </a:lnTo>
                  <a:lnTo>
                    <a:pt x="120" y="3268"/>
                  </a:lnTo>
                  <a:lnTo>
                    <a:pt x="92" y="3258"/>
                  </a:lnTo>
                  <a:lnTo>
                    <a:pt x="66" y="3245"/>
                  </a:lnTo>
                  <a:lnTo>
                    <a:pt x="44" y="3226"/>
                  </a:lnTo>
                  <a:lnTo>
                    <a:pt x="26" y="3205"/>
                  </a:lnTo>
                  <a:lnTo>
                    <a:pt x="12" y="3179"/>
                  </a:lnTo>
                  <a:lnTo>
                    <a:pt x="3" y="3151"/>
                  </a:lnTo>
                  <a:lnTo>
                    <a:pt x="0" y="3122"/>
                  </a:lnTo>
                  <a:lnTo>
                    <a:pt x="0" y="148"/>
                  </a:lnTo>
                  <a:lnTo>
                    <a:pt x="3" y="118"/>
                  </a:lnTo>
                  <a:lnTo>
                    <a:pt x="12" y="90"/>
                  </a:lnTo>
                  <a:lnTo>
                    <a:pt x="26" y="66"/>
                  </a:lnTo>
                  <a:lnTo>
                    <a:pt x="44" y="43"/>
                  </a:lnTo>
                  <a:lnTo>
                    <a:pt x="66" y="26"/>
                  </a:lnTo>
                  <a:lnTo>
                    <a:pt x="92" y="11"/>
                  </a:lnTo>
                  <a:lnTo>
                    <a:pt x="120" y="3"/>
                  </a:lnTo>
                  <a:lnTo>
                    <a:pt x="15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9" name="Freeform 1042">
              <a:extLst>
                <a:ext uri="{FF2B5EF4-FFF2-40B4-BE49-F238E27FC236}">
                  <a16:creationId xmlns="" xmlns:a16="http://schemas.microsoft.com/office/drawing/2014/main" id="{FB466248-AA64-3E4A-8D22-E416E13E45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305" y="-1855"/>
              <a:ext cx="393" cy="586"/>
            </a:xfrm>
            <a:custGeom>
              <a:avLst/>
              <a:gdLst>
                <a:gd name="T0" fmla="*/ 130 w 1574"/>
                <a:gd name="T1" fmla="*/ 1973 h 2342"/>
                <a:gd name="T2" fmla="*/ 221 w 1574"/>
                <a:gd name="T3" fmla="*/ 2017 h 2342"/>
                <a:gd name="T4" fmla="*/ 305 w 1574"/>
                <a:gd name="T5" fmla="*/ 2073 h 2342"/>
                <a:gd name="T6" fmla="*/ 434 w 1574"/>
                <a:gd name="T7" fmla="*/ 1957 h 2342"/>
                <a:gd name="T8" fmla="*/ 385 w 1574"/>
                <a:gd name="T9" fmla="*/ 1912 h 2342"/>
                <a:gd name="T10" fmla="*/ 311 w 1574"/>
                <a:gd name="T11" fmla="*/ 1861 h 2342"/>
                <a:gd name="T12" fmla="*/ 242 w 1574"/>
                <a:gd name="T13" fmla="*/ 1827 h 2342"/>
                <a:gd name="T14" fmla="*/ 186 w 1574"/>
                <a:gd name="T15" fmla="*/ 1808 h 2342"/>
                <a:gd name="T16" fmla="*/ 140 w 1574"/>
                <a:gd name="T17" fmla="*/ 1799 h 2342"/>
                <a:gd name="T18" fmla="*/ 1106 w 1574"/>
                <a:gd name="T19" fmla="*/ 0 h 2342"/>
                <a:gd name="T20" fmla="*/ 1161 w 1574"/>
                <a:gd name="T21" fmla="*/ 7 h 2342"/>
                <a:gd name="T22" fmla="*/ 1227 w 1574"/>
                <a:gd name="T23" fmla="*/ 25 h 2342"/>
                <a:gd name="T24" fmla="*/ 1305 w 1574"/>
                <a:gd name="T25" fmla="*/ 56 h 2342"/>
                <a:gd name="T26" fmla="*/ 1391 w 1574"/>
                <a:gd name="T27" fmla="*/ 107 h 2342"/>
                <a:gd name="T28" fmla="*/ 1462 w 1574"/>
                <a:gd name="T29" fmla="*/ 161 h 2342"/>
                <a:gd name="T30" fmla="*/ 1512 w 1574"/>
                <a:gd name="T31" fmla="*/ 213 h 2342"/>
                <a:gd name="T32" fmla="*/ 1544 w 1574"/>
                <a:gd name="T33" fmla="*/ 258 h 2342"/>
                <a:gd name="T34" fmla="*/ 1562 w 1574"/>
                <a:gd name="T35" fmla="*/ 294 h 2342"/>
                <a:gd name="T36" fmla="*/ 1571 w 1574"/>
                <a:gd name="T37" fmla="*/ 316 h 2342"/>
                <a:gd name="T38" fmla="*/ 1574 w 1574"/>
                <a:gd name="T39" fmla="*/ 340 h 2342"/>
                <a:gd name="T40" fmla="*/ 1563 w 1574"/>
                <a:gd name="T41" fmla="*/ 375 h 2342"/>
                <a:gd name="T42" fmla="*/ 618 w 1574"/>
                <a:gd name="T43" fmla="*/ 1998 h 2342"/>
                <a:gd name="T44" fmla="*/ 115 w 1574"/>
                <a:gd name="T45" fmla="*/ 2330 h 2342"/>
                <a:gd name="T46" fmla="*/ 77 w 1574"/>
                <a:gd name="T47" fmla="*/ 2342 h 2342"/>
                <a:gd name="T48" fmla="*/ 36 w 1574"/>
                <a:gd name="T49" fmla="*/ 2332 h 2342"/>
                <a:gd name="T50" fmla="*/ 13 w 1574"/>
                <a:gd name="T51" fmla="*/ 2311 h 2342"/>
                <a:gd name="T52" fmla="*/ 0 w 1574"/>
                <a:gd name="T53" fmla="*/ 2280 h 2342"/>
                <a:gd name="T54" fmla="*/ 34 w 1574"/>
                <a:gd name="T55" fmla="*/ 1683 h 2342"/>
                <a:gd name="T56" fmla="*/ 45 w 1574"/>
                <a:gd name="T57" fmla="*/ 1651 h 2342"/>
                <a:gd name="T58" fmla="*/ 991 w 1574"/>
                <a:gd name="T59" fmla="*/ 27 h 2342"/>
                <a:gd name="T60" fmla="*/ 1023 w 1574"/>
                <a:gd name="T61" fmla="*/ 7 h 2342"/>
                <a:gd name="T62" fmla="*/ 1036 w 1574"/>
                <a:gd name="T63" fmla="*/ 4 h 2342"/>
                <a:gd name="T64" fmla="*/ 1064 w 1574"/>
                <a:gd name="T65" fmla="*/ 0 h 2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574" h="2342">
                  <a:moveTo>
                    <a:pt x="140" y="1799"/>
                  </a:moveTo>
                  <a:lnTo>
                    <a:pt x="130" y="1973"/>
                  </a:lnTo>
                  <a:lnTo>
                    <a:pt x="175" y="1993"/>
                  </a:lnTo>
                  <a:lnTo>
                    <a:pt x="221" y="2017"/>
                  </a:lnTo>
                  <a:lnTo>
                    <a:pt x="264" y="2043"/>
                  </a:lnTo>
                  <a:lnTo>
                    <a:pt x="305" y="2073"/>
                  </a:lnTo>
                  <a:lnTo>
                    <a:pt x="451" y="1976"/>
                  </a:lnTo>
                  <a:lnTo>
                    <a:pt x="434" y="1957"/>
                  </a:lnTo>
                  <a:lnTo>
                    <a:pt x="412" y="1935"/>
                  </a:lnTo>
                  <a:lnTo>
                    <a:pt x="385" y="1912"/>
                  </a:lnTo>
                  <a:lnTo>
                    <a:pt x="351" y="1887"/>
                  </a:lnTo>
                  <a:lnTo>
                    <a:pt x="311" y="1861"/>
                  </a:lnTo>
                  <a:lnTo>
                    <a:pt x="276" y="1843"/>
                  </a:lnTo>
                  <a:lnTo>
                    <a:pt x="242" y="1827"/>
                  </a:lnTo>
                  <a:lnTo>
                    <a:pt x="212" y="1816"/>
                  </a:lnTo>
                  <a:lnTo>
                    <a:pt x="186" y="1808"/>
                  </a:lnTo>
                  <a:lnTo>
                    <a:pt x="162" y="1803"/>
                  </a:lnTo>
                  <a:lnTo>
                    <a:pt x="140" y="1799"/>
                  </a:lnTo>
                  <a:close/>
                  <a:moveTo>
                    <a:pt x="1083" y="0"/>
                  </a:moveTo>
                  <a:lnTo>
                    <a:pt x="1106" y="0"/>
                  </a:lnTo>
                  <a:lnTo>
                    <a:pt x="1132" y="2"/>
                  </a:lnTo>
                  <a:lnTo>
                    <a:pt x="1161" y="7"/>
                  </a:lnTo>
                  <a:lnTo>
                    <a:pt x="1192" y="14"/>
                  </a:lnTo>
                  <a:lnTo>
                    <a:pt x="1227" y="25"/>
                  </a:lnTo>
                  <a:lnTo>
                    <a:pt x="1264" y="39"/>
                  </a:lnTo>
                  <a:lnTo>
                    <a:pt x="1305" y="56"/>
                  </a:lnTo>
                  <a:lnTo>
                    <a:pt x="1347" y="80"/>
                  </a:lnTo>
                  <a:lnTo>
                    <a:pt x="1391" y="107"/>
                  </a:lnTo>
                  <a:lnTo>
                    <a:pt x="1430" y="135"/>
                  </a:lnTo>
                  <a:lnTo>
                    <a:pt x="1462" y="161"/>
                  </a:lnTo>
                  <a:lnTo>
                    <a:pt x="1489" y="188"/>
                  </a:lnTo>
                  <a:lnTo>
                    <a:pt x="1512" y="213"/>
                  </a:lnTo>
                  <a:lnTo>
                    <a:pt x="1529" y="236"/>
                  </a:lnTo>
                  <a:lnTo>
                    <a:pt x="1544" y="258"/>
                  </a:lnTo>
                  <a:lnTo>
                    <a:pt x="1554" y="277"/>
                  </a:lnTo>
                  <a:lnTo>
                    <a:pt x="1562" y="294"/>
                  </a:lnTo>
                  <a:lnTo>
                    <a:pt x="1567" y="307"/>
                  </a:lnTo>
                  <a:lnTo>
                    <a:pt x="1571" y="316"/>
                  </a:lnTo>
                  <a:lnTo>
                    <a:pt x="1572" y="322"/>
                  </a:lnTo>
                  <a:lnTo>
                    <a:pt x="1574" y="340"/>
                  </a:lnTo>
                  <a:lnTo>
                    <a:pt x="1571" y="359"/>
                  </a:lnTo>
                  <a:lnTo>
                    <a:pt x="1563" y="375"/>
                  </a:lnTo>
                  <a:lnTo>
                    <a:pt x="628" y="1985"/>
                  </a:lnTo>
                  <a:lnTo>
                    <a:pt x="618" y="1998"/>
                  </a:lnTo>
                  <a:lnTo>
                    <a:pt x="605" y="2009"/>
                  </a:lnTo>
                  <a:lnTo>
                    <a:pt x="115" y="2330"/>
                  </a:lnTo>
                  <a:lnTo>
                    <a:pt x="97" y="2339"/>
                  </a:lnTo>
                  <a:lnTo>
                    <a:pt x="77" y="2342"/>
                  </a:lnTo>
                  <a:lnTo>
                    <a:pt x="56" y="2340"/>
                  </a:lnTo>
                  <a:lnTo>
                    <a:pt x="36" y="2332"/>
                  </a:lnTo>
                  <a:lnTo>
                    <a:pt x="23" y="2323"/>
                  </a:lnTo>
                  <a:lnTo>
                    <a:pt x="13" y="2311"/>
                  </a:lnTo>
                  <a:lnTo>
                    <a:pt x="5" y="2296"/>
                  </a:lnTo>
                  <a:lnTo>
                    <a:pt x="0" y="2280"/>
                  </a:lnTo>
                  <a:lnTo>
                    <a:pt x="0" y="2263"/>
                  </a:lnTo>
                  <a:lnTo>
                    <a:pt x="34" y="1683"/>
                  </a:lnTo>
                  <a:lnTo>
                    <a:pt x="38" y="1666"/>
                  </a:lnTo>
                  <a:lnTo>
                    <a:pt x="45" y="1651"/>
                  </a:lnTo>
                  <a:lnTo>
                    <a:pt x="981" y="41"/>
                  </a:lnTo>
                  <a:lnTo>
                    <a:pt x="991" y="27"/>
                  </a:lnTo>
                  <a:lnTo>
                    <a:pt x="1005" y="15"/>
                  </a:lnTo>
                  <a:lnTo>
                    <a:pt x="1023" y="7"/>
                  </a:lnTo>
                  <a:lnTo>
                    <a:pt x="1027" y="6"/>
                  </a:lnTo>
                  <a:lnTo>
                    <a:pt x="1036" y="4"/>
                  </a:lnTo>
                  <a:lnTo>
                    <a:pt x="1049" y="2"/>
                  </a:lnTo>
                  <a:lnTo>
                    <a:pt x="1064" y="0"/>
                  </a:lnTo>
                  <a:lnTo>
                    <a:pt x="108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1043">
              <a:extLst>
                <a:ext uri="{FF2B5EF4-FFF2-40B4-BE49-F238E27FC236}">
                  <a16:creationId xmlns="" xmlns:a16="http://schemas.microsoft.com/office/drawing/2014/main" id="{CD7B9CF0-4C46-5E44-A83E-889623252995}"/>
                </a:ext>
              </a:extLst>
            </p:cNvPr>
            <p:cNvSpPr>
              <a:spLocks/>
            </p:cNvSpPr>
            <p:nvPr/>
          </p:nvSpPr>
          <p:spPr bwMode="auto">
            <a:xfrm>
              <a:off x="9995" y="-1385"/>
              <a:ext cx="286" cy="146"/>
            </a:xfrm>
            <a:custGeom>
              <a:avLst/>
              <a:gdLst>
                <a:gd name="T0" fmla="*/ 551 w 1143"/>
                <a:gd name="T1" fmla="*/ 5 h 585"/>
                <a:gd name="T2" fmla="*/ 577 w 1143"/>
                <a:gd name="T3" fmla="*/ 28 h 585"/>
                <a:gd name="T4" fmla="*/ 585 w 1143"/>
                <a:gd name="T5" fmla="*/ 110 h 585"/>
                <a:gd name="T6" fmla="*/ 554 w 1143"/>
                <a:gd name="T7" fmla="*/ 197 h 585"/>
                <a:gd name="T8" fmla="*/ 563 w 1143"/>
                <a:gd name="T9" fmla="*/ 239 h 585"/>
                <a:gd name="T10" fmla="*/ 581 w 1143"/>
                <a:gd name="T11" fmla="*/ 267 h 585"/>
                <a:gd name="T12" fmla="*/ 631 w 1143"/>
                <a:gd name="T13" fmla="*/ 275 h 585"/>
                <a:gd name="T14" fmla="*/ 674 w 1143"/>
                <a:gd name="T15" fmla="*/ 319 h 585"/>
                <a:gd name="T16" fmla="*/ 685 w 1143"/>
                <a:gd name="T17" fmla="*/ 353 h 585"/>
                <a:gd name="T18" fmla="*/ 838 w 1143"/>
                <a:gd name="T19" fmla="*/ 347 h 585"/>
                <a:gd name="T20" fmla="*/ 986 w 1143"/>
                <a:gd name="T21" fmla="*/ 362 h 585"/>
                <a:gd name="T22" fmla="*/ 1106 w 1143"/>
                <a:gd name="T23" fmla="*/ 369 h 585"/>
                <a:gd name="T24" fmla="*/ 1137 w 1143"/>
                <a:gd name="T25" fmla="*/ 396 h 585"/>
                <a:gd name="T26" fmla="*/ 1142 w 1143"/>
                <a:gd name="T27" fmla="*/ 436 h 585"/>
                <a:gd name="T28" fmla="*/ 1119 w 1143"/>
                <a:gd name="T29" fmla="*/ 470 h 585"/>
                <a:gd name="T30" fmla="*/ 1055 w 1143"/>
                <a:gd name="T31" fmla="*/ 477 h 585"/>
                <a:gd name="T32" fmla="*/ 946 w 1143"/>
                <a:gd name="T33" fmla="*/ 461 h 585"/>
                <a:gd name="T34" fmla="*/ 834 w 1143"/>
                <a:gd name="T35" fmla="*/ 447 h 585"/>
                <a:gd name="T36" fmla="*/ 730 w 1143"/>
                <a:gd name="T37" fmla="*/ 456 h 585"/>
                <a:gd name="T38" fmla="*/ 672 w 1143"/>
                <a:gd name="T39" fmla="*/ 481 h 585"/>
                <a:gd name="T40" fmla="*/ 630 w 1143"/>
                <a:gd name="T41" fmla="*/ 486 h 585"/>
                <a:gd name="T42" fmla="*/ 596 w 1143"/>
                <a:gd name="T43" fmla="*/ 472 h 585"/>
                <a:gd name="T44" fmla="*/ 571 w 1143"/>
                <a:gd name="T45" fmla="*/ 449 h 585"/>
                <a:gd name="T46" fmla="*/ 565 w 1143"/>
                <a:gd name="T47" fmla="*/ 403 h 585"/>
                <a:gd name="T48" fmla="*/ 531 w 1143"/>
                <a:gd name="T49" fmla="*/ 452 h 585"/>
                <a:gd name="T50" fmla="*/ 490 w 1143"/>
                <a:gd name="T51" fmla="*/ 465 h 585"/>
                <a:gd name="T52" fmla="*/ 450 w 1143"/>
                <a:gd name="T53" fmla="*/ 451 h 585"/>
                <a:gd name="T54" fmla="*/ 435 w 1143"/>
                <a:gd name="T55" fmla="*/ 414 h 585"/>
                <a:gd name="T56" fmla="*/ 445 w 1143"/>
                <a:gd name="T57" fmla="*/ 385 h 585"/>
                <a:gd name="T58" fmla="*/ 454 w 1143"/>
                <a:gd name="T59" fmla="*/ 365 h 585"/>
                <a:gd name="T60" fmla="*/ 417 w 1143"/>
                <a:gd name="T61" fmla="*/ 400 h 585"/>
                <a:gd name="T62" fmla="*/ 375 w 1143"/>
                <a:gd name="T63" fmla="*/ 423 h 585"/>
                <a:gd name="T64" fmla="*/ 331 w 1143"/>
                <a:gd name="T65" fmla="*/ 412 h 585"/>
                <a:gd name="T66" fmla="*/ 311 w 1143"/>
                <a:gd name="T67" fmla="*/ 375 h 585"/>
                <a:gd name="T68" fmla="*/ 360 w 1143"/>
                <a:gd name="T69" fmla="*/ 285 h 585"/>
                <a:gd name="T70" fmla="*/ 250 w 1143"/>
                <a:gd name="T71" fmla="*/ 388 h 585"/>
                <a:gd name="T72" fmla="*/ 95 w 1143"/>
                <a:gd name="T73" fmla="*/ 574 h 585"/>
                <a:gd name="T74" fmla="*/ 49 w 1143"/>
                <a:gd name="T75" fmla="*/ 584 h 585"/>
                <a:gd name="T76" fmla="*/ 9 w 1143"/>
                <a:gd name="T77" fmla="*/ 562 h 585"/>
                <a:gd name="T78" fmla="*/ 2 w 1143"/>
                <a:gd name="T79" fmla="*/ 521 h 585"/>
                <a:gd name="T80" fmla="*/ 137 w 1143"/>
                <a:gd name="T81" fmla="*/ 347 h 585"/>
                <a:gd name="T82" fmla="*/ 341 w 1143"/>
                <a:gd name="T83" fmla="*/ 122 h 585"/>
                <a:gd name="T84" fmla="*/ 395 w 1143"/>
                <a:gd name="T85" fmla="*/ 70 h 585"/>
                <a:gd name="T86" fmla="*/ 458 w 1143"/>
                <a:gd name="T87" fmla="*/ 20 h 585"/>
                <a:gd name="T88" fmla="*/ 528 w 1143"/>
                <a:gd name="T89" fmla="*/ 0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43" h="585">
                  <a:moveTo>
                    <a:pt x="528" y="0"/>
                  </a:moveTo>
                  <a:lnTo>
                    <a:pt x="539" y="2"/>
                  </a:lnTo>
                  <a:lnTo>
                    <a:pt x="551" y="5"/>
                  </a:lnTo>
                  <a:lnTo>
                    <a:pt x="561" y="10"/>
                  </a:lnTo>
                  <a:lnTo>
                    <a:pt x="571" y="18"/>
                  </a:lnTo>
                  <a:lnTo>
                    <a:pt x="577" y="28"/>
                  </a:lnTo>
                  <a:lnTo>
                    <a:pt x="585" y="53"/>
                  </a:lnTo>
                  <a:lnTo>
                    <a:pt x="587" y="81"/>
                  </a:lnTo>
                  <a:lnTo>
                    <a:pt x="585" y="110"/>
                  </a:lnTo>
                  <a:lnTo>
                    <a:pt x="578" y="139"/>
                  </a:lnTo>
                  <a:lnTo>
                    <a:pt x="567" y="168"/>
                  </a:lnTo>
                  <a:lnTo>
                    <a:pt x="554" y="197"/>
                  </a:lnTo>
                  <a:lnTo>
                    <a:pt x="537" y="227"/>
                  </a:lnTo>
                  <a:lnTo>
                    <a:pt x="551" y="232"/>
                  </a:lnTo>
                  <a:lnTo>
                    <a:pt x="563" y="239"/>
                  </a:lnTo>
                  <a:lnTo>
                    <a:pt x="573" y="252"/>
                  </a:lnTo>
                  <a:lnTo>
                    <a:pt x="577" y="260"/>
                  </a:lnTo>
                  <a:lnTo>
                    <a:pt x="581" y="267"/>
                  </a:lnTo>
                  <a:lnTo>
                    <a:pt x="597" y="266"/>
                  </a:lnTo>
                  <a:lnTo>
                    <a:pt x="614" y="269"/>
                  </a:lnTo>
                  <a:lnTo>
                    <a:pt x="631" y="275"/>
                  </a:lnTo>
                  <a:lnTo>
                    <a:pt x="646" y="286"/>
                  </a:lnTo>
                  <a:lnTo>
                    <a:pt x="661" y="300"/>
                  </a:lnTo>
                  <a:lnTo>
                    <a:pt x="674" y="319"/>
                  </a:lnTo>
                  <a:lnTo>
                    <a:pt x="681" y="334"/>
                  </a:lnTo>
                  <a:lnTo>
                    <a:pt x="684" y="345"/>
                  </a:lnTo>
                  <a:lnTo>
                    <a:pt x="685" y="353"/>
                  </a:lnTo>
                  <a:lnTo>
                    <a:pt x="738" y="347"/>
                  </a:lnTo>
                  <a:lnTo>
                    <a:pt x="789" y="346"/>
                  </a:lnTo>
                  <a:lnTo>
                    <a:pt x="838" y="347"/>
                  </a:lnTo>
                  <a:lnTo>
                    <a:pt x="887" y="351"/>
                  </a:lnTo>
                  <a:lnTo>
                    <a:pt x="936" y="356"/>
                  </a:lnTo>
                  <a:lnTo>
                    <a:pt x="986" y="362"/>
                  </a:lnTo>
                  <a:lnTo>
                    <a:pt x="1036" y="365"/>
                  </a:lnTo>
                  <a:lnTo>
                    <a:pt x="1089" y="367"/>
                  </a:lnTo>
                  <a:lnTo>
                    <a:pt x="1106" y="369"/>
                  </a:lnTo>
                  <a:lnTo>
                    <a:pt x="1119" y="375"/>
                  </a:lnTo>
                  <a:lnTo>
                    <a:pt x="1130" y="384"/>
                  </a:lnTo>
                  <a:lnTo>
                    <a:pt x="1137" y="396"/>
                  </a:lnTo>
                  <a:lnTo>
                    <a:pt x="1142" y="408"/>
                  </a:lnTo>
                  <a:lnTo>
                    <a:pt x="1143" y="422"/>
                  </a:lnTo>
                  <a:lnTo>
                    <a:pt x="1142" y="436"/>
                  </a:lnTo>
                  <a:lnTo>
                    <a:pt x="1137" y="449"/>
                  </a:lnTo>
                  <a:lnTo>
                    <a:pt x="1130" y="460"/>
                  </a:lnTo>
                  <a:lnTo>
                    <a:pt x="1119" y="470"/>
                  </a:lnTo>
                  <a:lnTo>
                    <a:pt x="1106" y="476"/>
                  </a:lnTo>
                  <a:lnTo>
                    <a:pt x="1089" y="478"/>
                  </a:lnTo>
                  <a:lnTo>
                    <a:pt x="1055" y="477"/>
                  </a:lnTo>
                  <a:lnTo>
                    <a:pt x="1020" y="473"/>
                  </a:lnTo>
                  <a:lnTo>
                    <a:pt x="983" y="467"/>
                  </a:lnTo>
                  <a:lnTo>
                    <a:pt x="946" y="461"/>
                  </a:lnTo>
                  <a:lnTo>
                    <a:pt x="909" y="455"/>
                  </a:lnTo>
                  <a:lnTo>
                    <a:pt x="872" y="450"/>
                  </a:lnTo>
                  <a:lnTo>
                    <a:pt x="834" y="447"/>
                  </a:lnTo>
                  <a:lnTo>
                    <a:pt x="798" y="446"/>
                  </a:lnTo>
                  <a:lnTo>
                    <a:pt x="763" y="449"/>
                  </a:lnTo>
                  <a:lnTo>
                    <a:pt x="730" y="456"/>
                  </a:lnTo>
                  <a:lnTo>
                    <a:pt x="698" y="469"/>
                  </a:lnTo>
                  <a:lnTo>
                    <a:pt x="685" y="475"/>
                  </a:lnTo>
                  <a:lnTo>
                    <a:pt x="672" y="481"/>
                  </a:lnTo>
                  <a:lnTo>
                    <a:pt x="657" y="486"/>
                  </a:lnTo>
                  <a:lnTo>
                    <a:pt x="644" y="488"/>
                  </a:lnTo>
                  <a:lnTo>
                    <a:pt x="630" y="486"/>
                  </a:lnTo>
                  <a:lnTo>
                    <a:pt x="619" y="482"/>
                  </a:lnTo>
                  <a:lnTo>
                    <a:pt x="608" y="477"/>
                  </a:lnTo>
                  <a:lnTo>
                    <a:pt x="596" y="472"/>
                  </a:lnTo>
                  <a:lnTo>
                    <a:pt x="586" y="465"/>
                  </a:lnTo>
                  <a:lnTo>
                    <a:pt x="578" y="458"/>
                  </a:lnTo>
                  <a:lnTo>
                    <a:pt x="571" y="449"/>
                  </a:lnTo>
                  <a:lnTo>
                    <a:pt x="566" y="437"/>
                  </a:lnTo>
                  <a:lnTo>
                    <a:pt x="565" y="418"/>
                  </a:lnTo>
                  <a:lnTo>
                    <a:pt x="565" y="403"/>
                  </a:lnTo>
                  <a:lnTo>
                    <a:pt x="554" y="422"/>
                  </a:lnTo>
                  <a:lnTo>
                    <a:pt x="542" y="441"/>
                  </a:lnTo>
                  <a:lnTo>
                    <a:pt x="531" y="452"/>
                  </a:lnTo>
                  <a:lnTo>
                    <a:pt x="519" y="460"/>
                  </a:lnTo>
                  <a:lnTo>
                    <a:pt x="504" y="464"/>
                  </a:lnTo>
                  <a:lnTo>
                    <a:pt x="490" y="465"/>
                  </a:lnTo>
                  <a:lnTo>
                    <a:pt x="475" y="463"/>
                  </a:lnTo>
                  <a:lnTo>
                    <a:pt x="462" y="458"/>
                  </a:lnTo>
                  <a:lnTo>
                    <a:pt x="450" y="451"/>
                  </a:lnTo>
                  <a:lnTo>
                    <a:pt x="441" y="441"/>
                  </a:lnTo>
                  <a:lnTo>
                    <a:pt x="436" y="428"/>
                  </a:lnTo>
                  <a:lnTo>
                    <a:pt x="435" y="414"/>
                  </a:lnTo>
                  <a:lnTo>
                    <a:pt x="439" y="398"/>
                  </a:lnTo>
                  <a:lnTo>
                    <a:pt x="442" y="391"/>
                  </a:lnTo>
                  <a:lnTo>
                    <a:pt x="445" y="385"/>
                  </a:lnTo>
                  <a:lnTo>
                    <a:pt x="445" y="385"/>
                  </a:lnTo>
                  <a:lnTo>
                    <a:pt x="444" y="385"/>
                  </a:lnTo>
                  <a:lnTo>
                    <a:pt x="454" y="365"/>
                  </a:lnTo>
                  <a:lnTo>
                    <a:pt x="440" y="374"/>
                  </a:lnTo>
                  <a:lnTo>
                    <a:pt x="428" y="385"/>
                  </a:lnTo>
                  <a:lnTo>
                    <a:pt x="417" y="400"/>
                  </a:lnTo>
                  <a:lnTo>
                    <a:pt x="405" y="412"/>
                  </a:lnTo>
                  <a:lnTo>
                    <a:pt x="390" y="420"/>
                  </a:lnTo>
                  <a:lnTo>
                    <a:pt x="375" y="423"/>
                  </a:lnTo>
                  <a:lnTo>
                    <a:pt x="359" y="423"/>
                  </a:lnTo>
                  <a:lnTo>
                    <a:pt x="345" y="419"/>
                  </a:lnTo>
                  <a:lnTo>
                    <a:pt x="331" y="412"/>
                  </a:lnTo>
                  <a:lnTo>
                    <a:pt x="321" y="402"/>
                  </a:lnTo>
                  <a:lnTo>
                    <a:pt x="314" y="389"/>
                  </a:lnTo>
                  <a:lnTo>
                    <a:pt x="311" y="375"/>
                  </a:lnTo>
                  <a:lnTo>
                    <a:pt x="313" y="360"/>
                  </a:lnTo>
                  <a:lnTo>
                    <a:pt x="320" y="343"/>
                  </a:lnTo>
                  <a:lnTo>
                    <a:pt x="360" y="285"/>
                  </a:lnTo>
                  <a:lnTo>
                    <a:pt x="400" y="224"/>
                  </a:lnTo>
                  <a:lnTo>
                    <a:pt x="323" y="305"/>
                  </a:lnTo>
                  <a:lnTo>
                    <a:pt x="250" y="388"/>
                  </a:lnTo>
                  <a:lnTo>
                    <a:pt x="177" y="475"/>
                  </a:lnTo>
                  <a:lnTo>
                    <a:pt x="108" y="562"/>
                  </a:lnTo>
                  <a:lnTo>
                    <a:pt x="95" y="574"/>
                  </a:lnTo>
                  <a:lnTo>
                    <a:pt x="80" y="582"/>
                  </a:lnTo>
                  <a:lnTo>
                    <a:pt x="64" y="585"/>
                  </a:lnTo>
                  <a:lnTo>
                    <a:pt x="49" y="584"/>
                  </a:lnTo>
                  <a:lnTo>
                    <a:pt x="33" y="580"/>
                  </a:lnTo>
                  <a:lnTo>
                    <a:pt x="21" y="572"/>
                  </a:lnTo>
                  <a:lnTo>
                    <a:pt x="9" y="562"/>
                  </a:lnTo>
                  <a:lnTo>
                    <a:pt x="2" y="550"/>
                  </a:lnTo>
                  <a:lnTo>
                    <a:pt x="0" y="535"/>
                  </a:lnTo>
                  <a:lnTo>
                    <a:pt x="2" y="521"/>
                  </a:lnTo>
                  <a:lnTo>
                    <a:pt x="12" y="506"/>
                  </a:lnTo>
                  <a:lnTo>
                    <a:pt x="74" y="426"/>
                  </a:lnTo>
                  <a:lnTo>
                    <a:pt x="137" y="347"/>
                  </a:lnTo>
                  <a:lnTo>
                    <a:pt x="202" y="270"/>
                  </a:lnTo>
                  <a:lnTo>
                    <a:pt x="270" y="194"/>
                  </a:lnTo>
                  <a:lnTo>
                    <a:pt x="341" y="122"/>
                  </a:lnTo>
                  <a:lnTo>
                    <a:pt x="357" y="106"/>
                  </a:lnTo>
                  <a:lnTo>
                    <a:pt x="376" y="88"/>
                  </a:lnTo>
                  <a:lnTo>
                    <a:pt x="395" y="70"/>
                  </a:lnTo>
                  <a:lnTo>
                    <a:pt x="414" y="51"/>
                  </a:lnTo>
                  <a:lnTo>
                    <a:pt x="435" y="35"/>
                  </a:lnTo>
                  <a:lnTo>
                    <a:pt x="458" y="20"/>
                  </a:lnTo>
                  <a:lnTo>
                    <a:pt x="480" y="9"/>
                  </a:lnTo>
                  <a:lnTo>
                    <a:pt x="504" y="2"/>
                  </a:lnTo>
                  <a:lnTo>
                    <a:pt x="52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xmlns="" val="3558134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355E1EFF-0E64-B54C-89ED-BC2DC9EE1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052" y="1284187"/>
            <a:ext cx="5093447" cy="605292"/>
          </a:xfrm>
        </p:spPr>
        <p:txBody>
          <a:bodyPr anchor="t"/>
          <a:lstStyle/>
          <a:p>
            <a:r>
              <a:rPr lang="ru-RU" sz="1800" dirty="0"/>
              <a:t>Аудит в системе управленческого учета обеспечивает:</a:t>
            </a:r>
            <a:endParaRPr lang="ru-RU" sz="1800" b="1" dirty="0"/>
          </a:p>
        </p:txBody>
      </p:sp>
      <p:sp>
        <p:nvSpPr>
          <p:cNvPr id="10" name="Rectangle 11">
            <a:extLst>
              <a:ext uri="{FF2B5EF4-FFF2-40B4-BE49-F238E27FC236}">
                <a16:creationId xmlns="" xmlns:a16="http://schemas.microsoft.com/office/drawing/2014/main" id="{FCE0A8E7-FA95-1646-BFB7-ECD41C8EA0EC}"/>
              </a:ext>
            </a:extLst>
          </p:cNvPr>
          <p:cNvSpPr/>
          <p:nvPr/>
        </p:nvSpPr>
        <p:spPr>
          <a:xfrm>
            <a:off x="1291131" y="2162044"/>
            <a:ext cx="403932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Прозрачность (достоверность) информации и управления</a:t>
            </a:r>
            <a:endParaRPr lang="en-US" sz="1400" dirty="0"/>
          </a:p>
        </p:txBody>
      </p:sp>
      <p:sp>
        <p:nvSpPr>
          <p:cNvPr id="9" name="Rectangle 11">
            <a:extLst>
              <a:ext uri="{FF2B5EF4-FFF2-40B4-BE49-F238E27FC236}">
                <a16:creationId xmlns="" xmlns:a16="http://schemas.microsoft.com/office/drawing/2014/main" id="{204671A7-56E7-EE45-9417-150B0D301875}"/>
              </a:ext>
            </a:extLst>
          </p:cNvPr>
          <p:cNvSpPr/>
          <p:nvPr/>
        </p:nvSpPr>
        <p:spPr>
          <a:xfrm>
            <a:off x="1291131" y="3029205"/>
            <a:ext cx="403932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Повышение результативности, эффективности показателей деятельности предприятия</a:t>
            </a:r>
            <a:endParaRPr lang="en-US" sz="1400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42DE27E0-FBB1-854B-9D14-F3EC66B03208}"/>
              </a:ext>
            </a:extLst>
          </p:cNvPr>
          <p:cNvSpPr/>
          <p:nvPr/>
        </p:nvSpPr>
        <p:spPr>
          <a:xfrm>
            <a:off x="1291131" y="3773255"/>
            <a:ext cx="412438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Определение путей мобилизации всех имеющихся ресурсов организации, в том числе трудовых, финансовых и инвестиционных</a:t>
            </a:r>
            <a:endParaRPr lang="en-US" sz="1400" dirty="0"/>
          </a:p>
        </p:txBody>
      </p:sp>
      <p:sp>
        <p:nvSpPr>
          <p:cNvPr id="13" name="Oval 73">
            <a:extLst>
              <a:ext uri="{FF2B5EF4-FFF2-40B4-BE49-F238E27FC236}">
                <a16:creationId xmlns="" xmlns:a16="http://schemas.microsoft.com/office/drawing/2014/main" id="{C7038418-8119-514A-83A5-60CCADD5F6D5}"/>
              </a:ext>
            </a:extLst>
          </p:cNvPr>
          <p:cNvSpPr/>
          <p:nvPr/>
        </p:nvSpPr>
        <p:spPr>
          <a:xfrm>
            <a:off x="626217" y="2139858"/>
            <a:ext cx="545406" cy="545406"/>
          </a:xfrm>
          <a:prstGeom prst="ellipse">
            <a:avLst/>
          </a:prstGeom>
          <a:solidFill>
            <a:schemeClr val="accent2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4" name="Oval 73">
            <a:extLst>
              <a:ext uri="{FF2B5EF4-FFF2-40B4-BE49-F238E27FC236}">
                <a16:creationId xmlns="" xmlns:a16="http://schemas.microsoft.com/office/drawing/2014/main" id="{F6DD5B24-6673-9B41-AD34-6372FEC5AED9}"/>
              </a:ext>
            </a:extLst>
          </p:cNvPr>
          <p:cNvSpPr/>
          <p:nvPr/>
        </p:nvSpPr>
        <p:spPr>
          <a:xfrm>
            <a:off x="626217" y="3063188"/>
            <a:ext cx="545406" cy="545406"/>
          </a:xfrm>
          <a:prstGeom prst="ellipse">
            <a:avLst/>
          </a:prstGeom>
          <a:solidFill>
            <a:schemeClr val="accent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5" name="Oval 73">
            <a:extLst>
              <a:ext uri="{FF2B5EF4-FFF2-40B4-BE49-F238E27FC236}">
                <a16:creationId xmlns="" xmlns:a16="http://schemas.microsoft.com/office/drawing/2014/main" id="{77642AAF-4276-D84F-A35E-D0F25CCD2984}"/>
              </a:ext>
            </a:extLst>
          </p:cNvPr>
          <p:cNvSpPr/>
          <p:nvPr/>
        </p:nvSpPr>
        <p:spPr>
          <a:xfrm>
            <a:off x="626217" y="3903630"/>
            <a:ext cx="545406" cy="545406"/>
          </a:xfrm>
          <a:prstGeom prst="ellipse">
            <a:avLst/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26" name="Freeform 101">
            <a:extLst>
              <a:ext uri="{FF2B5EF4-FFF2-40B4-BE49-F238E27FC236}">
                <a16:creationId xmlns="" xmlns:a16="http://schemas.microsoft.com/office/drawing/2014/main" id="{D8937B01-A8C7-E942-A301-987D08B3D93E}"/>
              </a:ext>
            </a:extLst>
          </p:cNvPr>
          <p:cNvSpPr>
            <a:spLocks noChangeAspect="1"/>
          </p:cNvSpPr>
          <p:nvPr/>
        </p:nvSpPr>
        <p:spPr bwMode="auto">
          <a:xfrm>
            <a:off x="754486" y="2304568"/>
            <a:ext cx="288867" cy="216000"/>
          </a:xfrm>
          <a:custGeom>
            <a:avLst/>
            <a:gdLst>
              <a:gd name="T0" fmla="*/ 3303 w 3325"/>
              <a:gd name="T1" fmla="*/ 0 h 2495"/>
              <a:gd name="T2" fmla="*/ 3312 w 3325"/>
              <a:gd name="T3" fmla="*/ 3 h 2495"/>
              <a:gd name="T4" fmla="*/ 3319 w 3325"/>
              <a:gd name="T5" fmla="*/ 9 h 2495"/>
              <a:gd name="T6" fmla="*/ 3324 w 3325"/>
              <a:gd name="T7" fmla="*/ 18 h 2495"/>
              <a:gd name="T8" fmla="*/ 3325 w 3325"/>
              <a:gd name="T9" fmla="*/ 28 h 2495"/>
              <a:gd name="T10" fmla="*/ 3321 w 3325"/>
              <a:gd name="T11" fmla="*/ 38 h 2495"/>
              <a:gd name="T12" fmla="*/ 1856 w 3325"/>
              <a:gd name="T13" fmla="*/ 2458 h 2495"/>
              <a:gd name="T14" fmla="*/ 1844 w 3325"/>
              <a:gd name="T15" fmla="*/ 2473 h 2495"/>
              <a:gd name="T16" fmla="*/ 1829 w 3325"/>
              <a:gd name="T17" fmla="*/ 2484 h 2495"/>
              <a:gd name="T18" fmla="*/ 1813 w 3325"/>
              <a:gd name="T19" fmla="*/ 2491 h 2495"/>
              <a:gd name="T20" fmla="*/ 1796 w 3325"/>
              <a:gd name="T21" fmla="*/ 2495 h 2495"/>
              <a:gd name="T22" fmla="*/ 1778 w 3325"/>
              <a:gd name="T23" fmla="*/ 2495 h 2495"/>
              <a:gd name="T24" fmla="*/ 1761 w 3325"/>
              <a:gd name="T25" fmla="*/ 2490 h 2495"/>
              <a:gd name="T26" fmla="*/ 1745 w 3325"/>
              <a:gd name="T27" fmla="*/ 2482 h 2495"/>
              <a:gd name="T28" fmla="*/ 1341 w 3325"/>
              <a:gd name="T29" fmla="*/ 2206 h 2495"/>
              <a:gd name="T30" fmla="*/ 931 w 3325"/>
              <a:gd name="T31" fmla="*/ 2478 h 2495"/>
              <a:gd name="T32" fmla="*/ 916 w 3325"/>
              <a:gd name="T33" fmla="*/ 2485 h 2495"/>
              <a:gd name="T34" fmla="*/ 902 w 3325"/>
              <a:gd name="T35" fmla="*/ 2486 h 2495"/>
              <a:gd name="T36" fmla="*/ 888 w 3325"/>
              <a:gd name="T37" fmla="*/ 2483 h 2495"/>
              <a:gd name="T38" fmla="*/ 875 w 3325"/>
              <a:gd name="T39" fmla="*/ 2477 h 2495"/>
              <a:gd name="T40" fmla="*/ 865 w 3325"/>
              <a:gd name="T41" fmla="*/ 2466 h 2495"/>
              <a:gd name="T42" fmla="*/ 859 w 3325"/>
              <a:gd name="T43" fmla="*/ 2453 h 2495"/>
              <a:gd name="T44" fmla="*/ 856 w 3325"/>
              <a:gd name="T45" fmla="*/ 2437 h 2495"/>
              <a:gd name="T46" fmla="*/ 856 w 3325"/>
              <a:gd name="T47" fmla="*/ 1874 h 2495"/>
              <a:gd name="T48" fmla="*/ 2716 w 3325"/>
              <a:gd name="T49" fmla="*/ 483 h 2495"/>
              <a:gd name="T50" fmla="*/ 519 w 3325"/>
              <a:gd name="T51" fmla="*/ 1643 h 2495"/>
              <a:gd name="T52" fmla="*/ 34 w 3325"/>
              <a:gd name="T53" fmla="*/ 1313 h 2495"/>
              <a:gd name="T54" fmla="*/ 19 w 3325"/>
              <a:gd name="T55" fmla="*/ 1299 h 2495"/>
              <a:gd name="T56" fmla="*/ 8 w 3325"/>
              <a:gd name="T57" fmla="*/ 1283 h 2495"/>
              <a:gd name="T58" fmla="*/ 2 w 3325"/>
              <a:gd name="T59" fmla="*/ 1265 h 2495"/>
              <a:gd name="T60" fmla="*/ 0 w 3325"/>
              <a:gd name="T61" fmla="*/ 1247 h 2495"/>
              <a:gd name="T62" fmla="*/ 0 w 3325"/>
              <a:gd name="T63" fmla="*/ 1247 h 2495"/>
              <a:gd name="T64" fmla="*/ 2 w 3325"/>
              <a:gd name="T65" fmla="*/ 1229 h 2495"/>
              <a:gd name="T66" fmla="*/ 9 w 3325"/>
              <a:gd name="T67" fmla="*/ 1212 h 2495"/>
              <a:gd name="T68" fmla="*/ 19 w 3325"/>
              <a:gd name="T69" fmla="*/ 1196 h 2495"/>
              <a:gd name="T70" fmla="*/ 33 w 3325"/>
              <a:gd name="T71" fmla="*/ 1183 h 2495"/>
              <a:gd name="T72" fmla="*/ 51 w 3325"/>
              <a:gd name="T73" fmla="*/ 1174 h 2495"/>
              <a:gd name="T74" fmla="*/ 3292 w 3325"/>
              <a:gd name="T75" fmla="*/ 2 h 2495"/>
              <a:gd name="T76" fmla="*/ 3303 w 3325"/>
              <a:gd name="T77" fmla="*/ 0 h 24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3325" h="2495">
                <a:moveTo>
                  <a:pt x="3303" y="0"/>
                </a:moveTo>
                <a:lnTo>
                  <a:pt x="3312" y="3"/>
                </a:lnTo>
                <a:lnTo>
                  <a:pt x="3319" y="9"/>
                </a:lnTo>
                <a:lnTo>
                  <a:pt x="3324" y="18"/>
                </a:lnTo>
                <a:lnTo>
                  <a:pt x="3325" y="28"/>
                </a:lnTo>
                <a:lnTo>
                  <a:pt x="3321" y="38"/>
                </a:lnTo>
                <a:lnTo>
                  <a:pt x="1856" y="2458"/>
                </a:lnTo>
                <a:lnTo>
                  <a:pt x="1844" y="2473"/>
                </a:lnTo>
                <a:lnTo>
                  <a:pt x="1829" y="2484"/>
                </a:lnTo>
                <a:lnTo>
                  <a:pt x="1813" y="2491"/>
                </a:lnTo>
                <a:lnTo>
                  <a:pt x="1796" y="2495"/>
                </a:lnTo>
                <a:lnTo>
                  <a:pt x="1778" y="2495"/>
                </a:lnTo>
                <a:lnTo>
                  <a:pt x="1761" y="2490"/>
                </a:lnTo>
                <a:lnTo>
                  <a:pt x="1745" y="2482"/>
                </a:lnTo>
                <a:lnTo>
                  <a:pt x="1341" y="2206"/>
                </a:lnTo>
                <a:lnTo>
                  <a:pt x="931" y="2478"/>
                </a:lnTo>
                <a:lnTo>
                  <a:pt x="916" y="2485"/>
                </a:lnTo>
                <a:lnTo>
                  <a:pt x="902" y="2486"/>
                </a:lnTo>
                <a:lnTo>
                  <a:pt x="888" y="2483"/>
                </a:lnTo>
                <a:lnTo>
                  <a:pt x="875" y="2477"/>
                </a:lnTo>
                <a:lnTo>
                  <a:pt x="865" y="2466"/>
                </a:lnTo>
                <a:lnTo>
                  <a:pt x="859" y="2453"/>
                </a:lnTo>
                <a:lnTo>
                  <a:pt x="856" y="2437"/>
                </a:lnTo>
                <a:lnTo>
                  <a:pt x="856" y="1874"/>
                </a:lnTo>
                <a:lnTo>
                  <a:pt x="2716" y="483"/>
                </a:lnTo>
                <a:lnTo>
                  <a:pt x="519" y="1643"/>
                </a:lnTo>
                <a:lnTo>
                  <a:pt x="34" y="1313"/>
                </a:lnTo>
                <a:lnTo>
                  <a:pt x="19" y="1299"/>
                </a:lnTo>
                <a:lnTo>
                  <a:pt x="8" y="1283"/>
                </a:lnTo>
                <a:lnTo>
                  <a:pt x="2" y="1265"/>
                </a:lnTo>
                <a:lnTo>
                  <a:pt x="0" y="1247"/>
                </a:lnTo>
                <a:lnTo>
                  <a:pt x="0" y="1247"/>
                </a:lnTo>
                <a:lnTo>
                  <a:pt x="2" y="1229"/>
                </a:lnTo>
                <a:lnTo>
                  <a:pt x="9" y="1212"/>
                </a:lnTo>
                <a:lnTo>
                  <a:pt x="19" y="1196"/>
                </a:lnTo>
                <a:lnTo>
                  <a:pt x="33" y="1183"/>
                </a:lnTo>
                <a:lnTo>
                  <a:pt x="51" y="1174"/>
                </a:lnTo>
                <a:lnTo>
                  <a:pt x="3292" y="2"/>
                </a:lnTo>
                <a:lnTo>
                  <a:pt x="3303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" name="Freeform 1103">
            <a:extLst>
              <a:ext uri="{FF2B5EF4-FFF2-40B4-BE49-F238E27FC236}">
                <a16:creationId xmlns="" xmlns:a16="http://schemas.microsoft.com/office/drawing/2014/main" id="{42C40CD8-42C5-2748-8268-EF56485AB16F}"/>
              </a:ext>
            </a:extLst>
          </p:cNvPr>
          <p:cNvSpPr>
            <a:spLocks noChangeAspect="1"/>
          </p:cNvSpPr>
          <p:nvPr/>
        </p:nvSpPr>
        <p:spPr bwMode="auto">
          <a:xfrm>
            <a:off x="745725" y="4023139"/>
            <a:ext cx="288000" cy="288000"/>
          </a:xfrm>
          <a:custGeom>
            <a:avLst/>
            <a:gdLst>
              <a:gd name="T0" fmla="*/ 3046 w 3472"/>
              <a:gd name="T1" fmla="*/ 20 h 3476"/>
              <a:gd name="T2" fmla="*/ 3243 w 3472"/>
              <a:gd name="T3" fmla="*/ 118 h 3476"/>
              <a:gd name="T4" fmla="*/ 3386 w 3472"/>
              <a:gd name="T5" fmla="*/ 278 h 3476"/>
              <a:gd name="T6" fmla="*/ 3461 w 3472"/>
              <a:gd name="T7" fmla="*/ 473 h 3476"/>
              <a:gd name="T8" fmla="*/ 3462 w 3472"/>
              <a:gd name="T9" fmla="*/ 684 h 3476"/>
              <a:gd name="T10" fmla="*/ 3385 w 3472"/>
              <a:gd name="T11" fmla="*/ 887 h 3476"/>
              <a:gd name="T12" fmla="*/ 3243 w 3472"/>
              <a:gd name="T13" fmla="*/ 1043 h 3476"/>
              <a:gd name="T14" fmla="*/ 3064 w 3472"/>
              <a:gd name="T15" fmla="*/ 1135 h 3476"/>
              <a:gd name="T16" fmla="*/ 2866 w 3472"/>
              <a:gd name="T17" fmla="*/ 1161 h 3476"/>
              <a:gd name="T18" fmla="*/ 2578 w 3472"/>
              <a:gd name="T19" fmla="*/ 2507 h 3476"/>
              <a:gd name="T20" fmla="*/ 2649 w 3472"/>
              <a:gd name="T21" fmla="*/ 2717 h 3476"/>
              <a:gd name="T22" fmla="*/ 2635 w 3472"/>
              <a:gd name="T23" fmla="*/ 2939 h 3476"/>
              <a:gd name="T24" fmla="*/ 2535 w 3472"/>
              <a:gd name="T25" fmla="*/ 3144 h 3476"/>
              <a:gd name="T26" fmla="*/ 2377 w 3472"/>
              <a:gd name="T27" fmla="*/ 3287 h 3476"/>
              <a:gd name="T28" fmla="*/ 2182 w 3472"/>
              <a:gd name="T29" fmla="*/ 3362 h 3476"/>
              <a:gd name="T30" fmla="*/ 1972 w 3472"/>
              <a:gd name="T31" fmla="*/ 3363 h 3476"/>
              <a:gd name="T32" fmla="*/ 1770 w 3472"/>
              <a:gd name="T33" fmla="*/ 3286 h 3476"/>
              <a:gd name="T34" fmla="*/ 1612 w 3472"/>
              <a:gd name="T35" fmla="*/ 3140 h 3476"/>
              <a:gd name="T36" fmla="*/ 1518 w 3472"/>
              <a:gd name="T37" fmla="*/ 2952 h 3476"/>
              <a:gd name="T38" fmla="*/ 1498 w 3472"/>
              <a:gd name="T39" fmla="*/ 2744 h 3476"/>
              <a:gd name="T40" fmla="*/ 1556 w 3472"/>
              <a:gd name="T41" fmla="*/ 2539 h 3476"/>
              <a:gd name="T42" fmla="*/ 1679 w 3472"/>
              <a:gd name="T43" fmla="*/ 2372 h 3476"/>
              <a:gd name="T44" fmla="*/ 979 w 3472"/>
              <a:gd name="T45" fmla="*/ 1502 h 3476"/>
              <a:gd name="T46" fmla="*/ 489 w 3472"/>
              <a:gd name="T47" fmla="*/ 2874 h 3476"/>
              <a:gd name="T48" fmla="*/ 600 w 3472"/>
              <a:gd name="T49" fmla="*/ 2984 h 3476"/>
              <a:gd name="T50" fmla="*/ 648 w 3472"/>
              <a:gd name="T51" fmla="*/ 3133 h 3476"/>
              <a:gd name="T52" fmla="*/ 617 w 3472"/>
              <a:gd name="T53" fmla="*/ 3291 h 3476"/>
              <a:gd name="T54" fmla="*/ 520 w 3472"/>
              <a:gd name="T55" fmla="*/ 3412 h 3476"/>
              <a:gd name="T56" fmla="*/ 380 w 3472"/>
              <a:gd name="T57" fmla="*/ 3472 h 3476"/>
              <a:gd name="T58" fmla="*/ 223 w 3472"/>
              <a:gd name="T59" fmla="*/ 3461 h 3476"/>
              <a:gd name="T60" fmla="*/ 90 w 3472"/>
              <a:gd name="T61" fmla="*/ 3378 h 3476"/>
              <a:gd name="T62" fmla="*/ 13 w 3472"/>
              <a:gd name="T63" fmla="*/ 3247 h 3476"/>
              <a:gd name="T64" fmla="*/ 5 w 3472"/>
              <a:gd name="T65" fmla="*/ 3092 h 3476"/>
              <a:gd name="T66" fmla="*/ 72 w 3472"/>
              <a:gd name="T67" fmla="*/ 2950 h 3476"/>
              <a:gd name="T68" fmla="*/ 190 w 3472"/>
              <a:gd name="T69" fmla="*/ 2858 h 3476"/>
              <a:gd name="T70" fmla="*/ 753 w 3472"/>
              <a:gd name="T71" fmla="*/ 1478 h 3476"/>
              <a:gd name="T72" fmla="*/ 613 w 3472"/>
              <a:gd name="T73" fmla="*/ 1369 h 3476"/>
              <a:gd name="T74" fmla="*/ 540 w 3472"/>
              <a:gd name="T75" fmla="*/ 1211 h 3476"/>
              <a:gd name="T76" fmla="*/ 545 w 3472"/>
              <a:gd name="T77" fmla="*/ 1035 h 3476"/>
              <a:gd name="T78" fmla="*/ 630 w 3472"/>
              <a:gd name="T79" fmla="*/ 882 h 3476"/>
              <a:gd name="T80" fmla="*/ 765 w 3472"/>
              <a:gd name="T81" fmla="*/ 787 h 3476"/>
              <a:gd name="T82" fmla="*/ 928 w 3472"/>
              <a:gd name="T83" fmla="*/ 758 h 3476"/>
              <a:gd name="T84" fmla="*/ 1094 w 3472"/>
              <a:gd name="T85" fmla="*/ 806 h 3476"/>
              <a:gd name="T86" fmla="*/ 1220 w 3472"/>
              <a:gd name="T87" fmla="*/ 919 h 3476"/>
              <a:gd name="T88" fmla="*/ 1283 w 3472"/>
              <a:gd name="T89" fmla="*/ 1071 h 3476"/>
              <a:gd name="T90" fmla="*/ 1274 w 3472"/>
              <a:gd name="T91" fmla="*/ 1239 h 3476"/>
              <a:gd name="T92" fmla="*/ 1207 w 3472"/>
              <a:gd name="T93" fmla="*/ 1373 h 3476"/>
              <a:gd name="T94" fmla="*/ 1962 w 3472"/>
              <a:gd name="T95" fmla="*/ 2227 h 3476"/>
              <a:gd name="T96" fmla="*/ 2181 w 3472"/>
              <a:gd name="T97" fmla="*/ 2226 h 3476"/>
              <a:gd name="T98" fmla="*/ 2713 w 3472"/>
              <a:gd name="T99" fmla="*/ 1135 h 3476"/>
              <a:gd name="T100" fmla="*/ 2540 w 3472"/>
              <a:gd name="T101" fmla="*/ 1045 h 3476"/>
              <a:gd name="T102" fmla="*/ 2397 w 3472"/>
              <a:gd name="T103" fmla="*/ 885 h 3476"/>
              <a:gd name="T104" fmla="*/ 2322 w 3472"/>
              <a:gd name="T105" fmla="*/ 690 h 3476"/>
              <a:gd name="T106" fmla="*/ 2321 w 3472"/>
              <a:gd name="T107" fmla="*/ 481 h 3476"/>
              <a:gd name="T108" fmla="*/ 2398 w 3472"/>
              <a:gd name="T109" fmla="*/ 278 h 3476"/>
              <a:gd name="T110" fmla="*/ 2545 w 3472"/>
              <a:gd name="T111" fmla="*/ 116 h 3476"/>
              <a:gd name="T112" fmla="*/ 2733 w 3472"/>
              <a:gd name="T113" fmla="*/ 23 h 34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472" h="3476">
                <a:moveTo>
                  <a:pt x="2889" y="0"/>
                </a:moveTo>
                <a:lnTo>
                  <a:pt x="2941" y="2"/>
                </a:lnTo>
                <a:lnTo>
                  <a:pt x="2994" y="9"/>
                </a:lnTo>
                <a:lnTo>
                  <a:pt x="3046" y="20"/>
                </a:lnTo>
                <a:lnTo>
                  <a:pt x="3097" y="37"/>
                </a:lnTo>
                <a:lnTo>
                  <a:pt x="3148" y="60"/>
                </a:lnTo>
                <a:lnTo>
                  <a:pt x="3197" y="86"/>
                </a:lnTo>
                <a:lnTo>
                  <a:pt x="3243" y="118"/>
                </a:lnTo>
                <a:lnTo>
                  <a:pt x="3285" y="154"/>
                </a:lnTo>
                <a:lnTo>
                  <a:pt x="3323" y="192"/>
                </a:lnTo>
                <a:lnTo>
                  <a:pt x="3357" y="233"/>
                </a:lnTo>
                <a:lnTo>
                  <a:pt x="3386" y="278"/>
                </a:lnTo>
                <a:lnTo>
                  <a:pt x="3412" y="324"/>
                </a:lnTo>
                <a:lnTo>
                  <a:pt x="3433" y="373"/>
                </a:lnTo>
                <a:lnTo>
                  <a:pt x="3450" y="423"/>
                </a:lnTo>
                <a:lnTo>
                  <a:pt x="3461" y="473"/>
                </a:lnTo>
                <a:lnTo>
                  <a:pt x="3469" y="525"/>
                </a:lnTo>
                <a:lnTo>
                  <a:pt x="3472" y="578"/>
                </a:lnTo>
                <a:lnTo>
                  <a:pt x="3470" y="631"/>
                </a:lnTo>
                <a:lnTo>
                  <a:pt x="3462" y="684"/>
                </a:lnTo>
                <a:lnTo>
                  <a:pt x="3451" y="736"/>
                </a:lnTo>
                <a:lnTo>
                  <a:pt x="3434" y="788"/>
                </a:lnTo>
                <a:lnTo>
                  <a:pt x="3413" y="838"/>
                </a:lnTo>
                <a:lnTo>
                  <a:pt x="3385" y="887"/>
                </a:lnTo>
                <a:lnTo>
                  <a:pt x="3354" y="932"/>
                </a:lnTo>
                <a:lnTo>
                  <a:pt x="3321" y="973"/>
                </a:lnTo>
                <a:lnTo>
                  <a:pt x="3284" y="1009"/>
                </a:lnTo>
                <a:lnTo>
                  <a:pt x="3243" y="1043"/>
                </a:lnTo>
                <a:lnTo>
                  <a:pt x="3201" y="1071"/>
                </a:lnTo>
                <a:lnTo>
                  <a:pt x="3158" y="1097"/>
                </a:lnTo>
                <a:lnTo>
                  <a:pt x="3111" y="1118"/>
                </a:lnTo>
                <a:lnTo>
                  <a:pt x="3064" y="1135"/>
                </a:lnTo>
                <a:lnTo>
                  <a:pt x="3016" y="1147"/>
                </a:lnTo>
                <a:lnTo>
                  <a:pt x="2966" y="1156"/>
                </a:lnTo>
                <a:lnTo>
                  <a:pt x="2915" y="1160"/>
                </a:lnTo>
                <a:lnTo>
                  <a:pt x="2866" y="1161"/>
                </a:lnTo>
                <a:lnTo>
                  <a:pt x="2473" y="2374"/>
                </a:lnTo>
                <a:lnTo>
                  <a:pt x="2512" y="2415"/>
                </a:lnTo>
                <a:lnTo>
                  <a:pt x="2547" y="2461"/>
                </a:lnTo>
                <a:lnTo>
                  <a:pt x="2578" y="2507"/>
                </a:lnTo>
                <a:lnTo>
                  <a:pt x="2603" y="2557"/>
                </a:lnTo>
                <a:lnTo>
                  <a:pt x="2623" y="2609"/>
                </a:lnTo>
                <a:lnTo>
                  <a:pt x="2638" y="2663"/>
                </a:lnTo>
                <a:lnTo>
                  <a:pt x="2649" y="2717"/>
                </a:lnTo>
                <a:lnTo>
                  <a:pt x="2653" y="2772"/>
                </a:lnTo>
                <a:lnTo>
                  <a:pt x="2653" y="2828"/>
                </a:lnTo>
                <a:lnTo>
                  <a:pt x="2647" y="2884"/>
                </a:lnTo>
                <a:lnTo>
                  <a:pt x="2635" y="2939"/>
                </a:lnTo>
                <a:lnTo>
                  <a:pt x="2618" y="2993"/>
                </a:lnTo>
                <a:lnTo>
                  <a:pt x="2596" y="3047"/>
                </a:lnTo>
                <a:lnTo>
                  <a:pt x="2567" y="3099"/>
                </a:lnTo>
                <a:lnTo>
                  <a:pt x="2535" y="3144"/>
                </a:lnTo>
                <a:lnTo>
                  <a:pt x="2499" y="3187"/>
                </a:lnTo>
                <a:lnTo>
                  <a:pt x="2461" y="3225"/>
                </a:lnTo>
                <a:lnTo>
                  <a:pt x="2420" y="3257"/>
                </a:lnTo>
                <a:lnTo>
                  <a:pt x="2377" y="3287"/>
                </a:lnTo>
                <a:lnTo>
                  <a:pt x="2330" y="3312"/>
                </a:lnTo>
                <a:lnTo>
                  <a:pt x="2281" y="3334"/>
                </a:lnTo>
                <a:lnTo>
                  <a:pt x="2233" y="3351"/>
                </a:lnTo>
                <a:lnTo>
                  <a:pt x="2182" y="3362"/>
                </a:lnTo>
                <a:lnTo>
                  <a:pt x="2130" y="3370"/>
                </a:lnTo>
                <a:lnTo>
                  <a:pt x="2077" y="3373"/>
                </a:lnTo>
                <a:lnTo>
                  <a:pt x="2025" y="3371"/>
                </a:lnTo>
                <a:lnTo>
                  <a:pt x="1972" y="3363"/>
                </a:lnTo>
                <a:lnTo>
                  <a:pt x="1921" y="3352"/>
                </a:lnTo>
                <a:lnTo>
                  <a:pt x="1870" y="3335"/>
                </a:lnTo>
                <a:lnTo>
                  <a:pt x="1819" y="3314"/>
                </a:lnTo>
                <a:lnTo>
                  <a:pt x="1770" y="3286"/>
                </a:lnTo>
                <a:lnTo>
                  <a:pt x="1725" y="3254"/>
                </a:lnTo>
                <a:lnTo>
                  <a:pt x="1683" y="3219"/>
                </a:lnTo>
                <a:lnTo>
                  <a:pt x="1644" y="3181"/>
                </a:lnTo>
                <a:lnTo>
                  <a:pt x="1612" y="3140"/>
                </a:lnTo>
                <a:lnTo>
                  <a:pt x="1582" y="3096"/>
                </a:lnTo>
                <a:lnTo>
                  <a:pt x="1557" y="3049"/>
                </a:lnTo>
                <a:lnTo>
                  <a:pt x="1535" y="3001"/>
                </a:lnTo>
                <a:lnTo>
                  <a:pt x="1518" y="2952"/>
                </a:lnTo>
                <a:lnTo>
                  <a:pt x="1507" y="2901"/>
                </a:lnTo>
                <a:lnTo>
                  <a:pt x="1499" y="2849"/>
                </a:lnTo>
                <a:lnTo>
                  <a:pt x="1496" y="2797"/>
                </a:lnTo>
                <a:lnTo>
                  <a:pt x="1498" y="2744"/>
                </a:lnTo>
                <a:lnTo>
                  <a:pt x="1505" y="2691"/>
                </a:lnTo>
                <a:lnTo>
                  <a:pt x="1517" y="2639"/>
                </a:lnTo>
                <a:lnTo>
                  <a:pt x="1534" y="2589"/>
                </a:lnTo>
                <a:lnTo>
                  <a:pt x="1556" y="2539"/>
                </a:lnTo>
                <a:lnTo>
                  <a:pt x="1583" y="2490"/>
                </a:lnTo>
                <a:lnTo>
                  <a:pt x="1613" y="2447"/>
                </a:lnTo>
                <a:lnTo>
                  <a:pt x="1644" y="2407"/>
                </a:lnTo>
                <a:lnTo>
                  <a:pt x="1679" y="2372"/>
                </a:lnTo>
                <a:lnTo>
                  <a:pt x="1088" y="1465"/>
                </a:lnTo>
                <a:lnTo>
                  <a:pt x="1054" y="1481"/>
                </a:lnTo>
                <a:lnTo>
                  <a:pt x="1017" y="1493"/>
                </a:lnTo>
                <a:lnTo>
                  <a:pt x="979" y="1502"/>
                </a:lnTo>
                <a:lnTo>
                  <a:pt x="941" y="1507"/>
                </a:lnTo>
                <a:lnTo>
                  <a:pt x="903" y="1509"/>
                </a:lnTo>
                <a:lnTo>
                  <a:pt x="452" y="2855"/>
                </a:lnTo>
                <a:lnTo>
                  <a:pt x="489" y="2874"/>
                </a:lnTo>
                <a:lnTo>
                  <a:pt x="522" y="2897"/>
                </a:lnTo>
                <a:lnTo>
                  <a:pt x="551" y="2923"/>
                </a:lnTo>
                <a:lnTo>
                  <a:pt x="578" y="2953"/>
                </a:lnTo>
                <a:lnTo>
                  <a:pt x="600" y="2984"/>
                </a:lnTo>
                <a:lnTo>
                  <a:pt x="619" y="3019"/>
                </a:lnTo>
                <a:lnTo>
                  <a:pt x="633" y="3055"/>
                </a:lnTo>
                <a:lnTo>
                  <a:pt x="642" y="3093"/>
                </a:lnTo>
                <a:lnTo>
                  <a:pt x="648" y="3133"/>
                </a:lnTo>
                <a:lnTo>
                  <a:pt x="648" y="3173"/>
                </a:lnTo>
                <a:lnTo>
                  <a:pt x="642" y="3213"/>
                </a:lnTo>
                <a:lnTo>
                  <a:pt x="632" y="3253"/>
                </a:lnTo>
                <a:lnTo>
                  <a:pt x="617" y="3291"/>
                </a:lnTo>
                <a:lnTo>
                  <a:pt x="598" y="3326"/>
                </a:lnTo>
                <a:lnTo>
                  <a:pt x="576" y="3358"/>
                </a:lnTo>
                <a:lnTo>
                  <a:pt x="549" y="3387"/>
                </a:lnTo>
                <a:lnTo>
                  <a:pt x="520" y="3412"/>
                </a:lnTo>
                <a:lnTo>
                  <a:pt x="488" y="3433"/>
                </a:lnTo>
                <a:lnTo>
                  <a:pt x="454" y="3450"/>
                </a:lnTo>
                <a:lnTo>
                  <a:pt x="418" y="3464"/>
                </a:lnTo>
                <a:lnTo>
                  <a:pt x="380" y="3472"/>
                </a:lnTo>
                <a:lnTo>
                  <a:pt x="342" y="3476"/>
                </a:lnTo>
                <a:lnTo>
                  <a:pt x="303" y="3476"/>
                </a:lnTo>
                <a:lnTo>
                  <a:pt x="262" y="3471"/>
                </a:lnTo>
                <a:lnTo>
                  <a:pt x="223" y="3461"/>
                </a:lnTo>
                <a:lnTo>
                  <a:pt x="185" y="3446"/>
                </a:lnTo>
                <a:lnTo>
                  <a:pt x="150" y="3427"/>
                </a:lnTo>
                <a:lnTo>
                  <a:pt x="119" y="3405"/>
                </a:lnTo>
                <a:lnTo>
                  <a:pt x="90" y="3378"/>
                </a:lnTo>
                <a:lnTo>
                  <a:pt x="65" y="3348"/>
                </a:lnTo>
                <a:lnTo>
                  <a:pt x="43" y="3317"/>
                </a:lnTo>
                <a:lnTo>
                  <a:pt x="26" y="3283"/>
                </a:lnTo>
                <a:lnTo>
                  <a:pt x="13" y="3247"/>
                </a:lnTo>
                <a:lnTo>
                  <a:pt x="4" y="3210"/>
                </a:lnTo>
                <a:lnTo>
                  <a:pt x="0" y="3171"/>
                </a:lnTo>
                <a:lnTo>
                  <a:pt x="0" y="3132"/>
                </a:lnTo>
                <a:lnTo>
                  <a:pt x="5" y="3092"/>
                </a:lnTo>
                <a:lnTo>
                  <a:pt x="16" y="3052"/>
                </a:lnTo>
                <a:lnTo>
                  <a:pt x="31" y="3015"/>
                </a:lnTo>
                <a:lnTo>
                  <a:pt x="49" y="2981"/>
                </a:lnTo>
                <a:lnTo>
                  <a:pt x="72" y="2950"/>
                </a:lnTo>
                <a:lnTo>
                  <a:pt x="97" y="2922"/>
                </a:lnTo>
                <a:lnTo>
                  <a:pt x="126" y="2898"/>
                </a:lnTo>
                <a:lnTo>
                  <a:pt x="158" y="2876"/>
                </a:lnTo>
                <a:lnTo>
                  <a:pt x="190" y="2858"/>
                </a:lnTo>
                <a:lnTo>
                  <a:pt x="226" y="2845"/>
                </a:lnTo>
                <a:lnTo>
                  <a:pt x="262" y="2836"/>
                </a:lnTo>
                <a:lnTo>
                  <a:pt x="301" y="2831"/>
                </a:lnTo>
                <a:lnTo>
                  <a:pt x="753" y="1478"/>
                </a:lnTo>
                <a:lnTo>
                  <a:pt x="712" y="1456"/>
                </a:lnTo>
                <a:lnTo>
                  <a:pt x="675" y="1431"/>
                </a:lnTo>
                <a:lnTo>
                  <a:pt x="642" y="1401"/>
                </a:lnTo>
                <a:lnTo>
                  <a:pt x="613" y="1369"/>
                </a:lnTo>
                <a:lnTo>
                  <a:pt x="587" y="1333"/>
                </a:lnTo>
                <a:lnTo>
                  <a:pt x="567" y="1295"/>
                </a:lnTo>
                <a:lnTo>
                  <a:pt x="551" y="1253"/>
                </a:lnTo>
                <a:lnTo>
                  <a:pt x="540" y="1211"/>
                </a:lnTo>
                <a:lnTo>
                  <a:pt x="533" y="1169"/>
                </a:lnTo>
                <a:lnTo>
                  <a:pt x="531" y="1124"/>
                </a:lnTo>
                <a:lnTo>
                  <a:pt x="535" y="1080"/>
                </a:lnTo>
                <a:lnTo>
                  <a:pt x="545" y="1035"/>
                </a:lnTo>
                <a:lnTo>
                  <a:pt x="560" y="992"/>
                </a:lnTo>
                <a:lnTo>
                  <a:pt x="579" y="952"/>
                </a:lnTo>
                <a:lnTo>
                  <a:pt x="602" y="915"/>
                </a:lnTo>
                <a:lnTo>
                  <a:pt x="630" y="882"/>
                </a:lnTo>
                <a:lnTo>
                  <a:pt x="659" y="852"/>
                </a:lnTo>
                <a:lnTo>
                  <a:pt x="692" y="827"/>
                </a:lnTo>
                <a:lnTo>
                  <a:pt x="728" y="805"/>
                </a:lnTo>
                <a:lnTo>
                  <a:pt x="765" y="787"/>
                </a:lnTo>
                <a:lnTo>
                  <a:pt x="804" y="773"/>
                </a:lnTo>
                <a:lnTo>
                  <a:pt x="844" y="763"/>
                </a:lnTo>
                <a:lnTo>
                  <a:pt x="886" y="758"/>
                </a:lnTo>
                <a:lnTo>
                  <a:pt x="928" y="758"/>
                </a:lnTo>
                <a:lnTo>
                  <a:pt x="970" y="762"/>
                </a:lnTo>
                <a:lnTo>
                  <a:pt x="1013" y="772"/>
                </a:lnTo>
                <a:lnTo>
                  <a:pt x="1055" y="787"/>
                </a:lnTo>
                <a:lnTo>
                  <a:pt x="1094" y="806"/>
                </a:lnTo>
                <a:lnTo>
                  <a:pt x="1131" y="829"/>
                </a:lnTo>
                <a:lnTo>
                  <a:pt x="1164" y="856"/>
                </a:lnTo>
                <a:lnTo>
                  <a:pt x="1194" y="886"/>
                </a:lnTo>
                <a:lnTo>
                  <a:pt x="1220" y="919"/>
                </a:lnTo>
                <a:lnTo>
                  <a:pt x="1242" y="955"/>
                </a:lnTo>
                <a:lnTo>
                  <a:pt x="1259" y="992"/>
                </a:lnTo>
                <a:lnTo>
                  <a:pt x="1273" y="1031"/>
                </a:lnTo>
                <a:lnTo>
                  <a:pt x="1283" y="1071"/>
                </a:lnTo>
                <a:lnTo>
                  <a:pt x="1288" y="1112"/>
                </a:lnTo>
                <a:lnTo>
                  <a:pt x="1288" y="1155"/>
                </a:lnTo>
                <a:lnTo>
                  <a:pt x="1284" y="1197"/>
                </a:lnTo>
                <a:lnTo>
                  <a:pt x="1274" y="1239"/>
                </a:lnTo>
                <a:lnTo>
                  <a:pt x="1259" y="1282"/>
                </a:lnTo>
                <a:lnTo>
                  <a:pt x="1244" y="1314"/>
                </a:lnTo>
                <a:lnTo>
                  <a:pt x="1227" y="1344"/>
                </a:lnTo>
                <a:lnTo>
                  <a:pt x="1207" y="1373"/>
                </a:lnTo>
                <a:lnTo>
                  <a:pt x="1806" y="2282"/>
                </a:lnTo>
                <a:lnTo>
                  <a:pt x="1857" y="2259"/>
                </a:lnTo>
                <a:lnTo>
                  <a:pt x="1908" y="2239"/>
                </a:lnTo>
                <a:lnTo>
                  <a:pt x="1962" y="2227"/>
                </a:lnTo>
                <a:lnTo>
                  <a:pt x="2016" y="2218"/>
                </a:lnTo>
                <a:lnTo>
                  <a:pt x="2071" y="2215"/>
                </a:lnTo>
                <a:lnTo>
                  <a:pt x="2126" y="2217"/>
                </a:lnTo>
                <a:lnTo>
                  <a:pt x="2181" y="2226"/>
                </a:lnTo>
                <a:lnTo>
                  <a:pt x="2236" y="2238"/>
                </a:lnTo>
                <a:lnTo>
                  <a:pt x="2290" y="2257"/>
                </a:lnTo>
                <a:lnTo>
                  <a:pt x="2343" y="2282"/>
                </a:lnTo>
                <a:lnTo>
                  <a:pt x="2713" y="1135"/>
                </a:lnTo>
                <a:lnTo>
                  <a:pt x="2670" y="1119"/>
                </a:lnTo>
                <a:lnTo>
                  <a:pt x="2627" y="1099"/>
                </a:lnTo>
                <a:lnTo>
                  <a:pt x="2586" y="1077"/>
                </a:lnTo>
                <a:lnTo>
                  <a:pt x="2540" y="1045"/>
                </a:lnTo>
                <a:lnTo>
                  <a:pt x="2498" y="1009"/>
                </a:lnTo>
                <a:lnTo>
                  <a:pt x="2460" y="971"/>
                </a:lnTo>
                <a:lnTo>
                  <a:pt x="2426" y="929"/>
                </a:lnTo>
                <a:lnTo>
                  <a:pt x="2397" y="885"/>
                </a:lnTo>
                <a:lnTo>
                  <a:pt x="2371" y="839"/>
                </a:lnTo>
                <a:lnTo>
                  <a:pt x="2350" y="791"/>
                </a:lnTo>
                <a:lnTo>
                  <a:pt x="2334" y="741"/>
                </a:lnTo>
                <a:lnTo>
                  <a:pt x="2322" y="690"/>
                </a:lnTo>
                <a:lnTo>
                  <a:pt x="2314" y="638"/>
                </a:lnTo>
                <a:lnTo>
                  <a:pt x="2312" y="586"/>
                </a:lnTo>
                <a:lnTo>
                  <a:pt x="2314" y="534"/>
                </a:lnTo>
                <a:lnTo>
                  <a:pt x="2321" y="481"/>
                </a:lnTo>
                <a:lnTo>
                  <a:pt x="2332" y="428"/>
                </a:lnTo>
                <a:lnTo>
                  <a:pt x="2349" y="377"/>
                </a:lnTo>
                <a:lnTo>
                  <a:pt x="2371" y="326"/>
                </a:lnTo>
                <a:lnTo>
                  <a:pt x="2398" y="278"/>
                </a:lnTo>
                <a:lnTo>
                  <a:pt x="2430" y="231"/>
                </a:lnTo>
                <a:lnTo>
                  <a:pt x="2466" y="189"/>
                </a:lnTo>
                <a:lnTo>
                  <a:pt x="2504" y="151"/>
                </a:lnTo>
                <a:lnTo>
                  <a:pt x="2545" y="116"/>
                </a:lnTo>
                <a:lnTo>
                  <a:pt x="2589" y="86"/>
                </a:lnTo>
                <a:lnTo>
                  <a:pt x="2635" y="61"/>
                </a:lnTo>
                <a:lnTo>
                  <a:pt x="2684" y="40"/>
                </a:lnTo>
                <a:lnTo>
                  <a:pt x="2733" y="23"/>
                </a:lnTo>
                <a:lnTo>
                  <a:pt x="2784" y="11"/>
                </a:lnTo>
                <a:lnTo>
                  <a:pt x="2836" y="4"/>
                </a:lnTo>
                <a:lnTo>
                  <a:pt x="288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8" name="Group 766">
            <a:extLst>
              <a:ext uri="{FF2B5EF4-FFF2-40B4-BE49-F238E27FC236}">
                <a16:creationId xmlns="" xmlns:a16="http://schemas.microsoft.com/office/drawing/2014/main" id="{198E203C-8179-7C4E-AE7B-06E4C7E6E3B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60071" y="3194785"/>
            <a:ext cx="294587" cy="252000"/>
            <a:chOff x="198" y="2642"/>
            <a:chExt cx="1923" cy="1645"/>
          </a:xfrm>
          <a:solidFill>
            <a:schemeClr val="bg1"/>
          </a:solidFill>
        </p:grpSpPr>
        <p:sp>
          <p:nvSpPr>
            <p:cNvPr id="29" name="Freeform 768">
              <a:extLst>
                <a:ext uri="{FF2B5EF4-FFF2-40B4-BE49-F238E27FC236}">
                  <a16:creationId xmlns="" xmlns:a16="http://schemas.microsoft.com/office/drawing/2014/main" id="{81D6D2C6-6999-894F-B107-DCCA1DBD8A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" y="3638"/>
              <a:ext cx="290" cy="625"/>
            </a:xfrm>
            <a:custGeom>
              <a:avLst/>
              <a:gdLst>
                <a:gd name="T0" fmla="*/ 88 w 580"/>
                <a:gd name="T1" fmla="*/ 0 h 1250"/>
                <a:gd name="T2" fmla="*/ 493 w 580"/>
                <a:gd name="T3" fmla="*/ 0 h 1250"/>
                <a:gd name="T4" fmla="*/ 516 w 580"/>
                <a:gd name="T5" fmla="*/ 3 h 1250"/>
                <a:gd name="T6" fmla="*/ 537 w 580"/>
                <a:gd name="T7" fmla="*/ 11 h 1250"/>
                <a:gd name="T8" fmla="*/ 555 w 580"/>
                <a:gd name="T9" fmla="*/ 25 h 1250"/>
                <a:gd name="T10" fmla="*/ 568 w 580"/>
                <a:gd name="T11" fmla="*/ 43 h 1250"/>
                <a:gd name="T12" fmla="*/ 577 w 580"/>
                <a:gd name="T13" fmla="*/ 64 h 1250"/>
                <a:gd name="T14" fmla="*/ 580 w 580"/>
                <a:gd name="T15" fmla="*/ 87 h 1250"/>
                <a:gd name="T16" fmla="*/ 580 w 580"/>
                <a:gd name="T17" fmla="*/ 1163 h 1250"/>
                <a:gd name="T18" fmla="*/ 577 w 580"/>
                <a:gd name="T19" fmla="*/ 1186 h 1250"/>
                <a:gd name="T20" fmla="*/ 568 w 580"/>
                <a:gd name="T21" fmla="*/ 1207 h 1250"/>
                <a:gd name="T22" fmla="*/ 555 w 580"/>
                <a:gd name="T23" fmla="*/ 1224 h 1250"/>
                <a:gd name="T24" fmla="*/ 537 w 580"/>
                <a:gd name="T25" fmla="*/ 1238 h 1250"/>
                <a:gd name="T26" fmla="*/ 516 w 580"/>
                <a:gd name="T27" fmla="*/ 1247 h 1250"/>
                <a:gd name="T28" fmla="*/ 493 w 580"/>
                <a:gd name="T29" fmla="*/ 1250 h 1250"/>
                <a:gd name="T30" fmla="*/ 88 w 580"/>
                <a:gd name="T31" fmla="*/ 1250 h 1250"/>
                <a:gd name="T32" fmla="*/ 64 w 580"/>
                <a:gd name="T33" fmla="*/ 1247 h 1250"/>
                <a:gd name="T34" fmla="*/ 43 w 580"/>
                <a:gd name="T35" fmla="*/ 1238 h 1250"/>
                <a:gd name="T36" fmla="*/ 26 w 580"/>
                <a:gd name="T37" fmla="*/ 1224 h 1250"/>
                <a:gd name="T38" fmla="*/ 12 w 580"/>
                <a:gd name="T39" fmla="*/ 1207 h 1250"/>
                <a:gd name="T40" fmla="*/ 4 w 580"/>
                <a:gd name="T41" fmla="*/ 1186 h 1250"/>
                <a:gd name="T42" fmla="*/ 0 w 580"/>
                <a:gd name="T43" fmla="*/ 1163 h 1250"/>
                <a:gd name="T44" fmla="*/ 0 w 580"/>
                <a:gd name="T45" fmla="*/ 87 h 1250"/>
                <a:gd name="T46" fmla="*/ 4 w 580"/>
                <a:gd name="T47" fmla="*/ 64 h 1250"/>
                <a:gd name="T48" fmla="*/ 12 w 580"/>
                <a:gd name="T49" fmla="*/ 43 h 1250"/>
                <a:gd name="T50" fmla="*/ 26 w 580"/>
                <a:gd name="T51" fmla="*/ 25 h 1250"/>
                <a:gd name="T52" fmla="*/ 43 w 580"/>
                <a:gd name="T53" fmla="*/ 11 h 1250"/>
                <a:gd name="T54" fmla="*/ 64 w 580"/>
                <a:gd name="T55" fmla="*/ 3 h 1250"/>
                <a:gd name="T56" fmla="*/ 88 w 580"/>
                <a:gd name="T57" fmla="*/ 0 h 1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80" h="1250">
                  <a:moveTo>
                    <a:pt x="88" y="0"/>
                  </a:moveTo>
                  <a:lnTo>
                    <a:pt x="493" y="0"/>
                  </a:lnTo>
                  <a:lnTo>
                    <a:pt x="516" y="3"/>
                  </a:lnTo>
                  <a:lnTo>
                    <a:pt x="537" y="11"/>
                  </a:lnTo>
                  <a:lnTo>
                    <a:pt x="555" y="25"/>
                  </a:lnTo>
                  <a:lnTo>
                    <a:pt x="568" y="43"/>
                  </a:lnTo>
                  <a:lnTo>
                    <a:pt x="577" y="64"/>
                  </a:lnTo>
                  <a:lnTo>
                    <a:pt x="580" y="87"/>
                  </a:lnTo>
                  <a:lnTo>
                    <a:pt x="580" y="1163"/>
                  </a:lnTo>
                  <a:lnTo>
                    <a:pt x="577" y="1186"/>
                  </a:lnTo>
                  <a:lnTo>
                    <a:pt x="568" y="1207"/>
                  </a:lnTo>
                  <a:lnTo>
                    <a:pt x="555" y="1224"/>
                  </a:lnTo>
                  <a:lnTo>
                    <a:pt x="537" y="1238"/>
                  </a:lnTo>
                  <a:lnTo>
                    <a:pt x="516" y="1247"/>
                  </a:lnTo>
                  <a:lnTo>
                    <a:pt x="493" y="1250"/>
                  </a:lnTo>
                  <a:lnTo>
                    <a:pt x="88" y="1250"/>
                  </a:lnTo>
                  <a:lnTo>
                    <a:pt x="64" y="1247"/>
                  </a:lnTo>
                  <a:lnTo>
                    <a:pt x="43" y="1238"/>
                  </a:lnTo>
                  <a:lnTo>
                    <a:pt x="26" y="1224"/>
                  </a:lnTo>
                  <a:lnTo>
                    <a:pt x="12" y="1207"/>
                  </a:lnTo>
                  <a:lnTo>
                    <a:pt x="4" y="1186"/>
                  </a:lnTo>
                  <a:lnTo>
                    <a:pt x="0" y="1163"/>
                  </a:lnTo>
                  <a:lnTo>
                    <a:pt x="0" y="87"/>
                  </a:lnTo>
                  <a:lnTo>
                    <a:pt x="4" y="64"/>
                  </a:lnTo>
                  <a:lnTo>
                    <a:pt x="12" y="43"/>
                  </a:lnTo>
                  <a:lnTo>
                    <a:pt x="26" y="25"/>
                  </a:lnTo>
                  <a:lnTo>
                    <a:pt x="43" y="11"/>
                  </a:lnTo>
                  <a:lnTo>
                    <a:pt x="64" y="3"/>
                  </a:lnTo>
                  <a:lnTo>
                    <a:pt x="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769">
              <a:extLst>
                <a:ext uri="{FF2B5EF4-FFF2-40B4-BE49-F238E27FC236}">
                  <a16:creationId xmlns="" xmlns:a16="http://schemas.microsoft.com/office/drawing/2014/main" id="{3D801820-96E9-3F4C-A98E-E88CE6FB99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" y="3396"/>
              <a:ext cx="290" cy="867"/>
            </a:xfrm>
            <a:custGeom>
              <a:avLst/>
              <a:gdLst>
                <a:gd name="T0" fmla="*/ 86 w 579"/>
                <a:gd name="T1" fmla="*/ 0 h 1734"/>
                <a:gd name="T2" fmla="*/ 493 w 579"/>
                <a:gd name="T3" fmla="*/ 0 h 1734"/>
                <a:gd name="T4" fmla="*/ 515 w 579"/>
                <a:gd name="T5" fmla="*/ 3 h 1734"/>
                <a:gd name="T6" fmla="*/ 536 w 579"/>
                <a:gd name="T7" fmla="*/ 11 h 1734"/>
                <a:gd name="T8" fmla="*/ 553 w 579"/>
                <a:gd name="T9" fmla="*/ 25 h 1734"/>
                <a:gd name="T10" fmla="*/ 567 w 579"/>
                <a:gd name="T11" fmla="*/ 43 h 1734"/>
                <a:gd name="T12" fmla="*/ 577 w 579"/>
                <a:gd name="T13" fmla="*/ 64 h 1734"/>
                <a:gd name="T14" fmla="*/ 579 w 579"/>
                <a:gd name="T15" fmla="*/ 87 h 1734"/>
                <a:gd name="T16" fmla="*/ 579 w 579"/>
                <a:gd name="T17" fmla="*/ 1647 h 1734"/>
                <a:gd name="T18" fmla="*/ 577 w 579"/>
                <a:gd name="T19" fmla="*/ 1670 h 1734"/>
                <a:gd name="T20" fmla="*/ 567 w 579"/>
                <a:gd name="T21" fmla="*/ 1691 h 1734"/>
                <a:gd name="T22" fmla="*/ 553 w 579"/>
                <a:gd name="T23" fmla="*/ 1708 h 1734"/>
                <a:gd name="T24" fmla="*/ 536 w 579"/>
                <a:gd name="T25" fmla="*/ 1722 h 1734"/>
                <a:gd name="T26" fmla="*/ 515 w 579"/>
                <a:gd name="T27" fmla="*/ 1731 h 1734"/>
                <a:gd name="T28" fmla="*/ 493 w 579"/>
                <a:gd name="T29" fmla="*/ 1734 h 1734"/>
                <a:gd name="T30" fmla="*/ 86 w 579"/>
                <a:gd name="T31" fmla="*/ 1734 h 1734"/>
                <a:gd name="T32" fmla="*/ 63 w 579"/>
                <a:gd name="T33" fmla="*/ 1731 h 1734"/>
                <a:gd name="T34" fmla="*/ 43 w 579"/>
                <a:gd name="T35" fmla="*/ 1722 h 1734"/>
                <a:gd name="T36" fmla="*/ 26 w 579"/>
                <a:gd name="T37" fmla="*/ 1708 h 1734"/>
                <a:gd name="T38" fmla="*/ 12 w 579"/>
                <a:gd name="T39" fmla="*/ 1691 h 1734"/>
                <a:gd name="T40" fmla="*/ 2 w 579"/>
                <a:gd name="T41" fmla="*/ 1670 h 1734"/>
                <a:gd name="T42" fmla="*/ 0 w 579"/>
                <a:gd name="T43" fmla="*/ 1647 h 1734"/>
                <a:gd name="T44" fmla="*/ 0 w 579"/>
                <a:gd name="T45" fmla="*/ 87 h 1734"/>
                <a:gd name="T46" fmla="*/ 2 w 579"/>
                <a:gd name="T47" fmla="*/ 64 h 1734"/>
                <a:gd name="T48" fmla="*/ 12 w 579"/>
                <a:gd name="T49" fmla="*/ 43 h 1734"/>
                <a:gd name="T50" fmla="*/ 26 w 579"/>
                <a:gd name="T51" fmla="*/ 25 h 1734"/>
                <a:gd name="T52" fmla="*/ 43 w 579"/>
                <a:gd name="T53" fmla="*/ 11 h 1734"/>
                <a:gd name="T54" fmla="*/ 63 w 579"/>
                <a:gd name="T55" fmla="*/ 3 h 1734"/>
                <a:gd name="T56" fmla="*/ 86 w 579"/>
                <a:gd name="T57" fmla="*/ 0 h 17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79" h="1734">
                  <a:moveTo>
                    <a:pt x="86" y="0"/>
                  </a:moveTo>
                  <a:lnTo>
                    <a:pt x="493" y="0"/>
                  </a:lnTo>
                  <a:lnTo>
                    <a:pt x="515" y="3"/>
                  </a:lnTo>
                  <a:lnTo>
                    <a:pt x="536" y="11"/>
                  </a:lnTo>
                  <a:lnTo>
                    <a:pt x="553" y="25"/>
                  </a:lnTo>
                  <a:lnTo>
                    <a:pt x="567" y="43"/>
                  </a:lnTo>
                  <a:lnTo>
                    <a:pt x="577" y="64"/>
                  </a:lnTo>
                  <a:lnTo>
                    <a:pt x="579" y="87"/>
                  </a:lnTo>
                  <a:lnTo>
                    <a:pt x="579" y="1647"/>
                  </a:lnTo>
                  <a:lnTo>
                    <a:pt x="577" y="1670"/>
                  </a:lnTo>
                  <a:lnTo>
                    <a:pt x="567" y="1691"/>
                  </a:lnTo>
                  <a:lnTo>
                    <a:pt x="553" y="1708"/>
                  </a:lnTo>
                  <a:lnTo>
                    <a:pt x="536" y="1722"/>
                  </a:lnTo>
                  <a:lnTo>
                    <a:pt x="515" y="1731"/>
                  </a:lnTo>
                  <a:lnTo>
                    <a:pt x="493" y="1734"/>
                  </a:lnTo>
                  <a:lnTo>
                    <a:pt x="86" y="1734"/>
                  </a:lnTo>
                  <a:lnTo>
                    <a:pt x="63" y="1731"/>
                  </a:lnTo>
                  <a:lnTo>
                    <a:pt x="43" y="1722"/>
                  </a:lnTo>
                  <a:lnTo>
                    <a:pt x="26" y="1708"/>
                  </a:lnTo>
                  <a:lnTo>
                    <a:pt x="12" y="1691"/>
                  </a:lnTo>
                  <a:lnTo>
                    <a:pt x="2" y="1670"/>
                  </a:lnTo>
                  <a:lnTo>
                    <a:pt x="0" y="1647"/>
                  </a:lnTo>
                  <a:lnTo>
                    <a:pt x="0" y="87"/>
                  </a:lnTo>
                  <a:lnTo>
                    <a:pt x="2" y="64"/>
                  </a:lnTo>
                  <a:lnTo>
                    <a:pt x="12" y="43"/>
                  </a:lnTo>
                  <a:lnTo>
                    <a:pt x="26" y="25"/>
                  </a:lnTo>
                  <a:lnTo>
                    <a:pt x="43" y="11"/>
                  </a:lnTo>
                  <a:lnTo>
                    <a:pt x="63" y="3"/>
                  </a:lnTo>
                  <a:lnTo>
                    <a:pt x="8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770">
              <a:extLst>
                <a:ext uri="{FF2B5EF4-FFF2-40B4-BE49-F238E27FC236}">
                  <a16:creationId xmlns="" xmlns:a16="http://schemas.microsoft.com/office/drawing/2014/main" id="{04D4F60D-3883-1348-ABD6-2E60B106BA20}"/>
                </a:ext>
              </a:extLst>
            </p:cNvPr>
            <p:cNvSpPr>
              <a:spLocks/>
            </p:cNvSpPr>
            <p:nvPr/>
          </p:nvSpPr>
          <p:spPr bwMode="auto">
            <a:xfrm>
              <a:off x="844" y="2642"/>
              <a:ext cx="636" cy="1621"/>
            </a:xfrm>
            <a:custGeom>
              <a:avLst/>
              <a:gdLst>
                <a:gd name="T0" fmla="*/ 636 w 1273"/>
                <a:gd name="T1" fmla="*/ 0 h 3242"/>
                <a:gd name="T2" fmla="*/ 653 w 1273"/>
                <a:gd name="T3" fmla="*/ 1 h 3242"/>
                <a:gd name="T4" fmla="*/ 668 w 1273"/>
                <a:gd name="T5" fmla="*/ 7 h 3242"/>
                <a:gd name="T6" fmla="*/ 682 w 1273"/>
                <a:gd name="T7" fmla="*/ 18 h 3242"/>
                <a:gd name="T8" fmla="*/ 692 w 1273"/>
                <a:gd name="T9" fmla="*/ 30 h 3242"/>
                <a:gd name="T10" fmla="*/ 1262 w 1273"/>
                <a:gd name="T11" fmla="*/ 946 h 3242"/>
                <a:gd name="T12" fmla="*/ 1270 w 1273"/>
                <a:gd name="T13" fmla="*/ 962 h 3242"/>
                <a:gd name="T14" fmla="*/ 1273 w 1273"/>
                <a:gd name="T15" fmla="*/ 980 h 3242"/>
                <a:gd name="T16" fmla="*/ 1270 w 1273"/>
                <a:gd name="T17" fmla="*/ 996 h 3242"/>
                <a:gd name="T18" fmla="*/ 1264 w 1273"/>
                <a:gd name="T19" fmla="*/ 1012 h 3242"/>
                <a:gd name="T20" fmla="*/ 1254 w 1273"/>
                <a:gd name="T21" fmla="*/ 1025 h 3242"/>
                <a:gd name="T22" fmla="*/ 1241 w 1273"/>
                <a:gd name="T23" fmla="*/ 1037 h 3242"/>
                <a:gd name="T24" fmla="*/ 1225 w 1273"/>
                <a:gd name="T25" fmla="*/ 1044 h 3242"/>
                <a:gd name="T26" fmla="*/ 1207 w 1273"/>
                <a:gd name="T27" fmla="*/ 1046 h 3242"/>
                <a:gd name="T28" fmla="*/ 927 w 1273"/>
                <a:gd name="T29" fmla="*/ 1046 h 3242"/>
                <a:gd name="T30" fmla="*/ 927 w 1273"/>
                <a:gd name="T31" fmla="*/ 1766 h 3242"/>
                <a:gd name="T32" fmla="*/ 874 w 1273"/>
                <a:gd name="T33" fmla="*/ 1830 h 3242"/>
                <a:gd name="T34" fmla="*/ 828 w 1273"/>
                <a:gd name="T35" fmla="*/ 1898 h 3242"/>
                <a:gd name="T36" fmla="*/ 786 w 1273"/>
                <a:gd name="T37" fmla="*/ 1970 h 3242"/>
                <a:gd name="T38" fmla="*/ 749 w 1273"/>
                <a:gd name="T39" fmla="*/ 2044 h 3242"/>
                <a:gd name="T40" fmla="*/ 720 w 1273"/>
                <a:gd name="T41" fmla="*/ 2122 h 3242"/>
                <a:gd name="T42" fmla="*/ 696 w 1273"/>
                <a:gd name="T43" fmla="*/ 2204 h 3242"/>
                <a:gd name="T44" fmla="*/ 678 w 1273"/>
                <a:gd name="T45" fmla="*/ 2287 h 3242"/>
                <a:gd name="T46" fmla="*/ 668 w 1273"/>
                <a:gd name="T47" fmla="*/ 2373 h 3242"/>
                <a:gd name="T48" fmla="*/ 664 w 1273"/>
                <a:gd name="T49" fmla="*/ 2460 h 3242"/>
                <a:gd name="T50" fmla="*/ 668 w 1273"/>
                <a:gd name="T51" fmla="*/ 2548 h 3242"/>
                <a:gd name="T52" fmla="*/ 678 w 1273"/>
                <a:gd name="T53" fmla="*/ 2634 h 3242"/>
                <a:gd name="T54" fmla="*/ 696 w 1273"/>
                <a:gd name="T55" fmla="*/ 2718 h 3242"/>
                <a:gd name="T56" fmla="*/ 720 w 1273"/>
                <a:gd name="T57" fmla="*/ 2799 h 3242"/>
                <a:gd name="T58" fmla="*/ 749 w 1273"/>
                <a:gd name="T59" fmla="*/ 2877 h 3242"/>
                <a:gd name="T60" fmla="*/ 786 w 1273"/>
                <a:gd name="T61" fmla="*/ 2953 h 3242"/>
                <a:gd name="T62" fmla="*/ 828 w 1273"/>
                <a:gd name="T63" fmla="*/ 3024 h 3242"/>
                <a:gd name="T64" fmla="*/ 874 w 1273"/>
                <a:gd name="T65" fmla="*/ 3091 h 3242"/>
                <a:gd name="T66" fmla="*/ 926 w 1273"/>
                <a:gd name="T67" fmla="*/ 3155 h 3242"/>
                <a:gd name="T68" fmla="*/ 923 w 1273"/>
                <a:gd name="T69" fmla="*/ 3179 h 3242"/>
                <a:gd name="T70" fmla="*/ 914 w 1273"/>
                <a:gd name="T71" fmla="*/ 3199 h 3242"/>
                <a:gd name="T72" fmla="*/ 900 w 1273"/>
                <a:gd name="T73" fmla="*/ 3216 h 3242"/>
                <a:gd name="T74" fmla="*/ 883 w 1273"/>
                <a:gd name="T75" fmla="*/ 3230 h 3242"/>
                <a:gd name="T76" fmla="*/ 862 w 1273"/>
                <a:gd name="T77" fmla="*/ 3239 h 3242"/>
                <a:gd name="T78" fmla="*/ 839 w 1273"/>
                <a:gd name="T79" fmla="*/ 3242 h 3242"/>
                <a:gd name="T80" fmla="*/ 433 w 1273"/>
                <a:gd name="T81" fmla="*/ 3242 h 3242"/>
                <a:gd name="T82" fmla="*/ 410 w 1273"/>
                <a:gd name="T83" fmla="*/ 3239 h 3242"/>
                <a:gd name="T84" fmla="*/ 390 w 1273"/>
                <a:gd name="T85" fmla="*/ 3230 h 3242"/>
                <a:gd name="T86" fmla="*/ 371 w 1273"/>
                <a:gd name="T87" fmla="*/ 3216 h 3242"/>
                <a:gd name="T88" fmla="*/ 358 w 1273"/>
                <a:gd name="T89" fmla="*/ 3199 h 3242"/>
                <a:gd name="T90" fmla="*/ 349 w 1273"/>
                <a:gd name="T91" fmla="*/ 3178 h 3242"/>
                <a:gd name="T92" fmla="*/ 347 w 1273"/>
                <a:gd name="T93" fmla="*/ 3155 h 3242"/>
                <a:gd name="T94" fmla="*/ 347 w 1273"/>
                <a:gd name="T95" fmla="*/ 1046 h 3242"/>
                <a:gd name="T96" fmla="*/ 66 w 1273"/>
                <a:gd name="T97" fmla="*/ 1046 h 3242"/>
                <a:gd name="T98" fmla="*/ 48 w 1273"/>
                <a:gd name="T99" fmla="*/ 1044 h 3242"/>
                <a:gd name="T100" fmla="*/ 31 w 1273"/>
                <a:gd name="T101" fmla="*/ 1037 h 3242"/>
                <a:gd name="T102" fmla="*/ 18 w 1273"/>
                <a:gd name="T103" fmla="*/ 1025 h 3242"/>
                <a:gd name="T104" fmla="*/ 9 w 1273"/>
                <a:gd name="T105" fmla="*/ 1012 h 3242"/>
                <a:gd name="T106" fmla="*/ 2 w 1273"/>
                <a:gd name="T107" fmla="*/ 996 h 3242"/>
                <a:gd name="T108" fmla="*/ 0 w 1273"/>
                <a:gd name="T109" fmla="*/ 980 h 3242"/>
                <a:gd name="T110" fmla="*/ 3 w 1273"/>
                <a:gd name="T111" fmla="*/ 962 h 3242"/>
                <a:gd name="T112" fmla="*/ 10 w 1273"/>
                <a:gd name="T113" fmla="*/ 946 h 3242"/>
                <a:gd name="T114" fmla="*/ 580 w 1273"/>
                <a:gd name="T115" fmla="*/ 30 h 3242"/>
                <a:gd name="T116" fmla="*/ 592 w 1273"/>
                <a:gd name="T117" fmla="*/ 18 h 3242"/>
                <a:gd name="T118" fmla="*/ 605 w 1273"/>
                <a:gd name="T119" fmla="*/ 7 h 3242"/>
                <a:gd name="T120" fmla="*/ 620 w 1273"/>
                <a:gd name="T121" fmla="*/ 1 h 3242"/>
                <a:gd name="T122" fmla="*/ 636 w 1273"/>
                <a:gd name="T123" fmla="*/ 0 h 3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73" h="3242">
                  <a:moveTo>
                    <a:pt x="636" y="0"/>
                  </a:moveTo>
                  <a:lnTo>
                    <a:pt x="653" y="1"/>
                  </a:lnTo>
                  <a:lnTo>
                    <a:pt x="668" y="7"/>
                  </a:lnTo>
                  <a:lnTo>
                    <a:pt x="682" y="18"/>
                  </a:lnTo>
                  <a:lnTo>
                    <a:pt x="692" y="30"/>
                  </a:lnTo>
                  <a:lnTo>
                    <a:pt x="1262" y="946"/>
                  </a:lnTo>
                  <a:lnTo>
                    <a:pt x="1270" y="962"/>
                  </a:lnTo>
                  <a:lnTo>
                    <a:pt x="1273" y="980"/>
                  </a:lnTo>
                  <a:lnTo>
                    <a:pt x="1270" y="996"/>
                  </a:lnTo>
                  <a:lnTo>
                    <a:pt x="1264" y="1012"/>
                  </a:lnTo>
                  <a:lnTo>
                    <a:pt x="1254" y="1025"/>
                  </a:lnTo>
                  <a:lnTo>
                    <a:pt x="1241" y="1037"/>
                  </a:lnTo>
                  <a:lnTo>
                    <a:pt x="1225" y="1044"/>
                  </a:lnTo>
                  <a:lnTo>
                    <a:pt x="1207" y="1046"/>
                  </a:lnTo>
                  <a:lnTo>
                    <a:pt x="927" y="1046"/>
                  </a:lnTo>
                  <a:lnTo>
                    <a:pt x="927" y="1766"/>
                  </a:lnTo>
                  <a:lnTo>
                    <a:pt x="874" y="1830"/>
                  </a:lnTo>
                  <a:lnTo>
                    <a:pt x="828" y="1898"/>
                  </a:lnTo>
                  <a:lnTo>
                    <a:pt x="786" y="1970"/>
                  </a:lnTo>
                  <a:lnTo>
                    <a:pt x="749" y="2044"/>
                  </a:lnTo>
                  <a:lnTo>
                    <a:pt x="720" y="2122"/>
                  </a:lnTo>
                  <a:lnTo>
                    <a:pt x="696" y="2204"/>
                  </a:lnTo>
                  <a:lnTo>
                    <a:pt x="678" y="2287"/>
                  </a:lnTo>
                  <a:lnTo>
                    <a:pt x="668" y="2373"/>
                  </a:lnTo>
                  <a:lnTo>
                    <a:pt x="664" y="2460"/>
                  </a:lnTo>
                  <a:lnTo>
                    <a:pt x="668" y="2548"/>
                  </a:lnTo>
                  <a:lnTo>
                    <a:pt x="678" y="2634"/>
                  </a:lnTo>
                  <a:lnTo>
                    <a:pt x="696" y="2718"/>
                  </a:lnTo>
                  <a:lnTo>
                    <a:pt x="720" y="2799"/>
                  </a:lnTo>
                  <a:lnTo>
                    <a:pt x="749" y="2877"/>
                  </a:lnTo>
                  <a:lnTo>
                    <a:pt x="786" y="2953"/>
                  </a:lnTo>
                  <a:lnTo>
                    <a:pt x="828" y="3024"/>
                  </a:lnTo>
                  <a:lnTo>
                    <a:pt x="874" y="3091"/>
                  </a:lnTo>
                  <a:lnTo>
                    <a:pt x="926" y="3155"/>
                  </a:lnTo>
                  <a:lnTo>
                    <a:pt x="923" y="3179"/>
                  </a:lnTo>
                  <a:lnTo>
                    <a:pt x="914" y="3199"/>
                  </a:lnTo>
                  <a:lnTo>
                    <a:pt x="900" y="3216"/>
                  </a:lnTo>
                  <a:lnTo>
                    <a:pt x="883" y="3230"/>
                  </a:lnTo>
                  <a:lnTo>
                    <a:pt x="862" y="3239"/>
                  </a:lnTo>
                  <a:lnTo>
                    <a:pt x="839" y="3242"/>
                  </a:lnTo>
                  <a:lnTo>
                    <a:pt x="433" y="3242"/>
                  </a:lnTo>
                  <a:lnTo>
                    <a:pt x="410" y="3239"/>
                  </a:lnTo>
                  <a:lnTo>
                    <a:pt x="390" y="3230"/>
                  </a:lnTo>
                  <a:lnTo>
                    <a:pt x="371" y="3216"/>
                  </a:lnTo>
                  <a:lnTo>
                    <a:pt x="358" y="3199"/>
                  </a:lnTo>
                  <a:lnTo>
                    <a:pt x="349" y="3178"/>
                  </a:lnTo>
                  <a:lnTo>
                    <a:pt x="347" y="3155"/>
                  </a:lnTo>
                  <a:lnTo>
                    <a:pt x="347" y="1046"/>
                  </a:lnTo>
                  <a:lnTo>
                    <a:pt x="66" y="1046"/>
                  </a:lnTo>
                  <a:lnTo>
                    <a:pt x="48" y="1044"/>
                  </a:lnTo>
                  <a:lnTo>
                    <a:pt x="31" y="1037"/>
                  </a:lnTo>
                  <a:lnTo>
                    <a:pt x="18" y="1025"/>
                  </a:lnTo>
                  <a:lnTo>
                    <a:pt x="9" y="1012"/>
                  </a:lnTo>
                  <a:lnTo>
                    <a:pt x="2" y="996"/>
                  </a:lnTo>
                  <a:lnTo>
                    <a:pt x="0" y="980"/>
                  </a:lnTo>
                  <a:lnTo>
                    <a:pt x="3" y="962"/>
                  </a:lnTo>
                  <a:lnTo>
                    <a:pt x="10" y="946"/>
                  </a:lnTo>
                  <a:lnTo>
                    <a:pt x="580" y="30"/>
                  </a:lnTo>
                  <a:lnTo>
                    <a:pt x="592" y="18"/>
                  </a:lnTo>
                  <a:lnTo>
                    <a:pt x="605" y="7"/>
                  </a:lnTo>
                  <a:lnTo>
                    <a:pt x="620" y="1"/>
                  </a:lnTo>
                  <a:lnTo>
                    <a:pt x="63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771">
              <a:extLst>
                <a:ext uri="{FF2B5EF4-FFF2-40B4-BE49-F238E27FC236}">
                  <a16:creationId xmlns="" xmlns:a16="http://schemas.microsoft.com/office/drawing/2014/main" id="{80A28531-4848-0B45-BA82-BC8150D3E5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91" y="3458"/>
              <a:ext cx="830" cy="829"/>
            </a:xfrm>
            <a:custGeom>
              <a:avLst/>
              <a:gdLst>
                <a:gd name="T0" fmla="*/ 766 w 1661"/>
                <a:gd name="T1" fmla="*/ 276 h 1659"/>
                <a:gd name="T2" fmla="*/ 762 w 1661"/>
                <a:gd name="T3" fmla="*/ 365 h 1659"/>
                <a:gd name="T4" fmla="*/ 746 w 1661"/>
                <a:gd name="T5" fmla="*/ 398 h 1659"/>
                <a:gd name="T6" fmla="*/ 655 w 1661"/>
                <a:gd name="T7" fmla="*/ 439 h 1659"/>
                <a:gd name="T8" fmla="*/ 569 w 1661"/>
                <a:gd name="T9" fmla="*/ 530 h 1659"/>
                <a:gd name="T10" fmla="*/ 544 w 1661"/>
                <a:gd name="T11" fmla="*/ 665 h 1659"/>
                <a:gd name="T12" fmla="*/ 595 w 1661"/>
                <a:gd name="T13" fmla="*/ 782 h 1659"/>
                <a:gd name="T14" fmla="*/ 710 w 1661"/>
                <a:gd name="T15" fmla="*/ 866 h 1659"/>
                <a:gd name="T16" fmla="*/ 862 w 1661"/>
                <a:gd name="T17" fmla="*/ 932 h 1659"/>
                <a:gd name="T18" fmla="*/ 923 w 1661"/>
                <a:gd name="T19" fmla="*/ 1007 h 1659"/>
                <a:gd name="T20" fmla="*/ 891 w 1661"/>
                <a:gd name="T21" fmla="*/ 1078 h 1659"/>
                <a:gd name="T22" fmla="*/ 769 w 1661"/>
                <a:gd name="T23" fmla="*/ 1103 h 1659"/>
                <a:gd name="T24" fmla="*/ 612 w 1661"/>
                <a:gd name="T25" fmla="*/ 1057 h 1659"/>
                <a:gd name="T26" fmla="*/ 575 w 1661"/>
                <a:gd name="T27" fmla="*/ 1055 h 1659"/>
                <a:gd name="T28" fmla="*/ 542 w 1661"/>
                <a:gd name="T29" fmla="*/ 1158 h 1659"/>
                <a:gd name="T30" fmla="*/ 544 w 1661"/>
                <a:gd name="T31" fmla="*/ 1205 h 1659"/>
                <a:gd name="T32" fmla="*/ 662 w 1661"/>
                <a:gd name="T33" fmla="*/ 1252 h 1659"/>
                <a:gd name="T34" fmla="*/ 745 w 1661"/>
                <a:gd name="T35" fmla="*/ 1271 h 1659"/>
                <a:gd name="T36" fmla="*/ 752 w 1661"/>
                <a:gd name="T37" fmla="*/ 1336 h 1659"/>
                <a:gd name="T38" fmla="*/ 771 w 1661"/>
                <a:gd name="T39" fmla="*/ 1395 h 1659"/>
                <a:gd name="T40" fmla="*/ 880 w 1661"/>
                <a:gd name="T41" fmla="*/ 1395 h 1659"/>
                <a:gd name="T42" fmla="*/ 898 w 1661"/>
                <a:gd name="T43" fmla="*/ 1326 h 1659"/>
                <a:gd name="T44" fmla="*/ 908 w 1661"/>
                <a:gd name="T45" fmla="*/ 1257 h 1659"/>
                <a:gd name="T46" fmla="*/ 1007 w 1661"/>
                <a:gd name="T47" fmla="*/ 1212 h 1659"/>
                <a:gd name="T48" fmla="*/ 1108 w 1661"/>
                <a:gd name="T49" fmla="*/ 1092 h 1659"/>
                <a:gd name="T50" fmla="*/ 1120 w 1661"/>
                <a:gd name="T51" fmla="*/ 952 h 1659"/>
                <a:gd name="T52" fmla="*/ 1051 w 1661"/>
                <a:gd name="T53" fmla="*/ 826 h 1659"/>
                <a:gd name="T54" fmla="*/ 897 w 1661"/>
                <a:gd name="T55" fmla="*/ 736 h 1659"/>
                <a:gd name="T56" fmla="*/ 773 w 1661"/>
                <a:gd name="T57" fmla="*/ 674 h 1659"/>
                <a:gd name="T58" fmla="*/ 745 w 1661"/>
                <a:gd name="T59" fmla="*/ 610 h 1659"/>
                <a:gd name="T60" fmla="*/ 790 w 1661"/>
                <a:gd name="T61" fmla="*/ 557 h 1659"/>
                <a:gd name="T62" fmla="*/ 926 w 1661"/>
                <a:gd name="T63" fmla="*/ 553 h 1659"/>
                <a:gd name="T64" fmla="*/ 1038 w 1661"/>
                <a:gd name="T65" fmla="*/ 588 h 1659"/>
                <a:gd name="T66" fmla="*/ 1072 w 1661"/>
                <a:gd name="T67" fmla="*/ 516 h 1659"/>
                <a:gd name="T68" fmla="*/ 1078 w 1661"/>
                <a:gd name="T69" fmla="*/ 433 h 1659"/>
                <a:gd name="T70" fmla="*/ 954 w 1661"/>
                <a:gd name="T71" fmla="*/ 393 h 1659"/>
                <a:gd name="T72" fmla="*/ 908 w 1661"/>
                <a:gd name="T73" fmla="*/ 377 h 1659"/>
                <a:gd name="T74" fmla="*/ 904 w 1661"/>
                <a:gd name="T75" fmla="*/ 308 h 1659"/>
                <a:gd name="T76" fmla="*/ 878 w 1661"/>
                <a:gd name="T77" fmla="*/ 265 h 1659"/>
                <a:gd name="T78" fmla="*/ 830 w 1661"/>
                <a:gd name="T79" fmla="*/ 0 h 1659"/>
                <a:gd name="T80" fmla="*/ 1120 w 1661"/>
                <a:gd name="T81" fmla="*/ 53 h 1659"/>
                <a:gd name="T82" fmla="*/ 1365 w 1661"/>
                <a:gd name="T83" fmla="*/ 195 h 1659"/>
                <a:gd name="T84" fmla="*/ 1548 w 1661"/>
                <a:gd name="T85" fmla="*/ 411 h 1659"/>
                <a:gd name="T86" fmla="*/ 1648 w 1661"/>
                <a:gd name="T87" fmla="*/ 680 h 1659"/>
                <a:gd name="T88" fmla="*/ 1648 w 1661"/>
                <a:gd name="T89" fmla="*/ 979 h 1659"/>
                <a:gd name="T90" fmla="*/ 1548 w 1661"/>
                <a:gd name="T91" fmla="*/ 1248 h 1659"/>
                <a:gd name="T92" fmla="*/ 1365 w 1661"/>
                <a:gd name="T93" fmla="*/ 1464 h 1659"/>
                <a:gd name="T94" fmla="*/ 1120 w 1661"/>
                <a:gd name="T95" fmla="*/ 1606 h 1659"/>
                <a:gd name="T96" fmla="*/ 830 w 1661"/>
                <a:gd name="T97" fmla="*/ 1659 h 1659"/>
                <a:gd name="T98" fmla="*/ 541 w 1661"/>
                <a:gd name="T99" fmla="*/ 1606 h 1659"/>
                <a:gd name="T100" fmla="*/ 296 w 1661"/>
                <a:gd name="T101" fmla="*/ 1464 h 1659"/>
                <a:gd name="T102" fmla="*/ 113 w 1661"/>
                <a:gd name="T103" fmla="*/ 1248 h 1659"/>
                <a:gd name="T104" fmla="*/ 14 w 1661"/>
                <a:gd name="T105" fmla="*/ 979 h 1659"/>
                <a:gd name="T106" fmla="*/ 14 w 1661"/>
                <a:gd name="T107" fmla="*/ 680 h 1659"/>
                <a:gd name="T108" fmla="*/ 113 w 1661"/>
                <a:gd name="T109" fmla="*/ 411 h 1659"/>
                <a:gd name="T110" fmla="*/ 296 w 1661"/>
                <a:gd name="T111" fmla="*/ 195 h 1659"/>
                <a:gd name="T112" fmla="*/ 541 w 1661"/>
                <a:gd name="T113" fmla="*/ 53 h 1659"/>
                <a:gd name="T114" fmla="*/ 830 w 1661"/>
                <a:gd name="T115" fmla="*/ 0 h 16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61" h="1659">
                  <a:moveTo>
                    <a:pt x="801" y="264"/>
                  </a:moveTo>
                  <a:lnTo>
                    <a:pt x="785" y="265"/>
                  </a:lnTo>
                  <a:lnTo>
                    <a:pt x="773" y="269"/>
                  </a:lnTo>
                  <a:lnTo>
                    <a:pt x="766" y="276"/>
                  </a:lnTo>
                  <a:lnTo>
                    <a:pt x="763" y="287"/>
                  </a:lnTo>
                  <a:lnTo>
                    <a:pt x="762" y="305"/>
                  </a:lnTo>
                  <a:lnTo>
                    <a:pt x="762" y="349"/>
                  </a:lnTo>
                  <a:lnTo>
                    <a:pt x="762" y="365"/>
                  </a:lnTo>
                  <a:lnTo>
                    <a:pt x="760" y="378"/>
                  </a:lnTo>
                  <a:lnTo>
                    <a:pt x="758" y="386"/>
                  </a:lnTo>
                  <a:lnTo>
                    <a:pt x="753" y="392"/>
                  </a:lnTo>
                  <a:lnTo>
                    <a:pt x="746" y="398"/>
                  </a:lnTo>
                  <a:lnTo>
                    <a:pt x="735" y="403"/>
                  </a:lnTo>
                  <a:lnTo>
                    <a:pt x="718" y="409"/>
                  </a:lnTo>
                  <a:lnTo>
                    <a:pt x="686" y="423"/>
                  </a:lnTo>
                  <a:lnTo>
                    <a:pt x="655" y="439"/>
                  </a:lnTo>
                  <a:lnTo>
                    <a:pt x="628" y="458"/>
                  </a:lnTo>
                  <a:lnTo>
                    <a:pt x="605" y="478"/>
                  </a:lnTo>
                  <a:lnTo>
                    <a:pt x="585" y="503"/>
                  </a:lnTo>
                  <a:lnTo>
                    <a:pt x="569" y="530"/>
                  </a:lnTo>
                  <a:lnTo>
                    <a:pt x="557" y="560"/>
                  </a:lnTo>
                  <a:lnTo>
                    <a:pt x="549" y="594"/>
                  </a:lnTo>
                  <a:lnTo>
                    <a:pt x="544" y="629"/>
                  </a:lnTo>
                  <a:lnTo>
                    <a:pt x="544" y="665"/>
                  </a:lnTo>
                  <a:lnTo>
                    <a:pt x="550" y="698"/>
                  </a:lnTo>
                  <a:lnTo>
                    <a:pt x="561" y="728"/>
                  </a:lnTo>
                  <a:lnTo>
                    <a:pt x="575" y="756"/>
                  </a:lnTo>
                  <a:lnTo>
                    <a:pt x="595" y="782"/>
                  </a:lnTo>
                  <a:lnTo>
                    <a:pt x="617" y="805"/>
                  </a:lnTo>
                  <a:lnTo>
                    <a:pt x="642" y="826"/>
                  </a:lnTo>
                  <a:lnTo>
                    <a:pt x="672" y="845"/>
                  </a:lnTo>
                  <a:lnTo>
                    <a:pt x="710" y="866"/>
                  </a:lnTo>
                  <a:lnTo>
                    <a:pt x="751" y="883"/>
                  </a:lnTo>
                  <a:lnTo>
                    <a:pt x="792" y="899"/>
                  </a:lnTo>
                  <a:lnTo>
                    <a:pt x="832" y="917"/>
                  </a:lnTo>
                  <a:lnTo>
                    <a:pt x="862" y="932"/>
                  </a:lnTo>
                  <a:lnTo>
                    <a:pt x="890" y="951"/>
                  </a:lnTo>
                  <a:lnTo>
                    <a:pt x="906" y="967"/>
                  </a:lnTo>
                  <a:lnTo>
                    <a:pt x="917" y="987"/>
                  </a:lnTo>
                  <a:lnTo>
                    <a:pt x="923" y="1007"/>
                  </a:lnTo>
                  <a:lnTo>
                    <a:pt x="923" y="1027"/>
                  </a:lnTo>
                  <a:lnTo>
                    <a:pt x="917" y="1045"/>
                  </a:lnTo>
                  <a:lnTo>
                    <a:pt x="906" y="1063"/>
                  </a:lnTo>
                  <a:lnTo>
                    <a:pt x="891" y="1078"/>
                  </a:lnTo>
                  <a:lnTo>
                    <a:pt x="871" y="1089"/>
                  </a:lnTo>
                  <a:lnTo>
                    <a:pt x="837" y="1101"/>
                  </a:lnTo>
                  <a:lnTo>
                    <a:pt x="804" y="1105"/>
                  </a:lnTo>
                  <a:lnTo>
                    <a:pt x="769" y="1103"/>
                  </a:lnTo>
                  <a:lnTo>
                    <a:pt x="728" y="1096"/>
                  </a:lnTo>
                  <a:lnTo>
                    <a:pt x="688" y="1087"/>
                  </a:lnTo>
                  <a:lnTo>
                    <a:pt x="649" y="1074"/>
                  </a:lnTo>
                  <a:lnTo>
                    <a:pt x="612" y="1057"/>
                  </a:lnTo>
                  <a:lnTo>
                    <a:pt x="599" y="1051"/>
                  </a:lnTo>
                  <a:lnTo>
                    <a:pt x="590" y="1049"/>
                  </a:lnTo>
                  <a:lnTo>
                    <a:pt x="582" y="1050"/>
                  </a:lnTo>
                  <a:lnTo>
                    <a:pt x="575" y="1055"/>
                  </a:lnTo>
                  <a:lnTo>
                    <a:pt x="570" y="1063"/>
                  </a:lnTo>
                  <a:lnTo>
                    <a:pt x="565" y="1077"/>
                  </a:lnTo>
                  <a:lnTo>
                    <a:pt x="553" y="1117"/>
                  </a:lnTo>
                  <a:lnTo>
                    <a:pt x="542" y="1158"/>
                  </a:lnTo>
                  <a:lnTo>
                    <a:pt x="537" y="1175"/>
                  </a:lnTo>
                  <a:lnTo>
                    <a:pt x="537" y="1186"/>
                  </a:lnTo>
                  <a:lnTo>
                    <a:pt x="538" y="1197"/>
                  </a:lnTo>
                  <a:lnTo>
                    <a:pt x="544" y="1205"/>
                  </a:lnTo>
                  <a:lnTo>
                    <a:pt x="555" y="1212"/>
                  </a:lnTo>
                  <a:lnTo>
                    <a:pt x="570" y="1220"/>
                  </a:lnTo>
                  <a:lnTo>
                    <a:pt x="616" y="1239"/>
                  </a:lnTo>
                  <a:lnTo>
                    <a:pt x="662" y="1252"/>
                  </a:lnTo>
                  <a:lnTo>
                    <a:pt x="711" y="1261"/>
                  </a:lnTo>
                  <a:lnTo>
                    <a:pt x="728" y="1263"/>
                  </a:lnTo>
                  <a:lnTo>
                    <a:pt x="738" y="1267"/>
                  </a:lnTo>
                  <a:lnTo>
                    <a:pt x="745" y="1271"/>
                  </a:lnTo>
                  <a:lnTo>
                    <a:pt x="749" y="1280"/>
                  </a:lnTo>
                  <a:lnTo>
                    <a:pt x="751" y="1291"/>
                  </a:lnTo>
                  <a:lnTo>
                    <a:pt x="751" y="1309"/>
                  </a:lnTo>
                  <a:lnTo>
                    <a:pt x="752" y="1336"/>
                  </a:lnTo>
                  <a:lnTo>
                    <a:pt x="752" y="1362"/>
                  </a:lnTo>
                  <a:lnTo>
                    <a:pt x="755" y="1377"/>
                  </a:lnTo>
                  <a:lnTo>
                    <a:pt x="760" y="1388"/>
                  </a:lnTo>
                  <a:lnTo>
                    <a:pt x="771" y="1395"/>
                  </a:lnTo>
                  <a:lnTo>
                    <a:pt x="786" y="1397"/>
                  </a:lnTo>
                  <a:lnTo>
                    <a:pt x="825" y="1398"/>
                  </a:lnTo>
                  <a:lnTo>
                    <a:pt x="865" y="1397"/>
                  </a:lnTo>
                  <a:lnTo>
                    <a:pt x="880" y="1395"/>
                  </a:lnTo>
                  <a:lnTo>
                    <a:pt x="889" y="1388"/>
                  </a:lnTo>
                  <a:lnTo>
                    <a:pt x="896" y="1377"/>
                  </a:lnTo>
                  <a:lnTo>
                    <a:pt x="897" y="1364"/>
                  </a:lnTo>
                  <a:lnTo>
                    <a:pt x="898" y="1326"/>
                  </a:lnTo>
                  <a:lnTo>
                    <a:pt x="897" y="1290"/>
                  </a:lnTo>
                  <a:lnTo>
                    <a:pt x="898" y="1276"/>
                  </a:lnTo>
                  <a:lnTo>
                    <a:pt x="902" y="1266"/>
                  </a:lnTo>
                  <a:lnTo>
                    <a:pt x="908" y="1257"/>
                  </a:lnTo>
                  <a:lnTo>
                    <a:pt x="918" y="1250"/>
                  </a:lnTo>
                  <a:lnTo>
                    <a:pt x="931" y="1246"/>
                  </a:lnTo>
                  <a:lnTo>
                    <a:pt x="971" y="1232"/>
                  </a:lnTo>
                  <a:lnTo>
                    <a:pt x="1007" y="1212"/>
                  </a:lnTo>
                  <a:lnTo>
                    <a:pt x="1041" y="1187"/>
                  </a:lnTo>
                  <a:lnTo>
                    <a:pt x="1070" y="1157"/>
                  </a:lnTo>
                  <a:lnTo>
                    <a:pt x="1091" y="1126"/>
                  </a:lnTo>
                  <a:lnTo>
                    <a:pt x="1108" y="1092"/>
                  </a:lnTo>
                  <a:lnTo>
                    <a:pt x="1119" y="1058"/>
                  </a:lnTo>
                  <a:lnTo>
                    <a:pt x="1125" y="1022"/>
                  </a:lnTo>
                  <a:lnTo>
                    <a:pt x="1125" y="987"/>
                  </a:lnTo>
                  <a:lnTo>
                    <a:pt x="1120" y="952"/>
                  </a:lnTo>
                  <a:lnTo>
                    <a:pt x="1110" y="918"/>
                  </a:lnTo>
                  <a:lnTo>
                    <a:pt x="1096" y="885"/>
                  </a:lnTo>
                  <a:lnTo>
                    <a:pt x="1076" y="854"/>
                  </a:lnTo>
                  <a:lnTo>
                    <a:pt x="1051" y="826"/>
                  </a:lnTo>
                  <a:lnTo>
                    <a:pt x="1022" y="801"/>
                  </a:lnTo>
                  <a:lnTo>
                    <a:pt x="989" y="780"/>
                  </a:lnTo>
                  <a:lnTo>
                    <a:pt x="944" y="757"/>
                  </a:lnTo>
                  <a:lnTo>
                    <a:pt x="897" y="736"/>
                  </a:lnTo>
                  <a:lnTo>
                    <a:pt x="850" y="718"/>
                  </a:lnTo>
                  <a:lnTo>
                    <a:pt x="823" y="705"/>
                  </a:lnTo>
                  <a:lnTo>
                    <a:pt x="798" y="691"/>
                  </a:lnTo>
                  <a:lnTo>
                    <a:pt x="773" y="674"/>
                  </a:lnTo>
                  <a:lnTo>
                    <a:pt x="759" y="660"/>
                  </a:lnTo>
                  <a:lnTo>
                    <a:pt x="750" y="644"/>
                  </a:lnTo>
                  <a:lnTo>
                    <a:pt x="745" y="628"/>
                  </a:lnTo>
                  <a:lnTo>
                    <a:pt x="745" y="610"/>
                  </a:lnTo>
                  <a:lnTo>
                    <a:pt x="750" y="595"/>
                  </a:lnTo>
                  <a:lnTo>
                    <a:pt x="759" y="580"/>
                  </a:lnTo>
                  <a:lnTo>
                    <a:pt x="772" y="567"/>
                  </a:lnTo>
                  <a:lnTo>
                    <a:pt x="790" y="557"/>
                  </a:lnTo>
                  <a:lnTo>
                    <a:pt x="813" y="550"/>
                  </a:lnTo>
                  <a:lnTo>
                    <a:pt x="836" y="546"/>
                  </a:lnTo>
                  <a:lnTo>
                    <a:pt x="882" y="547"/>
                  </a:lnTo>
                  <a:lnTo>
                    <a:pt x="926" y="553"/>
                  </a:lnTo>
                  <a:lnTo>
                    <a:pt x="969" y="565"/>
                  </a:lnTo>
                  <a:lnTo>
                    <a:pt x="1013" y="581"/>
                  </a:lnTo>
                  <a:lnTo>
                    <a:pt x="1027" y="587"/>
                  </a:lnTo>
                  <a:lnTo>
                    <a:pt x="1038" y="588"/>
                  </a:lnTo>
                  <a:lnTo>
                    <a:pt x="1047" y="585"/>
                  </a:lnTo>
                  <a:lnTo>
                    <a:pt x="1052" y="576"/>
                  </a:lnTo>
                  <a:lnTo>
                    <a:pt x="1058" y="561"/>
                  </a:lnTo>
                  <a:lnTo>
                    <a:pt x="1072" y="516"/>
                  </a:lnTo>
                  <a:lnTo>
                    <a:pt x="1086" y="469"/>
                  </a:lnTo>
                  <a:lnTo>
                    <a:pt x="1089" y="455"/>
                  </a:lnTo>
                  <a:lnTo>
                    <a:pt x="1085" y="444"/>
                  </a:lnTo>
                  <a:lnTo>
                    <a:pt x="1078" y="433"/>
                  </a:lnTo>
                  <a:lnTo>
                    <a:pt x="1065" y="426"/>
                  </a:lnTo>
                  <a:lnTo>
                    <a:pt x="1029" y="412"/>
                  </a:lnTo>
                  <a:lnTo>
                    <a:pt x="993" y="400"/>
                  </a:lnTo>
                  <a:lnTo>
                    <a:pt x="954" y="393"/>
                  </a:lnTo>
                  <a:lnTo>
                    <a:pt x="936" y="390"/>
                  </a:lnTo>
                  <a:lnTo>
                    <a:pt x="923" y="388"/>
                  </a:lnTo>
                  <a:lnTo>
                    <a:pt x="913" y="383"/>
                  </a:lnTo>
                  <a:lnTo>
                    <a:pt x="908" y="377"/>
                  </a:lnTo>
                  <a:lnTo>
                    <a:pt x="905" y="368"/>
                  </a:lnTo>
                  <a:lnTo>
                    <a:pt x="904" y="354"/>
                  </a:lnTo>
                  <a:lnTo>
                    <a:pt x="904" y="335"/>
                  </a:lnTo>
                  <a:lnTo>
                    <a:pt x="904" y="308"/>
                  </a:lnTo>
                  <a:lnTo>
                    <a:pt x="903" y="290"/>
                  </a:lnTo>
                  <a:lnTo>
                    <a:pt x="898" y="277"/>
                  </a:lnTo>
                  <a:lnTo>
                    <a:pt x="891" y="269"/>
                  </a:lnTo>
                  <a:lnTo>
                    <a:pt x="878" y="265"/>
                  </a:lnTo>
                  <a:lnTo>
                    <a:pt x="858" y="264"/>
                  </a:lnTo>
                  <a:lnTo>
                    <a:pt x="833" y="264"/>
                  </a:lnTo>
                  <a:lnTo>
                    <a:pt x="801" y="264"/>
                  </a:lnTo>
                  <a:close/>
                  <a:moveTo>
                    <a:pt x="830" y="0"/>
                  </a:moveTo>
                  <a:lnTo>
                    <a:pt x="906" y="4"/>
                  </a:lnTo>
                  <a:lnTo>
                    <a:pt x="980" y="13"/>
                  </a:lnTo>
                  <a:lnTo>
                    <a:pt x="1051" y="30"/>
                  </a:lnTo>
                  <a:lnTo>
                    <a:pt x="1120" y="53"/>
                  </a:lnTo>
                  <a:lnTo>
                    <a:pt x="1187" y="80"/>
                  </a:lnTo>
                  <a:lnTo>
                    <a:pt x="1250" y="114"/>
                  </a:lnTo>
                  <a:lnTo>
                    <a:pt x="1309" y="152"/>
                  </a:lnTo>
                  <a:lnTo>
                    <a:pt x="1365" y="195"/>
                  </a:lnTo>
                  <a:lnTo>
                    <a:pt x="1418" y="243"/>
                  </a:lnTo>
                  <a:lnTo>
                    <a:pt x="1466" y="295"/>
                  </a:lnTo>
                  <a:lnTo>
                    <a:pt x="1509" y="351"/>
                  </a:lnTo>
                  <a:lnTo>
                    <a:pt x="1548" y="411"/>
                  </a:lnTo>
                  <a:lnTo>
                    <a:pt x="1581" y="474"/>
                  </a:lnTo>
                  <a:lnTo>
                    <a:pt x="1609" y="540"/>
                  </a:lnTo>
                  <a:lnTo>
                    <a:pt x="1632" y="609"/>
                  </a:lnTo>
                  <a:lnTo>
                    <a:pt x="1648" y="680"/>
                  </a:lnTo>
                  <a:lnTo>
                    <a:pt x="1657" y="754"/>
                  </a:lnTo>
                  <a:lnTo>
                    <a:pt x="1661" y="829"/>
                  </a:lnTo>
                  <a:lnTo>
                    <a:pt x="1657" y="905"/>
                  </a:lnTo>
                  <a:lnTo>
                    <a:pt x="1648" y="979"/>
                  </a:lnTo>
                  <a:lnTo>
                    <a:pt x="1632" y="1050"/>
                  </a:lnTo>
                  <a:lnTo>
                    <a:pt x="1609" y="1119"/>
                  </a:lnTo>
                  <a:lnTo>
                    <a:pt x="1581" y="1185"/>
                  </a:lnTo>
                  <a:lnTo>
                    <a:pt x="1548" y="1248"/>
                  </a:lnTo>
                  <a:lnTo>
                    <a:pt x="1509" y="1308"/>
                  </a:lnTo>
                  <a:lnTo>
                    <a:pt x="1466" y="1364"/>
                  </a:lnTo>
                  <a:lnTo>
                    <a:pt x="1418" y="1416"/>
                  </a:lnTo>
                  <a:lnTo>
                    <a:pt x="1365" y="1464"/>
                  </a:lnTo>
                  <a:lnTo>
                    <a:pt x="1309" y="1507"/>
                  </a:lnTo>
                  <a:lnTo>
                    <a:pt x="1250" y="1545"/>
                  </a:lnTo>
                  <a:lnTo>
                    <a:pt x="1187" y="1578"/>
                  </a:lnTo>
                  <a:lnTo>
                    <a:pt x="1120" y="1606"/>
                  </a:lnTo>
                  <a:lnTo>
                    <a:pt x="1051" y="1628"/>
                  </a:lnTo>
                  <a:lnTo>
                    <a:pt x="980" y="1645"/>
                  </a:lnTo>
                  <a:lnTo>
                    <a:pt x="906" y="1655"/>
                  </a:lnTo>
                  <a:lnTo>
                    <a:pt x="830" y="1659"/>
                  </a:lnTo>
                  <a:lnTo>
                    <a:pt x="756" y="1655"/>
                  </a:lnTo>
                  <a:lnTo>
                    <a:pt x="682" y="1645"/>
                  </a:lnTo>
                  <a:lnTo>
                    <a:pt x="610" y="1628"/>
                  </a:lnTo>
                  <a:lnTo>
                    <a:pt x="541" y="1606"/>
                  </a:lnTo>
                  <a:lnTo>
                    <a:pt x="475" y="1578"/>
                  </a:lnTo>
                  <a:lnTo>
                    <a:pt x="411" y="1545"/>
                  </a:lnTo>
                  <a:lnTo>
                    <a:pt x="352" y="1507"/>
                  </a:lnTo>
                  <a:lnTo>
                    <a:pt x="296" y="1464"/>
                  </a:lnTo>
                  <a:lnTo>
                    <a:pt x="244" y="1416"/>
                  </a:lnTo>
                  <a:lnTo>
                    <a:pt x="196" y="1364"/>
                  </a:lnTo>
                  <a:lnTo>
                    <a:pt x="152" y="1308"/>
                  </a:lnTo>
                  <a:lnTo>
                    <a:pt x="113" y="1248"/>
                  </a:lnTo>
                  <a:lnTo>
                    <a:pt x="81" y="1185"/>
                  </a:lnTo>
                  <a:lnTo>
                    <a:pt x="53" y="1119"/>
                  </a:lnTo>
                  <a:lnTo>
                    <a:pt x="30" y="1050"/>
                  </a:lnTo>
                  <a:lnTo>
                    <a:pt x="14" y="979"/>
                  </a:lnTo>
                  <a:lnTo>
                    <a:pt x="4" y="905"/>
                  </a:lnTo>
                  <a:lnTo>
                    <a:pt x="0" y="829"/>
                  </a:lnTo>
                  <a:lnTo>
                    <a:pt x="4" y="754"/>
                  </a:lnTo>
                  <a:lnTo>
                    <a:pt x="14" y="680"/>
                  </a:lnTo>
                  <a:lnTo>
                    <a:pt x="30" y="609"/>
                  </a:lnTo>
                  <a:lnTo>
                    <a:pt x="53" y="540"/>
                  </a:lnTo>
                  <a:lnTo>
                    <a:pt x="81" y="474"/>
                  </a:lnTo>
                  <a:lnTo>
                    <a:pt x="113" y="411"/>
                  </a:lnTo>
                  <a:lnTo>
                    <a:pt x="152" y="351"/>
                  </a:lnTo>
                  <a:lnTo>
                    <a:pt x="196" y="295"/>
                  </a:lnTo>
                  <a:lnTo>
                    <a:pt x="244" y="243"/>
                  </a:lnTo>
                  <a:lnTo>
                    <a:pt x="296" y="195"/>
                  </a:lnTo>
                  <a:lnTo>
                    <a:pt x="352" y="152"/>
                  </a:lnTo>
                  <a:lnTo>
                    <a:pt x="411" y="114"/>
                  </a:lnTo>
                  <a:lnTo>
                    <a:pt x="475" y="80"/>
                  </a:lnTo>
                  <a:lnTo>
                    <a:pt x="541" y="53"/>
                  </a:lnTo>
                  <a:lnTo>
                    <a:pt x="610" y="30"/>
                  </a:lnTo>
                  <a:lnTo>
                    <a:pt x="682" y="13"/>
                  </a:lnTo>
                  <a:lnTo>
                    <a:pt x="756" y="4"/>
                  </a:lnTo>
                  <a:lnTo>
                    <a:pt x="8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xmlns="" val="109173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355E1EFF-0E64-B54C-89ED-BC2DC9EE1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051" y="1184950"/>
            <a:ext cx="5093447" cy="605292"/>
          </a:xfrm>
        </p:spPr>
        <p:txBody>
          <a:bodyPr anchor="t"/>
          <a:lstStyle/>
          <a:p>
            <a:r>
              <a:rPr lang="ru-RU" sz="1800" dirty="0"/>
              <a:t>Виды аудита управленческого учета и отчетности</a:t>
            </a:r>
            <a:endParaRPr lang="ru-RU" sz="1800" b="0" dirty="0"/>
          </a:p>
        </p:txBody>
      </p:sp>
      <p:sp>
        <p:nvSpPr>
          <p:cNvPr id="10" name="Rectangle 11">
            <a:extLst>
              <a:ext uri="{FF2B5EF4-FFF2-40B4-BE49-F238E27FC236}">
                <a16:creationId xmlns="" xmlns:a16="http://schemas.microsoft.com/office/drawing/2014/main" id="{FCE0A8E7-FA95-1646-BFB7-ECD41C8EA0EC}"/>
              </a:ext>
            </a:extLst>
          </p:cNvPr>
          <p:cNvSpPr/>
          <p:nvPr/>
        </p:nvSpPr>
        <p:spPr>
          <a:xfrm>
            <a:off x="558051" y="1790925"/>
            <a:ext cx="455183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CE1325"/>
                </a:solidFill>
              </a:rPr>
              <a:t>1. Внутренний аудит</a:t>
            </a:r>
            <a:endParaRPr lang="en-US" sz="1600" b="1" dirty="0">
              <a:solidFill>
                <a:srgbClr val="CE1325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="" xmlns:a16="http://schemas.microsoft.com/office/drawing/2014/main" id="{D0B8B88A-3EE0-184C-B2F1-096E65226AC4}"/>
              </a:ext>
            </a:extLst>
          </p:cNvPr>
          <p:cNvSpPr/>
          <p:nvPr/>
        </p:nvSpPr>
        <p:spPr>
          <a:xfrm>
            <a:off x="558051" y="2150706"/>
            <a:ext cx="4793669" cy="2793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ru-RU" sz="1200" b="1" dirty="0"/>
              <a:t>Внутренний аудит </a:t>
            </a:r>
            <a:r>
              <a:rPr lang="ru-RU" sz="1200" dirty="0"/>
              <a:t>является частью системы внутреннего контроля и аудита и может принимать различные организационные формы:</a:t>
            </a:r>
          </a:p>
          <a:p>
            <a:pPr marL="171450" indent="-171450">
              <a:spcBef>
                <a:spcPts val="300"/>
              </a:spcBef>
              <a:buFont typeface="Wingdings" pitchFamily="2" charset="2"/>
              <a:buChar char="§"/>
            </a:pPr>
            <a:r>
              <a:rPr lang="ru-RU" sz="1200" dirty="0"/>
              <a:t>самостоятельное структурное подразделение, подчиняющееся непосредственно руководителю организации и (или) Совету директоров, Акционеру;</a:t>
            </a:r>
          </a:p>
          <a:p>
            <a:pPr marL="171450" indent="-171450">
              <a:spcBef>
                <a:spcPts val="300"/>
              </a:spcBef>
              <a:buFont typeface="Wingdings" pitchFamily="2" charset="2"/>
              <a:buChar char="§"/>
            </a:pPr>
            <a:r>
              <a:rPr lang="ru-RU" sz="1200" dirty="0"/>
              <a:t>самостоятельное структурное подразделение головной организации, осуществляющее контроль за дочерними и зависимыми организациями.</a:t>
            </a:r>
          </a:p>
          <a:p>
            <a:pPr>
              <a:spcBef>
                <a:spcPts val="300"/>
              </a:spcBef>
            </a:pPr>
            <a:r>
              <a:rPr lang="ru-RU" sz="1200" dirty="0"/>
              <a:t>Внутренний аудит проводится работниками организации и предназначен для внутрихозяйственного контроля финансового состояния, источников затрат, диагностирования системы управления, выявления резервов, а также обеспечения руководства рекомендациями по повышению эффективности деятельности организации.</a:t>
            </a:r>
          </a:p>
        </p:txBody>
      </p:sp>
    </p:spTree>
    <p:extLst>
      <p:ext uri="{BB962C8B-B14F-4D97-AF65-F5344CB8AC3E}">
        <p14:creationId xmlns:p14="http://schemas.microsoft.com/office/powerpoint/2010/main" xmlns="" val="688975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355E1EFF-0E64-B54C-89ED-BC2DC9EE1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052" y="1284187"/>
            <a:ext cx="5093447" cy="605292"/>
          </a:xfrm>
        </p:spPr>
        <p:txBody>
          <a:bodyPr anchor="t"/>
          <a:lstStyle/>
          <a:p>
            <a:r>
              <a:rPr lang="ru-RU" sz="1800" dirty="0"/>
              <a:t>Виды аудита управленческого учета и отчетности</a:t>
            </a:r>
            <a:endParaRPr lang="ru-RU" sz="1800" b="0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="" xmlns:a16="http://schemas.microsoft.com/office/drawing/2014/main" id="{D0B8B88A-3EE0-184C-B2F1-096E65226AC4}"/>
              </a:ext>
            </a:extLst>
          </p:cNvPr>
          <p:cNvSpPr/>
          <p:nvPr/>
        </p:nvSpPr>
        <p:spPr>
          <a:xfrm>
            <a:off x="558052" y="2402920"/>
            <a:ext cx="455183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ru-RU" sz="1200" b="1" dirty="0"/>
              <a:t>Внешний аудит </a:t>
            </a:r>
            <a:r>
              <a:rPr lang="ru-RU" sz="1200" dirty="0"/>
              <a:t>- это независимая экспертиза, проводимая независимым аудитором или организацией  осуществляющей аудиторскую деятельность. Проведение внешнего аудита, предполагает участие привлеченных экспертов (независимыми организационно и юридически), которые гарантируют объективность и отсутствие предвзятости.</a:t>
            </a:r>
          </a:p>
        </p:txBody>
      </p:sp>
      <p:sp>
        <p:nvSpPr>
          <p:cNvPr id="8" name="Rectangle 11">
            <a:extLst>
              <a:ext uri="{FF2B5EF4-FFF2-40B4-BE49-F238E27FC236}">
                <a16:creationId xmlns="" xmlns:a16="http://schemas.microsoft.com/office/drawing/2014/main" id="{9381E7C9-51D9-5C44-94E1-CBB7C575B639}"/>
              </a:ext>
            </a:extLst>
          </p:cNvPr>
          <p:cNvSpPr/>
          <p:nvPr/>
        </p:nvSpPr>
        <p:spPr>
          <a:xfrm>
            <a:off x="558051" y="2006692"/>
            <a:ext cx="455183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CE1325"/>
                </a:solidFill>
              </a:rPr>
              <a:t>2. Внешний аудит</a:t>
            </a:r>
            <a:endParaRPr lang="en-US" sz="1600" b="1" dirty="0">
              <a:solidFill>
                <a:srgbClr val="CE1325"/>
              </a:solidFill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="" xmlns:a16="http://schemas.microsoft.com/office/drawing/2014/main" id="{CDD9F58A-60E4-43F9-8B24-1E1AB733CDFB}"/>
              </a:ext>
            </a:extLst>
          </p:cNvPr>
          <p:cNvSpPr/>
          <p:nvPr/>
        </p:nvSpPr>
        <p:spPr>
          <a:xfrm>
            <a:off x="583484" y="4287851"/>
            <a:ext cx="22813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Аудит системы управленческого учета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47406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 81">
            <a:extLst>
              <a:ext uri="{FF2B5EF4-FFF2-40B4-BE49-F238E27FC236}">
                <a16:creationId xmlns="" xmlns:a16="http://schemas.microsoft.com/office/drawing/2014/main" id="{48A8FC08-3BA9-F649-8CC8-43255048F771}"/>
              </a:ext>
            </a:extLst>
          </p:cNvPr>
          <p:cNvSpPr/>
          <p:nvPr/>
        </p:nvSpPr>
        <p:spPr>
          <a:xfrm>
            <a:off x="558052" y="2259576"/>
            <a:ext cx="4378817" cy="570739"/>
          </a:xfrm>
          <a:prstGeom prst="parallelogram">
            <a:avLst>
              <a:gd name="adj" fmla="val 4970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9" name="Parallelogram 87">
            <a:extLst>
              <a:ext uri="{FF2B5EF4-FFF2-40B4-BE49-F238E27FC236}">
                <a16:creationId xmlns="" xmlns:a16="http://schemas.microsoft.com/office/drawing/2014/main" id="{89FDB071-04A8-4842-863C-AA275B4F90FA}"/>
              </a:ext>
            </a:extLst>
          </p:cNvPr>
          <p:cNvSpPr/>
          <p:nvPr/>
        </p:nvSpPr>
        <p:spPr>
          <a:xfrm flipH="1">
            <a:off x="558052" y="2830315"/>
            <a:ext cx="2266800" cy="258705"/>
          </a:xfrm>
          <a:prstGeom prst="parallelogram">
            <a:avLst>
              <a:gd name="adj" fmla="val 112414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8" name="Parallelogram 81">
            <a:extLst>
              <a:ext uri="{FF2B5EF4-FFF2-40B4-BE49-F238E27FC236}">
                <a16:creationId xmlns="" xmlns:a16="http://schemas.microsoft.com/office/drawing/2014/main" id="{551BECBF-C45F-6043-873B-2B7D4E08000D}"/>
              </a:ext>
            </a:extLst>
          </p:cNvPr>
          <p:cNvSpPr/>
          <p:nvPr/>
        </p:nvSpPr>
        <p:spPr>
          <a:xfrm>
            <a:off x="558052" y="3086570"/>
            <a:ext cx="4378817" cy="570739"/>
          </a:xfrm>
          <a:prstGeom prst="parallelogram">
            <a:avLst>
              <a:gd name="adj" fmla="val 49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9" name="Parallelogram 87">
            <a:extLst>
              <a:ext uri="{FF2B5EF4-FFF2-40B4-BE49-F238E27FC236}">
                <a16:creationId xmlns="" xmlns:a16="http://schemas.microsoft.com/office/drawing/2014/main" id="{EBF69D99-A77D-FC43-8FF0-3068ADE532CB}"/>
              </a:ext>
            </a:extLst>
          </p:cNvPr>
          <p:cNvSpPr/>
          <p:nvPr/>
        </p:nvSpPr>
        <p:spPr>
          <a:xfrm flipH="1">
            <a:off x="558052" y="3650586"/>
            <a:ext cx="2266800" cy="258705"/>
          </a:xfrm>
          <a:prstGeom prst="parallelogram">
            <a:avLst>
              <a:gd name="adj" fmla="val 112414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0" name="Parallelogram 81">
            <a:extLst>
              <a:ext uri="{FF2B5EF4-FFF2-40B4-BE49-F238E27FC236}">
                <a16:creationId xmlns="" xmlns:a16="http://schemas.microsoft.com/office/drawing/2014/main" id="{B9FFDCC0-7723-8247-A731-EA7046E106DB}"/>
              </a:ext>
            </a:extLst>
          </p:cNvPr>
          <p:cNvSpPr/>
          <p:nvPr/>
        </p:nvSpPr>
        <p:spPr>
          <a:xfrm>
            <a:off x="558052" y="3906841"/>
            <a:ext cx="4378817" cy="796790"/>
          </a:xfrm>
          <a:prstGeom prst="parallelogram">
            <a:avLst>
              <a:gd name="adj" fmla="val 3536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355E1EFF-0E64-B54C-89ED-BC2DC9EE1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052" y="1284187"/>
            <a:ext cx="5093447" cy="605292"/>
          </a:xfrm>
        </p:spPr>
        <p:txBody>
          <a:bodyPr anchor="t"/>
          <a:lstStyle/>
          <a:p>
            <a:r>
              <a:rPr lang="ru-RU" sz="1800" dirty="0"/>
              <a:t>Проведение аудиторской проверки включает в себя следующие основные этапы:</a:t>
            </a:r>
            <a:endParaRPr lang="ru-RU" sz="1800" b="0" dirty="0"/>
          </a:p>
        </p:txBody>
      </p:sp>
      <p:sp>
        <p:nvSpPr>
          <p:cNvPr id="10" name="Rectangle 11">
            <a:extLst>
              <a:ext uri="{FF2B5EF4-FFF2-40B4-BE49-F238E27FC236}">
                <a16:creationId xmlns="" xmlns:a16="http://schemas.microsoft.com/office/drawing/2014/main" id="{FCE0A8E7-FA95-1646-BFB7-ECD41C8EA0EC}"/>
              </a:ext>
            </a:extLst>
          </p:cNvPr>
          <p:cNvSpPr/>
          <p:nvPr/>
        </p:nvSpPr>
        <p:spPr>
          <a:xfrm>
            <a:off x="968188" y="2245540"/>
            <a:ext cx="455183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</a:rPr>
              <a:t>Подготовительный этап (организация и планирование аудита)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21" name="Rectangle 11">
            <a:extLst>
              <a:ext uri="{FF2B5EF4-FFF2-40B4-BE49-F238E27FC236}">
                <a16:creationId xmlns="" xmlns:a16="http://schemas.microsoft.com/office/drawing/2014/main" id="{26E7A9AE-14E6-724C-8191-D343C1718D32}"/>
              </a:ext>
            </a:extLst>
          </p:cNvPr>
          <p:cNvSpPr/>
          <p:nvPr/>
        </p:nvSpPr>
        <p:spPr>
          <a:xfrm>
            <a:off x="968188" y="3200526"/>
            <a:ext cx="455183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</a:rPr>
              <a:t>Проведение аудита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23" name="Rectangle 11">
            <a:extLst>
              <a:ext uri="{FF2B5EF4-FFF2-40B4-BE49-F238E27FC236}">
                <a16:creationId xmlns="" xmlns:a16="http://schemas.microsoft.com/office/drawing/2014/main" id="{CA2774E3-57FA-D94A-A7E1-C3505FE359DD}"/>
              </a:ext>
            </a:extLst>
          </p:cNvPr>
          <p:cNvSpPr/>
          <p:nvPr/>
        </p:nvSpPr>
        <p:spPr>
          <a:xfrm>
            <a:off x="968188" y="3906841"/>
            <a:ext cx="455183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</a:rPr>
              <a:t>Завершающий этап. Обобщение и оценка результатов аудита, документальное оформление результатов аудита</a:t>
            </a:r>
            <a:endParaRPr 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33676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355E1EFF-0E64-B54C-89ED-BC2DC9EE1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053" y="1213303"/>
            <a:ext cx="4545576" cy="605292"/>
          </a:xfrm>
        </p:spPr>
        <p:txBody>
          <a:bodyPr anchor="t"/>
          <a:lstStyle/>
          <a:p>
            <a:r>
              <a:rPr lang="ru-RU" sz="1400" dirty="0"/>
              <a:t>Аудит управленческого учета может включать в себя выполнение следующих процедур:</a:t>
            </a:r>
            <a:endParaRPr lang="ru-RU" sz="1400" b="0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="" xmlns:a16="http://schemas.microsoft.com/office/drawing/2014/main" id="{D0B8B88A-3EE0-184C-B2F1-096E65226AC4}"/>
              </a:ext>
            </a:extLst>
          </p:cNvPr>
          <p:cNvSpPr/>
          <p:nvPr/>
        </p:nvSpPr>
        <p:spPr>
          <a:xfrm>
            <a:off x="558054" y="1780037"/>
            <a:ext cx="4963788" cy="3175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ru-RU" sz="1100" dirty="0"/>
              <a:t>Проверку правильности ведения управленческого учета и бюджетирования,  с учетом утвержденных регламентов в организации.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ru-RU" sz="1100" dirty="0"/>
              <a:t>Проверку достоверности данных, отраженных в финансово-хозяйственных операциях управленческого отчета и отчетности.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ru-RU" sz="1100" dirty="0"/>
              <a:t>Оценку рисков нецелевого использования финансовых ресурсов, выявление областей, где такие риски возможны (например, аудит системы закупок).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ru-RU" sz="1100" dirty="0"/>
              <a:t>Оценку организационной структуры предприятия, ее целесообразность и эффективность для целей управленческого учета.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ru-RU" sz="1100" dirty="0"/>
              <a:t>Проверку квалификации финансовой службы, проверку сотрудников на соответствие выполнения должностных инструкций.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ru-RU" sz="1100" dirty="0"/>
              <a:t>Анализ документооборота, учета и контроля материальных ценностей в системе управленческого учета с целью выявления краж, недостач, потерь на разных стадиях финансово-хозяйственной деятельности.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ru-RU" sz="1100" dirty="0"/>
              <a:t>Проведение инвентаризации активов.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ru-RU" sz="1100" dirty="0"/>
              <a:t>Проверку эффективности системы внутреннего контроля, включая оценку степени защиты управленческой и иной конфиденциальной информации.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ru-RU" sz="1100" dirty="0"/>
              <a:t>И другие процедуры.</a:t>
            </a:r>
          </a:p>
        </p:txBody>
      </p:sp>
    </p:spTree>
    <p:extLst>
      <p:ext uri="{BB962C8B-B14F-4D97-AF65-F5344CB8AC3E}">
        <p14:creationId xmlns:p14="http://schemas.microsoft.com/office/powerpoint/2010/main" xmlns="" val="616617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50583" y="2358563"/>
            <a:ext cx="7772400" cy="1825950"/>
          </a:xfrm>
        </p:spPr>
        <p:txBody>
          <a:bodyPr>
            <a:noAutofit/>
          </a:bodyPr>
          <a:lstStyle/>
          <a:p>
            <a:pPr algn="l">
              <a:lnSpc>
                <a:spcPct val="91000"/>
              </a:lnSpc>
            </a:pPr>
            <a:r>
              <a:rPr lang="ru-RU" sz="3600" b="1" dirty="0"/>
              <a:t>Типичные ошибки</a:t>
            </a:r>
            <a:endParaRPr lang="ru-RU" sz="3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4" y="4287851"/>
            <a:ext cx="22813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Аудит системы управленческого учета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942453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355E1EFF-0E64-B54C-89ED-BC2DC9EE1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052" y="1284187"/>
            <a:ext cx="5291419" cy="605292"/>
          </a:xfrm>
        </p:spPr>
        <p:txBody>
          <a:bodyPr anchor="ctr"/>
          <a:lstStyle/>
          <a:p>
            <a:r>
              <a:rPr lang="ru-RU" sz="1800" dirty="0"/>
              <a:t>Типичные ошибки </a:t>
            </a:r>
            <a:endParaRPr lang="ru-RU" sz="1800" b="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="" xmlns:a16="http://schemas.microsoft.com/office/drawing/2014/main" id="{6886B2F4-58A7-D140-A238-3D011DDB446F}"/>
              </a:ext>
            </a:extLst>
          </p:cNvPr>
          <p:cNvSpPr/>
          <p:nvPr/>
        </p:nvSpPr>
        <p:spPr>
          <a:xfrm>
            <a:off x="558053" y="1897325"/>
            <a:ext cx="5197705" cy="27186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lvl="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ru-RU" sz="1100" dirty="0"/>
              <a:t>Отсутствие единой методологии ведения управленческого учета.</a:t>
            </a:r>
          </a:p>
          <a:p>
            <a:pPr marL="171450" lvl="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ru-RU" sz="1100" dirty="0"/>
              <a:t>Отсутствие  стратегической программы компании, либо программа не актуальна и не работает.</a:t>
            </a:r>
          </a:p>
          <a:p>
            <a:pPr marL="171450" lvl="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ru-RU" sz="1100" dirty="0"/>
              <a:t>Отсутствие утвержденных бизнес-процессов и регламентов.</a:t>
            </a:r>
          </a:p>
          <a:p>
            <a:pPr marL="171450" lvl="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ru-RU" sz="1100" dirty="0"/>
              <a:t>Отсутствие механизмов контроля.</a:t>
            </a:r>
          </a:p>
          <a:p>
            <a:pPr marL="171450" lvl="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ru-RU" sz="1100" dirty="0"/>
              <a:t>Несоответствие между применяемыми методами учета затрат и методами, утвержденными в учетной политике для целей управленческого учета.</a:t>
            </a:r>
          </a:p>
          <a:p>
            <a:pPr marL="171450" lvl="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ru-RU" sz="1100" dirty="0"/>
              <a:t>Отсутствие раздельного учета прямых и общепроизводственных расходов.</a:t>
            </a:r>
          </a:p>
          <a:p>
            <a:pPr marL="171450" lvl="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ru-RU" sz="1100" dirty="0"/>
              <a:t>Отнесение на счета затрат расходов, относящихся к капитальным вложениями.</a:t>
            </a:r>
          </a:p>
          <a:p>
            <a:pPr marL="171450" lvl="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ru-RU" sz="1100" dirty="0"/>
              <a:t>Отнесение непроизводственных расходов в себестоимость продукции.</a:t>
            </a:r>
          </a:p>
          <a:p>
            <a:pPr marL="171450" lvl="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ru-RU" sz="1100" dirty="0"/>
              <a:t>Необоснованное использование денежных средств, сверх установленных бюджетов.</a:t>
            </a:r>
          </a:p>
          <a:p>
            <a:pPr marL="171450" lvl="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ru-RU" sz="1100" dirty="0"/>
              <a:t>Неэффективное использование финансовых ресурсов</a:t>
            </a:r>
          </a:p>
          <a:p>
            <a:pPr marL="171450" lvl="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ru-RU" sz="1100" dirty="0"/>
              <a:t>Фальсификация сведений.</a:t>
            </a:r>
          </a:p>
        </p:txBody>
      </p:sp>
    </p:spTree>
    <p:extLst>
      <p:ext uri="{BB962C8B-B14F-4D97-AF65-F5344CB8AC3E}">
        <p14:creationId xmlns:p14="http://schemas.microsoft.com/office/powerpoint/2010/main" xmlns="" val="3741230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50583" y="1798581"/>
            <a:ext cx="7772400" cy="1825950"/>
          </a:xfrm>
        </p:spPr>
        <p:txBody>
          <a:bodyPr>
            <a:noAutofit/>
          </a:bodyPr>
          <a:lstStyle/>
          <a:p>
            <a:pPr algn="l"/>
            <a:r>
              <a:rPr lang="ru-RU" sz="3600" b="1" dirty="0"/>
              <a:t>Создание автоматизированной системы аудита и выявления недочетов</a:t>
            </a:r>
            <a:endParaRPr lang="ru-RU" sz="3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4" y="4287851"/>
            <a:ext cx="22813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Аудит системы управленческого учета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77635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355E1EFF-0E64-B54C-89ED-BC2DC9EE1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052" y="1284187"/>
            <a:ext cx="4446339" cy="605292"/>
          </a:xfrm>
        </p:spPr>
        <p:txBody>
          <a:bodyPr anchor="t"/>
          <a:lstStyle/>
          <a:p>
            <a:r>
              <a:rPr lang="ru-RU" sz="1800" dirty="0"/>
              <a:t>Создание автоматизированной системы аудита и выявления недочетов</a:t>
            </a:r>
            <a:endParaRPr lang="ru-RU" sz="1800" b="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="" xmlns:a16="http://schemas.microsoft.com/office/drawing/2014/main" id="{0BB24D09-06C4-2441-8CDD-10FD170F43B1}"/>
              </a:ext>
            </a:extLst>
          </p:cNvPr>
          <p:cNvSpPr/>
          <p:nvPr/>
        </p:nvSpPr>
        <p:spPr>
          <a:xfrm>
            <a:off x="558052" y="2086496"/>
            <a:ext cx="4715699" cy="28110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lang="ru-RU" sz="1000" dirty="0"/>
              <a:t>С помощью автоматизации системы аудита достигаются цели и задачи по повышению эффективности и качества  аудита. </a:t>
            </a:r>
          </a:p>
          <a:p>
            <a:pPr>
              <a:spcBef>
                <a:spcPts val="200"/>
              </a:spcBef>
            </a:pPr>
            <a:r>
              <a:rPr lang="ru-RU" sz="1000" b="1" dirty="0">
                <a:solidFill>
                  <a:srgbClr val="CE1325"/>
                </a:solidFill>
              </a:rPr>
              <a:t>Автоматизированная система аудита и контроля обеспечивает: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ru-RU" sz="1000" dirty="0"/>
              <a:t>Стандартизацию процессов аудита.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ru-RU" sz="1000" dirty="0"/>
              <a:t>Организацию  и системность документооборота, в том числе информационного и правового обеспечения. 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ru-RU" sz="1000" dirty="0"/>
              <a:t>Повышение оперативности на каждом этапе аудита.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ru-RU" sz="1000" dirty="0"/>
              <a:t>Контроль качества проводимых проверок. 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ru-RU" sz="1000" dirty="0"/>
              <a:t>Создание единой базы хранения информации по аудиту (от этапа планирования до этапа завершения, предшествующих результатов аудитов).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ru-RU" sz="1000" dirty="0"/>
              <a:t>Обеспечение высокого уровня конфиденциальности информации.  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ru-RU" sz="1000" dirty="0"/>
              <a:t>Автоматизацию и анализ информации и отчетности в рамках проведения аудита.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ru-RU" sz="1000" dirty="0"/>
              <a:t>Онлайн мониторинг процессов и стадии выполнения аудита.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ru-RU" sz="1000" dirty="0"/>
              <a:t>Осуществление мониторинга выполнения мероприятий по устранению выполненных нарушений и недостатков системы внутреннего контроля.</a:t>
            </a:r>
          </a:p>
        </p:txBody>
      </p:sp>
    </p:spTree>
    <p:extLst>
      <p:ext uri="{BB962C8B-B14F-4D97-AF65-F5344CB8AC3E}">
        <p14:creationId xmlns:p14="http://schemas.microsoft.com/office/powerpoint/2010/main" xmlns="" val="41281597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355E1EFF-0E64-B54C-89ED-BC2DC9EE1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053" y="1177861"/>
            <a:ext cx="4332925" cy="605292"/>
          </a:xfrm>
        </p:spPr>
        <p:txBody>
          <a:bodyPr anchor="t"/>
          <a:lstStyle/>
          <a:p>
            <a:r>
              <a:rPr lang="ru-RU" sz="1600" dirty="0"/>
              <a:t>Основные факторы, свидетельствующие о необходимости автоматизации процесса аудита</a:t>
            </a:r>
            <a:endParaRPr lang="ru-RU" sz="1600" b="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="" xmlns:a16="http://schemas.microsoft.com/office/drawing/2014/main" id="{0BB24D09-06C4-2441-8CDD-10FD170F43B1}"/>
              </a:ext>
            </a:extLst>
          </p:cNvPr>
          <p:cNvSpPr/>
          <p:nvPr/>
        </p:nvSpPr>
        <p:spPr>
          <a:xfrm>
            <a:off x="558053" y="1980171"/>
            <a:ext cx="4708608" cy="29392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sz="1100" dirty="0"/>
              <a:t>Отсутствие внутрикорпоративных стандартов аудиторской деятельности.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sz="1100" dirty="0"/>
              <a:t>Потеря контроля над процессами аудита в связи с возрастающим объемом разноплановой информации и документации.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sz="1100" dirty="0"/>
              <a:t>Большое количество времени занимает  сбор и обработка информации.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sz="1100" dirty="0"/>
              <a:t>Нерациональное использование времени и трудовых ресурсов.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sz="1100" dirty="0"/>
              <a:t>Потери информации в ходе ее обработки или после завершения аудита.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sz="1100" dirty="0"/>
              <a:t>Противоположные  выводы, основанные на единых или аналогичных данных.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sz="1100" dirty="0"/>
              <a:t>Рост требований к качеству и увеличение объема задач, возложенных на аудит.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sz="1100" dirty="0"/>
              <a:t>Потребность в проверке качества выполняемой аудиторами работы и постоянном самоконтроле.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sz="1100" dirty="0"/>
              <a:t>Установление ключевых показателей эффективности внутреннего аудита.</a:t>
            </a:r>
          </a:p>
        </p:txBody>
      </p:sp>
    </p:spTree>
    <p:extLst>
      <p:ext uri="{BB962C8B-B14F-4D97-AF65-F5344CB8AC3E}">
        <p14:creationId xmlns:p14="http://schemas.microsoft.com/office/powerpoint/2010/main" xmlns="" val="32656300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294">
            <a:extLst>
              <a:ext uri="{FF2B5EF4-FFF2-40B4-BE49-F238E27FC236}">
                <a16:creationId xmlns="" xmlns:a16="http://schemas.microsoft.com/office/drawing/2014/main" id="{1621946A-0CA8-EB47-91E3-15B50A933F98}"/>
              </a:ext>
            </a:extLst>
          </p:cNvPr>
          <p:cNvSpPr txBox="1">
            <a:spLocks/>
          </p:cNvSpPr>
          <p:nvPr/>
        </p:nvSpPr>
        <p:spPr>
          <a:xfrm>
            <a:off x="559225" y="1633306"/>
            <a:ext cx="4674900" cy="658906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ru-RU" sz="2400" dirty="0"/>
              <a:t>Спасибо за внимание!</a:t>
            </a:r>
            <a:endParaRPr lang="en" sz="2400" dirty="0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41324033-9366-6F48-BD70-33DB58C71AD2}"/>
              </a:ext>
            </a:extLst>
          </p:cNvPr>
          <p:cNvSpPr txBox="1"/>
          <p:nvPr/>
        </p:nvSpPr>
        <p:spPr>
          <a:xfrm>
            <a:off x="559225" y="2664785"/>
            <a:ext cx="417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CE1325"/>
                </a:solidFill>
                <a:latin typeface="+mn-lt"/>
              </a:rPr>
              <a:t>АКГ «ДЕЛОВОЙ ПРОФИЛЬ»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="" xmlns:a16="http://schemas.microsoft.com/office/drawing/2014/main" id="{5CF9F68A-B748-2641-8B03-CBBE6FD8A445}"/>
              </a:ext>
            </a:extLst>
          </p:cNvPr>
          <p:cNvSpPr/>
          <p:nvPr/>
        </p:nvSpPr>
        <p:spPr>
          <a:xfrm>
            <a:off x="559225" y="3034117"/>
            <a:ext cx="3888432" cy="4693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ru-RU" sz="1100" dirty="0">
                <a:latin typeface="+mn-lt"/>
              </a:rPr>
              <a:t>127015, г. Москва, ул. Вятская, д. 70 </a:t>
            </a:r>
          </a:p>
          <a:p>
            <a:pPr>
              <a:spcBef>
                <a:spcPts val="300"/>
              </a:spcBef>
            </a:pPr>
            <a:r>
              <a:rPr lang="ru-RU" sz="1100" dirty="0">
                <a:latin typeface="+mn-lt"/>
              </a:rPr>
              <a:t>Тел.: +7 (495) 740-16-01 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="" xmlns:a16="http://schemas.microsoft.com/office/drawing/2014/main" id="{8BE8F85A-62C8-BC46-8C07-2F6C33722FAD}"/>
              </a:ext>
            </a:extLst>
          </p:cNvPr>
          <p:cNvSpPr/>
          <p:nvPr/>
        </p:nvSpPr>
        <p:spPr>
          <a:xfrm>
            <a:off x="559225" y="3484312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b="1" dirty="0" err="1">
                <a:solidFill>
                  <a:srgbClr val="CE1325"/>
                </a:solidFill>
              </a:rPr>
              <a:t>www.delprof.ru</a:t>
            </a:r>
            <a:r>
              <a:rPr lang="en-US" sz="1100" b="1" dirty="0">
                <a:solidFill>
                  <a:srgbClr val="CE1325"/>
                </a:solidFill>
              </a:rPr>
              <a:t> </a:t>
            </a:r>
            <a:endParaRPr lang="ru-RU" sz="1100" b="1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53277495"/>
      </p:ext>
    </p:extLst>
  </p:cSld>
  <p:clrMapOvr>
    <a:masterClrMapping/>
  </p:clrMapOvr>
</p:sld>
</file>

<file path=ppt/theme/theme1.xml><?xml version="1.0" encoding="utf-8"?>
<a:theme xmlns:a="http://schemas.openxmlformats.org/drawingml/2006/main" name="shfd_videolessons_23 01 18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Специальное оформление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shfd_videolessons_23 01 18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1_Специальное оформление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shfd_videolessons_23 01 18.thmx</Template>
  <TotalTime>1587</TotalTime>
  <Words>761</Words>
  <Application>Microsoft Office PowerPoint</Application>
  <PresentationFormat>Экран (16:9)</PresentationFormat>
  <Paragraphs>118</Paragraphs>
  <Slides>17</Slides>
  <Notes>4</Notes>
  <HiddenSlides>0</HiddenSlides>
  <MMClips>0</MMClips>
  <ScaleCrop>false</ScaleCrop>
  <HeadingPairs>
    <vt:vector size="4" baseType="variant">
      <vt:variant>
        <vt:lpstr>Тема</vt:lpstr>
      </vt:variant>
      <vt:variant>
        <vt:i4>4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shfd_videolessons_23 01 18</vt:lpstr>
      <vt:lpstr>Специальное оформление</vt:lpstr>
      <vt:lpstr>1_shfd_videolessons_23 01 18</vt:lpstr>
      <vt:lpstr>1_Специальное оформление</vt:lpstr>
      <vt:lpstr>Аудит системы управленческого учета</vt:lpstr>
      <vt:lpstr>Управленческий учет и аудит</vt:lpstr>
      <vt:lpstr>Управленческий учет позволяет реализовать четыре основные функции управления:</vt:lpstr>
      <vt:lpstr>Основные требования, предъявляемые к информации управленческого учета: </vt:lpstr>
      <vt:lpstr>Пользователи информации управленческого учета и отчетности</vt:lpstr>
      <vt:lpstr>Аудит управленческого учета</vt:lpstr>
      <vt:lpstr>Аудит в системе управленческого учета обеспечивает:</vt:lpstr>
      <vt:lpstr>Виды аудита управленческого учета и отчетности</vt:lpstr>
      <vt:lpstr>Виды аудита управленческого учета и отчетности</vt:lpstr>
      <vt:lpstr>Проведение аудиторской проверки включает в себя следующие основные этапы:</vt:lpstr>
      <vt:lpstr>Аудит управленческого учета может включать в себя выполнение следующих процедур:</vt:lpstr>
      <vt:lpstr>Типичные ошибки</vt:lpstr>
      <vt:lpstr>Типичные ошибки </vt:lpstr>
      <vt:lpstr>Создание автоматизированной системы аудита и выявления недочетов</vt:lpstr>
      <vt:lpstr>Создание автоматизированной системы аудита и выявления недочетов</vt:lpstr>
      <vt:lpstr>Основные факторы, свидетельствующие о необходимости автоматизации процесса аудита</vt:lpstr>
      <vt:lpstr>Слайд 17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Эксклюзив от ФНС:  как заполнять счета-фактуры  и регистры учета после 1 октября</dc:title>
  <dc:creator>User</dc:creator>
  <cp:lastModifiedBy>Натали</cp:lastModifiedBy>
  <cp:revision>290</cp:revision>
  <dcterms:created xsi:type="dcterms:W3CDTF">2018-01-12T10:39:47Z</dcterms:created>
  <dcterms:modified xsi:type="dcterms:W3CDTF">2018-12-19T07:47:49Z</dcterms:modified>
</cp:coreProperties>
</file>