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colors6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45"/>
  </p:notesMasterIdLst>
  <p:sldIdLst>
    <p:sldId id="256" r:id="rId5"/>
    <p:sldId id="260" r:id="rId6"/>
    <p:sldId id="261" r:id="rId7"/>
    <p:sldId id="262" r:id="rId8"/>
    <p:sldId id="290" r:id="rId9"/>
    <p:sldId id="263" r:id="rId10"/>
    <p:sldId id="264" r:id="rId11"/>
    <p:sldId id="265" r:id="rId12"/>
    <p:sldId id="29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91" r:id="rId23"/>
    <p:sldId id="293" r:id="rId24"/>
    <p:sldId id="294" r:id="rId25"/>
    <p:sldId id="295" r:id="rId26"/>
    <p:sldId id="275" r:id="rId27"/>
    <p:sldId id="276" r:id="rId28"/>
    <p:sldId id="277" r:id="rId29"/>
    <p:sldId id="278" r:id="rId30"/>
    <p:sldId id="296" r:id="rId31"/>
    <p:sldId id="279" r:id="rId32"/>
    <p:sldId id="280" r:id="rId33"/>
    <p:sldId id="297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58" r:id="rId44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17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394" y="1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1050;&#1085;&#1080;&#1075;&#1072;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style val="3"/>
  <c:chart>
    <c:autoTitleDeleted val="1"/>
    <c:plotArea>
      <c:layout>
        <c:manualLayout>
          <c:layoutTarget val="inner"/>
          <c:xMode val="edge"/>
          <c:yMode val="edge"/>
          <c:x val="0.143062229042456"/>
          <c:y val="8.9163237311385452E-2"/>
          <c:w val="0.71311665115343015"/>
          <c:h val="0.64882267802944393"/>
        </c:manualLayout>
      </c:layout>
      <c:barChart>
        <c:barDir val="col"/>
        <c:grouping val="clustered"/>
        <c:ser>
          <c:idx val="3"/>
          <c:order val="3"/>
          <c:tx>
            <c:strRef>
              <c:f>Лист1!$C$16</c:f>
              <c:strCache>
                <c:ptCount val="1"/>
                <c:pt idx="0">
                  <c:v>Себестоимость, тыс.руб./шт.</c:v>
                </c:pt>
              </c:strCache>
            </c:strRef>
          </c:tx>
          <c:spPr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accent1"/>
              </a:solidFill>
            </a:ln>
            <a:effectLst/>
          </c:spPr>
          <c:cat>
            <c:numRef>
              <c:f>Лист1!$D$12:$H$12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Лист1!$D$16:$H$16</c:f>
              <c:numCache>
                <c:formatCode>General</c:formatCode>
                <c:ptCount val="5"/>
                <c:pt idx="1">
                  <c:v>4.25</c:v>
                </c:pt>
                <c:pt idx="2" formatCode="0.0">
                  <c:v>3.6666666666666665</c:v>
                </c:pt>
                <c:pt idx="3">
                  <c:v>3.2</c:v>
                </c:pt>
                <c:pt idx="4">
                  <c:v>2.8499999999999996</c:v>
                </c:pt>
              </c:numCache>
            </c:numRef>
          </c:val>
        </c:ser>
        <c:dLbls/>
        <c:gapWidth val="300"/>
        <c:axId val="51443200"/>
        <c:axId val="51038464"/>
      </c:barChart>
      <c:lineChart>
        <c:grouping val="standard"/>
        <c:ser>
          <c:idx val="0"/>
          <c:order val="0"/>
          <c:tx>
            <c:strRef>
              <c:f>Лист1!$C$13</c:f>
              <c:strCache>
                <c:ptCount val="1"/>
                <c:pt idx="0">
                  <c:v>Переменные затраты</c:v>
                </c:pt>
              </c:strCache>
            </c:strRef>
          </c:tx>
          <c:spPr>
            <a:ln w="28575" cap="rnd">
              <a:solidFill>
                <a:schemeClr val="accent1">
                  <a:shade val="58000"/>
                </a:schemeClr>
              </a:solidFill>
              <a:prstDash val="lgDash"/>
              <a:round/>
            </a:ln>
            <a:effectLst/>
          </c:spPr>
          <c:marker>
            <c:symbol val="none"/>
          </c:marker>
          <c:cat>
            <c:numRef>
              <c:f>Лист1!$D$12:$H$12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Лист1!$D$13:$H$13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75</c:v>
                </c:pt>
                <c:pt idx="3">
                  <c:v>125</c:v>
                </c:pt>
                <c:pt idx="4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Лист1!$C$14</c:f>
              <c:strCache>
                <c:ptCount val="1"/>
                <c:pt idx="0">
                  <c:v>Постоянные затраты </c:v>
                </c:pt>
              </c:strCache>
            </c:strRef>
          </c:tx>
          <c:spPr>
            <a:ln w="28575" cap="rnd">
              <a:solidFill>
                <a:schemeClr val="accent1">
                  <a:shade val="86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Лист1!$D$12:$H$12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Лист1!$D$14:$H$14</c:f>
              <c:numCache>
                <c:formatCode>General</c:formatCode>
                <c:ptCount val="5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</c:numCache>
            </c:numRef>
          </c:val>
        </c:ser>
        <c:ser>
          <c:idx val="2"/>
          <c:order val="2"/>
          <c:tx>
            <c:strRef>
              <c:f>Лист1!$C$15</c:f>
              <c:strCache>
                <c:ptCount val="1"/>
                <c:pt idx="0">
                  <c:v>Общие затраты</c:v>
                </c:pt>
              </c:strCache>
            </c:strRef>
          </c:tx>
          <c:spPr>
            <a:ln w="28575" cap="rnd">
              <a:solidFill>
                <a:schemeClr val="accent1">
                  <a:tint val="86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Лист1!$D$12:$H$12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cat>
          <c:val>
            <c:numRef>
              <c:f>Лист1!$D$15:$H$15</c:f>
              <c:numCache>
                <c:formatCode>General</c:formatCode>
                <c:ptCount val="5"/>
                <c:pt idx="0">
                  <c:v>35</c:v>
                </c:pt>
                <c:pt idx="1">
                  <c:v>85</c:v>
                </c:pt>
                <c:pt idx="2">
                  <c:v>110</c:v>
                </c:pt>
                <c:pt idx="3">
                  <c:v>160</c:v>
                </c:pt>
                <c:pt idx="4">
                  <c:v>285</c:v>
                </c:pt>
              </c:numCache>
            </c:numRef>
          </c:val>
          <c:smooth val="1"/>
        </c:ser>
        <c:dLbls/>
        <c:marker val="1"/>
        <c:axId val="50850048"/>
        <c:axId val="51030656"/>
      </c:lineChart>
      <c:catAx>
        <c:axId val="50850048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800" dirty="0"/>
                  <a:t>Объем реализации, шт. </a:t>
                </a:r>
              </a:p>
            </c:rich>
          </c:tx>
          <c:layout>
            <c:manualLayout>
              <c:xMode val="edge"/>
              <c:yMode val="edge"/>
              <c:x val="0.36019830418384113"/>
              <c:y val="0.80819850792242598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030656"/>
        <c:crosses val="autoZero"/>
        <c:auto val="1"/>
        <c:lblAlgn val="ctr"/>
        <c:lblOffset val="100"/>
      </c:catAx>
      <c:valAx>
        <c:axId val="51030656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dirty="0"/>
                  <a:t>Затраты  за период, тыс</a:t>
                </a:r>
                <a:r>
                  <a:rPr lang="ru-RU" sz="1000" dirty="0" smtClean="0"/>
                  <a:t>. руб</a:t>
                </a:r>
                <a:r>
                  <a:rPr lang="ru-RU" sz="1000" dirty="0"/>
                  <a:t>.</a:t>
                </a:r>
              </a:p>
            </c:rich>
          </c:tx>
          <c:layout>
            <c:manualLayout>
              <c:xMode val="edge"/>
              <c:yMode val="edge"/>
              <c:x val="6.1910954843530097E-3"/>
              <c:y val="0.10580955319119248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0850048"/>
        <c:crosses val="autoZero"/>
        <c:crossBetween val="between"/>
      </c:valAx>
      <c:valAx>
        <c:axId val="51038464"/>
        <c:scaling>
          <c:orientation val="minMax"/>
        </c:scaling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/>
                  <a:t>Себестоимость 1 ед., тыс.руб./шт.</a:t>
                </a:r>
              </a:p>
            </c:rich>
          </c:tx>
          <c:layout>
            <c:manualLayout>
              <c:xMode val="edge"/>
              <c:yMode val="edge"/>
              <c:x val="0.93937241604702038"/>
              <c:y val="7.0198638536155086E-2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1443200"/>
        <c:crosses val="max"/>
        <c:crossBetween val="between"/>
      </c:valAx>
      <c:catAx>
        <c:axId val="51443200"/>
        <c:scaling>
          <c:orientation val="minMax"/>
        </c:scaling>
        <c:delete val="1"/>
        <c:axPos val="b"/>
        <c:numFmt formatCode="General" sourceLinked="1"/>
        <c:tickLblPos val="nextTo"/>
        <c:crossAx val="51038464"/>
        <c:crosses val="autoZero"/>
        <c:auto val="1"/>
        <c:lblAlgn val="ctr"/>
        <c:lblOffset val="10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8703894339916397"/>
          <c:w val="1"/>
          <c:h val="0.10017031991018276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30109A-FFFC-4B01-8E45-E2CD368B2DBF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2E7B68D8-9AB7-4FF7-A0E9-94197BB9C865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Низкий объем продаж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3319561C-CE36-40EB-A563-A13D34587571}" type="par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F673755B-9813-4CD5-BD51-C89867074038}" type="sib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0D7DD503-2357-406A-B20D-DF0B98893CFB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Низкий спрос на продукцию 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11BCD41A-E9DF-4D63-B325-1129BCFEDCEA}" type="par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755ADE0C-5CB7-4383-A1B3-2A7D1889805C}" type="sib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427E737E-03BE-46FE-B7C4-04E1BFF63FB6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Невыгодное соотношение доходы/затраты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A49C2C70-7CAD-4AEA-84F4-12651F50BA56}" type="par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ADFB890B-9DF3-464E-B2A0-EACA00C276DB}" type="sib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956F6CD5-A91A-4925-9409-2B4FCCC43A56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Убыточность прочих видов деятельности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D697EA14-E2AD-4520-94FC-A0069834B29E}" type="parTrans" cxnId="{6385A5C8-84BC-4491-891E-D6F24FB697F1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8A25E8BD-3513-4C9A-B8D9-E80D3CF7FD57}" type="sibTrans" cxnId="{6385A5C8-84BC-4491-891E-D6F24FB697F1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AE1ABC5-0AC3-497B-A963-B64E45164990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Штрафы, пени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939ACDE6-DB98-4432-AA35-E86EBD2DB8EE}" type="parTrans" cxnId="{CCA0A3FA-8F8B-4EB3-877D-8CC1174C2026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E540A606-7871-4B7A-B797-8F7855BE5EBF}" type="sibTrans" cxnId="{CCA0A3FA-8F8B-4EB3-877D-8CC1174C2026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76C0985-45DB-4187-AFF6-9847CED313D5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Расходы из чистой прибыли непроизводственного характера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2A73C5AF-2761-4C2E-B985-FEDE5E25D802}" type="parTrans" cxnId="{66A2709D-0034-44EC-AA63-C4D8C40D8A51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F7216CC-E696-44FC-A981-2EA07BE65AAD}" type="sibTrans" cxnId="{66A2709D-0034-44EC-AA63-C4D8C40D8A51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18A6DFA4-9EFE-4816-A94B-263797C33A98}">
      <dgm:prSet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Высокие постоянные затраты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A15DCCE4-06CB-4803-9020-C0DF9FBE5AA9}" type="sibTrans" cxnId="{F9061583-CAB4-439E-8CC6-25A1725A2CB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633A4BE3-F3E5-46DF-801E-3D0BD2D2FBBC}" type="parTrans" cxnId="{F9061583-CAB4-439E-8CC6-25A1725A2CB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A2504DC1-84DF-452E-8D97-8FB7858AA638}">
      <dgm:prSet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Высокие переменные затраты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90D85CFF-2BDA-47C2-B08D-2297D2DA594B}" type="sibTrans" cxnId="{693D3968-6401-465C-BC81-84DDBD1D116C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4D8D76DF-3A4D-403A-88D1-7F50D7280F9C}" type="parTrans" cxnId="{693D3968-6401-465C-BC81-84DDBD1D116C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47BC3FF-1454-415D-AB82-800DB58E9265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Низкий уровень цен на реализованную продукцию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6CC10B6D-D69B-4B25-A6DC-110248683E71}" type="sib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E7B07B71-A484-48EE-A727-F22ECC1EFDF0}" type="par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03596036-7B0A-4BCA-B2B0-BA06D8B21810}">
      <dgm:prSet phldrT="[Текст]"/>
      <dgm:spPr/>
      <dgm:t>
        <a:bodyPr/>
        <a:lstStyle/>
        <a:p>
          <a:r>
            <a:rPr lang="ru-RU" dirty="0" smtClean="0">
              <a:latin typeface="Calibri" pitchFamily="34" charset="0"/>
              <a:cs typeface="Calibri" pitchFamily="34" charset="0"/>
            </a:rPr>
            <a:t>Недостаточные усилия маркетинговых служб</a:t>
          </a:r>
          <a:endParaRPr lang="ru-RU" dirty="0">
            <a:latin typeface="Calibri" pitchFamily="34" charset="0"/>
            <a:cs typeface="Calibri" pitchFamily="34" charset="0"/>
          </a:endParaRPr>
        </a:p>
      </dgm:t>
    </dgm:pt>
    <dgm:pt modelId="{484E0303-2993-4396-B2F2-F3D713313C1D}" type="parTrans" cxnId="{2253CABB-678B-41BF-8D8C-E6AE9136D388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8CF2814-0E6B-4F70-A73A-350713F57465}" type="sibTrans" cxnId="{2253CABB-678B-41BF-8D8C-E6AE9136D388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23F4716A-0302-4C3A-9617-2DBC5EE890D5}" type="pres">
      <dgm:prSet presAssocID="{C330109A-FFFC-4B01-8E45-E2CD368B2DB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B07672-4D15-41DF-9EEC-28CE847CD2A5}" type="pres">
      <dgm:prSet presAssocID="{2E7B68D8-9AB7-4FF7-A0E9-94197BB9C865}" presName="linNode" presStyleCnt="0"/>
      <dgm:spPr/>
    </dgm:pt>
    <dgm:pt modelId="{597E0FF4-2369-490C-8997-7BA072273111}" type="pres">
      <dgm:prSet presAssocID="{2E7B68D8-9AB7-4FF7-A0E9-94197BB9C865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ECE516-55DF-4531-9805-0C36E9BF0CD5}" type="pres">
      <dgm:prSet presAssocID="{2E7B68D8-9AB7-4FF7-A0E9-94197BB9C865}" presName="descendantText" presStyleLbl="alignAccFollowNode1" presStyleIdx="0" presStyleCnt="3" custScaleY="8403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45C0D2-C9C7-4946-8179-1AB233512FCF}" type="pres">
      <dgm:prSet presAssocID="{F673755B-9813-4CD5-BD51-C89867074038}" presName="sp" presStyleCnt="0"/>
      <dgm:spPr/>
    </dgm:pt>
    <dgm:pt modelId="{05617868-8E33-4E68-BD4F-83C5F2683325}" type="pres">
      <dgm:prSet presAssocID="{427E737E-03BE-46FE-B7C4-04E1BFF63FB6}" presName="linNode" presStyleCnt="0"/>
      <dgm:spPr/>
    </dgm:pt>
    <dgm:pt modelId="{4EC2030A-71C8-42E9-9649-9BB6D848027A}" type="pres">
      <dgm:prSet presAssocID="{427E737E-03BE-46FE-B7C4-04E1BFF63FB6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918FF1-055C-4ADB-BF05-9F16C6F4A59E}" type="pres">
      <dgm:prSet presAssocID="{427E737E-03BE-46FE-B7C4-04E1BFF63FB6}" presName="descendantText" presStyleLbl="alignAccFollowNode1" presStyleIdx="1" presStyleCnt="3" custScaleY="8663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9813DD-3210-4B2D-A503-F55B19877034}" type="pres">
      <dgm:prSet presAssocID="{ADFB890B-9DF3-464E-B2A0-EACA00C276DB}" presName="sp" presStyleCnt="0"/>
      <dgm:spPr/>
    </dgm:pt>
    <dgm:pt modelId="{65C2BE0F-F0E6-4642-9C52-5BC550BBDCEF}" type="pres">
      <dgm:prSet presAssocID="{956F6CD5-A91A-4925-9409-2B4FCCC43A56}" presName="linNode" presStyleCnt="0"/>
      <dgm:spPr/>
    </dgm:pt>
    <dgm:pt modelId="{E74139BD-E8F9-43D5-9A48-0D5CA3845600}" type="pres">
      <dgm:prSet presAssocID="{956F6CD5-A91A-4925-9409-2B4FCCC43A56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439596-A4CD-4B4B-A0F5-79EFA4F4A6B8}" type="pres">
      <dgm:prSet presAssocID="{956F6CD5-A91A-4925-9409-2B4FCCC43A56}" presName="descendantText" presStyleLbl="alignAccFollowNode1" presStyleIdx="2" presStyleCnt="3" custScaleY="852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6A2709D-0034-44EC-AA63-C4D8C40D8A51}" srcId="{956F6CD5-A91A-4925-9409-2B4FCCC43A56}" destId="{C76C0985-45DB-4187-AFF6-9847CED313D5}" srcOrd="1" destOrd="0" parTransId="{2A73C5AF-2761-4C2E-B985-FEDE5E25D802}" sibTransId="{CF7216CC-E696-44FC-A981-2EA07BE65AAD}"/>
    <dgm:cxn modelId="{F9061583-CAB4-439E-8CC6-25A1725A2CB0}" srcId="{427E737E-03BE-46FE-B7C4-04E1BFF63FB6}" destId="{18A6DFA4-9EFE-4816-A94B-263797C33A98}" srcOrd="2" destOrd="0" parTransId="{633A4BE3-F3E5-46DF-801E-3D0BD2D2FBBC}" sibTransId="{A15DCCE4-06CB-4803-9020-C0DF9FBE5AA9}"/>
    <dgm:cxn modelId="{C874E39B-1FC2-4476-8CC3-6B2AE1ED11D4}" type="presOf" srcId="{C76C0985-45DB-4187-AFF6-9847CED313D5}" destId="{8F439596-A4CD-4B4B-A0F5-79EFA4F4A6B8}" srcOrd="0" destOrd="1" presId="urn:microsoft.com/office/officeart/2005/8/layout/vList5"/>
    <dgm:cxn modelId="{6385A5C8-84BC-4491-891E-D6F24FB697F1}" srcId="{C330109A-FFFC-4B01-8E45-E2CD368B2DBF}" destId="{956F6CD5-A91A-4925-9409-2B4FCCC43A56}" srcOrd="2" destOrd="0" parTransId="{D697EA14-E2AD-4520-94FC-A0069834B29E}" sibTransId="{8A25E8BD-3513-4C9A-B8D9-E80D3CF7FD57}"/>
    <dgm:cxn modelId="{693D3968-6401-465C-BC81-84DDBD1D116C}" srcId="{427E737E-03BE-46FE-B7C4-04E1BFF63FB6}" destId="{A2504DC1-84DF-452E-8D97-8FB7858AA638}" srcOrd="1" destOrd="0" parTransId="{4D8D76DF-3A4D-403A-88D1-7F50D7280F9C}" sibTransId="{90D85CFF-2BDA-47C2-B08D-2297D2DA594B}"/>
    <dgm:cxn modelId="{4E35AB9E-358C-4166-B4EE-1D6F9082455E}" srcId="{427E737E-03BE-46FE-B7C4-04E1BFF63FB6}" destId="{C47BC3FF-1454-415D-AB82-800DB58E9265}" srcOrd="0" destOrd="0" parTransId="{E7B07B71-A484-48EE-A727-F22ECC1EFDF0}" sibTransId="{6CC10B6D-D69B-4B25-A6DC-110248683E71}"/>
    <dgm:cxn modelId="{9E480058-67A8-40EF-B15F-618AA3E11E7B}" type="presOf" srcId="{0D7DD503-2357-406A-B20D-DF0B98893CFB}" destId="{DCECE516-55DF-4531-9805-0C36E9BF0CD5}" srcOrd="0" destOrd="0" presId="urn:microsoft.com/office/officeart/2005/8/layout/vList5"/>
    <dgm:cxn modelId="{B90499D4-B941-4AB6-BAF3-318464163318}" type="presOf" srcId="{956F6CD5-A91A-4925-9409-2B4FCCC43A56}" destId="{E74139BD-E8F9-43D5-9A48-0D5CA3845600}" srcOrd="0" destOrd="0" presId="urn:microsoft.com/office/officeart/2005/8/layout/vList5"/>
    <dgm:cxn modelId="{3754C623-6A24-40D3-ABD5-64A652A3247B}" srcId="{C330109A-FFFC-4B01-8E45-E2CD368B2DBF}" destId="{2E7B68D8-9AB7-4FF7-A0E9-94197BB9C865}" srcOrd="0" destOrd="0" parTransId="{3319561C-CE36-40EB-A563-A13D34587571}" sibTransId="{F673755B-9813-4CD5-BD51-C89867074038}"/>
    <dgm:cxn modelId="{2253CABB-678B-41BF-8D8C-E6AE9136D388}" srcId="{2E7B68D8-9AB7-4FF7-A0E9-94197BB9C865}" destId="{03596036-7B0A-4BCA-B2B0-BA06D8B21810}" srcOrd="1" destOrd="0" parTransId="{484E0303-2993-4396-B2F2-F3D713313C1D}" sibTransId="{C8CF2814-0E6B-4F70-A73A-350713F57465}"/>
    <dgm:cxn modelId="{F44B3F59-75C3-4E5B-9D39-4B4983348910}" srcId="{2E7B68D8-9AB7-4FF7-A0E9-94197BB9C865}" destId="{0D7DD503-2357-406A-B20D-DF0B98893CFB}" srcOrd="0" destOrd="0" parTransId="{11BCD41A-E9DF-4D63-B325-1129BCFEDCEA}" sibTransId="{755ADE0C-5CB7-4383-A1B3-2A7D1889805C}"/>
    <dgm:cxn modelId="{CCA0A3FA-8F8B-4EB3-877D-8CC1174C2026}" srcId="{956F6CD5-A91A-4925-9409-2B4FCCC43A56}" destId="{CAE1ABC5-0AC3-497B-A963-B64E45164990}" srcOrd="0" destOrd="0" parTransId="{939ACDE6-DB98-4432-AA35-E86EBD2DB8EE}" sibTransId="{E540A606-7871-4B7A-B797-8F7855BE5EBF}"/>
    <dgm:cxn modelId="{14485944-B6EB-431E-8EC7-BF8DC3857707}" type="presOf" srcId="{2E7B68D8-9AB7-4FF7-A0E9-94197BB9C865}" destId="{597E0FF4-2369-490C-8997-7BA072273111}" srcOrd="0" destOrd="0" presId="urn:microsoft.com/office/officeart/2005/8/layout/vList5"/>
    <dgm:cxn modelId="{73440C58-F6CD-400E-A811-F50C3D6479FF}" type="presOf" srcId="{427E737E-03BE-46FE-B7C4-04E1BFF63FB6}" destId="{4EC2030A-71C8-42E9-9649-9BB6D848027A}" srcOrd="0" destOrd="0" presId="urn:microsoft.com/office/officeart/2005/8/layout/vList5"/>
    <dgm:cxn modelId="{96A3CD99-B2A8-4DFB-AAA4-28120D17EF5B}" srcId="{C330109A-FFFC-4B01-8E45-E2CD368B2DBF}" destId="{427E737E-03BE-46FE-B7C4-04E1BFF63FB6}" srcOrd="1" destOrd="0" parTransId="{A49C2C70-7CAD-4AEA-84F4-12651F50BA56}" sibTransId="{ADFB890B-9DF3-464E-B2A0-EACA00C276DB}"/>
    <dgm:cxn modelId="{E6216CAE-83D1-4C77-9741-AA4859EE3965}" type="presOf" srcId="{CAE1ABC5-0AC3-497B-A963-B64E45164990}" destId="{8F439596-A4CD-4B4B-A0F5-79EFA4F4A6B8}" srcOrd="0" destOrd="0" presId="urn:microsoft.com/office/officeart/2005/8/layout/vList5"/>
    <dgm:cxn modelId="{33F69D6C-91AE-4FB1-BF37-5DCD98F119E2}" type="presOf" srcId="{C47BC3FF-1454-415D-AB82-800DB58E9265}" destId="{CC918FF1-055C-4ADB-BF05-9F16C6F4A59E}" srcOrd="0" destOrd="0" presId="urn:microsoft.com/office/officeart/2005/8/layout/vList5"/>
    <dgm:cxn modelId="{03338831-1EF1-447F-A418-3750A662EC6C}" type="presOf" srcId="{A2504DC1-84DF-452E-8D97-8FB7858AA638}" destId="{CC918FF1-055C-4ADB-BF05-9F16C6F4A59E}" srcOrd="0" destOrd="1" presId="urn:microsoft.com/office/officeart/2005/8/layout/vList5"/>
    <dgm:cxn modelId="{ED754D87-8791-4B7B-8544-8C8AECFDF420}" type="presOf" srcId="{C330109A-FFFC-4B01-8E45-E2CD368B2DBF}" destId="{23F4716A-0302-4C3A-9617-2DBC5EE890D5}" srcOrd="0" destOrd="0" presId="urn:microsoft.com/office/officeart/2005/8/layout/vList5"/>
    <dgm:cxn modelId="{5038D48C-5F96-4149-AFB1-E438E02200F4}" type="presOf" srcId="{03596036-7B0A-4BCA-B2B0-BA06D8B21810}" destId="{DCECE516-55DF-4531-9805-0C36E9BF0CD5}" srcOrd="0" destOrd="1" presId="urn:microsoft.com/office/officeart/2005/8/layout/vList5"/>
    <dgm:cxn modelId="{058BBABD-41EF-45BB-AFB1-9F388BE09655}" type="presOf" srcId="{18A6DFA4-9EFE-4816-A94B-263797C33A98}" destId="{CC918FF1-055C-4ADB-BF05-9F16C6F4A59E}" srcOrd="0" destOrd="2" presId="urn:microsoft.com/office/officeart/2005/8/layout/vList5"/>
    <dgm:cxn modelId="{DD0E45CF-2E47-4922-B814-6CA72579381E}" type="presParOf" srcId="{23F4716A-0302-4C3A-9617-2DBC5EE890D5}" destId="{A9B07672-4D15-41DF-9EEC-28CE847CD2A5}" srcOrd="0" destOrd="0" presId="urn:microsoft.com/office/officeart/2005/8/layout/vList5"/>
    <dgm:cxn modelId="{2A5F398F-C21C-49A9-B7A6-DD5A1B571132}" type="presParOf" srcId="{A9B07672-4D15-41DF-9EEC-28CE847CD2A5}" destId="{597E0FF4-2369-490C-8997-7BA072273111}" srcOrd="0" destOrd="0" presId="urn:microsoft.com/office/officeart/2005/8/layout/vList5"/>
    <dgm:cxn modelId="{1A4B56C6-FAA0-4873-AA16-91430806770E}" type="presParOf" srcId="{A9B07672-4D15-41DF-9EEC-28CE847CD2A5}" destId="{DCECE516-55DF-4531-9805-0C36E9BF0CD5}" srcOrd="1" destOrd="0" presId="urn:microsoft.com/office/officeart/2005/8/layout/vList5"/>
    <dgm:cxn modelId="{168818F9-4DC2-421D-8D72-2F716F5C4B18}" type="presParOf" srcId="{23F4716A-0302-4C3A-9617-2DBC5EE890D5}" destId="{C045C0D2-C9C7-4946-8179-1AB233512FCF}" srcOrd="1" destOrd="0" presId="urn:microsoft.com/office/officeart/2005/8/layout/vList5"/>
    <dgm:cxn modelId="{188F1836-5537-406C-9567-50FB6B0A9CF6}" type="presParOf" srcId="{23F4716A-0302-4C3A-9617-2DBC5EE890D5}" destId="{05617868-8E33-4E68-BD4F-83C5F2683325}" srcOrd="2" destOrd="0" presId="urn:microsoft.com/office/officeart/2005/8/layout/vList5"/>
    <dgm:cxn modelId="{85AE9FA3-1D9D-49E6-BA73-0E5347F2214A}" type="presParOf" srcId="{05617868-8E33-4E68-BD4F-83C5F2683325}" destId="{4EC2030A-71C8-42E9-9649-9BB6D848027A}" srcOrd="0" destOrd="0" presId="urn:microsoft.com/office/officeart/2005/8/layout/vList5"/>
    <dgm:cxn modelId="{0A7FBC48-EAE9-4F0B-86F1-D2480D604E68}" type="presParOf" srcId="{05617868-8E33-4E68-BD4F-83C5F2683325}" destId="{CC918FF1-055C-4ADB-BF05-9F16C6F4A59E}" srcOrd="1" destOrd="0" presId="urn:microsoft.com/office/officeart/2005/8/layout/vList5"/>
    <dgm:cxn modelId="{2D4F833A-82EE-4BBB-87E1-AB22F70EB1EE}" type="presParOf" srcId="{23F4716A-0302-4C3A-9617-2DBC5EE890D5}" destId="{539813DD-3210-4B2D-A503-F55B19877034}" srcOrd="3" destOrd="0" presId="urn:microsoft.com/office/officeart/2005/8/layout/vList5"/>
    <dgm:cxn modelId="{AFC6B69D-E6D5-466B-9366-486508713F9C}" type="presParOf" srcId="{23F4716A-0302-4C3A-9617-2DBC5EE890D5}" destId="{65C2BE0F-F0E6-4642-9C52-5BC550BBDCEF}" srcOrd="4" destOrd="0" presId="urn:microsoft.com/office/officeart/2005/8/layout/vList5"/>
    <dgm:cxn modelId="{E50A454F-08F7-4E9C-AF6C-CDED766CD8A2}" type="presParOf" srcId="{65C2BE0F-F0E6-4642-9C52-5BC550BBDCEF}" destId="{E74139BD-E8F9-43D5-9A48-0D5CA3845600}" srcOrd="0" destOrd="0" presId="urn:microsoft.com/office/officeart/2005/8/layout/vList5"/>
    <dgm:cxn modelId="{1D874A1C-99CC-46A3-846D-BE151D9CDE16}" type="presParOf" srcId="{65C2BE0F-F0E6-4642-9C52-5BC550BBDCEF}" destId="{8F439596-A4CD-4B4B-A0F5-79EFA4F4A6B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30109A-FFFC-4B01-8E45-E2CD368B2DBF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2E7B68D8-9AB7-4FF7-A0E9-94197BB9C865}">
      <dgm:prSet phldrT="[Текст]" custT="1"/>
      <dgm:spPr/>
      <dgm:t>
        <a:bodyPr/>
        <a:lstStyle/>
        <a:p>
          <a:pPr algn="ctr"/>
          <a:r>
            <a:rPr lang="ru-RU" sz="1400" b="1" dirty="0" smtClean="0">
              <a:latin typeface="Calibri" pitchFamily="34" charset="0"/>
              <a:cs typeface="Calibri" pitchFamily="34" charset="0"/>
            </a:rPr>
            <a:t>Объемы продаж</a:t>
          </a:r>
          <a:endParaRPr lang="ru-RU" sz="1400" b="1" dirty="0">
            <a:latin typeface="Calibri" pitchFamily="34" charset="0"/>
            <a:cs typeface="Calibri" pitchFamily="34" charset="0"/>
          </a:endParaRPr>
        </a:p>
      </dgm:t>
    </dgm:pt>
    <dgm:pt modelId="{3319561C-CE36-40EB-A563-A13D34587571}" type="parTrans" cxnId="{3754C623-6A24-40D3-ABD5-64A652A3247B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F673755B-9813-4CD5-BD51-C89867074038}" type="sibTrans" cxnId="{3754C623-6A24-40D3-ABD5-64A652A3247B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0D7DD503-2357-406A-B20D-DF0B98893CFB}">
      <dgm:prSet phldrT="[Текст]" custT="1"/>
      <dgm:spPr/>
      <dgm:t>
        <a:bodyPr/>
        <a:lstStyle/>
        <a:p>
          <a:pPr algn="l"/>
          <a:r>
            <a:rPr lang="ru-RU" sz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200" dirty="0" smtClean="0">
              <a:latin typeface="Calibri" pitchFamily="34" charset="0"/>
              <a:cs typeface="Calibri" pitchFamily="34" charset="0"/>
            </a:rPr>
            <a:t>: компания теряет рынок сбыта</a:t>
          </a:r>
          <a:endParaRPr lang="ru-RU" sz="1200" dirty="0">
            <a:latin typeface="Calibri" pitchFamily="34" charset="0"/>
            <a:cs typeface="Calibri" pitchFamily="34" charset="0"/>
          </a:endParaRPr>
        </a:p>
      </dgm:t>
    </dgm:pt>
    <dgm:pt modelId="{11BCD41A-E9DF-4D63-B325-1129BCFEDCEA}" type="parTrans" cxnId="{F44B3F59-75C3-4E5B-9D39-4B4983348910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755ADE0C-5CB7-4383-A1B3-2A7D1889805C}" type="sibTrans" cxnId="{F44B3F59-75C3-4E5B-9D39-4B4983348910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427E737E-03BE-46FE-B7C4-04E1BFF63FB6}">
      <dgm:prSet phldrT="[Текст]" custT="1"/>
      <dgm:spPr/>
      <dgm:t>
        <a:bodyPr/>
        <a:lstStyle/>
        <a:p>
          <a:pPr algn="ctr"/>
          <a:r>
            <a:rPr lang="ru-RU" sz="1200" b="1" dirty="0" smtClean="0">
              <a:latin typeface="Calibri" pitchFamily="34" charset="0"/>
              <a:cs typeface="Calibri" pitchFamily="34" charset="0"/>
            </a:rPr>
            <a:t>Финансовая политика </a:t>
          </a:r>
          <a:endParaRPr lang="ru-RU" sz="1200" b="1" dirty="0">
            <a:latin typeface="Calibri" pitchFamily="34" charset="0"/>
            <a:cs typeface="Calibri" pitchFamily="34" charset="0"/>
          </a:endParaRPr>
        </a:p>
      </dgm:t>
    </dgm:pt>
    <dgm:pt modelId="{A49C2C70-7CAD-4AEA-84F4-12651F50BA56}" type="parTrans" cxnId="{96A3CD99-B2A8-4DFB-AAA4-28120D17EF5B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ADFB890B-9DF3-464E-B2A0-EACA00C276DB}" type="sibTrans" cxnId="{96A3CD99-B2A8-4DFB-AAA4-28120D17EF5B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C47BC3FF-1454-415D-AB82-800DB58E9265}">
      <dgm:prSet phldrT="[Текст]" custT="1"/>
      <dgm:spPr/>
      <dgm:t>
        <a:bodyPr/>
        <a:lstStyle/>
        <a:p>
          <a:pPr algn="l"/>
          <a:r>
            <a:rPr lang="ru-RU" sz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Рост</a:t>
          </a:r>
          <a:r>
            <a:rPr lang="ru-RU" sz="1200" dirty="0" smtClean="0">
              <a:latin typeface="Calibri" pitchFamily="34" charset="0"/>
              <a:cs typeface="Calibri" pitchFamily="34" charset="0"/>
            </a:rPr>
            <a:t>: проценты по кредитам </a:t>
          </a:r>
          <a:endParaRPr lang="ru-RU" sz="1200" dirty="0">
            <a:latin typeface="Calibri" pitchFamily="34" charset="0"/>
            <a:cs typeface="Calibri" pitchFamily="34" charset="0"/>
          </a:endParaRPr>
        </a:p>
      </dgm:t>
    </dgm:pt>
    <dgm:pt modelId="{6CC10B6D-D69B-4B25-A6DC-110248683E71}" type="sibTrans" cxnId="{4E35AB9E-358C-4166-B4EE-1D6F9082455E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E7B07B71-A484-48EE-A727-F22ECC1EFDF0}" type="parTrans" cxnId="{4E35AB9E-358C-4166-B4EE-1D6F9082455E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66FF82CD-2DB3-4D4E-97CB-047EEDE8C7E4}">
      <dgm:prSet custT="1"/>
      <dgm:spPr/>
      <dgm:t>
        <a:bodyPr/>
        <a:lstStyle/>
        <a:p>
          <a:pPr algn="ctr"/>
          <a:r>
            <a:rPr lang="ru-RU" sz="1400" b="1" dirty="0" smtClean="0">
              <a:latin typeface="Calibri" pitchFamily="34" charset="0"/>
              <a:cs typeface="Calibri" pitchFamily="34" charset="0"/>
            </a:rPr>
            <a:t>Затраты</a:t>
          </a:r>
          <a:endParaRPr lang="ru-RU" sz="1400" b="1" dirty="0">
            <a:latin typeface="Calibri" pitchFamily="34" charset="0"/>
            <a:cs typeface="Calibri" pitchFamily="34" charset="0"/>
          </a:endParaRPr>
        </a:p>
      </dgm:t>
    </dgm:pt>
    <dgm:pt modelId="{109E749B-609D-4527-A9BF-87FB6E9CF6E3}" type="parTrans" cxnId="{A4A879D9-BABE-4A3F-A908-B5DB97F464ED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8FE072C3-56B5-4EBE-886F-F475C120D822}" type="sibTrans" cxnId="{A4A879D9-BABE-4A3F-A908-B5DB97F464ED}">
      <dgm:prSet/>
      <dgm:spPr/>
      <dgm:t>
        <a:bodyPr/>
        <a:lstStyle/>
        <a:p>
          <a:pPr algn="ctr"/>
          <a:endParaRPr lang="ru-RU">
            <a:latin typeface="Calibri" pitchFamily="34" charset="0"/>
            <a:cs typeface="Calibri" pitchFamily="34" charset="0"/>
          </a:endParaRPr>
        </a:p>
      </dgm:t>
    </dgm:pt>
    <dgm:pt modelId="{30129084-6EAE-452D-89E2-9FA17FDAAFA2}">
      <dgm:prSet custT="1"/>
      <dgm:spPr/>
      <dgm:t>
        <a:bodyPr/>
        <a:lstStyle/>
        <a:p>
          <a:pPr algn="l"/>
          <a:r>
            <a:rPr lang="ru-RU" sz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Рост: </a:t>
          </a:r>
          <a:r>
            <a:rPr lang="ru-RU" sz="12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rPr>
            <a:t>стоимости сырья, зарплат,  коммунальных услуг, накладных расходов</a:t>
          </a:r>
          <a:endParaRPr lang="ru-RU" sz="1200" b="1" dirty="0">
            <a:solidFill>
              <a:schemeClr val="tx1"/>
            </a:solidFill>
            <a:latin typeface="Calibri" pitchFamily="34" charset="0"/>
            <a:cs typeface="Calibri" pitchFamily="34" charset="0"/>
          </a:endParaRPr>
        </a:p>
      </dgm:t>
    </dgm:pt>
    <dgm:pt modelId="{3694F764-DEA2-48B2-9B49-79D07A030ED1}" type="parTrans" cxnId="{7A7596BD-B88B-423D-915F-F5809F288E3A}">
      <dgm:prSet/>
      <dgm:spPr/>
      <dgm:t>
        <a:bodyPr/>
        <a:lstStyle/>
        <a:p>
          <a:pPr algn="ctr"/>
          <a:endParaRPr lang="ru-RU"/>
        </a:p>
      </dgm:t>
    </dgm:pt>
    <dgm:pt modelId="{6609B76E-BB02-4FCB-A2AA-47000E9F8C4B}" type="sibTrans" cxnId="{7A7596BD-B88B-423D-915F-F5809F288E3A}">
      <dgm:prSet/>
      <dgm:spPr/>
      <dgm:t>
        <a:bodyPr/>
        <a:lstStyle/>
        <a:p>
          <a:pPr algn="ctr"/>
          <a:endParaRPr lang="ru-RU"/>
        </a:p>
      </dgm:t>
    </dgm:pt>
    <dgm:pt modelId="{23F4716A-0302-4C3A-9617-2DBC5EE890D5}" type="pres">
      <dgm:prSet presAssocID="{C330109A-FFFC-4B01-8E45-E2CD368B2DB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B07672-4D15-41DF-9EEC-28CE847CD2A5}" type="pres">
      <dgm:prSet presAssocID="{2E7B68D8-9AB7-4FF7-A0E9-94197BB9C865}" presName="linNode" presStyleCnt="0"/>
      <dgm:spPr/>
      <dgm:t>
        <a:bodyPr/>
        <a:lstStyle/>
        <a:p>
          <a:endParaRPr lang="ru-RU"/>
        </a:p>
      </dgm:t>
    </dgm:pt>
    <dgm:pt modelId="{597E0FF4-2369-490C-8997-7BA072273111}" type="pres">
      <dgm:prSet presAssocID="{2E7B68D8-9AB7-4FF7-A0E9-94197BB9C865}" presName="parentText" presStyleLbl="node1" presStyleIdx="0" presStyleCnt="3" custScaleX="7027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ECE516-55DF-4531-9805-0C36E9BF0CD5}" type="pres">
      <dgm:prSet presAssocID="{2E7B68D8-9AB7-4FF7-A0E9-94197BB9C865}" presName="descendantText" presStyleLbl="alignAccFollowNode1" presStyleIdx="0" presStyleCnt="3" custScaleX="138190" custScaleY="60957" custLinFactNeighborY="-973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45C0D2-C9C7-4946-8179-1AB233512FCF}" type="pres">
      <dgm:prSet presAssocID="{F673755B-9813-4CD5-BD51-C89867074038}" presName="sp" presStyleCnt="0"/>
      <dgm:spPr/>
      <dgm:t>
        <a:bodyPr/>
        <a:lstStyle/>
        <a:p>
          <a:endParaRPr lang="ru-RU"/>
        </a:p>
      </dgm:t>
    </dgm:pt>
    <dgm:pt modelId="{05617868-8E33-4E68-BD4F-83C5F2683325}" type="pres">
      <dgm:prSet presAssocID="{427E737E-03BE-46FE-B7C4-04E1BFF63FB6}" presName="linNode" presStyleCnt="0"/>
      <dgm:spPr/>
      <dgm:t>
        <a:bodyPr/>
        <a:lstStyle/>
        <a:p>
          <a:endParaRPr lang="ru-RU"/>
        </a:p>
      </dgm:t>
    </dgm:pt>
    <dgm:pt modelId="{4EC2030A-71C8-42E9-9649-9BB6D848027A}" type="pres">
      <dgm:prSet presAssocID="{427E737E-03BE-46FE-B7C4-04E1BFF63FB6}" presName="parentText" presStyleLbl="node1" presStyleIdx="1" presStyleCnt="3" custScaleX="92976" custLinFactY="4755" custLinFactNeighborX="-188" custLinFactNeighborY="10000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918FF1-055C-4ADB-BF05-9F16C6F4A59E}" type="pres">
      <dgm:prSet presAssocID="{427E737E-03BE-46FE-B7C4-04E1BFF63FB6}" presName="descendantText" presStyleLbl="alignAccFollowNode1" presStyleIdx="1" presStyleCnt="3" custScaleX="178675" custScaleY="86130" custLinFactY="31547" custLinFactNeighborX="-12" custLinFactNeighborY="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9813DD-3210-4B2D-A503-F55B19877034}" type="pres">
      <dgm:prSet presAssocID="{ADFB890B-9DF3-464E-B2A0-EACA00C276DB}" presName="sp" presStyleCnt="0"/>
      <dgm:spPr/>
      <dgm:t>
        <a:bodyPr/>
        <a:lstStyle/>
        <a:p>
          <a:endParaRPr lang="ru-RU"/>
        </a:p>
      </dgm:t>
    </dgm:pt>
    <dgm:pt modelId="{8370B7FB-68E1-4F61-92DE-75526B962F68}" type="pres">
      <dgm:prSet presAssocID="{66FF82CD-2DB3-4D4E-97CB-047EEDE8C7E4}" presName="linNode" presStyleCnt="0"/>
      <dgm:spPr/>
      <dgm:t>
        <a:bodyPr/>
        <a:lstStyle/>
        <a:p>
          <a:endParaRPr lang="ru-RU"/>
        </a:p>
      </dgm:t>
    </dgm:pt>
    <dgm:pt modelId="{A0115A74-46A3-49D1-9770-345C9CB3D954}" type="pres">
      <dgm:prSet presAssocID="{66FF82CD-2DB3-4D4E-97CB-047EEDE8C7E4}" presName="parentText" presStyleLbl="node1" presStyleIdx="2" presStyleCnt="3" custScaleX="61345" custLinFactY="-6561" custLinFactNeighborX="723" custLinFactNeighborY="-10000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E92E86-512F-4C3F-8BC8-02247422C745}" type="pres">
      <dgm:prSet presAssocID="{66FF82CD-2DB3-4D4E-97CB-047EEDE8C7E4}" presName="descendantText" presStyleLbl="alignAccFollowNode1" presStyleIdx="2" presStyleCnt="3" custScaleX="123587" custScaleY="89724" custLinFactY="-32771" custLinFactNeighborX="2797" custLinFactNeighborY="-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5AE2797-733A-4D6F-BDC5-CE1461B252CB}" type="presOf" srcId="{C47BC3FF-1454-415D-AB82-800DB58E9265}" destId="{CC918FF1-055C-4ADB-BF05-9F16C6F4A59E}" srcOrd="0" destOrd="0" presId="urn:microsoft.com/office/officeart/2005/8/layout/vList5"/>
    <dgm:cxn modelId="{96A3CD99-B2A8-4DFB-AAA4-28120D17EF5B}" srcId="{C330109A-FFFC-4B01-8E45-E2CD368B2DBF}" destId="{427E737E-03BE-46FE-B7C4-04E1BFF63FB6}" srcOrd="1" destOrd="0" parTransId="{A49C2C70-7CAD-4AEA-84F4-12651F50BA56}" sibTransId="{ADFB890B-9DF3-464E-B2A0-EACA00C276DB}"/>
    <dgm:cxn modelId="{4E35AB9E-358C-4166-B4EE-1D6F9082455E}" srcId="{427E737E-03BE-46FE-B7C4-04E1BFF63FB6}" destId="{C47BC3FF-1454-415D-AB82-800DB58E9265}" srcOrd="0" destOrd="0" parTransId="{E7B07B71-A484-48EE-A727-F22ECC1EFDF0}" sibTransId="{6CC10B6D-D69B-4B25-A6DC-110248683E71}"/>
    <dgm:cxn modelId="{A4A879D9-BABE-4A3F-A908-B5DB97F464ED}" srcId="{C330109A-FFFC-4B01-8E45-E2CD368B2DBF}" destId="{66FF82CD-2DB3-4D4E-97CB-047EEDE8C7E4}" srcOrd="2" destOrd="0" parTransId="{109E749B-609D-4527-A9BF-87FB6E9CF6E3}" sibTransId="{8FE072C3-56B5-4EBE-886F-F475C120D822}"/>
    <dgm:cxn modelId="{D61882CE-D764-4DC5-81CA-554FEF7D7D88}" type="presOf" srcId="{30129084-6EAE-452D-89E2-9FA17FDAAFA2}" destId="{E5E92E86-512F-4C3F-8BC8-02247422C745}" srcOrd="0" destOrd="0" presId="urn:microsoft.com/office/officeart/2005/8/layout/vList5"/>
    <dgm:cxn modelId="{2D0EA63E-8561-4C4E-B927-E73CB37805F9}" type="presOf" srcId="{0D7DD503-2357-406A-B20D-DF0B98893CFB}" destId="{DCECE516-55DF-4531-9805-0C36E9BF0CD5}" srcOrd="0" destOrd="0" presId="urn:microsoft.com/office/officeart/2005/8/layout/vList5"/>
    <dgm:cxn modelId="{3754C623-6A24-40D3-ABD5-64A652A3247B}" srcId="{C330109A-FFFC-4B01-8E45-E2CD368B2DBF}" destId="{2E7B68D8-9AB7-4FF7-A0E9-94197BB9C865}" srcOrd="0" destOrd="0" parTransId="{3319561C-CE36-40EB-A563-A13D34587571}" sibTransId="{F673755B-9813-4CD5-BD51-C89867074038}"/>
    <dgm:cxn modelId="{7A7596BD-B88B-423D-915F-F5809F288E3A}" srcId="{66FF82CD-2DB3-4D4E-97CB-047EEDE8C7E4}" destId="{30129084-6EAE-452D-89E2-9FA17FDAAFA2}" srcOrd="0" destOrd="0" parTransId="{3694F764-DEA2-48B2-9B49-79D07A030ED1}" sibTransId="{6609B76E-BB02-4FCB-A2AA-47000E9F8C4B}"/>
    <dgm:cxn modelId="{87DBBC76-BA81-43C2-A315-E0DC854327C6}" type="presOf" srcId="{427E737E-03BE-46FE-B7C4-04E1BFF63FB6}" destId="{4EC2030A-71C8-42E9-9649-9BB6D848027A}" srcOrd="0" destOrd="0" presId="urn:microsoft.com/office/officeart/2005/8/layout/vList5"/>
    <dgm:cxn modelId="{6E390F50-69E8-4B28-A730-1980F9577295}" type="presOf" srcId="{66FF82CD-2DB3-4D4E-97CB-047EEDE8C7E4}" destId="{A0115A74-46A3-49D1-9770-345C9CB3D954}" srcOrd="0" destOrd="0" presId="urn:microsoft.com/office/officeart/2005/8/layout/vList5"/>
    <dgm:cxn modelId="{F44B3F59-75C3-4E5B-9D39-4B4983348910}" srcId="{2E7B68D8-9AB7-4FF7-A0E9-94197BB9C865}" destId="{0D7DD503-2357-406A-B20D-DF0B98893CFB}" srcOrd="0" destOrd="0" parTransId="{11BCD41A-E9DF-4D63-B325-1129BCFEDCEA}" sibTransId="{755ADE0C-5CB7-4383-A1B3-2A7D1889805C}"/>
    <dgm:cxn modelId="{BE004279-B7BF-4B0C-9710-4644694BF414}" type="presOf" srcId="{C330109A-FFFC-4B01-8E45-E2CD368B2DBF}" destId="{23F4716A-0302-4C3A-9617-2DBC5EE890D5}" srcOrd="0" destOrd="0" presId="urn:microsoft.com/office/officeart/2005/8/layout/vList5"/>
    <dgm:cxn modelId="{0B29CFA1-EEE1-4DD7-8B3F-97F57DA0C0E1}" type="presOf" srcId="{2E7B68D8-9AB7-4FF7-A0E9-94197BB9C865}" destId="{597E0FF4-2369-490C-8997-7BA072273111}" srcOrd="0" destOrd="0" presId="urn:microsoft.com/office/officeart/2005/8/layout/vList5"/>
    <dgm:cxn modelId="{9ACFAE93-FC74-45A3-8894-B4F7E316A425}" type="presParOf" srcId="{23F4716A-0302-4C3A-9617-2DBC5EE890D5}" destId="{A9B07672-4D15-41DF-9EEC-28CE847CD2A5}" srcOrd="0" destOrd="0" presId="urn:microsoft.com/office/officeart/2005/8/layout/vList5"/>
    <dgm:cxn modelId="{95741964-65A0-4547-B264-F494532DDF3A}" type="presParOf" srcId="{A9B07672-4D15-41DF-9EEC-28CE847CD2A5}" destId="{597E0FF4-2369-490C-8997-7BA072273111}" srcOrd="0" destOrd="0" presId="urn:microsoft.com/office/officeart/2005/8/layout/vList5"/>
    <dgm:cxn modelId="{4837EBC7-C92E-4DE1-92AE-A1E31DFD3F5A}" type="presParOf" srcId="{A9B07672-4D15-41DF-9EEC-28CE847CD2A5}" destId="{DCECE516-55DF-4531-9805-0C36E9BF0CD5}" srcOrd="1" destOrd="0" presId="urn:microsoft.com/office/officeart/2005/8/layout/vList5"/>
    <dgm:cxn modelId="{0CFA1B35-39BF-4222-8279-F2D8BA1C99FB}" type="presParOf" srcId="{23F4716A-0302-4C3A-9617-2DBC5EE890D5}" destId="{C045C0D2-C9C7-4946-8179-1AB233512FCF}" srcOrd="1" destOrd="0" presId="urn:microsoft.com/office/officeart/2005/8/layout/vList5"/>
    <dgm:cxn modelId="{0178C06F-A1CE-4F9E-A66C-AABC5496DD7A}" type="presParOf" srcId="{23F4716A-0302-4C3A-9617-2DBC5EE890D5}" destId="{05617868-8E33-4E68-BD4F-83C5F2683325}" srcOrd="2" destOrd="0" presId="urn:microsoft.com/office/officeart/2005/8/layout/vList5"/>
    <dgm:cxn modelId="{A4E7B20B-14E7-40CC-A3D3-FC2BE3C80FD4}" type="presParOf" srcId="{05617868-8E33-4E68-BD4F-83C5F2683325}" destId="{4EC2030A-71C8-42E9-9649-9BB6D848027A}" srcOrd="0" destOrd="0" presId="urn:microsoft.com/office/officeart/2005/8/layout/vList5"/>
    <dgm:cxn modelId="{34A97493-BAC5-465A-A502-D7B52CCD524F}" type="presParOf" srcId="{05617868-8E33-4E68-BD4F-83C5F2683325}" destId="{CC918FF1-055C-4ADB-BF05-9F16C6F4A59E}" srcOrd="1" destOrd="0" presId="urn:microsoft.com/office/officeart/2005/8/layout/vList5"/>
    <dgm:cxn modelId="{6F486DC8-4D33-4D8F-AC96-EF9960F0436D}" type="presParOf" srcId="{23F4716A-0302-4C3A-9617-2DBC5EE890D5}" destId="{539813DD-3210-4B2D-A503-F55B19877034}" srcOrd="3" destOrd="0" presId="urn:microsoft.com/office/officeart/2005/8/layout/vList5"/>
    <dgm:cxn modelId="{9D815A9D-40EC-4EC9-8366-EB533EF1685F}" type="presParOf" srcId="{23F4716A-0302-4C3A-9617-2DBC5EE890D5}" destId="{8370B7FB-68E1-4F61-92DE-75526B962F68}" srcOrd="4" destOrd="0" presId="urn:microsoft.com/office/officeart/2005/8/layout/vList5"/>
    <dgm:cxn modelId="{CF6FD36C-95BD-479C-94BB-D9B9C975F8D2}" type="presParOf" srcId="{8370B7FB-68E1-4F61-92DE-75526B962F68}" destId="{A0115A74-46A3-49D1-9770-345C9CB3D954}" srcOrd="0" destOrd="0" presId="urn:microsoft.com/office/officeart/2005/8/layout/vList5"/>
    <dgm:cxn modelId="{BC1B7571-9655-4521-B24A-DF50F3A52D62}" type="presParOf" srcId="{8370B7FB-68E1-4F61-92DE-75526B962F68}" destId="{E5E92E86-512F-4C3F-8BC8-02247422C74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30109A-FFFC-4B01-8E45-E2CD368B2DBF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2E7B68D8-9AB7-4FF7-A0E9-94197BB9C865}">
      <dgm:prSet phldrT="[Текст]" custT="1"/>
      <dgm:spPr/>
      <dgm:t>
        <a:bodyPr/>
        <a:lstStyle/>
        <a:p>
          <a:r>
            <a:rPr lang="ru-RU" sz="1100" b="1" dirty="0" smtClean="0">
              <a:latin typeface="Calibri" pitchFamily="34" charset="0"/>
              <a:cs typeface="Calibri" pitchFamily="34" charset="0"/>
            </a:rPr>
            <a:t>Величина собственных средств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3319561C-CE36-40EB-A563-A13D34587571}" type="par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F673755B-9813-4CD5-BD51-C89867074038}" type="sib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0D7DD503-2357-406A-B20D-DF0B98893CFB}">
      <dgm:prSet phldrT="[Текст]" custT="1"/>
      <dgm:spPr/>
      <dgm:t>
        <a:bodyPr/>
        <a:lstStyle/>
        <a:p>
          <a:r>
            <a:rPr lang="ru-RU" sz="11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100" dirty="0" smtClean="0">
              <a:latin typeface="Calibri" pitchFamily="34" charset="0"/>
              <a:cs typeface="Calibri" pitchFamily="34" charset="0"/>
            </a:rPr>
            <a:t>: компания терпит убытки </a:t>
          </a:r>
          <a:endParaRPr lang="ru-RU" sz="1100" dirty="0">
            <a:latin typeface="Calibri" pitchFamily="34" charset="0"/>
            <a:cs typeface="Calibri" pitchFamily="34" charset="0"/>
          </a:endParaRPr>
        </a:p>
      </dgm:t>
    </dgm:pt>
    <dgm:pt modelId="{11BCD41A-E9DF-4D63-B325-1129BCFEDCEA}" type="par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755ADE0C-5CB7-4383-A1B3-2A7D1889805C}" type="sib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427E737E-03BE-46FE-B7C4-04E1BFF63FB6}">
      <dgm:prSet phldrT="[Текст]" custT="1"/>
      <dgm:spPr/>
      <dgm:t>
        <a:bodyPr/>
        <a:lstStyle/>
        <a:p>
          <a:r>
            <a:rPr lang="ru-RU" sz="1100" b="1" dirty="0" smtClean="0">
              <a:latin typeface="Calibri" pitchFamily="34" charset="0"/>
              <a:cs typeface="Calibri" pitchFamily="34" charset="0"/>
            </a:rPr>
            <a:t>Финансовая политика 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A49C2C70-7CAD-4AEA-84F4-12651F50BA56}" type="par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ADFB890B-9DF3-464E-B2A0-EACA00C276DB}" type="sib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47BC3FF-1454-415D-AB82-800DB58E9265}">
      <dgm:prSet phldrT="[Текст]" custT="1"/>
      <dgm:spPr/>
      <dgm:t>
        <a:bodyPr/>
        <a:lstStyle/>
        <a:p>
          <a:r>
            <a:rPr lang="ru-RU" sz="11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100" dirty="0" smtClean="0">
              <a:latin typeface="Calibri" pitchFamily="34" charset="0"/>
              <a:cs typeface="Calibri" pitchFamily="34" charset="0"/>
            </a:rPr>
            <a:t>: увеличение доли «более дорогих» источников финансирования (отрицательный финансовый рычаг)</a:t>
          </a:r>
          <a:endParaRPr lang="ru-RU" sz="1100" dirty="0">
            <a:latin typeface="Calibri" pitchFamily="34" charset="0"/>
            <a:cs typeface="Calibri" pitchFamily="34" charset="0"/>
          </a:endParaRPr>
        </a:p>
      </dgm:t>
    </dgm:pt>
    <dgm:pt modelId="{6CC10B6D-D69B-4B25-A6DC-110248683E71}" type="sib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E7B07B71-A484-48EE-A727-F22ECC1EFDF0}" type="par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66FF82CD-2DB3-4D4E-97CB-047EEDE8C7E4}">
      <dgm:prSet custT="1"/>
      <dgm:spPr/>
      <dgm:t>
        <a:bodyPr/>
        <a:lstStyle/>
        <a:p>
          <a:r>
            <a:rPr lang="ru-RU" sz="1100" b="1" dirty="0" smtClean="0">
              <a:latin typeface="Calibri" pitchFamily="34" charset="0"/>
              <a:cs typeface="Calibri" pitchFamily="34" charset="0"/>
            </a:rPr>
            <a:t>Принципы управления оборотным капиталом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109E749B-609D-4527-A9BF-87FB6E9CF6E3}" type="parTrans" cxnId="{A4A879D9-BABE-4A3F-A908-B5DB97F464ED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8FE072C3-56B5-4EBE-886F-F475C120D822}" type="sibTrans" cxnId="{A4A879D9-BABE-4A3F-A908-B5DB97F464ED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30129084-6EAE-452D-89E2-9FA17FDAAFA2}">
      <dgm:prSet custT="1"/>
      <dgm:spPr/>
      <dgm:t>
        <a:bodyPr/>
        <a:lstStyle/>
        <a:p>
          <a:r>
            <a:rPr lang="ru-RU" sz="11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Снижение: </a:t>
          </a:r>
          <a:r>
            <a:rPr lang="ru-RU" sz="11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rPr>
            <a:t>оборачиваемости активов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3694F764-DEA2-48B2-9B49-79D07A030ED1}" type="parTrans" cxnId="{7A7596BD-B88B-423D-915F-F5809F288E3A}">
      <dgm:prSet/>
      <dgm:spPr/>
      <dgm:t>
        <a:bodyPr/>
        <a:lstStyle/>
        <a:p>
          <a:endParaRPr lang="ru-RU"/>
        </a:p>
      </dgm:t>
    </dgm:pt>
    <dgm:pt modelId="{6609B76E-BB02-4FCB-A2AA-47000E9F8C4B}" type="sibTrans" cxnId="{7A7596BD-B88B-423D-915F-F5809F288E3A}">
      <dgm:prSet/>
      <dgm:spPr/>
      <dgm:t>
        <a:bodyPr/>
        <a:lstStyle/>
        <a:p>
          <a:endParaRPr lang="ru-RU"/>
        </a:p>
      </dgm:t>
    </dgm:pt>
    <dgm:pt modelId="{23F4716A-0302-4C3A-9617-2DBC5EE890D5}" type="pres">
      <dgm:prSet presAssocID="{C330109A-FFFC-4B01-8E45-E2CD368B2DB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B07672-4D15-41DF-9EEC-28CE847CD2A5}" type="pres">
      <dgm:prSet presAssocID="{2E7B68D8-9AB7-4FF7-A0E9-94197BB9C865}" presName="linNode" presStyleCnt="0"/>
      <dgm:spPr/>
      <dgm:t>
        <a:bodyPr/>
        <a:lstStyle/>
        <a:p>
          <a:endParaRPr lang="ru-RU"/>
        </a:p>
      </dgm:t>
    </dgm:pt>
    <dgm:pt modelId="{597E0FF4-2369-490C-8997-7BA072273111}" type="pres">
      <dgm:prSet presAssocID="{2E7B68D8-9AB7-4FF7-A0E9-94197BB9C865}" presName="parentText" presStyleLbl="node1" presStyleIdx="0" presStyleCnt="3" custScaleX="6427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ECE516-55DF-4531-9805-0C36E9BF0CD5}" type="pres">
      <dgm:prSet presAssocID="{2E7B68D8-9AB7-4FF7-A0E9-94197BB9C865}" presName="descendantText" presStyleLbl="alignAccFollowNode1" presStyleIdx="0" presStyleCnt="3" custScaleX="132688" custScaleY="60957" custLinFactNeighborY="-973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45C0D2-C9C7-4946-8179-1AB233512FCF}" type="pres">
      <dgm:prSet presAssocID="{F673755B-9813-4CD5-BD51-C89867074038}" presName="sp" presStyleCnt="0"/>
      <dgm:spPr/>
      <dgm:t>
        <a:bodyPr/>
        <a:lstStyle/>
        <a:p>
          <a:endParaRPr lang="ru-RU"/>
        </a:p>
      </dgm:t>
    </dgm:pt>
    <dgm:pt modelId="{05617868-8E33-4E68-BD4F-83C5F2683325}" type="pres">
      <dgm:prSet presAssocID="{427E737E-03BE-46FE-B7C4-04E1BFF63FB6}" presName="linNode" presStyleCnt="0"/>
      <dgm:spPr/>
      <dgm:t>
        <a:bodyPr/>
        <a:lstStyle/>
        <a:p>
          <a:endParaRPr lang="ru-RU"/>
        </a:p>
      </dgm:t>
    </dgm:pt>
    <dgm:pt modelId="{4EC2030A-71C8-42E9-9649-9BB6D848027A}" type="pres">
      <dgm:prSet presAssocID="{427E737E-03BE-46FE-B7C4-04E1BFF63FB6}" presName="parentText" presStyleLbl="node1" presStyleIdx="1" presStyleCnt="3" custScaleX="78170" custLinFactY="4755" custLinFactNeighborX="-188" custLinFactNeighborY="10000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918FF1-055C-4ADB-BF05-9F16C6F4A59E}" type="pres">
      <dgm:prSet presAssocID="{427E737E-03BE-46FE-B7C4-04E1BFF63FB6}" presName="descendantText" presStyleLbl="alignAccFollowNode1" presStyleIdx="1" presStyleCnt="3" custScaleX="162741" custScaleY="93605" custLinFactY="31547" custLinFactNeighborX="-12" custLinFactNeighborY="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9813DD-3210-4B2D-A503-F55B19877034}" type="pres">
      <dgm:prSet presAssocID="{ADFB890B-9DF3-464E-B2A0-EACA00C276DB}" presName="sp" presStyleCnt="0"/>
      <dgm:spPr/>
      <dgm:t>
        <a:bodyPr/>
        <a:lstStyle/>
        <a:p>
          <a:endParaRPr lang="ru-RU"/>
        </a:p>
      </dgm:t>
    </dgm:pt>
    <dgm:pt modelId="{8370B7FB-68E1-4F61-92DE-75526B962F68}" type="pres">
      <dgm:prSet presAssocID="{66FF82CD-2DB3-4D4E-97CB-047EEDE8C7E4}" presName="linNode" presStyleCnt="0"/>
      <dgm:spPr/>
      <dgm:t>
        <a:bodyPr/>
        <a:lstStyle/>
        <a:p>
          <a:endParaRPr lang="ru-RU"/>
        </a:p>
      </dgm:t>
    </dgm:pt>
    <dgm:pt modelId="{A0115A74-46A3-49D1-9770-345C9CB3D954}" type="pres">
      <dgm:prSet presAssocID="{66FF82CD-2DB3-4D4E-97CB-047EEDE8C7E4}" presName="parentText" presStyleLbl="node1" presStyleIdx="2" presStyleCnt="3" custScaleX="81847" custLinFactY="-6561" custLinFactNeighborX="723" custLinFactNeighborY="-10000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E92E86-512F-4C3F-8BC8-02247422C745}" type="pres">
      <dgm:prSet presAssocID="{66FF82CD-2DB3-4D4E-97CB-047EEDE8C7E4}" presName="descendantText" presStyleLbl="alignAccFollowNode1" presStyleIdx="2" presStyleCnt="3" custScaleX="175152" custScaleY="81005" custLinFactY="-30948" custLinFactNeighborX="53" custLinFactNeighborY="-10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7B4513E-6AF7-449C-893B-69DA69C64310}" type="presOf" srcId="{30129084-6EAE-452D-89E2-9FA17FDAAFA2}" destId="{E5E92E86-512F-4C3F-8BC8-02247422C745}" srcOrd="0" destOrd="0" presId="urn:microsoft.com/office/officeart/2005/8/layout/vList5"/>
    <dgm:cxn modelId="{4B2953A7-034C-4EC3-B92A-BB8C69FCBDF9}" type="presOf" srcId="{C330109A-FFFC-4B01-8E45-E2CD368B2DBF}" destId="{23F4716A-0302-4C3A-9617-2DBC5EE890D5}" srcOrd="0" destOrd="0" presId="urn:microsoft.com/office/officeart/2005/8/layout/vList5"/>
    <dgm:cxn modelId="{96A3CD99-B2A8-4DFB-AAA4-28120D17EF5B}" srcId="{C330109A-FFFC-4B01-8E45-E2CD368B2DBF}" destId="{427E737E-03BE-46FE-B7C4-04E1BFF63FB6}" srcOrd="1" destOrd="0" parTransId="{A49C2C70-7CAD-4AEA-84F4-12651F50BA56}" sibTransId="{ADFB890B-9DF3-464E-B2A0-EACA00C276DB}"/>
    <dgm:cxn modelId="{4E35AB9E-358C-4166-B4EE-1D6F9082455E}" srcId="{427E737E-03BE-46FE-B7C4-04E1BFF63FB6}" destId="{C47BC3FF-1454-415D-AB82-800DB58E9265}" srcOrd="0" destOrd="0" parTransId="{E7B07B71-A484-48EE-A727-F22ECC1EFDF0}" sibTransId="{6CC10B6D-D69B-4B25-A6DC-110248683E71}"/>
    <dgm:cxn modelId="{7AA3CA03-14FB-41E5-A999-5BFF2C8368FA}" type="presOf" srcId="{66FF82CD-2DB3-4D4E-97CB-047EEDE8C7E4}" destId="{A0115A74-46A3-49D1-9770-345C9CB3D954}" srcOrd="0" destOrd="0" presId="urn:microsoft.com/office/officeart/2005/8/layout/vList5"/>
    <dgm:cxn modelId="{A4A879D9-BABE-4A3F-A908-B5DB97F464ED}" srcId="{C330109A-FFFC-4B01-8E45-E2CD368B2DBF}" destId="{66FF82CD-2DB3-4D4E-97CB-047EEDE8C7E4}" srcOrd="2" destOrd="0" parTransId="{109E749B-609D-4527-A9BF-87FB6E9CF6E3}" sibTransId="{8FE072C3-56B5-4EBE-886F-F475C120D822}"/>
    <dgm:cxn modelId="{53B2A993-3A3E-45A3-A0D9-228130ED96B0}" type="presOf" srcId="{2E7B68D8-9AB7-4FF7-A0E9-94197BB9C865}" destId="{597E0FF4-2369-490C-8997-7BA072273111}" srcOrd="0" destOrd="0" presId="urn:microsoft.com/office/officeart/2005/8/layout/vList5"/>
    <dgm:cxn modelId="{91A921E8-581E-4F27-9EF8-146E6FACCABD}" type="presOf" srcId="{C47BC3FF-1454-415D-AB82-800DB58E9265}" destId="{CC918FF1-055C-4ADB-BF05-9F16C6F4A59E}" srcOrd="0" destOrd="0" presId="urn:microsoft.com/office/officeart/2005/8/layout/vList5"/>
    <dgm:cxn modelId="{CE6890AB-1758-49AC-8EBF-2C49E107FE2A}" type="presOf" srcId="{427E737E-03BE-46FE-B7C4-04E1BFF63FB6}" destId="{4EC2030A-71C8-42E9-9649-9BB6D848027A}" srcOrd="0" destOrd="0" presId="urn:microsoft.com/office/officeart/2005/8/layout/vList5"/>
    <dgm:cxn modelId="{3754C623-6A24-40D3-ABD5-64A652A3247B}" srcId="{C330109A-FFFC-4B01-8E45-E2CD368B2DBF}" destId="{2E7B68D8-9AB7-4FF7-A0E9-94197BB9C865}" srcOrd="0" destOrd="0" parTransId="{3319561C-CE36-40EB-A563-A13D34587571}" sibTransId="{F673755B-9813-4CD5-BD51-C89867074038}"/>
    <dgm:cxn modelId="{7A7596BD-B88B-423D-915F-F5809F288E3A}" srcId="{66FF82CD-2DB3-4D4E-97CB-047EEDE8C7E4}" destId="{30129084-6EAE-452D-89E2-9FA17FDAAFA2}" srcOrd="0" destOrd="0" parTransId="{3694F764-DEA2-48B2-9B49-79D07A030ED1}" sibTransId="{6609B76E-BB02-4FCB-A2AA-47000E9F8C4B}"/>
    <dgm:cxn modelId="{F44B3F59-75C3-4E5B-9D39-4B4983348910}" srcId="{2E7B68D8-9AB7-4FF7-A0E9-94197BB9C865}" destId="{0D7DD503-2357-406A-B20D-DF0B98893CFB}" srcOrd="0" destOrd="0" parTransId="{11BCD41A-E9DF-4D63-B325-1129BCFEDCEA}" sibTransId="{755ADE0C-5CB7-4383-A1B3-2A7D1889805C}"/>
    <dgm:cxn modelId="{8503882C-C655-4D6A-8631-064836D1C61D}" type="presOf" srcId="{0D7DD503-2357-406A-B20D-DF0B98893CFB}" destId="{DCECE516-55DF-4531-9805-0C36E9BF0CD5}" srcOrd="0" destOrd="0" presId="urn:microsoft.com/office/officeart/2005/8/layout/vList5"/>
    <dgm:cxn modelId="{570E23F7-1696-48A7-A7E8-983D66D341AD}" type="presParOf" srcId="{23F4716A-0302-4C3A-9617-2DBC5EE890D5}" destId="{A9B07672-4D15-41DF-9EEC-28CE847CD2A5}" srcOrd="0" destOrd="0" presId="urn:microsoft.com/office/officeart/2005/8/layout/vList5"/>
    <dgm:cxn modelId="{BE7B5001-C75C-448C-A105-771935ADDD7B}" type="presParOf" srcId="{A9B07672-4D15-41DF-9EEC-28CE847CD2A5}" destId="{597E0FF4-2369-490C-8997-7BA072273111}" srcOrd="0" destOrd="0" presId="urn:microsoft.com/office/officeart/2005/8/layout/vList5"/>
    <dgm:cxn modelId="{B6AA4845-B454-4C82-ADDA-CAD55C9112A8}" type="presParOf" srcId="{A9B07672-4D15-41DF-9EEC-28CE847CD2A5}" destId="{DCECE516-55DF-4531-9805-0C36E9BF0CD5}" srcOrd="1" destOrd="0" presId="urn:microsoft.com/office/officeart/2005/8/layout/vList5"/>
    <dgm:cxn modelId="{E0904341-F32C-406A-8DF5-9EB2315B8AD9}" type="presParOf" srcId="{23F4716A-0302-4C3A-9617-2DBC5EE890D5}" destId="{C045C0D2-C9C7-4946-8179-1AB233512FCF}" srcOrd="1" destOrd="0" presId="urn:microsoft.com/office/officeart/2005/8/layout/vList5"/>
    <dgm:cxn modelId="{8A514AE6-182F-49F8-B755-7F7FAEBF5E44}" type="presParOf" srcId="{23F4716A-0302-4C3A-9617-2DBC5EE890D5}" destId="{05617868-8E33-4E68-BD4F-83C5F2683325}" srcOrd="2" destOrd="0" presId="urn:microsoft.com/office/officeart/2005/8/layout/vList5"/>
    <dgm:cxn modelId="{0675EE1D-69BB-4E03-88B2-29205AD394B3}" type="presParOf" srcId="{05617868-8E33-4E68-BD4F-83C5F2683325}" destId="{4EC2030A-71C8-42E9-9649-9BB6D848027A}" srcOrd="0" destOrd="0" presId="urn:microsoft.com/office/officeart/2005/8/layout/vList5"/>
    <dgm:cxn modelId="{9701F82A-0E8C-486B-92A4-D8EA271440F2}" type="presParOf" srcId="{05617868-8E33-4E68-BD4F-83C5F2683325}" destId="{CC918FF1-055C-4ADB-BF05-9F16C6F4A59E}" srcOrd="1" destOrd="0" presId="urn:microsoft.com/office/officeart/2005/8/layout/vList5"/>
    <dgm:cxn modelId="{DA4964EC-D66B-4CF5-894F-5AE99421DB85}" type="presParOf" srcId="{23F4716A-0302-4C3A-9617-2DBC5EE890D5}" destId="{539813DD-3210-4B2D-A503-F55B19877034}" srcOrd="3" destOrd="0" presId="urn:microsoft.com/office/officeart/2005/8/layout/vList5"/>
    <dgm:cxn modelId="{09B8C216-76E7-459E-A000-EAE676FE9F61}" type="presParOf" srcId="{23F4716A-0302-4C3A-9617-2DBC5EE890D5}" destId="{8370B7FB-68E1-4F61-92DE-75526B962F68}" srcOrd="4" destOrd="0" presId="urn:microsoft.com/office/officeart/2005/8/layout/vList5"/>
    <dgm:cxn modelId="{E5B1DA75-A301-4DA5-995B-5944C3CCC76D}" type="presParOf" srcId="{8370B7FB-68E1-4F61-92DE-75526B962F68}" destId="{A0115A74-46A3-49D1-9770-345C9CB3D954}" srcOrd="0" destOrd="0" presId="urn:microsoft.com/office/officeart/2005/8/layout/vList5"/>
    <dgm:cxn modelId="{A310DBC8-247D-4A5A-8E2D-C21038C77A88}" type="presParOf" srcId="{8370B7FB-68E1-4F61-92DE-75526B962F68}" destId="{E5E92E86-512F-4C3F-8BC8-02247422C74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30109A-FFFC-4B01-8E45-E2CD368B2DBF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2E7B68D8-9AB7-4FF7-A0E9-94197BB9C865}">
      <dgm:prSet phldrT="[Текст]" custT="1"/>
      <dgm:spPr/>
      <dgm:t>
        <a:bodyPr/>
        <a:lstStyle/>
        <a:p>
          <a:r>
            <a:rPr lang="ru-RU" sz="1000" b="1" dirty="0" smtClean="0">
              <a:latin typeface="Calibri" pitchFamily="34" charset="0"/>
              <a:cs typeface="Calibri" pitchFamily="34" charset="0"/>
            </a:rPr>
            <a:t>Величина собственных средств</a:t>
          </a:r>
          <a:endParaRPr lang="ru-RU" sz="1000" b="1" dirty="0">
            <a:latin typeface="Calibri" pitchFamily="34" charset="0"/>
            <a:cs typeface="Calibri" pitchFamily="34" charset="0"/>
          </a:endParaRPr>
        </a:p>
      </dgm:t>
    </dgm:pt>
    <dgm:pt modelId="{3319561C-CE36-40EB-A563-A13D34587571}" type="par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F673755B-9813-4CD5-BD51-C89867074038}" type="sib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0D7DD503-2357-406A-B20D-DF0B98893CFB}">
      <dgm:prSet phldrT="[Текст]" custT="1"/>
      <dgm:spPr/>
      <dgm:t>
        <a:bodyPr/>
        <a:lstStyle/>
        <a:p>
          <a:r>
            <a:rPr lang="ru-RU" sz="10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000" dirty="0" smtClean="0">
              <a:latin typeface="Calibri" pitchFamily="34" charset="0"/>
              <a:cs typeface="Calibri" pitchFamily="34" charset="0"/>
            </a:rPr>
            <a:t>: компания терпит убытки </a:t>
          </a:r>
          <a:endParaRPr lang="ru-RU" sz="1000" dirty="0">
            <a:latin typeface="Calibri" pitchFamily="34" charset="0"/>
            <a:cs typeface="Calibri" pitchFamily="34" charset="0"/>
          </a:endParaRPr>
        </a:p>
      </dgm:t>
    </dgm:pt>
    <dgm:pt modelId="{11BCD41A-E9DF-4D63-B325-1129BCFEDCEA}" type="par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755ADE0C-5CB7-4383-A1B3-2A7D1889805C}" type="sib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427E737E-03BE-46FE-B7C4-04E1BFF63FB6}">
      <dgm:prSet phldrT="[Текст]" custT="1"/>
      <dgm:spPr/>
      <dgm:t>
        <a:bodyPr/>
        <a:lstStyle/>
        <a:p>
          <a:r>
            <a:rPr lang="ru-RU" sz="1000" b="1" dirty="0" smtClean="0">
              <a:latin typeface="Calibri" pitchFamily="34" charset="0"/>
              <a:cs typeface="Calibri" pitchFamily="34" charset="0"/>
            </a:rPr>
            <a:t>Инвестиционная программа </a:t>
          </a:r>
          <a:endParaRPr lang="ru-RU" sz="1000" b="1" dirty="0">
            <a:latin typeface="Calibri" pitchFamily="34" charset="0"/>
            <a:cs typeface="Calibri" pitchFamily="34" charset="0"/>
          </a:endParaRPr>
        </a:p>
      </dgm:t>
    </dgm:pt>
    <dgm:pt modelId="{A49C2C70-7CAD-4AEA-84F4-12651F50BA56}" type="par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ADFB890B-9DF3-464E-B2A0-EACA00C276DB}" type="sib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47BC3FF-1454-415D-AB82-800DB58E9265}">
      <dgm:prSet phldrT="[Текст]" custT="1"/>
      <dgm:spPr/>
      <dgm:t>
        <a:bodyPr/>
        <a:lstStyle/>
        <a:p>
          <a:r>
            <a:rPr lang="ru-RU" sz="10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000" dirty="0" smtClean="0">
              <a:latin typeface="Calibri" pitchFamily="34" charset="0"/>
              <a:cs typeface="Calibri" pitchFamily="34" charset="0"/>
            </a:rPr>
            <a:t>: инвестиционная программа,  превышающая  финансовые возможности компании – опережающий рост заемного капитала</a:t>
          </a:r>
          <a:endParaRPr lang="ru-RU" sz="1000" dirty="0">
            <a:latin typeface="Calibri" pitchFamily="34" charset="0"/>
            <a:cs typeface="Calibri" pitchFamily="34" charset="0"/>
          </a:endParaRPr>
        </a:p>
      </dgm:t>
    </dgm:pt>
    <dgm:pt modelId="{6CC10B6D-D69B-4B25-A6DC-110248683E71}" type="sib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E7B07B71-A484-48EE-A727-F22ECC1EFDF0}" type="par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66FF82CD-2DB3-4D4E-97CB-047EEDE8C7E4}">
      <dgm:prSet custT="1"/>
      <dgm:spPr/>
      <dgm:t>
        <a:bodyPr/>
        <a:lstStyle/>
        <a:p>
          <a:r>
            <a:rPr lang="ru-RU" sz="1000" b="1" dirty="0" smtClean="0">
              <a:latin typeface="Calibri" pitchFamily="34" charset="0"/>
              <a:cs typeface="Calibri" pitchFamily="34" charset="0"/>
            </a:rPr>
            <a:t>Принципы управления оборотным капиталом</a:t>
          </a:r>
          <a:endParaRPr lang="ru-RU" sz="1000" b="1" dirty="0">
            <a:latin typeface="Calibri" pitchFamily="34" charset="0"/>
            <a:cs typeface="Calibri" pitchFamily="34" charset="0"/>
          </a:endParaRPr>
        </a:p>
      </dgm:t>
    </dgm:pt>
    <dgm:pt modelId="{109E749B-609D-4527-A9BF-87FB6E9CF6E3}" type="parTrans" cxnId="{A4A879D9-BABE-4A3F-A908-B5DB97F464ED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8FE072C3-56B5-4EBE-886F-F475C120D822}" type="sibTrans" cxnId="{A4A879D9-BABE-4A3F-A908-B5DB97F464ED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1F05F568-69B0-4CE7-962A-3FA8E3420653}">
      <dgm:prSet custT="1"/>
      <dgm:spPr/>
      <dgm:t>
        <a:bodyPr/>
        <a:lstStyle/>
        <a:p>
          <a:r>
            <a:rPr lang="ru-RU" sz="10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Снижение: </a:t>
          </a:r>
          <a:r>
            <a:rPr lang="ru-RU" sz="10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rPr>
            <a:t>опережающий рост обязательств по отношению к активам (например, изменение условий закупки материалов в сторону увеличения кредиторской задолженности) </a:t>
          </a:r>
          <a:endParaRPr lang="ru-RU" sz="1000" b="1" dirty="0">
            <a:latin typeface="Calibri" pitchFamily="34" charset="0"/>
            <a:cs typeface="Calibri" pitchFamily="34" charset="0"/>
          </a:endParaRPr>
        </a:p>
      </dgm:t>
    </dgm:pt>
    <dgm:pt modelId="{9923B4B0-CEF1-4F45-AF82-29EAD7873134}" type="parTrans" cxnId="{B3DECB26-9369-41D4-9302-D006361FD290}">
      <dgm:prSet/>
      <dgm:spPr/>
      <dgm:t>
        <a:bodyPr/>
        <a:lstStyle/>
        <a:p>
          <a:endParaRPr lang="ru-RU"/>
        </a:p>
      </dgm:t>
    </dgm:pt>
    <dgm:pt modelId="{426A30B4-A811-4BA2-89DD-EF865DF935DD}" type="sibTrans" cxnId="{B3DECB26-9369-41D4-9302-D006361FD290}">
      <dgm:prSet/>
      <dgm:spPr/>
      <dgm:t>
        <a:bodyPr/>
        <a:lstStyle/>
        <a:p>
          <a:endParaRPr lang="ru-RU"/>
        </a:p>
      </dgm:t>
    </dgm:pt>
    <dgm:pt modelId="{23F4716A-0302-4C3A-9617-2DBC5EE890D5}" type="pres">
      <dgm:prSet presAssocID="{C330109A-FFFC-4B01-8E45-E2CD368B2DB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B07672-4D15-41DF-9EEC-28CE847CD2A5}" type="pres">
      <dgm:prSet presAssocID="{2E7B68D8-9AB7-4FF7-A0E9-94197BB9C865}" presName="linNode" presStyleCnt="0"/>
      <dgm:spPr/>
      <dgm:t>
        <a:bodyPr/>
        <a:lstStyle/>
        <a:p>
          <a:endParaRPr lang="ru-RU"/>
        </a:p>
      </dgm:t>
    </dgm:pt>
    <dgm:pt modelId="{597E0FF4-2369-490C-8997-7BA072273111}" type="pres">
      <dgm:prSet presAssocID="{2E7B68D8-9AB7-4FF7-A0E9-94197BB9C865}" presName="parentText" presStyleLbl="node1" presStyleIdx="0" presStyleCnt="3" custScaleX="64243" custLinFactNeighborX="-26279" custLinFactNeighborY="-237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ECE516-55DF-4531-9805-0C36E9BF0CD5}" type="pres">
      <dgm:prSet presAssocID="{2E7B68D8-9AB7-4FF7-A0E9-94197BB9C865}" presName="descendantText" presStyleLbl="alignAccFollowNode1" presStyleIdx="0" presStyleCnt="3" custScaleX="112349" custScaleY="75293" custLinFactNeighborX="-18331" custLinFactNeighborY="37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45C0D2-C9C7-4946-8179-1AB233512FCF}" type="pres">
      <dgm:prSet presAssocID="{F673755B-9813-4CD5-BD51-C89867074038}" presName="sp" presStyleCnt="0"/>
      <dgm:spPr/>
      <dgm:t>
        <a:bodyPr/>
        <a:lstStyle/>
        <a:p>
          <a:endParaRPr lang="ru-RU"/>
        </a:p>
      </dgm:t>
    </dgm:pt>
    <dgm:pt modelId="{05617868-8E33-4E68-BD4F-83C5F2683325}" type="pres">
      <dgm:prSet presAssocID="{427E737E-03BE-46FE-B7C4-04E1BFF63FB6}" presName="linNode" presStyleCnt="0"/>
      <dgm:spPr/>
      <dgm:t>
        <a:bodyPr/>
        <a:lstStyle/>
        <a:p>
          <a:endParaRPr lang="ru-RU"/>
        </a:p>
      </dgm:t>
    </dgm:pt>
    <dgm:pt modelId="{4EC2030A-71C8-42E9-9649-9BB6D848027A}" type="pres">
      <dgm:prSet presAssocID="{427E737E-03BE-46FE-B7C4-04E1BFF63FB6}" presName="parentText" presStyleLbl="node1" presStyleIdx="1" presStyleCnt="3" custScaleX="65067" custLinFactNeighborX="-4922" custLinFactNeighborY="-324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918FF1-055C-4ADB-BF05-9F16C6F4A59E}" type="pres">
      <dgm:prSet presAssocID="{427E737E-03BE-46FE-B7C4-04E1BFF63FB6}" presName="descendantText" presStyleLbl="alignAccFollowNode1" presStyleIdx="1" presStyleCnt="3" custScaleX="109880" custScaleY="91955" custLinFactNeighborX="-14731" custLinFactNeighborY="-44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9813DD-3210-4B2D-A503-F55B19877034}" type="pres">
      <dgm:prSet presAssocID="{ADFB890B-9DF3-464E-B2A0-EACA00C276DB}" presName="sp" presStyleCnt="0"/>
      <dgm:spPr/>
      <dgm:t>
        <a:bodyPr/>
        <a:lstStyle/>
        <a:p>
          <a:endParaRPr lang="ru-RU"/>
        </a:p>
      </dgm:t>
    </dgm:pt>
    <dgm:pt modelId="{8370B7FB-68E1-4F61-92DE-75526B962F68}" type="pres">
      <dgm:prSet presAssocID="{66FF82CD-2DB3-4D4E-97CB-047EEDE8C7E4}" presName="linNode" presStyleCnt="0"/>
      <dgm:spPr/>
      <dgm:t>
        <a:bodyPr/>
        <a:lstStyle/>
        <a:p>
          <a:endParaRPr lang="ru-RU"/>
        </a:p>
      </dgm:t>
    </dgm:pt>
    <dgm:pt modelId="{A0115A74-46A3-49D1-9770-345C9CB3D954}" type="pres">
      <dgm:prSet presAssocID="{66FF82CD-2DB3-4D4E-97CB-047EEDE8C7E4}" presName="parentText" presStyleLbl="node1" presStyleIdx="2" presStyleCnt="3" custScaleX="65212" custLinFactNeighborX="-4918" custLinFactNeighborY="237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E941D25-13DC-46B1-B067-A480AB8ACA61}" type="pres">
      <dgm:prSet presAssocID="{66FF82CD-2DB3-4D4E-97CB-047EEDE8C7E4}" presName="descendantText" presStyleLbl="alignAccFollowNode1" presStyleIdx="2" presStyleCnt="3" custScaleX="112522" custScaleY="87335" custLinFactNeighborX="-18919" custLinFactNeighborY="253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9277043-74E8-46B3-956E-28A9771DE712}" type="presOf" srcId="{2E7B68D8-9AB7-4FF7-A0E9-94197BB9C865}" destId="{597E0FF4-2369-490C-8997-7BA072273111}" srcOrd="0" destOrd="0" presId="urn:microsoft.com/office/officeart/2005/8/layout/vList5"/>
    <dgm:cxn modelId="{B3DECB26-9369-41D4-9302-D006361FD290}" srcId="{66FF82CD-2DB3-4D4E-97CB-047EEDE8C7E4}" destId="{1F05F568-69B0-4CE7-962A-3FA8E3420653}" srcOrd="0" destOrd="0" parTransId="{9923B4B0-CEF1-4F45-AF82-29EAD7873134}" sibTransId="{426A30B4-A811-4BA2-89DD-EF865DF935DD}"/>
    <dgm:cxn modelId="{28203EB0-8504-4298-BB75-84BA2515E6B6}" type="presOf" srcId="{427E737E-03BE-46FE-B7C4-04E1BFF63FB6}" destId="{4EC2030A-71C8-42E9-9649-9BB6D848027A}" srcOrd="0" destOrd="0" presId="urn:microsoft.com/office/officeart/2005/8/layout/vList5"/>
    <dgm:cxn modelId="{96A3CD99-B2A8-4DFB-AAA4-28120D17EF5B}" srcId="{C330109A-FFFC-4B01-8E45-E2CD368B2DBF}" destId="{427E737E-03BE-46FE-B7C4-04E1BFF63FB6}" srcOrd="1" destOrd="0" parTransId="{A49C2C70-7CAD-4AEA-84F4-12651F50BA56}" sibTransId="{ADFB890B-9DF3-464E-B2A0-EACA00C276DB}"/>
    <dgm:cxn modelId="{4E35AB9E-358C-4166-B4EE-1D6F9082455E}" srcId="{427E737E-03BE-46FE-B7C4-04E1BFF63FB6}" destId="{C47BC3FF-1454-415D-AB82-800DB58E9265}" srcOrd="0" destOrd="0" parTransId="{E7B07B71-A484-48EE-A727-F22ECC1EFDF0}" sibTransId="{6CC10B6D-D69B-4B25-A6DC-110248683E71}"/>
    <dgm:cxn modelId="{A4A879D9-BABE-4A3F-A908-B5DB97F464ED}" srcId="{C330109A-FFFC-4B01-8E45-E2CD368B2DBF}" destId="{66FF82CD-2DB3-4D4E-97CB-047EEDE8C7E4}" srcOrd="2" destOrd="0" parTransId="{109E749B-609D-4527-A9BF-87FB6E9CF6E3}" sibTransId="{8FE072C3-56B5-4EBE-886F-F475C120D822}"/>
    <dgm:cxn modelId="{CB28A48E-7B4E-4048-B3E3-4D700D97F8A4}" type="presOf" srcId="{C47BC3FF-1454-415D-AB82-800DB58E9265}" destId="{CC918FF1-055C-4ADB-BF05-9F16C6F4A59E}" srcOrd="0" destOrd="0" presId="urn:microsoft.com/office/officeart/2005/8/layout/vList5"/>
    <dgm:cxn modelId="{3754C623-6A24-40D3-ABD5-64A652A3247B}" srcId="{C330109A-FFFC-4B01-8E45-E2CD368B2DBF}" destId="{2E7B68D8-9AB7-4FF7-A0E9-94197BB9C865}" srcOrd="0" destOrd="0" parTransId="{3319561C-CE36-40EB-A563-A13D34587571}" sibTransId="{F673755B-9813-4CD5-BD51-C89867074038}"/>
    <dgm:cxn modelId="{200005AE-A4CA-4E77-9EF4-684C48A97572}" type="presOf" srcId="{0D7DD503-2357-406A-B20D-DF0B98893CFB}" destId="{DCECE516-55DF-4531-9805-0C36E9BF0CD5}" srcOrd="0" destOrd="0" presId="urn:microsoft.com/office/officeart/2005/8/layout/vList5"/>
    <dgm:cxn modelId="{78969CB5-5050-4CB8-941B-43AB1B7063A9}" type="presOf" srcId="{66FF82CD-2DB3-4D4E-97CB-047EEDE8C7E4}" destId="{A0115A74-46A3-49D1-9770-345C9CB3D954}" srcOrd="0" destOrd="0" presId="urn:microsoft.com/office/officeart/2005/8/layout/vList5"/>
    <dgm:cxn modelId="{F44B3F59-75C3-4E5B-9D39-4B4983348910}" srcId="{2E7B68D8-9AB7-4FF7-A0E9-94197BB9C865}" destId="{0D7DD503-2357-406A-B20D-DF0B98893CFB}" srcOrd="0" destOrd="0" parTransId="{11BCD41A-E9DF-4D63-B325-1129BCFEDCEA}" sibTransId="{755ADE0C-5CB7-4383-A1B3-2A7D1889805C}"/>
    <dgm:cxn modelId="{C16CF056-91A5-4498-B00B-9FCCF00A3713}" type="presOf" srcId="{C330109A-FFFC-4B01-8E45-E2CD368B2DBF}" destId="{23F4716A-0302-4C3A-9617-2DBC5EE890D5}" srcOrd="0" destOrd="0" presId="urn:microsoft.com/office/officeart/2005/8/layout/vList5"/>
    <dgm:cxn modelId="{B894D157-C037-4C74-8DA0-FD8900D5B46E}" type="presOf" srcId="{1F05F568-69B0-4CE7-962A-3FA8E3420653}" destId="{6E941D25-13DC-46B1-B067-A480AB8ACA61}" srcOrd="0" destOrd="0" presId="urn:microsoft.com/office/officeart/2005/8/layout/vList5"/>
    <dgm:cxn modelId="{14E6F86A-13F9-4622-AADE-5D3A80CD2E99}" type="presParOf" srcId="{23F4716A-0302-4C3A-9617-2DBC5EE890D5}" destId="{A9B07672-4D15-41DF-9EEC-28CE847CD2A5}" srcOrd="0" destOrd="0" presId="urn:microsoft.com/office/officeart/2005/8/layout/vList5"/>
    <dgm:cxn modelId="{10960B39-3AC9-4D25-8EDB-F10A71E5DD8A}" type="presParOf" srcId="{A9B07672-4D15-41DF-9EEC-28CE847CD2A5}" destId="{597E0FF4-2369-490C-8997-7BA072273111}" srcOrd="0" destOrd="0" presId="urn:microsoft.com/office/officeart/2005/8/layout/vList5"/>
    <dgm:cxn modelId="{D67D68DF-054B-4C45-BB3E-51221DEEC86C}" type="presParOf" srcId="{A9B07672-4D15-41DF-9EEC-28CE847CD2A5}" destId="{DCECE516-55DF-4531-9805-0C36E9BF0CD5}" srcOrd="1" destOrd="0" presId="urn:microsoft.com/office/officeart/2005/8/layout/vList5"/>
    <dgm:cxn modelId="{21AAA45B-BFD8-46C6-9A52-9CC16ACDD716}" type="presParOf" srcId="{23F4716A-0302-4C3A-9617-2DBC5EE890D5}" destId="{C045C0D2-C9C7-4946-8179-1AB233512FCF}" srcOrd="1" destOrd="0" presId="urn:microsoft.com/office/officeart/2005/8/layout/vList5"/>
    <dgm:cxn modelId="{B5387C1C-D7CE-4507-8B66-7D7AE75779EF}" type="presParOf" srcId="{23F4716A-0302-4C3A-9617-2DBC5EE890D5}" destId="{05617868-8E33-4E68-BD4F-83C5F2683325}" srcOrd="2" destOrd="0" presId="urn:microsoft.com/office/officeart/2005/8/layout/vList5"/>
    <dgm:cxn modelId="{0DC6D282-4253-4749-A4CD-F3438DF85301}" type="presParOf" srcId="{05617868-8E33-4E68-BD4F-83C5F2683325}" destId="{4EC2030A-71C8-42E9-9649-9BB6D848027A}" srcOrd="0" destOrd="0" presId="urn:microsoft.com/office/officeart/2005/8/layout/vList5"/>
    <dgm:cxn modelId="{8B6996BE-ADC8-4A4C-BF2E-1B362C884260}" type="presParOf" srcId="{05617868-8E33-4E68-BD4F-83C5F2683325}" destId="{CC918FF1-055C-4ADB-BF05-9F16C6F4A59E}" srcOrd="1" destOrd="0" presId="urn:microsoft.com/office/officeart/2005/8/layout/vList5"/>
    <dgm:cxn modelId="{8514AC88-951A-4D19-BD05-038F1372ACF9}" type="presParOf" srcId="{23F4716A-0302-4C3A-9617-2DBC5EE890D5}" destId="{539813DD-3210-4B2D-A503-F55B19877034}" srcOrd="3" destOrd="0" presId="urn:microsoft.com/office/officeart/2005/8/layout/vList5"/>
    <dgm:cxn modelId="{C47DC1FA-8AE9-4E4E-9DB8-8E8D461889E3}" type="presParOf" srcId="{23F4716A-0302-4C3A-9617-2DBC5EE890D5}" destId="{8370B7FB-68E1-4F61-92DE-75526B962F68}" srcOrd="4" destOrd="0" presId="urn:microsoft.com/office/officeart/2005/8/layout/vList5"/>
    <dgm:cxn modelId="{592ACDBC-1B7B-424D-9FF7-FBFB67EC0F4B}" type="presParOf" srcId="{8370B7FB-68E1-4F61-92DE-75526B962F68}" destId="{A0115A74-46A3-49D1-9770-345C9CB3D954}" srcOrd="0" destOrd="0" presId="urn:microsoft.com/office/officeart/2005/8/layout/vList5"/>
    <dgm:cxn modelId="{6DDD4894-F475-4628-8D49-5583E616C29E}" type="presParOf" srcId="{8370B7FB-68E1-4F61-92DE-75526B962F68}" destId="{6E941D25-13DC-46B1-B067-A480AB8ACA6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30109A-FFFC-4B01-8E45-E2CD368B2DBF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2E7B68D8-9AB7-4FF7-A0E9-94197BB9C865}">
      <dgm:prSet phldrT="[Текст]" custT="1"/>
      <dgm:spPr/>
      <dgm:t>
        <a:bodyPr/>
        <a:lstStyle/>
        <a:p>
          <a:r>
            <a:rPr lang="ru-RU" sz="1100" b="1" dirty="0" smtClean="0">
              <a:latin typeface="Calibri" pitchFamily="34" charset="0"/>
              <a:cs typeface="Calibri" pitchFamily="34" charset="0"/>
            </a:rPr>
            <a:t>Величина собственных средств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3319561C-CE36-40EB-A563-A13D34587571}" type="par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F673755B-9813-4CD5-BD51-C89867074038}" type="sibTrans" cxnId="{3754C623-6A24-40D3-ABD5-64A652A3247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0D7DD503-2357-406A-B20D-DF0B98893CFB}">
      <dgm:prSet phldrT="[Текст]" custT="1"/>
      <dgm:spPr/>
      <dgm:t>
        <a:bodyPr/>
        <a:lstStyle/>
        <a:p>
          <a:r>
            <a:rPr lang="ru-RU" sz="1100" dirty="0" smtClean="0">
              <a:latin typeface="Calibri" pitchFamily="34" charset="0"/>
              <a:cs typeface="Calibri" pitchFamily="34" charset="0"/>
            </a:rPr>
            <a:t>Снижение: компания терпит убытки </a:t>
          </a:r>
          <a:endParaRPr lang="ru-RU" sz="1100" dirty="0">
            <a:latin typeface="Calibri" pitchFamily="34" charset="0"/>
            <a:cs typeface="Calibri" pitchFamily="34" charset="0"/>
          </a:endParaRPr>
        </a:p>
      </dgm:t>
    </dgm:pt>
    <dgm:pt modelId="{11BCD41A-E9DF-4D63-B325-1129BCFEDCEA}" type="par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755ADE0C-5CB7-4383-A1B3-2A7D1889805C}" type="sibTrans" cxnId="{F44B3F59-75C3-4E5B-9D39-4B4983348910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427E737E-03BE-46FE-B7C4-04E1BFF63FB6}">
      <dgm:prSet phldrT="[Текст]" custT="1"/>
      <dgm:spPr/>
      <dgm:t>
        <a:bodyPr/>
        <a:lstStyle/>
        <a:p>
          <a:r>
            <a:rPr lang="ru-RU" sz="1100" b="1" dirty="0" smtClean="0">
              <a:latin typeface="Calibri" pitchFamily="34" charset="0"/>
              <a:cs typeface="Calibri" pitchFamily="34" charset="0"/>
            </a:rPr>
            <a:t>Инвестиционная программа 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A49C2C70-7CAD-4AEA-84F4-12651F50BA56}" type="par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ADFB890B-9DF3-464E-B2A0-EACA00C276DB}" type="sibTrans" cxnId="{96A3CD99-B2A8-4DFB-AAA4-28120D17EF5B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956F6CD5-A91A-4925-9409-2B4FCCC43A56}">
      <dgm:prSet phldrT="[Текст]" custT="1"/>
      <dgm:spPr/>
      <dgm:t>
        <a:bodyPr/>
        <a:lstStyle/>
        <a:p>
          <a:r>
            <a:rPr lang="ru-RU" sz="1100" b="1" dirty="0" smtClean="0">
              <a:latin typeface="Calibri" pitchFamily="34" charset="0"/>
              <a:cs typeface="Calibri" pitchFamily="34" charset="0"/>
            </a:rPr>
            <a:t>Финансовая политика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D697EA14-E2AD-4520-94FC-A0069834B29E}" type="parTrans" cxnId="{6385A5C8-84BC-4491-891E-D6F24FB697F1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8A25E8BD-3513-4C9A-B8D9-E80D3CF7FD57}" type="sibTrans" cxnId="{6385A5C8-84BC-4491-891E-D6F24FB697F1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AE1ABC5-0AC3-497B-A963-B64E45164990}">
      <dgm:prSet phldrT="[Текст]" custT="1"/>
      <dgm:spPr/>
      <dgm:t>
        <a:bodyPr/>
        <a:lstStyle/>
        <a:p>
          <a:r>
            <a:rPr lang="ru-RU" sz="1100" dirty="0" smtClean="0">
              <a:latin typeface="Calibri" pitchFamily="34" charset="0"/>
              <a:cs typeface="Calibri" pitchFamily="34" charset="0"/>
            </a:rPr>
            <a:t>Снижение: финансирование инвестиций за счет краткосрочных займов </a:t>
          </a:r>
          <a:endParaRPr lang="ru-RU" sz="1100" dirty="0">
            <a:latin typeface="Calibri" pitchFamily="34" charset="0"/>
            <a:cs typeface="Calibri" pitchFamily="34" charset="0"/>
          </a:endParaRPr>
        </a:p>
      </dgm:t>
    </dgm:pt>
    <dgm:pt modelId="{939ACDE6-DB98-4432-AA35-E86EBD2DB8EE}" type="parTrans" cxnId="{CCA0A3FA-8F8B-4EB3-877D-8CC1174C2026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E540A606-7871-4B7A-B797-8F7855BE5EBF}" type="sibTrans" cxnId="{CCA0A3FA-8F8B-4EB3-877D-8CC1174C2026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C47BC3FF-1454-415D-AB82-800DB58E9265}">
      <dgm:prSet phldrT="[Текст]" custT="1"/>
      <dgm:spPr/>
      <dgm:t>
        <a:bodyPr/>
        <a:lstStyle/>
        <a:p>
          <a:r>
            <a:rPr lang="ru-RU" sz="1100" dirty="0" smtClean="0">
              <a:latin typeface="Calibri" pitchFamily="34" charset="0"/>
              <a:cs typeface="Calibri" pitchFamily="34" charset="0"/>
            </a:rPr>
            <a:t>Снижение: инвестиционная программа,  превышающая  финансовые возможности компании</a:t>
          </a:r>
          <a:endParaRPr lang="ru-RU" sz="1100" dirty="0">
            <a:latin typeface="Calibri" pitchFamily="34" charset="0"/>
            <a:cs typeface="Calibri" pitchFamily="34" charset="0"/>
          </a:endParaRPr>
        </a:p>
      </dgm:t>
    </dgm:pt>
    <dgm:pt modelId="{6CC10B6D-D69B-4B25-A6DC-110248683E71}" type="sib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E7B07B71-A484-48EE-A727-F22ECC1EFDF0}" type="parTrans" cxnId="{4E35AB9E-358C-4166-B4EE-1D6F9082455E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66FF82CD-2DB3-4D4E-97CB-047EEDE8C7E4}">
      <dgm:prSet custT="1"/>
      <dgm:spPr/>
      <dgm:t>
        <a:bodyPr/>
        <a:lstStyle/>
        <a:p>
          <a:r>
            <a:rPr lang="ru-RU" sz="1100" b="1" dirty="0" smtClean="0">
              <a:latin typeface="Calibri" pitchFamily="34" charset="0"/>
              <a:cs typeface="Calibri" pitchFamily="34" charset="0"/>
            </a:rPr>
            <a:t>Принципы управления оборотным капиталом</a:t>
          </a:r>
          <a:endParaRPr lang="ru-RU" sz="1100" b="1" dirty="0">
            <a:latin typeface="Calibri" pitchFamily="34" charset="0"/>
            <a:cs typeface="Calibri" pitchFamily="34" charset="0"/>
          </a:endParaRPr>
        </a:p>
      </dgm:t>
    </dgm:pt>
    <dgm:pt modelId="{109E749B-609D-4527-A9BF-87FB6E9CF6E3}" type="parTrans" cxnId="{A4A879D9-BABE-4A3F-A908-B5DB97F464ED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8FE072C3-56B5-4EBE-886F-F475C120D822}" type="sibTrans" cxnId="{A4A879D9-BABE-4A3F-A908-B5DB97F464ED}">
      <dgm:prSet/>
      <dgm:spPr/>
      <dgm:t>
        <a:bodyPr/>
        <a:lstStyle/>
        <a:p>
          <a:endParaRPr lang="ru-RU">
            <a:latin typeface="Calibri" pitchFamily="34" charset="0"/>
            <a:cs typeface="Calibri" pitchFamily="34" charset="0"/>
          </a:endParaRPr>
        </a:p>
      </dgm:t>
    </dgm:pt>
    <dgm:pt modelId="{8530C6EC-8B97-4575-A1E4-4CF67211BDE1}">
      <dgm:prSet custT="1"/>
      <dgm:spPr/>
      <dgm:t>
        <a:bodyPr/>
        <a:lstStyle/>
        <a:p>
          <a:r>
            <a:rPr lang="ru-RU" sz="1100" dirty="0" smtClean="0">
              <a:latin typeface="Calibri" pitchFamily="34" charset="0"/>
              <a:cs typeface="Calibri" pitchFamily="34" charset="0"/>
            </a:rPr>
            <a:t>Снижение: рост оборотных активов, профинансированных полностью краткосрочными обязательствами  </a:t>
          </a:r>
          <a:endParaRPr lang="ru-RU" sz="1100" dirty="0"/>
        </a:p>
      </dgm:t>
    </dgm:pt>
    <dgm:pt modelId="{7C6AE723-9FD6-4066-9A5B-2D44F1B51046}" type="parTrans" cxnId="{509FB716-383F-47A1-9574-9CF2DFD62E01}">
      <dgm:prSet/>
      <dgm:spPr/>
      <dgm:t>
        <a:bodyPr/>
        <a:lstStyle/>
        <a:p>
          <a:endParaRPr lang="ru-RU"/>
        </a:p>
      </dgm:t>
    </dgm:pt>
    <dgm:pt modelId="{176D07CF-320B-4172-9402-3BBB069F1DF3}" type="sibTrans" cxnId="{509FB716-383F-47A1-9574-9CF2DFD62E01}">
      <dgm:prSet/>
      <dgm:spPr/>
      <dgm:t>
        <a:bodyPr/>
        <a:lstStyle/>
        <a:p>
          <a:endParaRPr lang="ru-RU"/>
        </a:p>
      </dgm:t>
    </dgm:pt>
    <dgm:pt modelId="{23F4716A-0302-4C3A-9617-2DBC5EE890D5}" type="pres">
      <dgm:prSet presAssocID="{C330109A-FFFC-4B01-8E45-E2CD368B2DB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B07672-4D15-41DF-9EEC-28CE847CD2A5}" type="pres">
      <dgm:prSet presAssocID="{2E7B68D8-9AB7-4FF7-A0E9-94197BB9C865}" presName="linNode" presStyleCnt="0"/>
      <dgm:spPr/>
      <dgm:t>
        <a:bodyPr/>
        <a:lstStyle/>
        <a:p>
          <a:endParaRPr lang="ru-RU"/>
        </a:p>
      </dgm:t>
    </dgm:pt>
    <dgm:pt modelId="{597E0FF4-2369-490C-8997-7BA072273111}" type="pres">
      <dgm:prSet presAssocID="{2E7B68D8-9AB7-4FF7-A0E9-94197BB9C865}" presName="parentText" presStyleLbl="node1" presStyleIdx="0" presStyleCnt="4" custScaleX="7973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ECE516-55DF-4531-9805-0C36E9BF0CD5}" type="pres">
      <dgm:prSet presAssocID="{2E7B68D8-9AB7-4FF7-A0E9-94197BB9C865}" presName="descendantText" presStyleLbl="alignAccFollowNode1" presStyleIdx="0" presStyleCnt="4" custScaleX="121534" custScaleY="8449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45C0D2-C9C7-4946-8179-1AB233512FCF}" type="pres">
      <dgm:prSet presAssocID="{F673755B-9813-4CD5-BD51-C89867074038}" presName="sp" presStyleCnt="0"/>
      <dgm:spPr/>
      <dgm:t>
        <a:bodyPr/>
        <a:lstStyle/>
        <a:p>
          <a:endParaRPr lang="ru-RU"/>
        </a:p>
      </dgm:t>
    </dgm:pt>
    <dgm:pt modelId="{05617868-8E33-4E68-BD4F-83C5F2683325}" type="pres">
      <dgm:prSet presAssocID="{427E737E-03BE-46FE-B7C4-04E1BFF63FB6}" presName="linNode" presStyleCnt="0"/>
      <dgm:spPr/>
      <dgm:t>
        <a:bodyPr/>
        <a:lstStyle/>
        <a:p>
          <a:endParaRPr lang="ru-RU"/>
        </a:p>
      </dgm:t>
    </dgm:pt>
    <dgm:pt modelId="{4EC2030A-71C8-42E9-9649-9BB6D848027A}" type="pres">
      <dgm:prSet presAssocID="{427E737E-03BE-46FE-B7C4-04E1BFF63FB6}" presName="parentText" presStyleLbl="node1" presStyleIdx="1" presStyleCnt="4" custScaleX="7509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918FF1-055C-4ADB-BF05-9F16C6F4A59E}" type="pres">
      <dgm:prSet presAssocID="{427E737E-03BE-46FE-B7C4-04E1BFF63FB6}" presName="descendantText" presStyleLbl="alignAccFollowNode1" presStyleIdx="1" presStyleCnt="4" custScaleX="115187" custScaleY="91157" custLinFactNeighborX="18" custLinFactNeighborY="-15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9813DD-3210-4B2D-A503-F55B19877034}" type="pres">
      <dgm:prSet presAssocID="{ADFB890B-9DF3-464E-B2A0-EACA00C276DB}" presName="sp" presStyleCnt="0"/>
      <dgm:spPr/>
      <dgm:t>
        <a:bodyPr/>
        <a:lstStyle/>
        <a:p>
          <a:endParaRPr lang="ru-RU"/>
        </a:p>
      </dgm:t>
    </dgm:pt>
    <dgm:pt modelId="{65C2BE0F-F0E6-4642-9C52-5BC550BBDCEF}" type="pres">
      <dgm:prSet presAssocID="{956F6CD5-A91A-4925-9409-2B4FCCC43A56}" presName="linNode" presStyleCnt="0"/>
      <dgm:spPr/>
      <dgm:t>
        <a:bodyPr/>
        <a:lstStyle/>
        <a:p>
          <a:endParaRPr lang="ru-RU"/>
        </a:p>
      </dgm:t>
    </dgm:pt>
    <dgm:pt modelId="{E74139BD-E8F9-43D5-9A48-0D5CA3845600}" type="pres">
      <dgm:prSet presAssocID="{956F6CD5-A91A-4925-9409-2B4FCCC43A56}" presName="parentText" presStyleLbl="node1" presStyleIdx="2" presStyleCnt="4" custScaleX="8030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439596-A4CD-4B4B-A0F5-79EFA4F4A6B8}" type="pres">
      <dgm:prSet presAssocID="{956F6CD5-A91A-4925-9409-2B4FCCC43A56}" presName="descendantText" presStyleLbl="alignAccFollowNode1" presStyleIdx="2" presStyleCnt="4" custScaleX="120977" custScaleY="714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5AE609-E4EF-4525-9629-7B1DC7509DDB}" type="pres">
      <dgm:prSet presAssocID="{8A25E8BD-3513-4C9A-B8D9-E80D3CF7FD57}" presName="sp" presStyleCnt="0"/>
      <dgm:spPr/>
      <dgm:t>
        <a:bodyPr/>
        <a:lstStyle/>
        <a:p>
          <a:endParaRPr lang="ru-RU"/>
        </a:p>
      </dgm:t>
    </dgm:pt>
    <dgm:pt modelId="{8370B7FB-68E1-4F61-92DE-75526B962F68}" type="pres">
      <dgm:prSet presAssocID="{66FF82CD-2DB3-4D4E-97CB-047EEDE8C7E4}" presName="linNode" presStyleCnt="0"/>
      <dgm:spPr/>
      <dgm:t>
        <a:bodyPr/>
        <a:lstStyle/>
        <a:p>
          <a:endParaRPr lang="ru-RU"/>
        </a:p>
      </dgm:t>
    </dgm:pt>
    <dgm:pt modelId="{A0115A74-46A3-49D1-9770-345C9CB3D954}" type="pres">
      <dgm:prSet presAssocID="{66FF82CD-2DB3-4D4E-97CB-047EEDE8C7E4}" presName="parentText" presStyleLbl="node1" presStyleIdx="3" presStyleCnt="4" custScaleX="81066" custLinFactNeighborX="-472" custLinFactNeighborY="3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30B7BF-A1BA-4814-9957-63DC2C141D8B}" type="pres">
      <dgm:prSet presAssocID="{66FF82CD-2DB3-4D4E-97CB-047EEDE8C7E4}" presName="descendantText" presStyleLbl="alignAccFollowNode1" presStyleIdx="3" presStyleCnt="4" custScaleX="122422" custScaleY="9314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BA29D0A-A523-493D-8929-82303DD59164}" type="presOf" srcId="{C47BC3FF-1454-415D-AB82-800DB58E9265}" destId="{CC918FF1-055C-4ADB-BF05-9F16C6F4A59E}" srcOrd="0" destOrd="0" presId="urn:microsoft.com/office/officeart/2005/8/layout/vList5"/>
    <dgm:cxn modelId="{6385A5C8-84BC-4491-891E-D6F24FB697F1}" srcId="{C330109A-FFFC-4B01-8E45-E2CD368B2DBF}" destId="{956F6CD5-A91A-4925-9409-2B4FCCC43A56}" srcOrd="2" destOrd="0" parTransId="{D697EA14-E2AD-4520-94FC-A0069834B29E}" sibTransId="{8A25E8BD-3513-4C9A-B8D9-E80D3CF7FD57}"/>
    <dgm:cxn modelId="{509FB716-383F-47A1-9574-9CF2DFD62E01}" srcId="{66FF82CD-2DB3-4D4E-97CB-047EEDE8C7E4}" destId="{8530C6EC-8B97-4575-A1E4-4CF67211BDE1}" srcOrd="0" destOrd="0" parTransId="{7C6AE723-9FD6-4066-9A5B-2D44F1B51046}" sibTransId="{176D07CF-320B-4172-9402-3BBB069F1DF3}"/>
    <dgm:cxn modelId="{4E35AB9E-358C-4166-B4EE-1D6F9082455E}" srcId="{427E737E-03BE-46FE-B7C4-04E1BFF63FB6}" destId="{C47BC3FF-1454-415D-AB82-800DB58E9265}" srcOrd="0" destOrd="0" parTransId="{E7B07B71-A484-48EE-A727-F22ECC1EFDF0}" sibTransId="{6CC10B6D-D69B-4B25-A6DC-110248683E71}"/>
    <dgm:cxn modelId="{7E904747-5649-4E1C-9CAC-7FEE324ED063}" type="presOf" srcId="{66FF82CD-2DB3-4D4E-97CB-047EEDE8C7E4}" destId="{A0115A74-46A3-49D1-9770-345C9CB3D954}" srcOrd="0" destOrd="0" presId="urn:microsoft.com/office/officeart/2005/8/layout/vList5"/>
    <dgm:cxn modelId="{3754C623-6A24-40D3-ABD5-64A652A3247B}" srcId="{C330109A-FFFC-4B01-8E45-E2CD368B2DBF}" destId="{2E7B68D8-9AB7-4FF7-A0E9-94197BB9C865}" srcOrd="0" destOrd="0" parTransId="{3319561C-CE36-40EB-A563-A13D34587571}" sibTransId="{F673755B-9813-4CD5-BD51-C89867074038}"/>
    <dgm:cxn modelId="{D6E313C1-920F-4A69-8F57-0277C8D93622}" type="presOf" srcId="{C330109A-FFFC-4B01-8E45-E2CD368B2DBF}" destId="{23F4716A-0302-4C3A-9617-2DBC5EE890D5}" srcOrd="0" destOrd="0" presId="urn:microsoft.com/office/officeart/2005/8/layout/vList5"/>
    <dgm:cxn modelId="{11CABFBE-937E-40FA-80A4-9BFAE54BF052}" type="presOf" srcId="{0D7DD503-2357-406A-B20D-DF0B98893CFB}" destId="{DCECE516-55DF-4531-9805-0C36E9BF0CD5}" srcOrd="0" destOrd="0" presId="urn:microsoft.com/office/officeart/2005/8/layout/vList5"/>
    <dgm:cxn modelId="{A4A879D9-BABE-4A3F-A908-B5DB97F464ED}" srcId="{C330109A-FFFC-4B01-8E45-E2CD368B2DBF}" destId="{66FF82CD-2DB3-4D4E-97CB-047EEDE8C7E4}" srcOrd="3" destOrd="0" parTransId="{109E749B-609D-4527-A9BF-87FB6E9CF6E3}" sibTransId="{8FE072C3-56B5-4EBE-886F-F475C120D822}"/>
    <dgm:cxn modelId="{F5AE8BE8-261F-4B02-8FCE-93824D9A3F87}" type="presOf" srcId="{427E737E-03BE-46FE-B7C4-04E1BFF63FB6}" destId="{4EC2030A-71C8-42E9-9649-9BB6D848027A}" srcOrd="0" destOrd="0" presId="urn:microsoft.com/office/officeart/2005/8/layout/vList5"/>
    <dgm:cxn modelId="{31FBA790-41AC-4924-8CD7-D7DCE43EE9E8}" type="presOf" srcId="{2E7B68D8-9AB7-4FF7-A0E9-94197BB9C865}" destId="{597E0FF4-2369-490C-8997-7BA072273111}" srcOrd="0" destOrd="0" presId="urn:microsoft.com/office/officeart/2005/8/layout/vList5"/>
    <dgm:cxn modelId="{8542FE20-AD6E-4048-A75C-8A4EC32199E0}" type="presOf" srcId="{956F6CD5-A91A-4925-9409-2B4FCCC43A56}" destId="{E74139BD-E8F9-43D5-9A48-0D5CA3845600}" srcOrd="0" destOrd="0" presId="urn:microsoft.com/office/officeart/2005/8/layout/vList5"/>
    <dgm:cxn modelId="{37FB2E47-8933-4ABA-99C1-1D0800728A2C}" type="presOf" srcId="{CAE1ABC5-0AC3-497B-A963-B64E45164990}" destId="{8F439596-A4CD-4B4B-A0F5-79EFA4F4A6B8}" srcOrd="0" destOrd="0" presId="urn:microsoft.com/office/officeart/2005/8/layout/vList5"/>
    <dgm:cxn modelId="{F44B3F59-75C3-4E5B-9D39-4B4983348910}" srcId="{2E7B68D8-9AB7-4FF7-A0E9-94197BB9C865}" destId="{0D7DD503-2357-406A-B20D-DF0B98893CFB}" srcOrd="0" destOrd="0" parTransId="{11BCD41A-E9DF-4D63-B325-1129BCFEDCEA}" sibTransId="{755ADE0C-5CB7-4383-A1B3-2A7D1889805C}"/>
    <dgm:cxn modelId="{CCA0A3FA-8F8B-4EB3-877D-8CC1174C2026}" srcId="{956F6CD5-A91A-4925-9409-2B4FCCC43A56}" destId="{CAE1ABC5-0AC3-497B-A963-B64E45164990}" srcOrd="0" destOrd="0" parTransId="{939ACDE6-DB98-4432-AA35-E86EBD2DB8EE}" sibTransId="{E540A606-7871-4B7A-B797-8F7855BE5EBF}"/>
    <dgm:cxn modelId="{2891CC1E-F4D4-486F-9554-5C8856F475AA}" type="presOf" srcId="{8530C6EC-8B97-4575-A1E4-4CF67211BDE1}" destId="{7B30B7BF-A1BA-4814-9957-63DC2C141D8B}" srcOrd="0" destOrd="0" presId="urn:microsoft.com/office/officeart/2005/8/layout/vList5"/>
    <dgm:cxn modelId="{96A3CD99-B2A8-4DFB-AAA4-28120D17EF5B}" srcId="{C330109A-FFFC-4B01-8E45-E2CD368B2DBF}" destId="{427E737E-03BE-46FE-B7C4-04E1BFF63FB6}" srcOrd="1" destOrd="0" parTransId="{A49C2C70-7CAD-4AEA-84F4-12651F50BA56}" sibTransId="{ADFB890B-9DF3-464E-B2A0-EACA00C276DB}"/>
    <dgm:cxn modelId="{9A839FF5-3D62-4ED1-8961-E0E0FE5524FD}" type="presParOf" srcId="{23F4716A-0302-4C3A-9617-2DBC5EE890D5}" destId="{A9B07672-4D15-41DF-9EEC-28CE847CD2A5}" srcOrd="0" destOrd="0" presId="urn:microsoft.com/office/officeart/2005/8/layout/vList5"/>
    <dgm:cxn modelId="{CAE095D5-34F5-4C75-944D-D2CA4C71CF0E}" type="presParOf" srcId="{A9B07672-4D15-41DF-9EEC-28CE847CD2A5}" destId="{597E0FF4-2369-490C-8997-7BA072273111}" srcOrd="0" destOrd="0" presId="urn:microsoft.com/office/officeart/2005/8/layout/vList5"/>
    <dgm:cxn modelId="{E88EF723-ADFA-4180-8BA3-ED17B0D221F0}" type="presParOf" srcId="{A9B07672-4D15-41DF-9EEC-28CE847CD2A5}" destId="{DCECE516-55DF-4531-9805-0C36E9BF0CD5}" srcOrd="1" destOrd="0" presId="urn:microsoft.com/office/officeart/2005/8/layout/vList5"/>
    <dgm:cxn modelId="{52DFC3E6-B547-41C7-B599-999434C4111F}" type="presParOf" srcId="{23F4716A-0302-4C3A-9617-2DBC5EE890D5}" destId="{C045C0D2-C9C7-4946-8179-1AB233512FCF}" srcOrd="1" destOrd="0" presId="urn:microsoft.com/office/officeart/2005/8/layout/vList5"/>
    <dgm:cxn modelId="{2B05AFD5-ED6F-408F-93BF-D8C985D03A31}" type="presParOf" srcId="{23F4716A-0302-4C3A-9617-2DBC5EE890D5}" destId="{05617868-8E33-4E68-BD4F-83C5F2683325}" srcOrd="2" destOrd="0" presId="urn:microsoft.com/office/officeart/2005/8/layout/vList5"/>
    <dgm:cxn modelId="{9F938539-C301-4CDB-A3B5-8DDCE03AF28C}" type="presParOf" srcId="{05617868-8E33-4E68-BD4F-83C5F2683325}" destId="{4EC2030A-71C8-42E9-9649-9BB6D848027A}" srcOrd="0" destOrd="0" presId="urn:microsoft.com/office/officeart/2005/8/layout/vList5"/>
    <dgm:cxn modelId="{14703C4C-CD60-42B5-9FFC-279B9FE8C9D7}" type="presParOf" srcId="{05617868-8E33-4E68-BD4F-83C5F2683325}" destId="{CC918FF1-055C-4ADB-BF05-9F16C6F4A59E}" srcOrd="1" destOrd="0" presId="urn:microsoft.com/office/officeart/2005/8/layout/vList5"/>
    <dgm:cxn modelId="{1743453E-E059-4CED-9D05-AFEB7170470E}" type="presParOf" srcId="{23F4716A-0302-4C3A-9617-2DBC5EE890D5}" destId="{539813DD-3210-4B2D-A503-F55B19877034}" srcOrd="3" destOrd="0" presId="urn:microsoft.com/office/officeart/2005/8/layout/vList5"/>
    <dgm:cxn modelId="{4EA26388-9A63-4715-87F1-6F2041C3A1BA}" type="presParOf" srcId="{23F4716A-0302-4C3A-9617-2DBC5EE890D5}" destId="{65C2BE0F-F0E6-4642-9C52-5BC550BBDCEF}" srcOrd="4" destOrd="0" presId="urn:microsoft.com/office/officeart/2005/8/layout/vList5"/>
    <dgm:cxn modelId="{D3215985-77A6-441B-95B3-F3EDA970D7A1}" type="presParOf" srcId="{65C2BE0F-F0E6-4642-9C52-5BC550BBDCEF}" destId="{E74139BD-E8F9-43D5-9A48-0D5CA3845600}" srcOrd="0" destOrd="0" presId="urn:microsoft.com/office/officeart/2005/8/layout/vList5"/>
    <dgm:cxn modelId="{28EA8D27-2E1D-40B6-8B27-C78C4F5CE7D8}" type="presParOf" srcId="{65C2BE0F-F0E6-4642-9C52-5BC550BBDCEF}" destId="{8F439596-A4CD-4B4B-A0F5-79EFA4F4A6B8}" srcOrd="1" destOrd="0" presId="urn:microsoft.com/office/officeart/2005/8/layout/vList5"/>
    <dgm:cxn modelId="{19C7831E-C3F7-4E21-B74D-34A0B401FE5F}" type="presParOf" srcId="{23F4716A-0302-4C3A-9617-2DBC5EE890D5}" destId="{3E5AE609-E4EF-4525-9629-7B1DC7509DDB}" srcOrd="5" destOrd="0" presId="urn:microsoft.com/office/officeart/2005/8/layout/vList5"/>
    <dgm:cxn modelId="{8F8D590D-9041-4631-9B5B-CF21D684A286}" type="presParOf" srcId="{23F4716A-0302-4C3A-9617-2DBC5EE890D5}" destId="{8370B7FB-68E1-4F61-92DE-75526B962F68}" srcOrd="6" destOrd="0" presId="urn:microsoft.com/office/officeart/2005/8/layout/vList5"/>
    <dgm:cxn modelId="{96AEFA58-CE75-4911-9F5A-F90927D92848}" type="presParOf" srcId="{8370B7FB-68E1-4F61-92DE-75526B962F68}" destId="{A0115A74-46A3-49D1-9770-345C9CB3D954}" srcOrd="0" destOrd="0" presId="urn:microsoft.com/office/officeart/2005/8/layout/vList5"/>
    <dgm:cxn modelId="{898B77F6-A0E1-46BF-A16E-830ABE86A6D5}" type="presParOf" srcId="{8370B7FB-68E1-4F61-92DE-75526B962F68}" destId="{7B30B7BF-A1BA-4814-9957-63DC2C141D8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9AE2FD6-4663-4E51-A70B-88CD61582E5E}" type="doc">
      <dgm:prSet loTypeId="urn:microsoft.com/office/officeart/2005/8/layout/vList5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ru-RU"/>
        </a:p>
      </dgm:t>
    </dgm:pt>
    <dgm:pt modelId="{A9C87FEA-7F15-4F93-AE3B-688B87722B34}">
      <dgm:prSet phldrT="[Текст]" custT="1"/>
      <dgm:spPr/>
      <dgm:t>
        <a:bodyPr/>
        <a:lstStyle/>
        <a:p>
          <a:r>
            <a:rPr lang="ru-RU" sz="1200" b="1" dirty="0" smtClean="0">
              <a:latin typeface="Calibri" pitchFamily="34" charset="0"/>
              <a:cs typeface="Calibri" pitchFamily="34" charset="0"/>
            </a:rPr>
            <a:t>Рост «операционного цикла»</a:t>
          </a:r>
          <a:endParaRPr lang="ru-RU" sz="1200" b="1" dirty="0">
            <a:latin typeface="Calibri" pitchFamily="34" charset="0"/>
            <a:cs typeface="Calibri" pitchFamily="34" charset="0"/>
          </a:endParaRPr>
        </a:p>
      </dgm:t>
    </dgm:pt>
    <dgm:pt modelId="{A2AD7138-1402-445C-A701-7B22DD5277C3}" type="parTrans" cxnId="{F9302263-32C6-4C01-A138-CFE78925DDBB}">
      <dgm:prSet/>
      <dgm:spPr/>
      <dgm:t>
        <a:bodyPr/>
        <a:lstStyle/>
        <a:p>
          <a:endParaRPr lang="ru-RU"/>
        </a:p>
      </dgm:t>
    </dgm:pt>
    <dgm:pt modelId="{02006B18-613E-48CF-86E8-D40152FEB1B1}" type="sibTrans" cxnId="{F9302263-32C6-4C01-A138-CFE78925DDBB}">
      <dgm:prSet/>
      <dgm:spPr/>
      <dgm:t>
        <a:bodyPr/>
        <a:lstStyle/>
        <a:p>
          <a:endParaRPr lang="ru-RU"/>
        </a:p>
      </dgm:t>
    </dgm:pt>
    <dgm:pt modelId="{C46F5256-6D92-4184-B3AC-E2A8B9D3AE35}">
      <dgm:prSet phldrT="[Текст]" custT="1"/>
      <dgm:spPr/>
      <dgm:t>
        <a:bodyPr/>
        <a:lstStyle/>
        <a:p>
          <a:r>
            <a:rPr kumimoji="1" lang="ru-RU" sz="1200" dirty="0" smtClean="0">
              <a:latin typeface="Calibri" pitchFamily="34" charset="0"/>
              <a:cs typeface="Calibri" pitchFamily="34" charset="0"/>
            </a:rPr>
            <a:t>Снижение рентабельности капитала</a:t>
          </a:r>
          <a:endParaRPr lang="ru-RU" sz="1200" dirty="0">
            <a:latin typeface="Calibri" pitchFamily="34" charset="0"/>
            <a:cs typeface="Calibri" pitchFamily="34" charset="0"/>
          </a:endParaRPr>
        </a:p>
      </dgm:t>
    </dgm:pt>
    <dgm:pt modelId="{223486F8-EF3A-4D64-AF9E-67CD5062403F}" type="parTrans" cxnId="{D3048779-D831-4B96-86EC-137B696BCB0D}">
      <dgm:prSet/>
      <dgm:spPr/>
      <dgm:t>
        <a:bodyPr/>
        <a:lstStyle/>
        <a:p>
          <a:endParaRPr lang="ru-RU"/>
        </a:p>
      </dgm:t>
    </dgm:pt>
    <dgm:pt modelId="{5616DAA5-A4B9-4878-85B2-66506C173634}" type="sibTrans" cxnId="{D3048779-D831-4B96-86EC-137B696BCB0D}">
      <dgm:prSet/>
      <dgm:spPr/>
      <dgm:t>
        <a:bodyPr/>
        <a:lstStyle/>
        <a:p>
          <a:endParaRPr lang="ru-RU"/>
        </a:p>
      </dgm:t>
    </dgm:pt>
    <dgm:pt modelId="{1F937D07-FACA-4CFA-A9FA-63960E7D417C}">
      <dgm:prSet phldrT="[Текст]" custT="1"/>
      <dgm:spPr/>
      <dgm:t>
        <a:bodyPr/>
        <a:lstStyle/>
        <a:p>
          <a:r>
            <a:rPr lang="ru-RU" sz="1200" b="1" smtClean="0">
              <a:latin typeface="Calibri" pitchFamily="34" charset="0"/>
              <a:cs typeface="Calibri" pitchFamily="34" charset="0"/>
            </a:rPr>
            <a:t>Рост </a:t>
          </a:r>
          <a:br>
            <a:rPr lang="ru-RU" sz="1200" b="1" smtClean="0">
              <a:latin typeface="Calibri" pitchFamily="34" charset="0"/>
              <a:cs typeface="Calibri" pitchFamily="34" charset="0"/>
            </a:rPr>
          </a:br>
          <a:r>
            <a:rPr lang="ru-RU" sz="1200" b="1" smtClean="0">
              <a:latin typeface="Calibri" pitchFamily="34" charset="0"/>
              <a:cs typeface="Calibri" pitchFamily="34" charset="0"/>
            </a:rPr>
            <a:t>«</a:t>
          </a:r>
          <a:r>
            <a:rPr lang="ru-RU" sz="1200" b="1" dirty="0" smtClean="0">
              <a:latin typeface="Calibri" pitchFamily="34" charset="0"/>
              <a:cs typeface="Calibri" pitchFamily="34" charset="0"/>
            </a:rPr>
            <a:t>чистого цикла»</a:t>
          </a:r>
          <a:endParaRPr lang="ru-RU" sz="1200" b="1" dirty="0">
            <a:latin typeface="Calibri" pitchFamily="34" charset="0"/>
            <a:cs typeface="Calibri" pitchFamily="34" charset="0"/>
          </a:endParaRPr>
        </a:p>
      </dgm:t>
    </dgm:pt>
    <dgm:pt modelId="{C8DDA67A-CC56-42A0-A7F0-CBB20F6365BD}" type="parTrans" cxnId="{FCA88FBC-B9AA-40D4-852E-47A4081F35C5}">
      <dgm:prSet/>
      <dgm:spPr/>
      <dgm:t>
        <a:bodyPr/>
        <a:lstStyle/>
        <a:p>
          <a:endParaRPr lang="ru-RU"/>
        </a:p>
      </dgm:t>
    </dgm:pt>
    <dgm:pt modelId="{DD7F85C5-579F-4596-A35B-7586BE193BF0}" type="sibTrans" cxnId="{FCA88FBC-B9AA-40D4-852E-47A4081F35C5}">
      <dgm:prSet/>
      <dgm:spPr/>
      <dgm:t>
        <a:bodyPr/>
        <a:lstStyle/>
        <a:p>
          <a:endParaRPr lang="ru-RU"/>
        </a:p>
      </dgm:t>
    </dgm:pt>
    <dgm:pt modelId="{34FB7FFC-402C-4AD4-9AFE-91E2F25E74B4}">
      <dgm:prSet phldrT="[Текст]" custT="1"/>
      <dgm:spPr/>
      <dgm:t>
        <a:bodyPr/>
        <a:lstStyle/>
        <a:p>
          <a:r>
            <a:rPr kumimoji="1" lang="ru-RU" sz="1200" dirty="0" smtClean="0">
              <a:latin typeface="Calibri" pitchFamily="34" charset="0"/>
              <a:cs typeface="Calibri" pitchFamily="34" charset="0"/>
            </a:rPr>
            <a:t>Снижение коэффициента абсолютной ликвидности</a:t>
          </a:r>
          <a:endParaRPr lang="ru-RU" sz="1200" dirty="0">
            <a:latin typeface="Calibri" pitchFamily="34" charset="0"/>
            <a:cs typeface="Calibri" pitchFamily="34" charset="0"/>
          </a:endParaRPr>
        </a:p>
      </dgm:t>
    </dgm:pt>
    <dgm:pt modelId="{1A9FCF99-49F7-4265-BFD3-437F4C78C06E}" type="parTrans" cxnId="{32035CD4-09D5-424D-BB4D-4CC0F4868DF9}">
      <dgm:prSet/>
      <dgm:spPr/>
      <dgm:t>
        <a:bodyPr/>
        <a:lstStyle/>
        <a:p>
          <a:endParaRPr lang="ru-RU"/>
        </a:p>
      </dgm:t>
    </dgm:pt>
    <dgm:pt modelId="{ADF19A34-E5A6-4993-B9A7-208E2DE7832A}" type="sibTrans" cxnId="{32035CD4-09D5-424D-BB4D-4CC0F4868DF9}">
      <dgm:prSet/>
      <dgm:spPr/>
      <dgm:t>
        <a:bodyPr/>
        <a:lstStyle/>
        <a:p>
          <a:endParaRPr lang="ru-RU"/>
        </a:p>
      </dgm:t>
    </dgm:pt>
    <dgm:pt modelId="{166F09F0-F451-4927-8677-EA05B3604CCA}">
      <dgm:prSet phldrT="[Текст]" custT="1"/>
      <dgm:spPr/>
      <dgm:t>
        <a:bodyPr/>
        <a:lstStyle/>
        <a:p>
          <a:r>
            <a:rPr lang="ru-RU" sz="1200" dirty="0" smtClean="0">
              <a:latin typeface="Calibri" pitchFamily="34" charset="0"/>
              <a:cs typeface="Calibri" pitchFamily="34" charset="0"/>
            </a:rPr>
            <a:t>Снижение финансовой устойчивости</a:t>
          </a:r>
          <a:endParaRPr lang="ru-RU" sz="1200" dirty="0">
            <a:latin typeface="Calibri" pitchFamily="34" charset="0"/>
            <a:cs typeface="Calibri" pitchFamily="34" charset="0"/>
          </a:endParaRPr>
        </a:p>
      </dgm:t>
    </dgm:pt>
    <dgm:pt modelId="{C860E0FA-BD89-4C81-8B92-FCE637BEA503}" type="parTrans" cxnId="{DBF46414-1E7F-4747-8770-1C656420B9C2}">
      <dgm:prSet/>
      <dgm:spPr/>
      <dgm:t>
        <a:bodyPr/>
        <a:lstStyle/>
        <a:p>
          <a:endParaRPr lang="ru-RU"/>
        </a:p>
      </dgm:t>
    </dgm:pt>
    <dgm:pt modelId="{56DC42F7-13E7-4C5A-8EB7-0949B776EAA6}" type="sibTrans" cxnId="{DBF46414-1E7F-4747-8770-1C656420B9C2}">
      <dgm:prSet/>
      <dgm:spPr/>
      <dgm:t>
        <a:bodyPr/>
        <a:lstStyle/>
        <a:p>
          <a:endParaRPr lang="ru-RU"/>
        </a:p>
      </dgm:t>
    </dgm:pt>
    <dgm:pt modelId="{0D199500-C175-49D8-8E7C-2144247062B8}">
      <dgm:prSet phldrT="[Текст]" custT="1"/>
      <dgm:spPr/>
      <dgm:t>
        <a:bodyPr/>
        <a:lstStyle/>
        <a:p>
          <a:r>
            <a:rPr lang="ru-RU" sz="1200" dirty="0" smtClean="0">
              <a:latin typeface="Calibri" pitchFamily="34" charset="0"/>
              <a:cs typeface="Calibri" pitchFamily="34" charset="0"/>
            </a:rPr>
            <a:t>Снижение общей ликвидности </a:t>
          </a:r>
          <a:endParaRPr lang="ru-RU" sz="1200" dirty="0">
            <a:latin typeface="Calibri" pitchFamily="34" charset="0"/>
            <a:cs typeface="Calibri" pitchFamily="34" charset="0"/>
          </a:endParaRPr>
        </a:p>
      </dgm:t>
    </dgm:pt>
    <dgm:pt modelId="{6E0E46C2-702F-4494-AD5F-5823463BFE1C}" type="parTrans" cxnId="{64E6A119-7908-4EEC-BBC2-CAE74A8E4082}">
      <dgm:prSet/>
      <dgm:spPr/>
      <dgm:t>
        <a:bodyPr/>
        <a:lstStyle/>
        <a:p>
          <a:endParaRPr lang="ru-RU"/>
        </a:p>
      </dgm:t>
    </dgm:pt>
    <dgm:pt modelId="{C84EFC51-3C2A-4087-A869-FE9B457125B4}" type="sibTrans" cxnId="{64E6A119-7908-4EEC-BBC2-CAE74A8E4082}">
      <dgm:prSet/>
      <dgm:spPr/>
      <dgm:t>
        <a:bodyPr/>
        <a:lstStyle/>
        <a:p>
          <a:endParaRPr lang="ru-RU"/>
        </a:p>
      </dgm:t>
    </dgm:pt>
    <dgm:pt modelId="{9EF2475D-9071-487C-87BF-F1F98130C9C6}" type="pres">
      <dgm:prSet presAssocID="{99AE2FD6-4663-4E51-A70B-88CD61582E5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EBA5314-7892-41BF-A49A-FB6071BBF9EA}" type="pres">
      <dgm:prSet presAssocID="{A9C87FEA-7F15-4F93-AE3B-688B87722B34}" presName="linNode" presStyleCnt="0"/>
      <dgm:spPr/>
      <dgm:t>
        <a:bodyPr/>
        <a:lstStyle/>
        <a:p>
          <a:endParaRPr lang="ru-RU"/>
        </a:p>
      </dgm:t>
    </dgm:pt>
    <dgm:pt modelId="{BFCF4185-3DCB-4BF5-BE91-AC00818672F2}" type="pres">
      <dgm:prSet presAssocID="{A9C87FEA-7F15-4F93-AE3B-688B87722B34}" presName="parentText" presStyleLbl="node1" presStyleIdx="0" presStyleCnt="2" custScaleX="89531" custScaleY="32203" custLinFactNeighborX="-6679" custLinFactNeighborY="-6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8E237D-18F7-42AF-B12B-361F43A55B5C}" type="pres">
      <dgm:prSet presAssocID="{A9C87FEA-7F15-4F93-AE3B-688B87722B34}" presName="descendantText" presStyleLbl="alignAccFollowNode1" presStyleIdx="0" presStyleCnt="2" custScaleX="114984" custScaleY="25813" custLinFactNeighborX="-15351" custLinFactNeighborY="-6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6D9390-61CE-4F22-9DD0-26801FD5BA30}" type="pres">
      <dgm:prSet presAssocID="{02006B18-613E-48CF-86E8-D40152FEB1B1}" presName="sp" presStyleCnt="0"/>
      <dgm:spPr/>
      <dgm:t>
        <a:bodyPr/>
        <a:lstStyle/>
        <a:p>
          <a:endParaRPr lang="ru-RU"/>
        </a:p>
      </dgm:t>
    </dgm:pt>
    <dgm:pt modelId="{522265F2-74AC-4C8A-B751-C1C53052D76C}" type="pres">
      <dgm:prSet presAssocID="{1F937D07-FACA-4CFA-A9FA-63960E7D417C}" presName="linNode" presStyleCnt="0"/>
      <dgm:spPr/>
      <dgm:t>
        <a:bodyPr/>
        <a:lstStyle/>
        <a:p>
          <a:endParaRPr lang="ru-RU"/>
        </a:p>
      </dgm:t>
    </dgm:pt>
    <dgm:pt modelId="{24B8EA97-FFCA-4D8F-9919-994E8DC62847}" type="pres">
      <dgm:prSet presAssocID="{1F937D07-FACA-4CFA-A9FA-63960E7D417C}" presName="parentText" presStyleLbl="node1" presStyleIdx="1" presStyleCnt="2" custScaleX="88238" custScaleY="30157" custLinFactNeighborX="-6679" custLinFactNeighborY="-6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B75B56-718C-45A3-84BA-BA4DE8459A5C}" type="pres">
      <dgm:prSet presAssocID="{1F937D07-FACA-4CFA-A9FA-63960E7D417C}" presName="descendantText" presStyleLbl="alignAccFollowNode1" presStyleIdx="1" presStyleCnt="2" custScaleX="113542" custScaleY="24555" custLinFactNeighborX="-11634" custLinFactNeighborY="-83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018E706-3872-46C6-970A-1739382B6874}" type="presOf" srcId="{A9C87FEA-7F15-4F93-AE3B-688B87722B34}" destId="{BFCF4185-3DCB-4BF5-BE91-AC00818672F2}" srcOrd="0" destOrd="0" presId="urn:microsoft.com/office/officeart/2005/8/layout/vList5"/>
    <dgm:cxn modelId="{32035CD4-09D5-424D-BB4D-4CC0F4868DF9}" srcId="{1F937D07-FACA-4CFA-A9FA-63960E7D417C}" destId="{34FB7FFC-402C-4AD4-9AFE-91E2F25E74B4}" srcOrd="0" destOrd="0" parTransId="{1A9FCF99-49F7-4265-BFD3-437F4C78C06E}" sibTransId="{ADF19A34-E5A6-4993-B9A7-208E2DE7832A}"/>
    <dgm:cxn modelId="{D3048779-D831-4B96-86EC-137B696BCB0D}" srcId="{A9C87FEA-7F15-4F93-AE3B-688B87722B34}" destId="{C46F5256-6D92-4184-B3AC-E2A8B9D3AE35}" srcOrd="0" destOrd="0" parTransId="{223486F8-EF3A-4D64-AF9E-67CD5062403F}" sibTransId="{5616DAA5-A4B9-4878-85B2-66506C173634}"/>
    <dgm:cxn modelId="{593B6310-B331-4B49-A5B2-CE0EB1E2E68B}" type="presOf" srcId="{34FB7FFC-402C-4AD4-9AFE-91E2F25E74B4}" destId="{97B75B56-718C-45A3-84BA-BA4DE8459A5C}" srcOrd="0" destOrd="0" presId="urn:microsoft.com/office/officeart/2005/8/layout/vList5"/>
    <dgm:cxn modelId="{65276CD5-EE8A-455F-A82B-61A3C87E2AC3}" type="presOf" srcId="{0D199500-C175-49D8-8E7C-2144247062B8}" destId="{048E237D-18F7-42AF-B12B-361F43A55B5C}" srcOrd="0" destOrd="2" presId="urn:microsoft.com/office/officeart/2005/8/layout/vList5"/>
    <dgm:cxn modelId="{B4435371-4595-4A13-ABC5-03BE3D37966F}" type="presOf" srcId="{C46F5256-6D92-4184-B3AC-E2A8B9D3AE35}" destId="{048E237D-18F7-42AF-B12B-361F43A55B5C}" srcOrd="0" destOrd="0" presId="urn:microsoft.com/office/officeart/2005/8/layout/vList5"/>
    <dgm:cxn modelId="{A1F3B791-EDD7-4881-969E-CFF6D4AE2E83}" type="presOf" srcId="{166F09F0-F451-4927-8677-EA05B3604CCA}" destId="{048E237D-18F7-42AF-B12B-361F43A55B5C}" srcOrd="0" destOrd="1" presId="urn:microsoft.com/office/officeart/2005/8/layout/vList5"/>
    <dgm:cxn modelId="{FCA88FBC-B9AA-40D4-852E-47A4081F35C5}" srcId="{99AE2FD6-4663-4E51-A70B-88CD61582E5E}" destId="{1F937D07-FACA-4CFA-A9FA-63960E7D417C}" srcOrd="1" destOrd="0" parTransId="{C8DDA67A-CC56-42A0-A7F0-CBB20F6365BD}" sibTransId="{DD7F85C5-579F-4596-A35B-7586BE193BF0}"/>
    <dgm:cxn modelId="{A4DFE0F0-F442-4EF6-8623-1C4A7C6B9F9C}" type="presOf" srcId="{99AE2FD6-4663-4E51-A70B-88CD61582E5E}" destId="{9EF2475D-9071-487C-87BF-F1F98130C9C6}" srcOrd="0" destOrd="0" presId="urn:microsoft.com/office/officeart/2005/8/layout/vList5"/>
    <dgm:cxn modelId="{DBF46414-1E7F-4747-8770-1C656420B9C2}" srcId="{A9C87FEA-7F15-4F93-AE3B-688B87722B34}" destId="{166F09F0-F451-4927-8677-EA05B3604CCA}" srcOrd="1" destOrd="0" parTransId="{C860E0FA-BD89-4C81-8B92-FCE637BEA503}" sibTransId="{56DC42F7-13E7-4C5A-8EB7-0949B776EAA6}"/>
    <dgm:cxn modelId="{64E6A119-7908-4EEC-BBC2-CAE74A8E4082}" srcId="{A9C87FEA-7F15-4F93-AE3B-688B87722B34}" destId="{0D199500-C175-49D8-8E7C-2144247062B8}" srcOrd="2" destOrd="0" parTransId="{6E0E46C2-702F-4494-AD5F-5823463BFE1C}" sibTransId="{C84EFC51-3C2A-4087-A869-FE9B457125B4}"/>
    <dgm:cxn modelId="{035C4883-47DE-4759-B2B1-16B2370CF289}" type="presOf" srcId="{1F937D07-FACA-4CFA-A9FA-63960E7D417C}" destId="{24B8EA97-FFCA-4D8F-9919-994E8DC62847}" srcOrd="0" destOrd="0" presId="urn:microsoft.com/office/officeart/2005/8/layout/vList5"/>
    <dgm:cxn modelId="{F9302263-32C6-4C01-A138-CFE78925DDBB}" srcId="{99AE2FD6-4663-4E51-A70B-88CD61582E5E}" destId="{A9C87FEA-7F15-4F93-AE3B-688B87722B34}" srcOrd="0" destOrd="0" parTransId="{A2AD7138-1402-445C-A701-7B22DD5277C3}" sibTransId="{02006B18-613E-48CF-86E8-D40152FEB1B1}"/>
    <dgm:cxn modelId="{2725732E-5791-47EA-A3DF-61B17629370E}" type="presParOf" srcId="{9EF2475D-9071-487C-87BF-F1F98130C9C6}" destId="{2EBA5314-7892-41BF-A49A-FB6071BBF9EA}" srcOrd="0" destOrd="0" presId="urn:microsoft.com/office/officeart/2005/8/layout/vList5"/>
    <dgm:cxn modelId="{E72B98BB-8E57-4DD9-AC4E-6EF3FE9F2FF5}" type="presParOf" srcId="{2EBA5314-7892-41BF-A49A-FB6071BBF9EA}" destId="{BFCF4185-3DCB-4BF5-BE91-AC00818672F2}" srcOrd="0" destOrd="0" presId="urn:microsoft.com/office/officeart/2005/8/layout/vList5"/>
    <dgm:cxn modelId="{0F6E69C3-B316-43BD-99C0-B67ED90F716A}" type="presParOf" srcId="{2EBA5314-7892-41BF-A49A-FB6071BBF9EA}" destId="{048E237D-18F7-42AF-B12B-361F43A55B5C}" srcOrd="1" destOrd="0" presId="urn:microsoft.com/office/officeart/2005/8/layout/vList5"/>
    <dgm:cxn modelId="{EF268E3A-04F7-4423-A321-D5A208432739}" type="presParOf" srcId="{9EF2475D-9071-487C-87BF-F1F98130C9C6}" destId="{826D9390-61CE-4F22-9DD0-26801FD5BA30}" srcOrd="1" destOrd="0" presId="urn:microsoft.com/office/officeart/2005/8/layout/vList5"/>
    <dgm:cxn modelId="{C960CA42-8875-4636-B87E-BBE160B2D847}" type="presParOf" srcId="{9EF2475D-9071-487C-87BF-F1F98130C9C6}" destId="{522265F2-74AC-4C8A-B751-C1C53052D76C}" srcOrd="2" destOrd="0" presId="urn:microsoft.com/office/officeart/2005/8/layout/vList5"/>
    <dgm:cxn modelId="{90D743B0-D691-4945-9354-E5F84EE6B583}" type="presParOf" srcId="{522265F2-74AC-4C8A-B751-C1C53052D76C}" destId="{24B8EA97-FFCA-4D8F-9919-994E8DC62847}" srcOrd="0" destOrd="0" presId="urn:microsoft.com/office/officeart/2005/8/layout/vList5"/>
    <dgm:cxn modelId="{35E4105D-3DF3-43C5-BE94-151FD0DD40C3}" type="presParOf" srcId="{522265F2-74AC-4C8A-B751-C1C53052D76C}" destId="{97B75B56-718C-45A3-84BA-BA4DE8459A5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CE516-55DF-4531-9805-0C36E9BF0CD5}">
      <dsp:nvSpPr>
        <dsp:cNvPr id="0" name=""/>
        <dsp:cNvSpPr/>
      </dsp:nvSpPr>
      <dsp:spPr>
        <a:xfrm rot="5400000">
          <a:off x="2702273" y="-1007665"/>
          <a:ext cx="516891" cy="278655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>
              <a:latin typeface="Calibri" pitchFamily="34" charset="0"/>
              <a:cs typeface="Calibri" pitchFamily="34" charset="0"/>
            </a:rPr>
            <a:t>Низкий спрос на продукцию </a:t>
          </a:r>
          <a:endParaRPr lang="ru-RU" sz="900" kern="1200" dirty="0">
            <a:latin typeface="Calibri" pitchFamily="34" charset="0"/>
            <a:cs typeface="Calibri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>
              <a:latin typeface="Calibri" pitchFamily="34" charset="0"/>
              <a:cs typeface="Calibri" pitchFamily="34" charset="0"/>
            </a:rPr>
            <a:t>Недостаточные усилия маркетинговых служб</a:t>
          </a:r>
          <a:endParaRPr lang="ru-RU" sz="9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567440" y="152401"/>
        <a:ext cx="2761326" cy="466425"/>
      </dsp:txXfrm>
    </dsp:sp>
    <dsp:sp modelId="{597E0FF4-2369-490C-8997-7BA072273111}">
      <dsp:nvSpPr>
        <dsp:cNvPr id="0" name=""/>
        <dsp:cNvSpPr/>
      </dsp:nvSpPr>
      <dsp:spPr>
        <a:xfrm>
          <a:off x="0" y="1164"/>
          <a:ext cx="1567439" cy="7688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Calibri" pitchFamily="34" charset="0"/>
              <a:cs typeface="Calibri" pitchFamily="34" charset="0"/>
            </a:rPr>
            <a:t>Низкий объем продаж</a:t>
          </a:r>
          <a:endParaRPr lang="ru-RU" sz="1400" kern="1200" dirty="0">
            <a:latin typeface="Calibri" pitchFamily="34" charset="0"/>
            <a:cs typeface="Calibri" pitchFamily="34" charset="0"/>
          </a:endParaRPr>
        </a:p>
      </dsp:txBody>
      <dsp:txXfrm>
        <a:off x="37535" y="38699"/>
        <a:ext cx="1492369" cy="693829"/>
      </dsp:txXfrm>
    </dsp:sp>
    <dsp:sp modelId="{CC918FF1-055C-4ADB-BF05-9F16C6F4A59E}">
      <dsp:nvSpPr>
        <dsp:cNvPr id="0" name=""/>
        <dsp:cNvSpPr/>
      </dsp:nvSpPr>
      <dsp:spPr>
        <a:xfrm rot="5400000">
          <a:off x="2694271" y="-200320"/>
          <a:ext cx="532896" cy="2786559"/>
        </a:xfrm>
        <a:prstGeom prst="round2SameRect">
          <a:avLst/>
        </a:prstGeom>
        <a:solidFill>
          <a:schemeClr val="accent3">
            <a:tint val="40000"/>
            <a:alpha val="90000"/>
            <a:hueOff val="5358425"/>
            <a:satOff val="-6896"/>
            <a:lumOff val="-537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5358425"/>
              <a:satOff val="-6896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>
              <a:latin typeface="Calibri" pitchFamily="34" charset="0"/>
              <a:cs typeface="Calibri" pitchFamily="34" charset="0"/>
            </a:rPr>
            <a:t>Низкий уровень цен на реализованную продукцию</a:t>
          </a:r>
          <a:endParaRPr lang="ru-RU" sz="900" kern="1200" dirty="0">
            <a:latin typeface="Calibri" pitchFamily="34" charset="0"/>
            <a:cs typeface="Calibri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>
              <a:latin typeface="Calibri" pitchFamily="34" charset="0"/>
              <a:cs typeface="Calibri" pitchFamily="34" charset="0"/>
            </a:rPr>
            <a:t>Высокие переменные затраты</a:t>
          </a:r>
          <a:endParaRPr lang="ru-RU" sz="900" kern="1200" dirty="0">
            <a:latin typeface="Calibri" pitchFamily="34" charset="0"/>
            <a:cs typeface="Calibri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>
              <a:latin typeface="Calibri" pitchFamily="34" charset="0"/>
              <a:cs typeface="Calibri" pitchFamily="34" charset="0"/>
            </a:rPr>
            <a:t>Высокие постоянные затраты</a:t>
          </a:r>
          <a:endParaRPr lang="ru-RU" sz="9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567440" y="952525"/>
        <a:ext cx="2760545" cy="480868"/>
      </dsp:txXfrm>
    </dsp:sp>
    <dsp:sp modelId="{4EC2030A-71C8-42E9-9649-9BB6D848027A}">
      <dsp:nvSpPr>
        <dsp:cNvPr id="0" name=""/>
        <dsp:cNvSpPr/>
      </dsp:nvSpPr>
      <dsp:spPr>
        <a:xfrm>
          <a:off x="0" y="808509"/>
          <a:ext cx="1567439" cy="768899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Calibri" pitchFamily="34" charset="0"/>
              <a:cs typeface="Calibri" pitchFamily="34" charset="0"/>
            </a:rPr>
            <a:t>Невыгодное соотношение доходы/затраты</a:t>
          </a:r>
          <a:endParaRPr lang="ru-RU" sz="1400" kern="1200" dirty="0">
            <a:latin typeface="Calibri" pitchFamily="34" charset="0"/>
            <a:cs typeface="Calibri" pitchFamily="34" charset="0"/>
          </a:endParaRPr>
        </a:p>
      </dsp:txBody>
      <dsp:txXfrm>
        <a:off x="37535" y="846044"/>
        <a:ext cx="1492369" cy="693829"/>
      </dsp:txXfrm>
    </dsp:sp>
    <dsp:sp modelId="{8F439596-A4CD-4B4B-A0F5-79EFA4F4A6B8}">
      <dsp:nvSpPr>
        <dsp:cNvPr id="0" name=""/>
        <dsp:cNvSpPr/>
      </dsp:nvSpPr>
      <dsp:spPr>
        <a:xfrm rot="5400000">
          <a:off x="2698383" y="607023"/>
          <a:ext cx="524672" cy="2786559"/>
        </a:xfrm>
        <a:prstGeom prst="round2SameRect">
          <a:avLst/>
        </a:prstGeom>
        <a:solidFill>
          <a:schemeClr val="accent3">
            <a:tint val="40000"/>
            <a:alpha val="90000"/>
            <a:hueOff val="10716850"/>
            <a:satOff val="-13793"/>
            <a:lumOff val="-1075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10716850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>
              <a:latin typeface="Calibri" pitchFamily="34" charset="0"/>
              <a:cs typeface="Calibri" pitchFamily="34" charset="0"/>
            </a:rPr>
            <a:t>Штрафы, пени</a:t>
          </a:r>
          <a:endParaRPr lang="ru-RU" sz="900" kern="1200" dirty="0">
            <a:latin typeface="Calibri" pitchFamily="34" charset="0"/>
            <a:cs typeface="Calibri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>
              <a:latin typeface="Calibri" pitchFamily="34" charset="0"/>
              <a:cs typeface="Calibri" pitchFamily="34" charset="0"/>
            </a:rPr>
            <a:t>Расходы из чистой прибыли непроизводственного характера</a:t>
          </a:r>
          <a:endParaRPr lang="ru-RU" sz="9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567440" y="1763578"/>
        <a:ext cx="2760947" cy="473448"/>
      </dsp:txXfrm>
    </dsp:sp>
    <dsp:sp modelId="{E74139BD-E8F9-43D5-9A48-0D5CA3845600}">
      <dsp:nvSpPr>
        <dsp:cNvPr id="0" name=""/>
        <dsp:cNvSpPr/>
      </dsp:nvSpPr>
      <dsp:spPr>
        <a:xfrm>
          <a:off x="0" y="1615853"/>
          <a:ext cx="1567439" cy="768899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 smtClean="0">
              <a:latin typeface="Calibri" pitchFamily="34" charset="0"/>
              <a:cs typeface="Calibri" pitchFamily="34" charset="0"/>
            </a:rPr>
            <a:t>Убыточность прочих видов деятельности</a:t>
          </a:r>
          <a:endParaRPr lang="ru-RU" sz="1400" kern="1200" dirty="0">
            <a:latin typeface="Calibri" pitchFamily="34" charset="0"/>
            <a:cs typeface="Calibri" pitchFamily="34" charset="0"/>
          </a:endParaRPr>
        </a:p>
      </dsp:txBody>
      <dsp:txXfrm>
        <a:off x="37535" y="1653388"/>
        <a:ext cx="1492369" cy="6938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CE516-55DF-4531-9805-0C36E9BF0CD5}">
      <dsp:nvSpPr>
        <dsp:cNvPr id="0" name=""/>
        <dsp:cNvSpPr/>
      </dsp:nvSpPr>
      <dsp:spPr>
        <a:xfrm rot="5400000">
          <a:off x="2598072" y="-1437098"/>
          <a:ext cx="391203" cy="3553901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200" kern="1200" dirty="0" smtClean="0">
              <a:latin typeface="Calibri" pitchFamily="34" charset="0"/>
              <a:cs typeface="Calibri" pitchFamily="34" charset="0"/>
            </a:rPr>
            <a:t>: компания теряет рынок сбыта</a:t>
          </a:r>
          <a:endParaRPr lang="ru-RU" sz="12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016724" y="163347"/>
        <a:ext cx="3534804" cy="353009"/>
      </dsp:txXfrm>
    </dsp:sp>
    <dsp:sp modelId="{597E0FF4-2369-490C-8997-7BA072273111}">
      <dsp:nvSpPr>
        <dsp:cNvPr id="0" name=""/>
        <dsp:cNvSpPr/>
      </dsp:nvSpPr>
      <dsp:spPr>
        <a:xfrm>
          <a:off x="133" y="1215"/>
          <a:ext cx="1016590" cy="80221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latin typeface="Calibri" pitchFamily="34" charset="0"/>
              <a:cs typeface="Calibri" pitchFamily="34" charset="0"/>
            </a:rPr>
            <a:t>Объемы продаж</a:t>
          </a:r>
          <a:endParaRPr lang="ru-RU" sz="1400" b="1" kern="1200" dirty="0">
            <a:latin typeface="Calibri" pitchFamily="34" charset="0"/>
            <a:cs typeface="Calibri" pitchFamily="34" charset="0"/>
          </a:endParaRPr>
        </a:p>
      </dsp:txBody>
      <dsp:txXfrm>
        <a:off x="39294" y="40376"/>
        <a:ext cx="938268" cy="723890"/>
      </dsp:txXfrm>
    </dsp:sp>
    <dsp:sp modelId="{CC918FF1-055C-4ADB-BF05-9F16C6F4A59E}">
      <dsp:nvSpPr>
        <dsp:cNvPr id="0" name=""/>
        <dsp:cNvSpPr/>
      </dsp:nvSpPr>
      <dsp:spPr>
        <a:xfrm rot="5400000">
          <a:off x="2524327" y="322322"/>
          <a:ext cx="552756" cy="3533101"/>
        </a:xfrm>
        <a:prstGeom prst="round2Same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Рост</a:t>
          </a:r>
          <a:r>
            <a:rPr lang="ru-RU" sz="1200" kern="1200" dirty="0" smtClean="0">
              <a:latin typeface="Calibri" pitchFamily="34" charset="0"/>
              <a:cs typeface="Calibri" pitchFamily="34" charset="0"/>
            </a:rPr>
            <a:t>: проценты по кредитам </a:t>
          </a:r>
          <a:endParaRPr lang="ru-RU" sz="12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034155" y="1839478"/>
        <a:ext cx="3506118" cy="498790"/>
      </dsp:txXfrm>
    </dsp:sp>
    <dsp:sp modelId="{4EC2030A-71C8-42E9-9649-9BB6D848027A}">
      <dsp:nvSpPr>
        <dsp:cNvPr id="0" name=""/>
        <dsp:cNvSpPr/>
      </dsp:nvSpPr>
      <dsp:spPr>
        <a:xfrm>
          <a:off x="0" y="1683895"/>
          <a:ext cx="1034155" cy="802212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latin typeface="Calibri" pitchFamily="34" charset="0"/>
              <a:cs typeface="Calibri" pitchFamily="34" charset="0"/>
            </a:rPr>
            <a:t>Финансовая политика </a:t>
          </a:r>
          <a:endParaRPr lang="ru-RU" sz="1200" b="1" kern="1200" dirty="0">
            <a:latin typeface="Calibri" pitchFamily="34" charset="0"/>
            <a:cs typeface="Calibri" pitchFamily="34" charset="0"/>
          </a:endParaRPr>
        </a:p>
      </dsp:txBody>
      <dsp:txXfrm>
        <a:off x="39161" y="1723056"/>
        <a:ext cx="955833" cy="723890"/>
      </dsp:txXfrm>
    </dsp:sp>
    <dsp:sp modelId="{E5E92E86-512F-4C3F-8BC8-02247422C745}">
      <dsp:nvSpPr>
        <dsp:cNvPr id="0" name=""/>
        <dsp:cNvSpPr/>
      </dsp:nvSpPr>
      <dsp:spPr>
        <a:xfrm rot="5400000">
          <a:off x="2497150" y="-552055"/>
          <a:ext cx="575821" cy="3573876"/>
        </a:xfrm>
        <a:prstGeom prst="round2Same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Рост: </a:t>
          </a:r>
          <a:r>
            <a:rPr lang="ru-RU" sz="1200" kern="12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rPr>
            <a:t>стоимости сырья, зарплат,  коммунальных услуг, накладных расходов</a:t>
          </a:r>
          <a:endParaRPr lang="ru-RU" sz="1200" b="1" kern="1200" dirty="0">
            <a:solidFill>
              <a:schemeClr val="tx1"/>
            </a:solidFill>
            <a:latin typeface="Calibri" pitchFamily="34" charset="0"/>
            <a:cs typeface="Calibri" pitchFamily="34" charset="0"/>
          </a:endParaRPr>
        </a:p>
      </dsp:txBody>
      <dsp:txXfrm rot="-5400000">
        <a:off x="998123" y="975081"/>
        <a:ext cx="3545767" cy="519603"/>
      </dsp:txXfrm>
    </dsp:sp>
    <dsp:sp modelId="{A0115A74-46A3-49D1-9770-345C9CB3D954}">
      <dsp:nvSpPr>
        <dsp:cNvPr id="0" name=""/>
        <dsp:cNvSpPr/>
      </dsp:nvSpPr>
      <dsp:spPr>
        <a:xfrm>
          <a:off x="21040" y="831015"/>
          <a:ext cx="997857" cy="802212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latin typeface="Calibri" pitchFamily="34" charset="0"/>
              <a:cs typeface="Calibri" pitchFamily="34" charset="0"/>
            </a:rPr>
            <a:t>Затраты</a:t>
          </a:r>
          <a:endParaRPr lang="ru-RU" sz="1400" b="1" kern="1200" dirty="0">
            <a:latin typeface="Calibri" pitchFamily="34" charset="0"/>
            <a:cs typeface="Calibri" pitchFamily="34" charset="0"/>
          </a:endParaRPr>
        </a:p>
      </dsp:txBody>
      <dsp:txXfrm>
        <a:off x="60201" y="870176"/>
        <a:ext cx="919535" cy="7238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CE516-55DF-4531-9805-0C36E9BF0CD5}">
      <dsp:nvSpPr>
        <dsp:cNvPr id="0" name=""/>
        <dsp:cNvSpPr/>
      </dsp:nvSpPr>
      <dsp:spPr>
        <a:xfrm rot="5400000">
          <a:off x="2574137" y="-1474425"/>
          <a:ext cx="351570" cy="355969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100" kern="1200" dirty="0" smtClean="0">
              <a:latin typeface="Calibri" pitchFamily="34" charset="0"/>
              <a:cs typeface="Calibri" pitchFamily="34" charset="0"/>
            </a:rPr>
            <a:t>: компания терпит убытки </a:t>
          </a:r>
          <a:endParaRPr lang="ru-RU" sz="1100" kern="1200" dirty="0">
            <a:latin typeface="Calibri" pitchFamily="34" charset="0"/>
            <a:cs typeface="Calibri" pitchFamily="34" charset="0"/>
          </a:endParaRPr>
        </a:p>
      </dsp:txBody>
      <dsp:txXfrm rot="-5400000">
        <a:off x="970075" y="146799"/>
        <a:ext cx="3542532" cy="317246"/>
      </dsp:txXfrm>
    </dsp:sp>
    <dsp:sp modelId="{597E0FF4-2369-490C-8997-7BA072273111}">
      <dsp:nvSpPr>
        <dsp:cNvPr id="0" name=""/>
        <dsp:cNvSpPr/>
      </dsp:nvSpPr>
      <dsp:spPr>
        <a:xfrm>
          <a:off x="73" y="1092"/>
          <a:ext cx="970002" cy="72093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latin typeface="Calibri" pitchFamily="34" charset="0"/>
              <a:cs typeface="Calibri" pitchFamily="34" charset="0"/>
            </a:rPr>
            <a:t>Величина собственных средств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>
        <a:off x="35266" y="36285"/>
        <a:ext cx="899616" cy="650553"/>
      </dsp:txXfrm>
    </dsp:sp>
    <dsp:sp modelId="{CC918FF1-055C-4ADB-BF05-9F16C6F4A59E}">
      <dsp:nvSpPr>
        <dsp:cNvPr id="0" name=""/>
        <dsp:cNvSpPr/>
      </dsp:nvSpPr>
      <dsp:spPr>
        <a:xfrm rot="5400000">
          <a:off x="2478300" y="93066"/>
          <a:ext cx="539868" cy="3568362"/>
        </a:xfrm>
        <a:prstGeom prst="round2Same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100" kern="1200" dirty="0" smtClean="0">
              <a:latin typeface="Calibri" pitchFamily="34" charset="0"/>
              <a:cs typeface="Calibri" pitchFamily="34" charset="0"/>
            </a:rPr>
            <a:t>: увеличение доли «более дорогих» источников финансирования (отрицательный финансовый рычаг)</a:t>
          </a:r>
          <a:endParaRPr lang="ru-RU" sz="1100" kern="1200" dirty="0">
            <a:latin typeface="Calibri" pitchFamily="34" charset="0"/>
            <a:cs typeface="Calibri" pitchFamily="34" charset="0"/>
          </a:endParaRPr>
        </a:p>
      </dsp:txBody>
      <dsp:txXfrm rot="-5400000">
        <a:off x="964053" y="1633667"/>
        <a:ext cx="3542008" cy="487160"/>
      </dsp:txXfrm>
    </dsp:sp>
    <dsp:sp modelId="{4EC2030A-71C8-42E9-9649-9BB6D848027A}">
      <dsp:nvSpPr>
        <dsp:cNvPr id="0" name=""/>
        <dsp:cNvSpPr/>
      </dsp:nvSpPr>
      <dsp:spPr>
        <a:xfrm>
          <a:off x="0" y="1513298"/>
          <a:ext cx="964127" cy="720939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latin typeface="Calibri" pitchFamily="34" charset="0"/>
              <a:cs typeface="Calibri" pitchFamily="34" charset="0"/>
            </a:rPr>
            <a:t>Финансовая политика 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>
        <a:off x="35193" y="1548491"/>
        <a:ext cx="893741" cy="650553"/>
      </dsp:txXfrm>
    </dsp:sp>
    <dsp:sp modelId="{E5E92E86-512F-4C3F-8BC8-02247422C745}">
      <dsp:nvSpPr>
        <dsp:cNvPr id="0" name=""/>
        <dsp:cNvSpPr/>
      </dsp:nvSpPr>
      <dsp:spPr>
        <a:xfrm rot="5400000">
          <a:off x="2503767" y="-673428"/>
          <a:ext cx="467197" cy="3587438"/>
        </a:xfrm>
        <a:prstGeom prst="round2Same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Снижение: </a:t>
          </a:r>
          <a:r>
            <a:rPr lang="ru-RU" sz="1100" kern="12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rPr>
            <a:t>оборачиваемости активов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 rot="-5400000">
        <a:off x="943647" y="909499"/>
        <a:ext cx="3564631" cy="421583"/>
      </dsp:txXfrm>
    </dsp:sp>
    <dsp:sp modelId="{A0115A74-46A3-49D1-9770-345C9CB3D954}">
      <dsp:nvSpPr>
        <dsp:cNvPr id="0" name=""/>
        <dsp:cNvSpPr/>
      </dsp:nvSpPr>
      <dsp:spPr>
        <a:xfrm>
          <a:off x="14882" y="746824"/>
          <a:ext cx="942962" cy="720939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latin typeface="Calibri" pitchFamily="34" charset="0"/>
              <a:cs typeface="Calibri" pitchFamily="34" charset="0"/>
            </a:rPr>
            <a:t>Принципы управления оборотным капиталом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>
        <a:off x="50075" y="782017"/>
        <a:ext cx="872576" cy="6505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CE516-55DF-4531-9805-0C36E9BF0CD5}">
      <dsp:nvSpPr>
        <dsp:cNvPr id="0" name=""/>
        <dsp:cNvSpPr/>
      </dsp:nvSpPr>
      <dsp:spPr>
        <a:xfrm rot="5400000">
          <a:off x="2351357" y="-1291602"/>
          <a:ext cx="496591" cy="3415081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0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000" kern="1200" dirty="0" smtClean="0">
              <a:latin typeface="Calibri" pitchFamily="34" charset="0"/>
              <a:cs typeface="Calibri" pitchFamily="34" charset="0"/>
            </a:rPr>
            <a:t>: компания терпит убытки </a:t>
          </a:r>
          <a:endParaRPr lang="ru-RU" sz="1000" kern="1200" dirty="0">
            <a:latin typeface="Calibri" pitchFamily="34" charset="0"/>
            <a:cs typeface="Calibri" pitchFamily="34" charset="0"/>
          </a:endParaRPr>
        </a:p>
      </dsp:txBody>
      <dsp:txXfrm rot="-5400000">
        <a:off x="892112" y="191885"/>
        <a:ext cx="3390839" cy="448107"/>
      </dsp:txXfrm>
    </dsp:sp>
    <dsp:sp modelId="{597E0FF4-2369-490C-8997-7BA072273111}">
      <dsp:nvSpPr>
        <dsp:cNvPr id="0" name=""/>
        <dsp:cNvSpPr/>
      </dsp:nvSpPr>
      <dsp:spPr>
        <a:xfrm>
          <a:off x="0" y="0"/>
          <a:ext cx="1098449" cy="8244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b="1" kern="1200" dirty="0" smtClean="0">
              <a:latin typeface="Calibri" pitchFamily="34" charset="0"/>
              <a:cs typeface="Calibri" pitchFamily="34" charset="0"/>
            </a:rPr>
            <a:t>Величина собственных средств</a:t>
          </a:r>
          <a:endParaRPr lang="ru-RU" sz="1000" b="1" kern="1200" dirty="0">
            <a:latin typeface="Calibri" pitchFamily="34" charset="0"/>
            <a:cs typeface="Calibri" pitchFamily="34" charset="0"/>
          </a:endParaRPr>
        </a:p>
      </dsp:txBody>
      <dsp:txXfrm>
        <a:off x="40245" y="40245"/>
        <a:ext cx="1017959" cy="743941"/>
      </dsp:txXfrm>
    </dsp:sp>
    <dsp:sp modelId="{CC918FF1-055C-4ADB-BF05-9F16C6F4A59E}">
      <dsp:nvSpPr>
        <dsp:cNvPr id="0" name=""/>
        <dsp:cNvSpPr/>
      </dsp:nvSpPr>
      <dsp:spPr>
        <a:xfrm rot="5400000">
          <a:off x="2334528" y="-420247"/>
          <a:ext cx="606484" cy="3340030"/>
        </a:xfrm>
        <a:prstGeom prst="round2Same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0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</a:t>
          </a:r>
          <a:r>
            <a:rPr lang="ru-RU" sz="1000" kern="1200" dirty="0" smtClean="0">
              <a:latin typeface="Calibri" pitchFamily="34" charset="0"/>
              <a:cs typeface="Calibri" pitchFamily="34" charset="0"/>
            </a:rPr>
            <a:t>: </a:t>
          </a:r>
          <a:r>
            <a:rPr lang="ru-RU" sz="1000" kern="1200" dirty="0" smtClean="0">
              <a:latin typeface="Calibri" pitchFamily="34" charset="0"/>
              <a:cs typeface="Calibri" pitchFamily="34" charset="0"/>
            </a:rPr>
            <a:t>инвестиционная программа,  </a:t>
          </a:r>
          <a:r>
            <a:rPr lang="ru-RU" sz="1000" kern="1200" dirty="0" smtClean="0">
              <a:latin typeface="Calibri" pitchFamily="34" charset="0"/>
              <a:cs typeface="Calibri" pitchFamily="34" charset="0"/>
            </a:rPr>
            <a:t>превышающая  финансовые возможности компании – опережающий рост заемного капитала</a:t>
          </a:r>
          <a:endParaRPr lang="ru-RU" sz="1000" kern="1200" dirty="0">
            <a:latin typeface="Calibri" pitchFamily="34" charset="0"/>
            <a:cs typeface="Calibri" pitchFamily="34" charset="0"/>
          </a:endParaRPr>
        </a:p>
      </dsp:txBody>
      <dsp:txXfrm rot="-5400000">
        <a:off x="967755" y="976132"/>
        <a:ext cx="3310424" cy="547272"/>
      </dsp:txXfrm>
    </dsp:sp>
    <dsp:sp modelId="{4EC2030A-71C8-42E9-9649-9BB6D848027A}">
      <dsp:nvSpPr>
        <dsp:cNvPr id="0" name=""/>
        <dsp:cNvSpPr/>
      </dsp:nvSpPr>
      <dsp:spPr>
        <a:xfrm>
          <a:off x="0" y="840182"/>
          <a:ext cx="1112538" cy="824431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b="1" kern="1200" dirty="0" smtClean="0">
              <a:latin typeface="Calibri" pitchFamily="34" charset="0"/>
              <a:cs typeface="Calibri" pitchFamily="34" charset="0"/>
            </a:rPr>
            <a:t>Инвестиционная программа </a:t>
          </a:r>
          <a:endParaRPr lang="ru-RU" sz="1000" b="1" kern="1200" dirty="0">
            <a:latin typeface="Calibri" pitchFamily="34" charset="0"/>
            <a:cs typeface="Calibri" pitchFamily="34" charset="0"/>
          </a:endParaRPr>
        </a:p>
      </dsp:txBody>
      <dsp:txXfrm>
        <a:off x="40245" y="880427"/>
        <a:ext cx="1032048" cy="743941"/>
      </dsp:txXfrm>
    </dsp:sp>
    <dsp:sp modelId="{6E941D25-13DC-46B1-B067-A480AB8ACA61}">
      <dsp:nvSpPr>
        <dsp:cNvPr id="0" name=""/>
        <dsp:cNvSpPr/>
      </dsp:nvSpPr>
      <dsp:spPr>
        <a:xfrm rot="5400000">
          <a:off x="2320789" y="451319"/>
          <a:ext cx="576013" cy="3420339"/>
        </a:xfrm>
        <a:prstGeom prst="round2Same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000" kern="120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rPr>
            <a:t>Снижение: </a:t>
          </a:r>
          <a:r>
            <a:rPr lang="ru-RU" sz="1000" kern="12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rPr>
            <a:t>опережающий рост обязательств по отношению к активам (например, изменение условий закупки материалов в сторону увеличения кредиторской задолженности) </a:t>
          </a:r>
          <a:endParaRPr lang="ru-RU" sz="1000" b="1" kern="1200" dirty="0">
            <a:latin typeface="Calibri" pitchFamily="34" charset="0"/>
            <a:cs typeface="Calibri" pitchFamily="34" charset="0"/>
          </a:endParaRPr>
        </a:p>
      </dsp:txBody>
      <dsp:txXfrm rot="-5400000">
        <a:off x="898627" y="1901601"/>
        <a:ext cx="3392220" cy="519775"/>
      </dsp:txXfrm>
    </dsp:sp>
    <dsp:sp modelId="{A0115A74-46A3-49D1-9770-345C9CB3D954}">
      <dsp:nvSpPr>
        <dsp:cNvPr id="0" name=""/>
        <dsp:cNvSpPr/>
      </dsp:nvSpPr>
      <dsp:spPr>
        <a:xfrm>
          <a:off x="0" y="1733803"/>
          <a:ext cx="1115017" cy="824431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b="1" kern="1200" dirty="0" smtClean="0">
              <a:latin typeface="Calibri" pitchFamily="34" charset="0"/>
              <a:cs typeface="Calibri" pitchFamily="34" charset="0"/>
            </a:rPr>
            <a:t>Принципы управления оборотным капиталом</a:t>
          </a:r>
          <a:endParaRPr lang="ru-RU" sz="1000" b="1" kern="1200" dirty="0">
            <a:latin typeface="Calibri" pitchFamily="34" charset="0"/>
            <a:cs typeface="Calibri" pitchFamily="34" charset="0"/>
          </a:endParaRPr>
        </a:p>
      </dsp:txBody>
      <dsp:txXfrm>
        <a:off x="40245" y="1774048"/>
        <a:ext cx="1034527" cy="7439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CE516-55DF-4531-9805-0C36E9BF0CD5}">
      <dsp:nvSpPr>
        <dsp:cNvPr id="0" name=""/>
        <dsp:cNvSpPr/>
      </dsp:nvSpPr>
      <dsp:spPr>
        <a:xfrm rot="5400000">
          <a:off x="2654149" y="-1337540"/>
          <a:ext cx="416507" cy="3293821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Calibri" pitchFamily="34" charset="0"/>
              <a:cs typeface="Calibri" pitchFamily="34" charset="0"/>
            </a:rPr>
            <a:t>Снижение: компания терпит убытки </a:t>
          </a:r>
          <a:endParaRPr lang="ru-RU" sz="11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215492" y="121449"/>
        <a:ext cx="3273489" cy="375843"/>
      </dsp:txXfrm>
    </dsp:sp>
    <dsp:sp modelId="{597E0FF4-2369-490C-8997-7BA072273111}">
      <dsp:nvSpPr>
        <dsp:cNvPr id="0" name=""/>
        <dsp:cNvSpPr/>
      </dsp:nvSpPr>
      <dsp:spPr>
        <a:xfrm>
          <a:off x="15" y="1281"/>
          <a:ext cx="1215476" cy="6161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latin typeface="Calibri" pitchFamily="34" charset="0"/>
              <a:cs typeface="Calibri" pitchFamily="34" charset="0"/>
            </a:rPr>
            <a:t>Величина собственных средств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>
        <a:off x="30094" y="31360"/>
        <a:ext cx="1155318" cy="556020"/>
      </dsp:txXfrm>
    </dsp:sp>
    <dsp:sp modelId="{CC918FF1-055C-4ADB-BF05-9F16C6F4A59E}">
      <dsp:nvSpPr>
        <dsp:cNvPr id="0" name=""/>
        <dsp:cNvSpPr/>
      </dsp:nvSpPr>
      <dsp:spPr>
        <a:xfrm rot="5400000">
          <a:off x="2636186" y="-694657"/>
          <a:ext cx="449351" cy="3300472"/>
        </a:xfrm>
        <a:prstGeom prst="round2SameRect">
          <a:avLst/>
        </a:prstGeom>
        <a:solidFill>
          <a:schemeClr val="accent4">
            <a:tint val="40000"/>
            <a:alpha val="90000"/>
            <a:hueOff val="-1315235"/>
            <a:satOff val="7386"/>
            <a:lumOff val="469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315235"/>
              <a:satOff val="7386"/>
              <a:lumOff val="4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Calibri" pitchFamily="34" charset="0"/>
              <a:cs typeface="Calibri" pitchFamily="34" charset="0"/>
            </a:rPr>
            <a:t>Снижение: инвестиционная программа,  превышающая  финансовые возможности компании</a:t>
          </a:r>
          <a:endParaRPr lang="ru-RU" sz="11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210626" y="752839"/>
        <a:ext cx="3278536" cy="405479"/>
      </dsp:txXfrm>
    </dsp:sp>
    <dsp:sp modelId="{4EC2030A-71C8-42E9-9649-9BB6D848027A}">
      <dsp:nvSpPr>
        <dsp:cNvPr id="0" name=""/>
        <dsp:cNvSpPr/>
      </dsp:nvSpPr>
      <dsp:spPr>
        <a:xfrm>
          <a:off x="15" y="648268"/>
          <a:ext cx="1210320" cy="616178"/>
        </a:xfrm>
        <a:prstGeom prst="round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latin typeface="Calibri" pitchFamily="34" charset="0"/>
              <a:cs typeface="Calibri" pitchFamily="34" charset="0"/>
            </a:rPr>
            <a:t>Инвестиционная программа 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>
        <a:off x="30094" y="678347"/>
        <a:ext cx="1150162" cy="556020"/>
      </dsp:txXfrm>
    </dsp:sp>
    <dsp:sp modelId="{8F439596-A4CD-4B4B-A0F5-79EFA4F4A6B8}">
      <dsp:nvSpPr>
        <dsp:cNvPr id="0" name=""/>
        <dsp:cNvSpPr/>
      </dsp:nvSpPr>
      <dsp:spPr>
        <a:xfrm rot="5400000">
          <a:off x="2693474" y="-39429"/>
          <a:ext cx="352089" cy="3285549"/>
        </a:xfrm>
        <a:prstGeom prst="round2SameRect">
          <a:avLst/>
        </a:prstGeom>
        <a:solidFill>
          <a:schemeClr val="accent4">
            <a:tint val="40000"/>
            <a:alpha val="90000"/>
            <a:hueOff val="-2630471"/>
            <a:satOff val="14771"/>
            <a:lumOff val="939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630471"/>
              <a:satOff val="14771"/>
              <a:lumOff val="9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Calibri" pitchFamily="34" charset="0"/>
              <a:cs typeface="Calibri" pitchFamily="34" charset="0"/>
            </a:rPr>
            <a:t>Снижение: финансирование инвестиций за счет краткосрочных займов </a:t>
          </a:r>
          <a:endParaRPr lang="ru-RU" sz="11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226744" y="1444489"/>
        <a:ext cx="3268361" cy="317713"/>
      </dsp:txXfrm>
    </dsp:sp>
    <dsp:sp modelId="{E74139BD-E8F9-43D5-9A48-0D5CA3845600}">
      <dsp:nvSpPr>
        <dsp:cNvPr id="0" name=""/>
        <dsp:cNvSpPr/>
      </dsp:nvSpPr>
      <dsp:spPr>
        <a:xfrm>
          <a:off x="15" y="1295255"/>
          <a:ext cx="1226729" cy="616178"/>
        </a:xfrm>
        <a:prstGeom prst="round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latin typeface="Calibri" pitchFamily="34" charset="0"/>
              <a:cs typeface="Calibri" pitchFamily="34" charset="0"/>
            </a:rPr>
            <a:t>Финансовая политика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>
        <a:off x="30094" y="1325334"/>
        <a:ext cx="1166571" cy="556020"/>
      </dsp:txXfrm>
    </dsp:sp>
    <dsp:sp modelId="{7B30B7BF-A1BA-4814-9957-63DC2C141D8B}">
      <dsp:nvSpPr>
        <dsp:cNvPr id="0" name=""/>
        <dsp:cNvSpPr/>
      </dsp:nvSpPr>
      <dsp:spPr>
        <a:xfrm rot="5400000">
          <a:off x="2638115" y="606924"/>
          <a:ext cx="459156" cy="3286815"/>
        </a:xfrm>
        <a:prstGeom prst="round2Same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100" kern="1200" dirty="0" smtClean="0">
              <a:latin typeface="Calibri" pitchFamily="34" charset="0"/>
              <a:cs typeface="Calibri" pitchFamily="34" charset="0"/>
            </a:rPr>
            <a:t>Снижение: рост оборотных активов, профинансированных полностью краткосрочными обязательствами  </a:t>
          </a:r>
          <a:endParaRPr lang="ru-RU" sz="1100" kern="1200" dirty="0"/>
        </a:p>
      </dsp:txBody>
      <dsp:txXfrm rot="-5400000">
        <a:off x="1224286" y="2043167"/>
        <a:ext cx="3264401" cy="414328"/>
      </dsp:txXfrm>
    </dsp:sp>
    <dsp:sp modelId="{A0115A74-46A3-49D1-9770-345C9CB3D954}">
      <dsp:nvSpPr>
        <dsp:cNvPr id="0" name=""/>
        <dsp:cNvSpPr/>
      </dsp:nvSpPr>
      <dsp:spPr>
        <a:xfrm>
          <a:off x="0" y="1942459"/>
          <a:ext cx="1224269" cy="616178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1" kern="1200" dirty="0" smtClean="0">
              <a:latin typeface="Calibri" pitchFamily="34" charset="0"/>
              <a:cs typeface="Calibri" pitchFamily="34" charset="0"/>
            </a:rPr>
            <a:t>Принципы управления оборотным капиталом</a:t>
          </a:r>
          <a:endParaRPr lang="ru-RU" sz="1100" b="1" kern="1200" dirty="0">
            <a:latin typeface="Calibri" pitchFamily="34" charset="0"/>
            <a:cs typeface="Calibri" pitchFamily="34" charset="0"/>
          </a:endParaRPr>
        </a:p>
      </dsp:txBody>
      <dsp:txXfrm>
        <a:off x="30079" y="1972538"/>
        <a:ext cx="1164111" cy="5560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E237D-18F7-42AF-B12B-361F43A55B5C}">
      <dsp:nvSpPr>
        <dsp:cNvPr id="0" name=""/>
        <dsp:cNvSpPr/>
      </dsp:nvSpPr>
      <dsp:spPr>
        <a:xfrm rot="5400000">
          <a:off x="2406810" y="-684501"/>
          <a:ext cx="564137" cy="311471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kumimoji="1" lang="ru-RU" sz="1200" kern="1200" dirty="0" smtClean="0">
              <a:latin typeface="Calibri" pitchFamily="34" charset="0"/>
              <a:cs typeface="Calibri" pitchFamily="34" charset="0"/>
            </a:rPr>
            <a:t>Снижение рентабельности капитала</a:t>
          </a:r>
          <a:endParaRPr lang="ru-RU" sz="1200" kern="1200" dirty="0">
            <a:latin typeface="Calibri" pitchFamily="34" charset="0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>
              <a:latin typeface="Calibri" pitchFamily="34" charset="0"/>
              <a:cs typeface="Calibri" pitchFamily="34" charset="0"/>
            </a:rPr>
            <a:t>Снижение финансовой устойчивости</a:t>
          </a:r>
          <a:endParaRPr lang="ru-RU" sz="1200" kern="1200" dirty="0">
            <a:latin typeface="Calibri" pitchFamily="34" charset="0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>
              <a:latin typeface="Calibri" pitchFamily="34" charset="0"/>
              <a:cs typeface="Calibri" pitchFamily="34" charset="0"/>
            </a:rPr>
            <a:t>Снижение общей ликвидности </a:t>
          </a:r>
          <a:endParaRPr lang="ru-RU" sz="12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131520" y="618328"/>
        <a:ext cx="3087179" cy="509059"/>
      </dsp:txXfrm>
    </dsp:sp>
    <dsp:sp modelId="{BFCF4185-3DCB-4BF5-BE91-AC00818672F2}">
      <dsp:nvSpPr>
        <dsp:cNvPr id="0" name=""/>
        <dsp:cNvSpPr/>
      </dsp:nvSpPr>
      <dsp:spPr>
        <a:xfrm>
          <a:off x="0" y="445451"/>
          <a:ext cx="1364197" cy="879737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dirty="0" smtClean="0">
              <a:latin typeface="Calibri" pitchFamily="34" charset="0"/>
              <a:cs typeface="Calibri" pitchFamily="34" charset="0"/>
            </a:rPr>
            <a:t>Рост «операционного цикла»</a:t>
          </a:r>
          <a:endParaRPr lang="ru-RU" sz="1200" b="1" kern="1200" dirty="0">
            <a:latin typeface="Calibri" pitchFamily="34" charset="0"/>
            <a:cs typeface="Calibri" pitchFamily="34" charset="0"/>
          </a:endParaRPr>
        </a:p>
      </dsp:txBody>
      <dsp:txXfrm>
        <a:off x="42945" y="488396"/>
        <a:ext cx="1278307" cy="793847"/>
      </dsp:txXfrm>
    </dsp:sp>
    <dsp:sp modelId="{97B75B56-718C-45A3-84BA-BA4DE8459A5C}">
      <dsp:nvSpPr>
        <dsp:cNvPr id="0" name=""/>
        <dsp:cNvSpPr/>
      </dsp:nvSpPr>
      <dsp:spPr>
        <a:xfrm rot="5400000">
          <a:off x="2474327" y="298760"/>
          <a:ext cx="536644" cy="311700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kumimoji="1" lang="ru-RU" sz="1200" kern="1200" dirty="0" smtClean="0">
              <a:latin typeface="Calibri" pitchFamily="34" charset="0"/>
              <a:cs typeface="Calibri" pitchFamily="34" charset="0"/>
            </a:rPr>
            <a:t>Снижение коэффициента абсолютной ликвидности</a:t>
          </a:r>
          <a:endParaRPr lang="ru-RU" sz="1200" kern="1200" dirty="0">
            <a:latin typeface="Calibri" pitchFamily="34" charset="0"/>
            <a:cs typeface="Calibri" pitchFamily="34" charset="0"/>
          </a:endParaRPr>
        </a:p>
      </dsp:txBody>
      <dsp:txXfrm rot="-5400000">
        <a:off x="1184147" y="1615138"/>
        <a:ext cx="3090808" cy="484250"/>
      </dsp:txXfrm>
    </dsp:sp>
    <dsp:sp modelId="{24B8EA97-FFCA-4D8F-9919-994E8DC62847}">
      <dsp:nvSpPr>
        <dsp:cNvPr id="0" name=""/>
        <dsp:cNvSpPr/>
      </dsp:nvSpPr>
      <dsp:spPr>
        <a:xfrm>
          <a:off x="0" y="1461781"/>
          <a:ext cx="1362571" cy="823843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>
              <a:latin typeface="Calibri" pitchFamily="34" charset="0"/>
              <a:cs typeface="Calibri" pitchFamily="34" charset="0"/>
            </a:rPr>
            <a:t>Рост </a:t>
          </a:r>
          <a:br>
            <a:rPr lang="ru-RU" sz="1200" b="1" kern="1200" smtClean="0">
              <a:latin typeface="Calibri" pitchFamily="34" charset="0"/>
              <a:cs typeface="Calibri" pitchFamily="34" charset="0"/>
            </a:rPr>
          </a:br>
          <a:r>
            <a:rPr lang="ru-RU" sz="1200" b="1" kern="1200" smtClean="0">
              <a:latin typeface="Calibri" pitchFamily="34" charset="0"/>
              <a:cs typeface="Calibri" pitchFamily="34" charset="0"/>
            </a:rPr>
            <a:t>«</a:t>
          </a:r>
          <a:r>
            <a:rPr lang="ru-RU" sz="1200" b="1" kern="1200" dirty="0" smtClean="0">
              <a:latin typeface="Calibri" pitchFamily="34" charset="0"/>
              <a:cs typeface="Calibri" pitchFamily="34" charset="0"/>
            </a:rPr>
            <a:t>чистого цикла»</a:t>
          </a:r>
          <a:endParaRPr lang="ru-RU" sz="1200" b="1" kern="1200" dirty="0">
            <a:latin typeface="Calibri" pitchFamily="34" charset="0"/>
            <a:cs typeface="Calibri" pitchFamily="34" charset="0"/>
          </a:endParaRPr>
        </a:p>
      </dsp:txBody>
      <dsp:txXfrm>
        <a:off x="40217" y="1501998"/>
        <a:ext cx="1282137" cy="743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56560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4200" b="1" dirty="0" smtClean="0"/>
              <a:t>Комплексная оценка финансового состояния компании</a:t>
            </a:r>
            <a:endParaRPr lang="ru-RU" sz="4200" dirty="0"/>
          </a:p>
        </p:txBody>
      </p:sp>
      <p:sp>
        <p:nvSpPr>
          <p:cNvPr id="5" name="TextBox 4"/>
          <p:cNvSpPr txBox="1"/>
          <p:nvPr/>
        </p:nvSpPr>
        <p:spPr>
          <a:xfrm>
            <a:off x="1898947" y="3967987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Кольцова Ирина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sz="1400" dirty="0" smtClean="0"/>
              <a:t>директор по консалтингу группы компаний «Альт-Инвест»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885" y="3528434"/>
            <a:ext cx="932857" cy="96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153001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Основные направления анализа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541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2000" b="1" dirty="0"/>
              <a:t>Низкая прибыльность </a:t>
            </a:r>
            <a:endParaRPr lang="en-US" sz="20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9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192401256"/>
              </p:ext>
            </p:extLst>
          </p:nvPr>
        </p:nvGraphicFramePr>
        <p:xfrm>
          <a:off x="666118" y="1828800"/>
          <a:ext cx="4353999" cy="2385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16528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00028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Нерациональное </a:t>
            </a:r>
            <a:r>
              <a:rPr lang="ru-RU" sz="1800" b="1" dirty="0"/>
              <a:t>управление результатами деятельности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583483" y="1977483"/>
            <a:ext cx="1490920" cy="881964"/>
            <a:chOff x="0" y="163538"/>
            <a:chExt cx="2959762" cy="1440710"/>
          </a:xfrm>
        </p:grpSpPr>
        <p:sp>
          <p:nvSpPr>
            <p:cNvPr id="11" name="Скругленный прямоугольник 10"/>
            <p:cNvSpPr/>
            <p:nvPr/>
          </p:nvSpPr>
          <p:spPr>
            <a:xfrm>
              <a:off x="0" y="163538"/>
              <a:ext cx="2959762" cy="144071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Скругленный прямоугольник 6"/>
            <p:cNvSpPr/>
            <p:nvPr/>
          </p:nvSpPr>
          <p:spPr>
            <a:xfrm>
              <a:off x="70330" y="233868"/>
              <a:ext cx="2819102" cy="13000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Нерациональное управление оборотными средствами 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5" name="Группа 14"/>
          <p:cNvGrpSpPr/>
          <p:nvPr/>
        </p:nvGrpSpPr>
        <p:grpSpPr>
          <a:xfrm>
            <a:off x="1856390" y="2418465"/>
            <a:ext cx="1481328" cy="961524"/>
            <a:chOff x="0" y="1814683"/>
            <a:chExt cx="2962656" cy="961524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0" y="1814683"/>
              <a:ext cx="2962656" cy="96152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625132"/>
                <a:satOff val="-8440"/>
                <a:lumOff val="-1373"/>
                <a:alphaOff val="0"/>
              </a:schemeClr>
            </a:fillRef>
            <a:effectRef idx="0">
              <a:schemeClr val="accent3">
                <a:hueOff val="5625132"/>
                <a:satOff val="-8440"/>
                <a:lumOff val="-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Скругленный прямоугольник 6"/>
            <p:cNvSpPr/>
            <p:nvPr/>
          </p:nvSpPr>
          <p:spPr>
            <a:xfrm>
              <a:off x="46938" y="1861621"/>
              <a:ext cx="2868780" cy="8676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Нерациональная инвестиционная политика 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3209127" y="2816393"/>
            <a:ext cx="1634030" cy="1351000"/>
            <a:chOff x="0" y="2824284"/>
            <a:chExt cx="2959762" cy="1351000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0" y="2824284"/>
              <a:ext cx="2959762" cy="13510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50264"/>
                <a:satOff val="-16880"/>
                <a:lumOff val="-2745"/>
                <a:alphaOff val="0"/>
              </a:schemeClr>
            </a:fillRef>
            <a:effectRef idx="0">
              <a:schemeClr val="accent3">
                <a:hueOff val="11250264"/>
                <a:satOff val="-16880"/>
                <a:lumOff val="-274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6"/>
            <p:cNvSpPr/>
            <p:nvPr/>
          </p:nvSpPr>
          <p:spPr>
            <a:xfrm>
              <a:off x="65950" y="2890234"/>
              <a:ext cx="2827862" cy="12191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Нерациональное управление структурой источников финансирования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04435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Нерациональное </a:t>
            </a:r>
            <a:r>
              <a:rPr lang="ru-RU" sz="1800" b="1" dirty="0"/>
              <a:t>управление результатами деятельности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pSp>
        <p:nvGrpSpPr>
          <p:cNvPr id="8" name="Группа 7"/>
          <p:cNvGrpSpPr/>
          <p:nvPr/>
        </p:nvGrpSpPr>
        <p:grpSpPr>
          <a:xfrm>
            <a:off x="1810633" y="2124332"/>
            <a:ext cx="3463820" cy="1751271"/>
            <a:chOff x="2583192" y="1180"/>
            <a:chExt cx="5638370" cy="1765428"/>
          </a:xfrm>
        </p:grpSpPr>
        <p:sp>
          <p:nvSpPr>
            <p:cNvPr id="13" name="Прямоугольник с двумя скругленными соседними углами 12"/>
            <p:cNvSpPr/>
            <p:nvPr/>
          </p:nvSpPr>
          <p:spPr>
            <a:xfrm rot="5400000">
              <a:off x="4707948" y="-1747006"/>
              <a:ext cx="1765428" cy="5261800"/>
            </a:xfrm>
            <a:prstGeom prst="round2SameRect">
              <a:avLst/>
            </a:prstGeom>
          </p:spPr>
          <p:style>
            <a:ln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Прямоугольник 13"/>
            <p:cNvSpPr/>
            <p:nvPr/>
          </p:nvSpPr>
          <p:spPr>
            <a:xfrm>
              <a:off x="2583192" y="87360"/>
              <a:ext cx="5552191" cy="15930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200"/>
                </a:spcAft>
                <a:buChar char="••"/>
              </a:pPr>
              <a:r>
                <a:rPr lang="ru-RU" sz="1100" kern="1200" dirty="0" smtClean="0">
                  <a:latin typeface="Calibri" pitchFamily="34" charset="0"/>
                  <a:cs typeface="Calibri" pitchFamily="34" charset="0"/>
                </a:rPr>
                <a:t>Необоснованные закупки материалов на длительный срок</a:t>
              </a:r>
              <a:endParaRPr lang="ru-RU" sz="1100" kern="1200" dirty="0">
                <a:latin typeface="Calibri" pitchFamily="34" charset="0"/>
                <a:cs typeface="Calibri" pitchFamily="34" charset="0"/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200"/>
                </a:spcAft>
                <a:buChar char="••"/>
              </a:pPr>
              <a:r>
                <a:rPr lang="ru-RU" sz="1100" kern="1200" dirty="0" smtClean="0">
                  <a:latin typeface="Calibri" pitchFamily="34" charset="0"/>
                  <a:cs typeface="Calibri" pitchFamily="34" charset="0"/>
                </a:rPr>
                <a:t>Затоваривание склада готовой продукции</a:t>
              </a:r>
              <a:endParaRPr lang="ru-RU" sz="1100" kern="1200" dirty="0">
                <a:latin typeface="Calibri" pitchFamily="34" charset="0"/>
                <a:cs typeface="Calibri" pitchFamily="34" charset="0"/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200"/>
                </a:spcAft>
                <a:buChar char="••"/>
              </a:pPr>
              <a:r>
                <a:rPr lang="ru-RU" sz="1100" kern="1200" dirty="0" smtClean="0">
                  <a:latin typeface="Calibri" pitchFamily="34" charset="0"/>
                  <a:cs typeface="Calibri" pitchFamily="34" charset="0"/>
                </a:rPr>
                <a:t>Сбои в поставках комплектующих, срывы производства</a:t>
              </a:r>
              <a:endParaRPr lang="ru-RU" sz="1100" kern="1200" dirty="0">
                <a:latin typeface="Calibri" pitchFamily="34" charset="0"/>
                <a:cs typeface="Calibri" pitchFamily="34" charset="0"/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200"/>
                </a:spcAft>
                <a:buChar char="••"/>
              </a:pPr>
              <a:r>
                <a:rPr lang="ru-RU" sz="1100" kern="1200" dirty="0" smtClean="0">
                  <a:latin typeface="Calibri" pitchFamily="34" charset="0"/>
                  <a:cs typeface="Calibri" pitchFamily="34" charset="0"/>
                </a:rPr>
                <a:t>Невыгодные для предприятия условия покупки сырья, отгрузки материалов</a:t>
              </a:r>
              <a:endParaRPr lang="ru-RU" sz="11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532937" y="2480101"/>
            <a:ext cx="1490920" cy="881964"/>
            <a:chOff x="0" y="163538"/>
            <a:chExt cx="2959762" cy="1440710"/>
          </a:xfrm>
        </p:grpSpPr>
        <p:sp>
          <p:nvSpPr>
            <p:cNvPr id="11" name="Скругленный прямоугольник 10"/>
            <p:cNvSpPr/>
            <p:nvPr/>
          </p:nvSpPr>
          <p:spPr>
            <a:xfrm>
              <a:off x="0" y="163538"/>
              <a:ext cx="2959762" cy="144071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Скругленный прямоугольник 6"/>
            <p:cNvSpPr/>
            <p:nvPr/>
          </p:nvSpPr>
          <p:spPr>
            <a:xfrm>
              <a:off x="70330" y="233868"/>
              <a:ext cx="2819102" cy="13000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Нерациональное управление оборотными средствами 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8184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Нерациональное </a:t>
            </a:r>
            <a:r>
              <a:rPr lang="ru-RU" sz="1800" b="1" dirty="0"/>
              <a:t>управление результатами деятельности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pSp>
        <p:nvGrpSpPr>
          <p:cNvPr id="15" name="Группа 14"/>
          <p:cNvGrpSpPr/>
          <p:nvPr/>
        </p:nvGrpSpPr>
        <p:grpSpPr>
          <a:xfrm>
            <a:off x="2024537" y="2577475"/>
            <a:ext cx="3081589" cy="588368"/>
            <a:chOff x="2962655" y="2001263"/>
            <a:chExt cx="5266944" cy="588368"/>
          </a:xfrm>
        </p:grpSpPr>
        <p:sp>
          <p:nvSpPr>
            <p:cNvPr id="19" name="Прямоугольник с двумя скругленными соседними углами 18"/>
            <p:cNvSpPr/>
            <p:nvPr/>
          </p:nvSpPr>
          <p:spPr>
            <a:xfrm rot="5400000">
              <a:off x="5301943" y="-338025"/>
              <a:ext cx="588368" cy="5266944"/>
            </a:xfrm>
            <a:prstGeom prst="round2SameRect">
              <a:avLst/>
            </a:prstGeom>
          </p:spPr>
          <p:style>
            <a:lnRef idx="2">
              <a:schemeClr val="accent3">
                <a:tint val="40000"/>
                <a:alpha val="90000"/>
                <a:hueOff val="5358425"/>
                <a:satOff val="-6896"/>
                <a:lumOff val="-537"/>
                <a:alphaOff val="0"/>
              </a:schemeClr>
            </a:lnRef>
            <a:fillRef idx="1">
              <a:schemeClr val="accent3">
                <a:tint val="40000"/>
                <a:alpha val="90000"/>
                <a:hueOff val="5358425"/>
                <a:satOff val="-6896"/>
                <a:lumOff val="-537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5358425"/>
                <a:satOff val="-6896"/>
                <a:lumOff val="-537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Прямоугольник 19"/>
            <p:cNvSpPr/>
            <p:nvPr/>
          </p:nvSpPr>
          <p:spPr>
            <a:xfrm>
              <a:off x="2962655" y="2029985"/>
              <a:ext cx="5238222" cy="5309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Инвестиционная программа,  превышающая  финансовые возможности компании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583483" y="2385173"/>
            <a:ext cx="1481328" cy="961524"/>
            <a:chOff x="0" y="1814683"/>
            <a:chExt cx="2962656" cy="961524"/>
          </a:xfrm>
        </p:grpSpPr>
        <p:sp>
          <p:nvSpPr>
            <p:cNvPr id="17" name="Скругленный прямоугольник 16"/>
            <p:cNvSpPr/>
            <p:nvPr/>
          </p:nvSpPr>
          <p:spPr>
            <a:xfrm>
              <a:off x="0" y="1814683"/>
              <a:ext cx="2962656" cy="96152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625132"/>
                <a:satOff val="-8440"/>
                <a:lumOff val="-1373"/>
                <a:alphaOff val="0"/>
              </a:schemeClr>
            </a:fillRef>
            <a:effectRef idx="0">
              <a:schemeClr val="accent3">
                <a:hueOff val="5625132"/>
                <a:satOff val="-8440"/>
                <a:lumOff val="-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Скругленный прямоугольник 6"/>
            <p:cNvSpPr/>
            <p:nvPr/>
          </p:nvSpPr>
          <p:spPr>
            <a:xfrm>
              <a:off x="46938" y="1861621"/>
              <a:ext cx="2868780" cy="8676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Нерациональная инвестиционная политика 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20365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Нерациональное </a:t>
            </a:r>
            <a:r>
              <a:rPr lang="ru-RU" sz="1800" b="1" dirty="0"/>
              <a:t>управление результатами деятельности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2058838" y="2464640"/>
            <a:ext cx="3106614" cy="988543"/>
            <a:chOff x="2959763" y="3115174"/>
            <a:chExt cx="5261800" cy="769219"/>
          </a:xfrm>
        </p:grpSpPr>
        <p:sp>
          <p:nvSpPr>
            <p:cNvPr id="21" name="Прямоугольник с двумя скругленными соседними углами 20"/>
            <p:cNvSpPr/>
            <p:nvPr/>
          </p:nvSpPr>
          <p:spPr>
            <a:xfrm rot="5400000">
              <a:off x="5206053" y="868884"/>
              <a:ext cx="769219" cy="5261800"/>
            </a:xfrm>
            <a:prstGeom prst="round2SameRect">
              <a:avLst/>
            </a:prstGeom>
          </p:spPr>
          <p:style>
            <a:lnRef idx="2">
              <a:schemeClr val="accent3">
                <a:tint val="40000"/>
                <a:alpha val="90000"/>
                <a:hueOff val="10716850"/>
                <a:satOff val="-13793"/>
                <a:lumOff val="-1075"/>
                <a:alphaOff val="0"/>
              </a:schemeClr>
            </a:lnRef>
            <a:fillRef idx="1">
              <a:schemeClr val="accent3">
                <a:tint val="40000"/>
                <a:alpha val="90000"/>
                <a:hueOff val="10716850"/>
                <a:satOff val="-13793"/>
                <a:lumOff val="-1075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10716850"/>
                <a:satOff val="-13793"/>
                <a:lumOff val="-107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Прямоугольник 21"/>
            <p:cNvSpPr/>
            <p:nvPr/>
          </p:nvSpPr>
          <p:spPr>
            <a:xfrm>
              <a:off x="2959763" y="3197163"/>
              <a:ext cx="5224250" cy="6496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200"/>
                </a:spcAft>
                <a:buChar char="••"/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Использование дорогих источников финансирования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ts val="1200"/>
                </a:spcAft>
                <a:buChar char="••"/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Использование краткосрочных займов 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461218" y="2280860"/>
            <a:ext cx="1634030" cy="1351000"/>
            <a:chOff x="0" y="2824284"/>
            <a:chExt cx="2959762" cy="1351000"/>
          </a:xfrm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0" y="2824284"/>
              <a:ext cx="2959762" cy="13510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50264"/>
                <a:satOff val="-16880"/>
                <a:lumOff val="-2745"/>
                <a:alphaOff val="0"/>
              </a:schemeClr>
            </a:fillRef>
            <a:effectRef idx="0">
              <a:schemeClr val="accent3">
                <a:hueOff val="11250264"/>
                <a:satOff val="-16880"/>
                <a:lumOff val="-274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6"/>
            <p:cNvSpPr/>
            <p:nvPr/>
          </p:nvSpPr>
          <p:spPr>
            <a:xfrm>
              <a:off x="65950" y="2890234"/>
              <a:ext cx="2827862" cy="12191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30480" rIns="6096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200" kern="1200" dirty="0" smtClean="0">
                  <a:latin typeface="Calibri" pitchFamily="34" charset="0"/>
                  <a:cs typeface="Calibri" pitchFamily="34" charset="0"/>
                </a:rPr>
                <a:t>Нерациональное управление структурой источников финансирования</a:t>
              </a:r>
              <a:endParaRPr lang="ru-RU" sz="1200" kern="1200" dirty="0">
                <a:latin typeface="Calibri" pitchFamily="34" charset="0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13282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Основные направления анализа 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1293" y="1889147"/>
            <a:ext cx="4572000" cy="22775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Анализ эффективности </a:t>
            </a:r>
            <a:r>
              <a:rPr lang="ru-RU" sz="1600" dirty="0" smtClean="0"/>
              <a:t>деятельности/оценка вложений.</a:t>
            </a:r>
            <a:endParaRPr lang="ru-RU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Анализ финансовой </a:t>
            </a:r>
            <a:r>
              <a:rPr lang="ru-RU" sz="1600" dirty="0" smtClean="0"/>
              <a:t>устойчивости/долговой нагрузки.</a:t>
            </a:r>
            <a:endParaRPr lang="ru-RU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Анализ </a:t>
            </a:r>
            <a:r>
              <a:rPr lang="ru-RU" sz="1600" dirty="0" smtClean="0"/>
              <a:t>платежеспособности/дефицит </a:t>
            </a:r>
            <a:r>
              <a:rPr lang="ru-RU" sz="1600" dirty="0"/>
              <a:t>денежных </a:t>
            </a:r>
            <a:r>
              <a:rPr lang="ru-RU" sz="1600" dirty="0" smtClean="0"/>
              <a:t>средств.</a:t>
            </a:r>
            <a:endParaRPr lang="ru-RU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Анализ </a:t>
            </a:r>
            <a:r>
              <a:rPr lang="ru-RU" sz="1600" dirty="0" smtClean="0"/>
              <a:t>оборачиваемости.  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xmlns="" val="11816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Анализ эффективности</a:t>
            </a:r>
            <a:br>
              <a:rPr lang="ru-RU" sz="3600" b="1" dirty="0" smtClean="0"/>
            </a:br>
            <a:r>
              <a:rPr lang="ru-RU" sz="3600" b="1" dirty="0" smtClean="0"/>
              <a:t>(рентабельности)</a:t>
            </a:r>
            <a:br>
              <a:rPr lang="ru-RU" sz="3600" b="1" dirty="0" smtClean="0"/>
            </a:br>
            <a:r>
              <a:rPr lang="ru-RU" sz="3600" b="1" dirty="0" smtClean="0"/>
              <a:t>деятельности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432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Содержимое 2"/>
              <p:cNvSpPr txBox="1">
                <a:spLocks/>
              </p:cNvSpPr>
              <p:nvPr/>
            </p:nvSpPr>
            <p:spPr>
              <a:xfrm>
                <a:off x="647951" y="1541892"/>
                <a:ext cx="4699169" cy="2435819"/>
              </a:xfrm>
              <a:prstGeom prst="rect">
                <a:avLst/>
              </a:prstGeom>
            </p:spPr>
            <p:txBody>
              <a:bodyPr>
                <a:normAutofit fontScale="40000" lnSpcReduction="20000"/>
              </a:bodyPr>
              <a:lstStyle>
                <a:lvl1pPr marL="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ru-RU" sz="2500" b="1" dirty="0" smtClean="0">
                    <a:solidFill>
                      <a:schemeClr val="tx1"/>
                    </a:solidFill>
                    <a:cs typeface="Calibri" pitchFamily="34" charset="0"/>
                  </a:rPr>
                  <a:t>Рентабельность по валовой прибыли (</a:t>
                </a:r>
                <a:r>
                  <a:rPr lang="en-US" sz="2500" b="1" dirty="0">
                    <a:solidFill>
                      <a:schemeClr val="tx1"/>
                    </a:solidFill>
                    <a:cs typeface="Calibri" pitchFamily="34" charset="0"/>
                  </a:rPr>
                  <a:t>gross profit margin)</a:t>
                </a:r>
                <a:r>
                  <a:rPr lang="ru-RU" sz="2500" b="1" dirty="0">
                    <a:solidFill>
                      <a:schemeClr val="tx1"/>
                    </a:solidFill>
                    <a:cs typeface="Calibri" pitchFamily="34" charset="0"/>
                  </a:rPr>
                  <a:t>, %</a:t>
                </a:r>
                <a:r>
                  <a:rPr lang="en-US" sz="2500" b="1" dirty="0">
                    <a:solidFill>
                      <a:schemeClr val="tx1"/>
                    </a:solidFill>
                    <a:cs typeface="Calibri" pitchFamily="34" charset="0"/>
                  </a:rPr>
                  <a:t/>
                </a:r>
              </a:p>
              <a:p>
                <a:endParaRPr lang="en-US" dirty="0">
                  <a:cs typeface="Calibri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itchFamily="34" charset="0"/>
                      </a:rPr>
                      <m:t>𝐆𝐏𝐌</m:t>
                    </m:r>
                    <m:r>
                      <a:rPr lang="ru-RU" sz="3000" b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itchFamily="34" charset="0"/>
                      </a:rPr>
                      <m:t>=</m:t>
                    </m:r>
                    <m:f>
                      <m:fPr>
                        <m:ctrlPr>
                          <a:rPr lang="en-US" sz="3000" b="1" i="1" smtClean="0">
                            <a:solidFill>
                              <a:srgbClr val="0070C0"/>
                            </a:solidFill>
                            <a:latin typeface="Cambria Math"/>
                            <a:cs typeface="Calibri" pitchFamily="34" charset="0"/>
                          </a:rPr>
                        </m:ctrlPr>
                      </m:fPr>
                      <m:num>
                        <m:r>
                          <a:rPr lang="ru-RU" sz="3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Валовая прибыль</m:t>
                        </m:r>
                      </m:num>
                      <m:den>
                        <m:r>
                          <a:rPr lang="ru-RU" sz="3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Выручка</m:t>
                        </m:r>
                      </m:den>
                    </m:f>
                  </m:oMath>
                </a14:m>
                <a:r>
                  <a:rPr lang="ru-RU" sz="3000" b="1" dirty="0" smtClean="0">
                    <a:solidFill>
                      <a:srgbClr val="0070C0"/>
                    </a:solidFill>
                    <a:cs typeface="Calibri" pitchFamily="34" charset="0"/>
                  </a:rPr>
                  <a:t>, %</a:t>
                </a:r>
                <a:endParaRPr lang="en-US" sz="3000" b="1" dirty="0">
                  <a:solidFill>
                    <a:srgbClr val="0070C0"/>
                  </a:solidFill>
                  <a:cs typeface="Calibri" pitchFamily="34" charset="0"/>
                </a:endParaRPr>
              </a:p>
              <a:p>
                <a:endParaRPr lang="ru-RU" dirty="0">
                  <a:cs typeface="Calibri" pitchFamily="34" charset="0"/>
                </a:endParaRPr>
              </a:p>
              <a:p>
                <a:pPr algn="l"/>
                <a:r>
                  <a:rPr lang="ru-RU" sz="2500" b="1" dirty="0" smtClean="0">
                    <a:solidFill>
                      <a:schemeClr val="tx1"/>
                    </a:solidFill>
                    <a:cs typeface="Calibri" pitchFamily="34" charset="0"/>
                  </a:rPr>
                  <a:t>Рентабельность </a:t>
                </a:r>
                <a:r>
                  <a:rPr lang="ru-RU" sz="2500" b="1" dirty="0">
                    <a:solidFill>
                      <a:schemeClr val="tx1"/>
                    </a:solidFill>
                    <a:cs typeface="Calibri" pitchFamily="34" charset="0"/>
                  </a:rPr>
                  <a:t>по операционной прибыли (</a:t>
                </a:r>
                <a:r>
                  <a:rPr lang="en-US" sz="2500" b="1" dirty="0">
                    <a:solidFill>
                      <a:schemeClr val="tx1"/>
                    </a:solidFill>
                    <a:cs typeface="Calibri" pitchFamily="34" charset="0"/>
                  </a:rPr>
                  <a:t>operating profit margin)</a:t>
                </a:r>
                <a:r>
                  <a:rPr lang="ru-RU" sz="2500" b="1" dirty="0">
                    <a:solidFill>
                      <a:schemeClr val="tx1"/>
                    </a:solidFill>
                    <a:cs typeface="Calibri" pitchFamily="34" charset="0"/>
                  </a:rPr>
                  <a:t>, %</a:t>
                </a:r>
              </a:p>
              <a:p>
                <a:endParaRPr lang="ru-RU" dirty="0">
                  <a:cs typeface="Calibri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itchFamily="34" charset="0"/>
                      </a:rPr>
                      <m:t>𝐎𝐏𝐌</m:t>
                    </m:r>
                    <m:r>
                      <a:rPr lang="ru-RU" sz="30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itchFamily="34" charset="0"/>
                      </a:rPr>
                      <m:t>=</m:t>
                    </m:r>
                    <m:f>
                      <m:fPr>
                        <m:ctrlPr>
                          <a:rPr lang="en-US" sz="3000" b="1" i="1">
                            <a:solidFill>
                              <a:srgbClr val="0070C0"/>
                            </a:solidFill>
                            <a:latin typeface="Cambria Math"/>
                            <a:cs typeface="Calibri" pitchFamily="34" charset="0"/>
                          </a:rPr>
                        </m:ctrlPr>
                      </m:fPr>
                      <m:num>
                        <m:r>
                          <a:rPr lang="ru-RU" sz="3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Опера</m:t>
                        </m:r>
                        <m:r>
                          <a:rPr lang="ru-RU" sz="3000" b="1" i="1" smtClean="0">
                            <a:solidFill>
                              <a:srgbClr val="0070C0"/>
                            </a:solidFill>
                            <a:latin typeface="Cambria Math"/>
                            <a:cs typeface="Calibri" pitchFamily="34" charset="0"/>
                          </a:rPr>
                          <m:t>ци</m:t>
                        </m:r>
                        <m:r>
                          <a:rPr lang="ru-RU" sz="3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онная </m:t>
                        </m:r>
                        <m:r>
                          <a:rPr lang="ru-RU" sz="3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прибыль</m:t>
                        </m:r>
                      </m:num>
                      <m:den>
                        <m:r>
                          <a:rPr lang="ru-RU" sz="3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Выручка</m:t>
                        </m:r>
                      </m:den>
                    </m:f>
                  </m:oMath>
                </a14:m>
                <a:r>
                  <a:rPr lang="ru-RU" sz="3000" b="1" dirty="0">
                    <a:solidFill>
                      <a:srgbClr val="0070C0"/>
                    </a:solidFill>
                    <a:cs typeface="Calibri" pitchFamily="34" charset="0"/>
                  </a:rPr>
                  <a:t>, %</a:t>
                </a:r>
                <a:endParaRPr lang="en-US" sz="3000" b="1" dirty="0">
                  <a:solidFill>
                    <a:srgbClr val="0070C0"/>
                  </a:solidFill>
                  <a:cs typeface="Calibri" pitchFamily="34" charset="0"/>
                </a:endParaRPr>
              </a:p>
              <a:p>
                <a:endParaRPr lang="ru-RU" dirty="0">
                  <a:cs typeface="Calibri" pitchFamily="34" charset="0"/>
                </a:endParaRPr>
              </a:p>
              <a:p>
                <a:pPr algn="l"/>
                <a:r>
                  <a:rPr lang="ru-RU" sz="2200" b="1" dirty="0">
                    <a:solidFill>
                      <a:schemeClr val="tx1"/>
                    </a:solidFill>
                    <a:cs typeface="Calibri" pitchFamily="34" charset="0"/>
                  </a:rPr>
                  <a:t>Рентабельность по чистой прибыли  (</a:t>
                </a:r>
                <a:r>
                  <a:rPr lang="en-US" sz="2200" b="1" dirty="0">
                    <a:solidFill>
                      <a:schemeClr val="tx1"/>
                    </a:solidFill>
                    <a:cs typeface="Calibri" pitchFamily="34" charset="0"/>
                  </a:rPr>
                  <a:t>net profit margin)</a:t>
                </a:r>
                <a:r>
                  <a:rPr lang="ru-RU" sz="2200" b="1" dirty="0">
                    <a:solidFill>
                      <a:schemeClr val="tx1"/>
                    </a:solidFill>
                    <a:cs typeface="Calibri" pitchFamily="34" charset="0"/>
                  </a:rPr>
                  <a:t>, %</a:t>
                </a:r>
              </a:p>
              <a:p>
                <a:endParaRPr lang="ru-RU" dirty="0" smtClean="0">
                  <a:solidFill>
                    <a:srgbClr val="0070C0"/>
                  </a:solidFill>
                  <a:latin typeface="Cambria Math" panose="02040503050406030204" pitchFamily="18" charset="0"/>
                  <a:cs typeface="Calibri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itchFamily="34" charset="0"/>
                      </a:rPr>
                      <m:t>𝐍𝐏𝐌</m:t>
                    </m:r>
                    <m:r>
                      <a:rPr lang="ru-RU" sz="30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itchFamily="34" charset="0"/>
                      </a:rPr>
                      <m:t>=</m:t>
                    </m:r>
                    <m:f>
                      <m:fPr>
                        <m:ctrlPr>
                          <a:rPr lang="en-US" sz="3000" b="1" i="1">
                            <a:solidFill>
                              <a:srgbClr val="0070C0"/>
                            </a:solidFill>
                            <a:latin typeface="Cambria Math"/>
                            <a:cs typeface="Calibri" pitchFamily="34" charset="0"/>
                          </a:rPr>
                        </m:ctrlPr>
                      </m:fPr>
                      <m:num>
                        <m:r>
                          <a:rPr lang="ru-RU" sz="3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Чистая прибыль</m:t>
                        </m:r>
                      </m:num>
                      <m:den>
                        <m:r>
                          <a:rPr lang="ru-RU" sz="3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Выручка</m:t>
                        </m:r>
                      </m:den>
                    </m:f>
                  </m:oMath>
                </a14:m>
                <a:r>
                  <a:rPr lang="ru-RU" sz="3000" b="1" dirty="0">
                    <a:solidFill>
                      <a:srgbClr val="0070C0"/>
                    </a:solidFill>
                    <a:cs typeface="Calibri" pitchFamily="34" charset="0"/>
                  </a:rPr>
                  <a:t>, </a:t>
                </a:r>
                <a:r>
                  <a:rPr lang="ru-RU" sz="3000" b="1" dirty="0" smtClean="0">
                    <a:solidFill>
                      <a:srgbClr val="0070C0"/>
                    </a:solidFill>
                    <a:cs typeface="Calibri" pitchFamily="34" charset="0"/>
                  </a:rPr>
                  <a:t>%</a:t>
                </a:r>
                <a:endParaRPr lang="en-US" sz="3000" b="1" dirty="0">
                  <a:solidFill>
                    <a:srgbClr val="0070C0"/>
                  </a:solidFill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6" name="Содержимое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51" y="1541892"/>
                <a:ext cx="4699169" cy="2435819"/>
              </a:xfrm>
              <a:prstGeom prst="rect">
                <a:avLst/>
              </a:prstGeom>
              <a:blipFill rotWithShape="1">
                <a:blip r:embed="rId2"/>
                <a:stretch>
                  <a:fillRect t="-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88969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206170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600" b="1" dirty="0"/>
              <a:t>Маржинальный анализ </a:t>
            </a:r>
            <a:endParaRPr lang="en-US" sz="16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10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540374858"/>
              </p:ext>
            </p:extLst>
          </p:nvPr>
        </p:nvGraphicFramePr>
        <p:xfrm>
          <a:off x="568364" y="1407577"/>
          <a:ext cx="3849238" cy="2980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212610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Прямоугольник 3"/>
              <p:cNvSpPr/>
              <p:nvPr/>
            </p:nvSpPr>
            <p:spPr>
              <a:xfrm>
                <a:off x="673273" y="1372015"/>
                <a:ext cx="4572000" cy="278518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sz="1200" b="1" dirty="0"/>
                  <a:t>Маржинальная </a:t>
                </a:r>
                <a:r>
                  <a:rPr lang="ru-RU" sz="1200" b="1" dirty="0" smtClean="0"/>
                  <a:t>прибыль: </a:t>
                </a:r>
                <a:endParaRPr lang="ru-RU" sz="1200" b="1" dirty="0"/>
              </a:p>
              <a:p>
                <a:endParaRPr lang="ru-RU" sz="1200" dirty="0"/>
              </a:p>
              <a:p>
                <a:pPr algn="ctr"/>
                <a:r>
                  <a:rPr lang="ru-RU" sz="14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Выручка – Переменные затраты </a:t>
                </a:r>
              </a:p>
              <a:p>
                <a:endParaRPr lang="ru-RU" sz="1200" dirty="0"/>
              </a:p>
              <a:p>
                <a:endParaRPr lang="ru-RU" sz="1200" dirty="0"/>
              </a:p>
              <a:p>
                <a:r>
                  <a:rPr lang="ru-RU" sz="1200" b="1" dirty="0" smtClean="0"/>
                  <a:t>Ценовой коэффициент:</a:t>
                </a:r>
                <a:endParaRPr lang="ru-RU" sz="1200" b="1" dirty="0"/>
              </a:p>
              <a:p>
                <a:endParaRPr lang="ru-RU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1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Ценовой коэффициент</m:t>
                      </m:r>
                      <m:r>
                        <a:rPr lang="en-US" sz="1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Маржинальная прибыль</m:t>
                          </m:r>
                        </m:num>
                        <m:den>
                          <m:r>
                            <a:rPr lang="ru-RU" sz="1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Выручка</m:t>
                          </m:r>
                        </m:den>
                      </m:f>
                      <m:r>
                        <a:rPr lang="ru-RU" sz="1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%</m:t>
                      </m:r>
                    </m:oMath>
                  </m:oMathPara>
                </a14:m>
                <a:endParaRPr lang="ru-RU" sz="1400" b="1" dirty="0">
                  <a:solidFill>
                    <a:srgbClr val="0070C0"/>
                  </a:solidFill>
                </a:endParaRPr>
              </a:p>
              <a:p>
                <a:endParaRPr lang="ru-RU" sz="1200" dirty="0"/>
              </a:p>
              <a:p>
                <a:endParaRPr lang="ru-RU" sz="1200" dirty="0" smtClean="0"/>
              </a:p>
              <a:p>
                <a:r>
                  <a:rPr lang="ru-RU" sz="1000" b="1" dirty="0" smtClean="0"/>
                  <a:t>Позволяет: </a:t>
                </a:r>
                <a:r>
                  <a:rPr lang="ru-RU" sz="1000" dirty="0"/>
                  <a:t>оптимизировать </a:t>
                </a:r>
                <a:r>
                  <a:rPr lang="ru-RU" sz="1000" dirty="0" smtClean="0"/>
                  <a:t>ассортимент; </a:t>
                </a:r>
                <a:endParaRPr lang="ru-RU" sz="1000" dirty="0"/>
              </a:p>
              <a:p>
                <a:r>
                  <a:rPr lang="ru-RU" sz="1000" dirty="0" smtClean="0"/>
                  <a:t>	      моделировать </a:t>
                </a:r>
                <a:r>
                  <a:rPr lang="ru-RU" sz="1000" dirty="0"/>
                  <a:t>ценовую </a:t>
                </a:r>
                <a:r>
                  <a:rPr lang="ru-RU" sz="1000" dirty="0" smtClean="0"/>
                  <a:t>стратегию; </a:t>
                </a:r>
                <a:endParaRPr lang="ru-RU" sz="1000" dirty="0"/>
              </a:p>
              <a:p>
                <a:r>
                  <a:rPr lang="ru-RU" sz="1000" dirty="0" smtClean="0"/>
                  <a:t>   	      определить </a:t>
                </a:r>
                <a:r>
                  <a:rPr lang="ru-RU" sz="1000" dirty="0"/>
                  <a:t>цену для единичных </a:t>
                </a:r>
                <a:r>
                  <a:rPr lang="ru-RU" sz="1000" dirty="0" smtClean="0"/>
                  <a:t>контрактов.  </a:t>
                </a:r>
                <a:endParaRPr lang="ru-RU" sz="1000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73" y="1372015"/>
                <a:ext cx="4572000" cy="27851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95813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Что влияет на рентабельность деятельности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6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577407529"/>
              </p:ext>
            </p:extLst>
          </p:nvPr>
        </p:nvGraphicFramePr>
        <p:xfrm>
          <a:off x="675202" y="1778061"/>
          <a:ext cx="4572000" cy="248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36750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Анализ рентабельности капитала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68364" y="1979527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600" b="1" dirty="0">
                <a:latin typeface="Calibri" panose="020F0502020204030204" pitchFamily="34" charset="0"/>
              </a:rPr>
              <a:t>Рентабельность активов </a:t>
            </a:r>
            <a:r>
              <a:rPr lang="en-US" sz="1600" b="1" dirty="0">
                <a:latin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</a:rPr>
              <a:t>(return on assets</a:t>
            </a:r>
            <a:r>
              <a:rPr lang="ru-RU" sz="1600" dirty="0">
                <a:latin typeface="Calibri" panose="020F0502020204030204" pitchFamily="34" charset="0"/>
              </a:rPr>
              <a:t>) – </a:t>
            </a:r>
            <a:r>
              <a:rPr lang="en-US" sz="1600" dirty="0">
                <a:latin typeface="Calibri" panose="020F0502020204030204" pitchFamily="34" charset="0"/>
              </a:rPr>
              <a:t>ROA</a:t>
            </a:r>
          </a:p>
          <a:p>
            <a:pPr>
              <a:defRPr/>
            </a:pPr>
            <a:endParaRPr lang="en-US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1246441" y="2888468"/>
                <a:ext cx="2877198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OA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Чистая прибыль</m:t>
                          </m:r>
                        </m:num>
                        <m:den>
                          <m:r>
                            <a:rPr lang="ru-R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Итого активы</m:t>
                          </m:r>
                        </m:den>
                      </m:f>
                    </m:oMath>
                  </m:oMathPara>
                </a14:m>
                <a:endParaRPr lang="ru-RU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441" y="2888468"/>
                <a:ext cx="2877198" cy="5845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34575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Анализ рентабельности капитала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1892881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600" b="1" dirty="0" smtClean="0">
                <a:latin typeface="Calibri" panose="020F0502020204030204" pitchFamily="34" charset="0"/>
              </a:rPr>
              <a:t>Рентабельность </a:t>
            </a:r>
            <a:r>
              <a:rPr lang="ru-RU" sz="1600" b="1" dirty="0">
                <a:latin typeface="Calibri" panose="020F0502020204030204" pitchFamily="34" charset="0"/>
              </a:rPr>
              <a:t>инвестированного капитала </a:t>
            </a:r>
            <a:r>
              <a:rPr lang="ru-RU" sz="1600" dirty="0">
                <a:latin typeface="Calibri" panose="020F0502020204030204" pitchFamily="34" charset="0"/>
              </a:rPr>
              <a:t>(</a:t>
            </a:r>
            <a:r>
              <a:rPr lang="en-US" sz="1600" dirty="0">
                <a:latin typeface="Calibri" panose="020F0502020204030204" pitchFamily="34" charset="0"/>
              </a:rPr>
              <a:t>Return On Invested Capital</a:t>
            </a:r>
            <a:r>
              <a:rPr lang="ru-RU" sz="1600" dirty="0">
                <a:latin typeface="Calibri" panose="020F0502020204030204" pitchFamily="34" charset="0"/>
              </a:rPr>
              <a:t>) – </a:t>
            </a:r>
            <a:r>
              <a:rPr lang="en-US" sz="1600" dirty="0">
                <a:latin typeface="Calibri" panose="020F0502020204030204" pitchFamily="34" charset="0"/>
              </a:rPr>
              <a:t>ROIC</a:t>
            </a: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 smtClean="0">
              <a:latin typeface="Calibri" panose="020F0502020204030204" pitchFamily="34" charset="0"/>
            </a:endParaRPr>
          </a:p>
          <a:p>
            <a:pPr>
              <a:defRPr/>
            </a:pPr>
            <a:r>
              <a:rPr lang="ru-RU" sz="1600" dirty="0" smtClean="0">
                <a:latin typeface="Calibri" panose="020F0502020204030204" pitchFamily="34" charset="0"/>
              </a:rPr>
              <a:t>Инвестированный </a:t>
            </a:r>
            <a:r>
              <a:rPr lang="ru-RU" sz="1600" dirty="0">
                <a:latin typeface="Calibri" panose="020F0502020204030204" pitchFamily="34" charset="0"/>
              </a:rPr>
              <a:t>капитал = Собственный капитал + Долгосрочные кредиты</a:t>
            </a:r>
            <a:endParaRPr lang="en-US" sz="16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/>
              <p:cNvSpPr txBox="1"/>
              <p:nvPr/>
            </p:nvSpPr>
            <p:spPr>
              <a:xfrm>
                <a:off x="781867" y="2732021"/>
                <a:ext cx="4129143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OIC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NOPLAT</m:t>
                          </m:r>
                        </m:num>
                        <m:den>
                          <m:r>
                            <a:rPr lang="ru-R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Инвестированный капитал</m:t>
                          </m:r>
                        </m:den>
                      </m:f>
                    </m:oMath>
                  </m:oMathPara>
                </a14:m>
                <a:endParaRPr lang="ru-RU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67" y="2732021"/>
                <a:ext cx="4129143" cy="63004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373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Анализ рентабельности капитала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1892881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1" dirty="0">
                <a:latin typeface="Calibri" panose="020F0502020204030204" pitchFamily="34" charset="0"/>
              </a:rPr>
              <a:t>Рентабельность собственного </a:t>
            </a:r>
            <a:r>
              <a:rPr lang="ru-RU" sz="1600" b="1" dirty="0" smtClean="0">
                <a:latin typeface="Calibri" panose="020F0502020204030204" pitchFamily="34" charset="0"/>
              </a:rPr>
              <a:t>капитала</a:t>
            </a:r>
            <a:br>
              <a:rPr lang="ru-RU" sz="1600" b="1" dirty="0" smtClean="0">
                <a:latin typeface="Calibri" panose="020F0502020204030204" pitchFamily="34" charset="0"/>
              </a:rPr>
            </a:br>
            <a:r>
              <a:rPr lang="ru-RU" sz="1600" dirty="0" smtClean="0">
                <a:latin typeface="Calibri" panose="020F0502020204030204" pitchFamily="34" charset="0"/>
              </a:rPr>
              <a:t>(</a:t>
            </a:r>
            <a:r>
              <a:rPr lang="en-US" sz="1600" dirty="0">
                <a:latin typeface="Calibri" panose="020F0502020204030204" pitchFamily="34" charset="0"/>
              </a:rPr>
              <a:t>return on equity</a:t>
            </a:r>
            <a:r>
              <a:rPr lang="ru-RU" sz="1600" dirty="0">
                <a:latin typeface="Calibri" panose="020F0502020204030204" pitchFamily="34" charset="0"/>
              </a:rPr>
              <a:t>) – </a:t>
            </a:r>
            <a:r>
              <a:rPr lang="en-US" sz="1600" dirty="0">
                <a:latin typeface="Calibri" panose="020F0502020204030204" pitchFamily="34" charset="0"/>
              </a:rPr>
              <a:t>ROE</a:t>
            </a: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/>
              <p:cNvSpPr txBox="1"/>
              <p:nvPr/>
            </p:nvSpPr>
            <p:spPr>
              <a:xfrm>
                <a:off x="1143946" y="2979303"/>
                <a:ext cx="3451073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OE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Чистая прибыль</m:t>
                          </m:r>
                        </m:num>
                        <m:den>
                          <m:r>
                            <a:rPr lang="ru-RU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Собственный капитал</m:t>
                          </m:r>
                        </m:den>
                      </m:f>
                    </m:oMath>
                  </m:oMathPara>
                </a14:m>
                <a:endParaRPr lang="ru-RU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46" y="2979303"/>
                <a:ext cx="3451073" cy="5845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32598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60584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Анализ рентабельности капитала</a:t>
            </a:r>
            <a:endParaRPr lang="en-US" sz="18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83483" y="1892881"/>
            <a:ext cx="4572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1" dirty="0">
                <a:solidFill>
                  <a:srgbClr val="C00000"/>
                </a:solidFill>
                <a:latin typeface="Calibri" panose="020F0502020204030204" pitchFamily="34" charset="0"/>
              </a:rPr>
              <a:t>Преобразование формулы </a:t>
            </a: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</a:rPr>
              <a:t>ROE</a:t>
            </a:r>
            <a:r>
              <a:rPr lang="ru-RU" sz="1600" dirty="0">
                <a:solidFill>
                  <a:srgbClr val="C00000"/>
                </a:solidFill>
                <a:latin typeface="Calibri" panose="020F0502020204030204" pitchFamily="34" charset="0"/>
              </a:rPr>
              <a:t>:</a:t>
            </a: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  <a:p>
            <a:pPr>
              <a:defRPr/>
            </a:pPr>
            <a:endParaRPr lang="ru-RU" sz="16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/>
              <p:cNvSpPr txBox="1"/>
              <p:nvPr/>
            </p:nvSpPr>
            <p:spPr>
              <a:xfrm>
                <a:off x="662206" y="2635172"/>
                <a:ext cx="4152019" cy="341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400" dirty="0" smtClean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ROE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Ч</m:t>
                        </m:r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и</m:t>
                        </m:r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стая прибыль</m:t>
                        </m:r>
                      </m:num>
                      <m:den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Выручка</m:t>
                        </m:r>
                      </m:den>
                    </m:f>
                    <m:r>
                      <a:rPr lang="ru-RU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∗ </m:t>
                    </m:r>
                    <m:f>
                      <m:f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Выручка</m:t>
                        </m:r>
                      </m:num>
                      <m:den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Итого активы</m:t>
                        </m:r>
                      </m:den>
                    </m:f>
                  </m:oMath>
                </a14:m>
                <a:r>
                  <a:rPr lang="ru-RU" sz="1400" dirty="0" smtClean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Итого активы</m:t>
                        </m:r>
                      </m:num>
                      <m:den>
                        <m:r>
                          <a:rPr lang="ru-RU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Собственный капитал</m:t>
                        </m:r>
                      </m:den>
                    </m:f>
                  </m:oMath>
                </a14:m>
                <a:endParaRPr lang="ru-RU" sz="1400" dirty="0">
                  <a:solidFill>
                    <a:srgbClr val="0070C0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06" y="2635172"/>
                <a:ext cx="4152019" cy="341376"/>
              </a:xfrm>
              <a:prstGeom prst="rect">
                <a:avLst/>
              </a:prstGeom>
              <a:blipFill rotWithShape="1">
                <a:blip r:embed="rId2"/>
                <a:stretch>
                  <a:fillRect l="-2643" t="-1786" b="-160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Группа 9"/>
          <p:cNvGrpSpPr/>
          <p:nvPr/>
        </p:nvGrpSpPr>
        <p:grpSpPr>
          <a:xfrm>
            <a:off x="662206" y="2863213"/>
            <a:ext cx="1534058" cy="1200085"/>
            <a:chOff x="2483768" y="4650534"/>
            <a:chExt cx="1512168" cy="1132020"/>
          </a:xfrm>
        </p:grpSpPr>
        <p:sp>
          <p:nvSpPr>
            <p:cNvPr id="11" name="Левая фигурная скобка 10"/>
            <p:cNvSpPr/>
            <p:nvPr/>
          </p:nvSpPr>
          <p:spPr>
            <a:xfrm rot="16200000">
              <a:off x="2879812" y="4254490"/>
              <a:ext cx="720080" cy="1512168"/>
            </a:xfrm>
            <a:prstGeom prst="leftBrace">
              <a:avLst>
                <a:gd name="adj1" fmla="val 8333"/>
                <a:gd name="adj2" fmla="val 5251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sz="1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83768" y="5434169"/>
              <a:ext cx="1512168" cy="348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900" dirty="0" smtClean="0">
                  <a:solidFill>
                    <a:srgbClr val="C00000"/>
                  </a:solidFill>
                </a:rPr>
                <a:t>Прибыльность деятельности</a:t>
              </a:r>
              <a:endParaRPr lang="ru-RU" sz="9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2307195" y="2858258"/>
            <a:ext cx="1120291" cy="1191469"/>
            <a:chOff x="2418949" y="4650534"/>
            <a:chExt cx="1512168" cy="1135671"/>
          </a:xfrm>
        </p:grpSpPr>
        <p:sp>
          <p:nvSpPr>
            <p:cNvPr id="14" name="Левая фигурная скобка 13"/>
            <p:cNvSpPr/>
            <p:nvPr/>
          </p:nvSpPr>
          <p:spPr>
            <a:xfrm rot="16200000">
              <a:off x="2728259" y="4406043"/>
              <a:ext cx="720080" cy="1209062"/>
            </a:xfrm>
            <a:prstGeom prst="leftBrace">
              <a:avLst>
                <a:gd name="adj1" fmla="val 8333"/>
                <a:gd name="adj2" fmla="val 5251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sz="12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18949" y="5434169"/>
              <a:ext cx="1512168" cy="352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900" dirty="0" smtClean="0">
                  <a:solidFill>
                    <a:srgbClr val="C00000"/>
                  </a:solidFill>
                </a:rPr>
                <a:t>Оборачиваемость активов</a:t>
              </a:r>
              <a:endParaRPr lang="ru-RU" sz="9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3209126" y="2861933"/>
            <a:ext cx="1795028" cy="993300"/>
            <a:chOff x="2383715" y="4650534"/>
            <a:chExt cx="1512168" cy="993300"/>
          </a:xfrm>
        </p:grpSpPr>
        <p:sp>
          <p:nvSpPr>
            <p:cNvPr id="17" name="Левая фигурная скобка 16"/>
            <p:cNvSpPr/>
            <p:nvPr/>
          </p:nvSpPr>
          <p:spPr>
            <a:xfrm rot="16200000">
              <a:off x="2728259" y="4406043"/>
              <a:ext cx="720080" cy="1209062"/>
            </a:xfrm>
            <a:prstGeom prst="leftBrace">
              <a:avLst>
                <a:gd name="adj1" fmla="val 8333"/>
                <a:gd name="adj2" fmla="val 5251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sz="12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83715" y="5413002"/>
              <a:ext cx="15121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900" dirty="0" smtClean="0">
                  <a:solidFill>
                    <a:srgbClr val="C00000"/>
                  </a:solidFill>
                </a:rPr>
                <a:t>Финансовый рычаг</a:t>
              </a:r>
              <a:endParaRPr lang="ru-RU" sz="9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21828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Что влияет на рентабельность </a:t>
            </a:r>
            <a:r>
              <a:rPr lang="ru-RU" sz="1800" b="1" dirty="0" smtClean="0"/>
              <a:t>капитала/собственного </a:t>
            </a:r>
            <a:r>
              <a:rPr lang="ru-RU" sz="1800" b="1" dirty="0"/>
              <a:t>капитала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8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587426070"/>
              </p:ext>
            </p:extLst>
          </p:nvPr>
        </p:nvGraphicFramePr>
        <p:xfrm>
          <a:off x="647087" y="1953398"/>
          <a:ext cx="4532638" cy="2237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51277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Анализ финансовой</a:t>
            </a:r>
            <a:br>
              <a:rPr lang="ru-RU" sz="3600" b="1" dirty="0" smtClean="0"/>
            </a:br>
            <a:r>
              <a:rPr lang="ru-RU" sz="3600" b="1" dirty="0" smtClean="0"/>
              <a:t>устойчивости/</a:t>
            </a:r>
            <a:br>
              <a:rPr lang="ru-RU" sz="3600" b="1" dirty="0" smtClean="0"/>
            </a:br>
            <a:r>
              <a:rPr lang="ru-RU" sz="3600" b="1" dirty="0" smtClean="0"/>
              <a:t>долговой нагрузки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7764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Анализ финансовой устойчивости/</a:t>
            </a:r>
            <a:br>
              <a:rPr lang="ru-RU" sz="1800" b="1" dirty="0" smtClean="0"/>
            </a:br>
            <a:r>
              <a:rPr lang="ru-RU" sz="1800" b="1" dirty="0" smtClean="0"/>
              <a:t>долговой нагрузки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Прямоугольник 2"/>
              <p:cNvSpPr/>
              <p:nvPr/>
            </p:nvSpPr>
            <p:spPr>
              <a:xfrm>
                <a:off x="568364" y="2415848"/>
                <a:ext cx="4170186" cy="15971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100" dirty="0">
                    <a:cs typeface="Calibri" pitchFamily="34" charset="0"/>
                  </a:rPr>
                  <a:t>Коэффициент финансовой </a:t>
                </a:r>
                <a:r>
                  <a:rPr lang="ru-RU" sz="1100" dirty="0" smtClean="0">
                    <a:cs typeface="Calibri" pitchFamily="34" charset="0"/>
                  </a:rPr>
                  <a:t>независимости/</a:t>
                </a:r>
              </a:p>
              <a:p>
                <a:r>
                  <a:rPr lang="ru-RU" sz="1100" b="1" dirty="0" smtClean="0">
                    <a:cs typeface="Calibri" pitchFamily="34" charset="0"/>
                  </a:rPr>
                  <a:t>общей </a:t>
                </a:r>
                <a:r>
                  <a:rPr lang="ru-RU" sz="1100" b="1" dirty="0">
                    <a:cs typeface="Calibri" pitchFamily="34" charset="0"/>
                  </a:rPr>
                  <a:t>платежеспособности  </a:t>
                </a:r>
                <a:r>
                  <a:rPr lang="ru-RU" sz="1100" dirty="0">
                    <a:cs typeface="Calibri" pitchFamily="34" charset="0"/>
                  </a:rPr>
                  <a:t>(</a:t>
                </a:r>
                <a:r>
                  <a:rPr lang="en-US" sz="1100" dirty="0">
                    <a:cs typeface="Calibri" pitchFamily="34" charset="0"/>
                  </a:rPr>
                  <a:t>Equity to Total Assets</a:t>
                </a:r>
                <a:r>
                  <a:rPr lang="ru-RU" sz="1100" dirty="0">
                    <a:cs typeface="Calibri" pitchFamily="34" charset="0"/>
                  </a:rPr>
                  <a:t>) </a:t>
                </a:r>
              </a:p>
              <a:p>
                <a:endParaRPr lang="ru-RU" sz="1200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endParaRPr lang="ru-RU" sz="1200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12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2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TA</m:t>
                      </m:r>
                      <m:r>
                        <a:rPr lang="en-US" sz="1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Собственный капитал</m:t>
                          </m:r>
                        </m:num>
                        <m:den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Итого активы</m:t>
                          </m:r>
                        </m:den>
                      </m:f>
                    </m:oMath>
                  </m:oMathPara>
                </a14:m>
                <a:endParaRPr lang="ru-RU" sz="1200" b="1" dirty="0" smtClean="0">
                  <a:cs typeface="Calibri" pitchFamily="34" charset="0"/>
                </a:endParaRPr>
              </a:p>
              <a:p>
                <a:endParaRPr lang="ru-RU" sz="1100" b="1" dirty="0" smtClean="0">
                  <a:cs typeface="Calibri" pitchFamily="34" charset="0"/>
                </a:endParaRPr>
              </a:p>
              <a:p>
                <a:endParaRPr lang="ru-RU" dirty="0"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64" y="2415848"/>
                <a:ext cx="4170186" cy="1597169"/>
              </a:xfrm>
              <a:prstGeom prst="rect">
                <a:avLst/>
              </a:prstGeom>
              <a:blipFill rotWithShape="1">
                <a:blip r:embed="rId2"/>
                <a:stretch>
                  <a:fillRect t="-3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09425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Анализ финансовой устойчивости/</a:t>
            </a:r>
            <a:br>
              <a:rPr lang="ru-RU" sz="1800" b="1" dirty="0" smtClean="0"/>
            </a:br>
            <a:r>
              <a:rPr lang="ru-RU" sz="1800" b="1" dirty="0" smtClean="0"/>
              <a:t>долговой нагрузки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Прямоугольник 2"/>
              <p:cNvSpPr/>
              <p:nvPr/>
            </p:nvSpPr>
            <p:spPr>
              <a:xfrm>
                <a:off x="568364" y="2415848"/>
                <a:ext cx="4170186" cy="1761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100" b="1" dirty="0"/>
                  <a:t>Финансовый </a:t>
                </a:r>
                <a:r>
                  <a:rPr lang="ru-RU" sz="1100" b="1" dirty="0" smtClean="0"/>
                  <a:t>рычаг/</a:t>
                </a:r>
              </a:p>
              <a:p>
                <a:r>
                  <a:rPr lang="ru-RU" sz="1100" b="1" dirty="0" smtClean="0"/>
                  <a:t>отношение </a:t>
                </a:r>
                <a:r>
                  <a:rPr lang="ru-RU" sz="1100" b="1" dirty="0"/>
                  <a:t>суммарных активов к собственному </a:t>
                </a:r>
                <a:r>
                  <a:rPr lang="ru-RU" sz="1100" b="1" dirty="0" smtClean="0"/>
                  <a:t>капиталу </a:t>
                </a:r>
                <a:r>
                  <a:rPr lang="ru-RU" sz="1100" b="1" dirty="0"/>
                  <a:t>(</a:t>
                </a:r>
                <a:r>
                  <a:rPr lang="en-US" sz="1100" b="1" dirty="0"/>
                  <a:t>Total assets to Equity</a:t>
                </a:r>
                <a:endParaRPr lang="ru-RU" sz="1100" b="1" dirty="0">
                  <a:cs typeface="Calibri" pitchFamily="34" charset="0"/>
                </a:endParaRPr>
              </a:p>
              <a:p>
                <a:endParaRPr lang="ru-RU" sz="1200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endParaRPr lang="ru-RU" sz="1200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TA</m:t>
                      </m:r>
                      <m:r>
                        <a:rPr lang="en-US" sz="12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2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1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Итого активы</m:t>
                          </m:r>
                        </m:num>
                        <m:den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Собственный капитал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rgbClr val="0070C0"/>
                  </a:solidFill>
                </a:endParaRPr>
              </a:p>
              <a:p>
                <a:endParaRPr lang="ru-RU" sz="1100" b="1" dirty="0" smtClean="0">
                  <a:cs typeface="Calibri" pitchFamily="34" charset="0"/>
                </a:endParaRPr>
              </a:p>
              <a:p>
                <a:endParaRPr lang="ru-RU" dirty="0"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64" y="2415848"/>
                <a:ext cx="4170186" cy="1761508"/>
              </a:xfrm>
              <a:prstGeom prst="rect">
                <a:avLst/>
              </a:prstGeom>
              <a:blipFill rotWithShape="1">
                <a:blip r:embed="rId2"/>
                <a:stretch>
                  <a:fillRect t="-3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76022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Что влияет на финансовую устойчивость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5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848750662"/>
              </p:ext>
            </p:extLst>
          </p:nvPr>
        </p:nvGraphicFramePr>
        <p:xfrm>
          <a:off x="646023" y="1729616"/>
          <a:ext cx="4749543" cy="2558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37485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Анализ долговой нагрузки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Прямоугольник 2"/>
              <p:cNvSpPr/>
              <p:nvPr/>
            </p:nvSpPr>
            <p:spPr>
              <a:xfrm>
                <a:off x="583484" y="2161512"/>
                <a:ext cx="4170186" cy="2301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100" b="1" dirty="0" smtClean="0">
                    <a:cs typeface="Calibri" pitchFamily="34" charset="0"/>
                  </a:rPr>
                  <a:t>Коэффициент покрытия процентов </a:t>
                </a:r>
                <a:r>
                  <a:rPr lang="ru-RU" sz="1100" dirty="0">
                    <a:cs typeface="Calibri" pitchFamily="34" charset="0"/>
                  </a:rPr>
                  <a:t>(</a:t>
                </a:r>
                <a:r>
                  <a:rPr lang="ru-RU" sz="1100" dirty="0" err="1">
                    <a:cs typeface="Calibri" pitchFamily="34" charset="0"/>
                  </a:rPr>
                  <a:t>Times</a:t>
                </a:r>
                <a:r>
                  <a:rPr lang="ru-RU" sz="1100" dirty="0">
                    <a:cs typeface="Calibri" pitchFamily="34" charset="0"/>
                  </a:rPr>
                  <a:t/>
                </a:r>
                <a:r>
                  <a:rPr lang="ru-RU" sz="1100" dirty="0" err="1">
                    <a:cs typeface="Calibri" pitchFamily="34" charset="0"/>
                  </a:rPr>
                  <a:t>interest</a:t>
                </a:r>
                <a:r>
                  <a:rPr lang="ru-RU" sz="1100" dirty="0">
                    <a:cs typeface="Calibri" pitchFamily="34" charset="0"/>
                  </a:rPr>
                  <a:t/>
                </a:r>
                <a:r>
                  <a:rPr lang="ru-RU" sz="1100" dirty="0" err="1">
                    <a:cs typeface="Calibri" pitchFamily="34" charset="0"/>
                  </a:rPr>
                  <a:t>earned</a:t>
                </a:r>
                <a:r>
                  <a:rPr lang="ru-RU" sz="1100" dirty="0" smtClean="0">
                    <a:cs typeface="Calibri" pitchFamily="34" charset="0"/>
                  </a:rPr>
                  <a:t>)</a:t>
                </a:r>
              </a:p>
              <a:p>
                <a:endParaRPr lang="ru-RU" sz="1200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endParaRPr lang="ru-RU" sz="1200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IE</m:t>
                      </m:r>
                      <m:r>
                        <a:rPr lang="en-US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EBIT</m:t>
                          </m:r>
                        </m:num>
                        <m:den>
                          <m:r>
                            <a:rPr lang="ru-RU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Проценты по кредитам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rgbClr val="0070C0"/>
                  </a:solidFill>
                </a:endParaRPr>
              </a:p>
              <a:p>
                <a:endParaRPr lang="ru-RU" sz="1100" b="1" dirty="0" smtClean="0">
                  <a:cs typeface="Calibri" pitchFamily="34" charset="0"/>
                </a:endParaRPr>
              </a:p>
              <a:p>
                <a:endParaRPr lang="ru-RU" sz="1100" b="1" dirty="0" smtClean="0">
                  <a:cs typeface="Calibri" pitchFamily="34" charset="0"/>
                </a:endParaRPr>
              </a:p>
              <a:p>
                <a:r>
                  <a:rPr lang="ru-RU" sz="1100" b="1" dirty="0" smtClean="0">
                    <a:cs typeface="Calibri" pitchFamily="34" charset="0"/>
                  </a:rPr>
                  <a:t>Рекомендуемые </a:t>
                </a:r>
                <a:r>
                  <a:rPr lang="ru-RU" sz="1100" b="1" dirty="0">
                    <a:cs typeface="Calibri" pitchFamily="34" charset="0"/>
                  </a:rPr>
                  <a:t>значения: &gt; 1</a:t>
                </a:r>
              </a:p>
              <a:p>
                <a:endParaRPr lang="ru-RU" sz="1100" b="1" dirty="0" smtClean="0">
                  <a:cs typeface="Calibri" pitchFamily="34" charset="0"/>
                </a:endParaRPr>
              </a:p>
              <a:p>
                <a:endParaRPr lang="ru-RU" dirty="0" smtClean="0">
                  <a:cs typeface="Calibri" pitchFamily="34" charset="0"/>
                </a:endParaRPr>
              </a:p>
              <a:p>
                <a:endParaRPr lang="ru-RU" dirty="0"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84" y="2161512"/>
                <a:ext cx="4170186" cy="2301656"/>
              </a:xfrm>
              <a:prstGeom prst="rect">
                <a:avLst/>
              </a:prstGeom>
              <a:blipFill rotWithShape="1">
                <a:blip r:embed="rId2"/>
                <a:stretch>
                  <a:fillRect t="-2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11996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Анализ долговой нагрузки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Прямоугольник 2"/>
              <p:cNvSpPr/>
              <p:nvPr/>
            </p:nvSpPr>
            <p:spPr>
              <a:xfrm>
                <a:off x="568364" y="1937454"/>
                <a:ext cx="4672803" cy="24132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100" b="1" dirty="0" smtClean="0">
                    <a:cs typeface="Calibri" pitchFamily="34" charset="0"/>
                  </a:rPr>
                  <a:t>Коэффициент </a:t>
                </a:r>
                <a:r>
                  <a:rPr lang="ru-RU" sz="1100" b="1" dirty="0">
                    <a:cs typeface="Calibri" pitchFamily="34" charset="0"/>
                  </a:rPr>
                  <a:t>долговой нагрузки </a:t>
                </a:r>
                <a:r>
                  <a:rPr lang="en-US" sz="1100" b="1" dirty="0">
                    <a:cs typeface="Calibri" pitchFamily="34" charset="0"/>
                  </a:rPr>
                  <a:t>(Debt /EBITDA)</a:t>
                </a:r>
                <a:endParaRPr lang="ru-RU" sz="1100" b="1" dirty="0">
                  <a:cs typeface="Calibri" pitchFamily="34" charset="0"/>
                </a:endParaRPr>
              </a:p>
              <a:p>
                <a:endParaRPr lang="ru-RU" dirty="0" smtClean="0">
                  <a:cs typeface="Calibri" pitchFamily="34" charset="0"/>
                </a:endParaRPr>
              </a:p>
              <a:p>
                <a:endParaRPr lang="ru-RU" dirty="0" smtClean="0">
                  <a:cs typeface="Calibri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11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Коэффициент долговой нагрузки</m:t>
                      </m:r>
                      <m:r>
                        <a:rPr lang="ru-RU" sz="11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1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Долгосрочные обязательства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EBITDA</m:t>
                          </m:r>
                        </m:den>
                      </m:f>
                    </m:oMath>
                  </m:oMathPara>
                </a14:m>
                <a:endParaRPr lang="ru-RU" sz="1100" dirty="0">
                  <a:cs typeface="Calibri" pitchFamily="34" charset="0"/>
                </a:endParaRPr>
              </a:p>
              <a:p>
                <a:endParaRPr lang="ru-RU" dirty="0" smtClean="0">
                  <a:cs typeface="Calibri" pitchFamily="34" charset="0"/>
                </a:endParaRPr>
              </a:p>
              <a:p>
                <a:endParaRPr lang="ru-RU" dirty="0" smtClean="0">
                  <a:cs typeface="Calibri" pitchFamily="34" charset="0"/>
                </a:endParaRPr>
              </a:p>
              <a:p>
                <a:r>
                  <a:rPr lang="ru-RU" sz="1100" b="1" dirty="0">
                    <a:cs typeface="Calibri" pitchFamily="34" charset="0"/>
                  </a:rPr>
                  <a:t>Рекомендуемые значения: </a:t>
                </a:r>
                <a:r>
                  <a:rPr lang="en-US" sz="1100" b="1" dirty="0">
                    <a:cs typeface="Calibri" pitchFamily="34" charset="0"/>
                  </a:rPr>
                  <a:t/>
                </a:r>
                <a:r>
                  <a:rPr lang="ru-RU" sz="1100" b="1" dirty="0">
                    <a:cs typeface="Calibri" pitchFamily="34" charset="0"/>
                  </a:rPr>
                  <a:t>3,0</a:t>
                </a:r>
                <a:r>
                  <a:rPr lang="en-US" sz="1100" b="1" dirty="0">
                    <a:cs typeface="Calibri" pitchFamily="34" charset="0"/>
                  </a:rPr>
                  <a:t>- </a:t>
                </a:r>
                <a:r>
                  <a:rPr lang="ru-RU" sz="1100" b="1" dirty="0">
                    <a:cs typeface="Calibri" pitchFamily="34" charset="0"/>
                  </a:rPr>
                  <a:t>3</a:t>
                </a:r>
                <a:r>
                  <a:rPr lang="en-US" sz="1100" b="1" dirty="0">
                    <a:cs typeface="Calibri" pitchFamily="34" charset="0"/>
                  </a:rPr>
                  <a:t>,5</a:t>
                </a:r>
                <a:endParaRPr lang="ru-RU" sz="1100" b="1" dirty="0">
                  <a:cs typeface="Calibri" pitchFamily="34" charset="0"/>
                </a:endParaRPr>
              </a:p>
              <a:p>
                <a:endParaRPr lang="ru-RU" dirty="0" smtClean="0">
                  <a:cs typeface="Calibri" pitchFamily="34" charset="0"/>
                </a:endParaRPr>
              </a:p>
              <a:p>
                <a:endParaRPr lang="ru-RU" dirty="0"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64" y="1937454"/>
                <a:ext cx="4672803" cy="2413225"/>
              </a:xfrm>
              <a:prstGeom prst="rect">
                <a:avLst/>
              </a:prstGeom>
              <a:blipFill rotWithShape="1">
                <a:blip r:embed="rId2"/>
                <a:stretch>
                  <a:fillRect t="-2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78768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312139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Долговая нагрузка компании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8363" y="1804230"/>
            <a:ext cx="46728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Стоит постараться объективно и всесторонне оценить свою реальную </a:t>
            </a:r>
            <a:r>
              <a:rPr lang="ru-RU" sz="1200" dirty="0" smtClean="0"/>
              <a:t>платеже- </a:t>
            </a:r>
            <a:r>
              <a:rPr lang="ru-RU" sz="1200" dirty="0"/>
              <a:t>и кредитоспособность, финансовую независимость.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r>
              <a:rPr lang="ru-RU" sz="1200" dirty="0"/>
              <a:t>Для этого нужно ответить на такие вопросы: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сколько заемных средств приходится на рубль собственных (</a:t>
            </a:r>
            <a:r>
              <a:rPr lang="en-US" sz="1200" dirty="0"/>
              <a:t>TD/EQ</a:t>
            </a:r>
            <a:r>
              <a:rPr lang="en-US" sz="1200" dirty="0" smtClean="0"/>
              <a:t>)</a:t>
            </a:r>
            <a:r>
              <a:rPr lang="ru-RU" sz="1200" dirty="0" smtClean="0"/>
              <a:t>;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какая часть основных средств финансируется за счет долгосрочных займов</a:t>
            </a:r>
            <a:r>
              <a:rPr lang="en-US" sz="1200" dirty="0"/>
              <a:t> (FA/LTD</a:t>
            </a:r>
            <a:r>
              <a:rPr lang="en-US" sz="1200" dirty="0" smtClean="0"/>
              <a:t>)</a:t>
            </a:r>
            <a:r>
              <a:rPr lang="ru-RU" sz="1200" dirty="0" smtClean="0"/>
              <a:t>;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насколько оборотные активы превышают краткосрочные обязательства </a:t>
            </a:r>
            <a:r>
              <a:rPr lang="en-US" sz="1200" dirty="0"/>
              <a:t>(CR</a:t>
            </a:r>
            <a:r>
              <a:rPr lang="en-US" sz="1200" dirty="0" smtClean="0"/>
              <a:t>)</a:t>
            </a:r>
            <a:r>
              <a:rPr lang="ru-RU" sz="1200" dirty="0" smtClean="0"/>
              <a:t>;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велика ли процентная нагрузка на предприятие</a:t>
            </a:r>
            <a:r>
              <a:rPr lang="en-US" sz="1200" dirty="0"/>
              <a:t> (TIE</a:t>
            </a:r>
            <a:r>
              <a:rPr lang="en-US" sz="1200" dirty="0" smtClean="0"/>
              <a:t>)</a:t>
            </a:r>
            <a:r>
              <a:rPr lang="ru-RU" sz="1200" dirty="0" smtClean="0"/>
              <a:t>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xmlns="" val="52283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3" y="1231482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Влияние финансового рычага на </a:t>
            </a:r>
            <a:r>
              <a:rPr lang="en-US" sz="1800" b="1" dirty="0"/>
              <a:t>ROE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Прямоугольник 2"/>
              <p:cNvSpPr/>
              <p:nvPr/>
            </p:nvSpPr>
            <p:spPr>
              <a:xfrm>
                <a:off x="568362" y="1660723"/>
                <a:ext cx="4672803" cy="2360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100" dirty="0">
                    <a:cs typeface="Calibri" pitchFamily="34" charset="0"/>
                  </a:rPr>
                  <a:t>Заемные средства увеличивают/уменьшают рентабельность собственного </a:t>
                </a:r>
                <a:r>
                  <a:rPr lang="ru-RU" sz="1100" dirty="0" smtClean="0">
                    <a:cs typeface="Calibri" pitchFamily="34" charset="0"/>
                  </a:rPr>
                  <a:t>капитала.</a:t>
                </a:r>
                <a:endParaRPr lang="ru-RU" sz="1100" dirty="0">
                  <a:cs typeface="Calibri" pitchFamily="34" charset="0"/>
                </a:endParaRPr>
              </a:p>
              <a:p>
                <a:endParaRPr lang="ru-RU" sz="900" dirty="0">
                  <a:cs typeface="Calibri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Calibri" pitchFamily="34" charset="0"/>
                        </a:rPr>
                        <m:t>Эффект рычага</m:t>
                      </m:r>
                      <m:r>
                        <a:rPr lang="pt-BR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Calibri" pitchFamily="34" charset="0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solidFill>
                                <a:srgbClr val="0070C0"/>
                              </a:solidFill>
                              <a:latin typeface="Cambria Math"/>
                              <a:cs typeface="Calibri" pitchFamily="34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libri" pitchFamily="34" charset="0"/>
                            </a:rPr>
                            <m:t>𝑅𝑂𝐴</m:t>
                          </m:r>
                          <m: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libri" pitchFamily="34" charset="0"/>
                            </a:rPr>
                            <m:t> −%</m:t>
                          </m:r>
                        </m:e>
                      </m:d>
                      <m:r>
                        <a:rPr lang="en-US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Calibri" pitchFamily="34" charset="0"/>
                        </a:rPr>
                        <m:t>∗ 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Заемный капитал</m:t>
                          </m:r>
                        </m:num>
                        <m:den>
                          <m:r>
                            <a:rPr lang="ru-RU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Собственный капитал</m:t>
                          </m:r>
                        </m:den>
                      </m:f>
                    </m:oMath>
                  </m:oMathPara>
                </a14:m>
                <a:endParaRPr lang="ru-RU" sz="1400" dirty="0">
                  <a:cs typeface="Calibri" pitchFamily="34" charset="0"/>
                </a:endParaRPr>
              </a:p>
              <a:p>
                <a:endParaRPr lang="ru-RU" sz="900" dirty="0">
                  <a:cs typeface="Calibri" pitchFamily="34" charset="0"/>
                </a:endParaRPr>
              </a:p>
              <a:p>
                <a:endParaRPr lang="ru-RU" sz="1100" dirty="0" smtClean="0">
                  <a:cs typeface="Calibri" pitchFamily="34" charset="0"/>
                </a:endParaRPr>
              </a:p>
              <a:p>
                <a:r>
                  <a:rPr lang="en-US" sz="1100" dirty="0" smtClean="0">
                    <a:cs typeface="Calibri" pitchFamily="34" charset="0"/>
                  </a:rPr>
                  <a:t>ROA </a:t>
                </a:r>
                <a:r>
                  <a:rPr lang="en-US" sz="1100" dirty="0">
                    <a:cs typeface="Calibri" pitchFamily="34" charset="0"/>
                  </a:rPr>
                  <a:t>– </a:t>
                </a:r>
                <a:r>
                  <a:rPr lang="ru-RU" sz="1100" dirty="0">
                    <a:cs typeface="Calibri" pitchFamily="34" charset="0"/>
                  </a:rPr>
                  <a:t>рентабельность активов </a:t>
                </a:r>
              </a:p>
              <a:p>
                <a:r>
                  <a:rPr lang="en-US" sz="1100" dirty="0">
                    <a:cs typeface="Calibri" pitchFamily="34" charset="0"/>
                  </a:rPr>
                  <a:t>% –</a:t>
                </a:r>
                <a:r>
                  <a:rPr lang="en-US" sz="1100" dirty="0" smtClean="0">
                    <a:cs typeface="Calibri" pitchFamily="34" charset="0"/>
                  </a:rPr>
                  <a:t/>
                </a:r>
                <a:r>
                  <a:rPr lang="ru-RU" sz="1100" dirty="0">
                    <a:cs typeface="Calibri" pitchFamily="34" charset="0"/>
                  </a:rPr>
                  <a:t>стоимость заемного капитала (средневзвешенный % по кредитам)</a:t>
                </a:r>
              </a:p>
              <a:p>
                <a:endParaRPr lang="ru-RU" sz="1200" dirty="0">
                  <a:cs typeface="Calibri" pitchFamily="34" charset="0"/>
                </a:endParaRPr>
              </a:p>
              <a:p>
                <a:r>
                  <a:rPr lang="ru-RU" sz="900" b="1" dirty="0" smtClean="0">
                    <a:cs typeface="Calibri" pitchFamily="34" charset="0"/>
                  </a:rPr>
                  <a:t>Эффект </a:t>
                </a:r>
                <a:r>
                  <a:rPr lang="ru-RU" sz="900" b="1" dirty="0">
                    <a:cs typeface="Calibri" pitchFamily="34" charset="0"/>
                  </a:rPr>
                  <a:t>рычага положительный </a:t>
                </a:r>
                <a:r>
                  <a:rPr lang="ru-RU" sz="900" dirty="0" smtClean="0">
                    <a:cs typeface="Calibri" pitchFamily="34" charset="0"/>
                  </a:rPr>
                  <a:t>– увеличение </a:t>
                </a:r>
                <a:r>
                  <a:rPr lang="ru-RU" sz="900" dirty="0">
                    <a:cs typeface="Calibri" pitchFamily="34" charset="0"/>
                  </a:rPr>
                  <a:t>заемного капитала </a:t>
                </a:r>
                <a:r>
                  <a:rPr lang="ru-RU" sz="900" dirty="0" smtClean="0">
                    <a:cs typeface="Calibri" pitchFamily="34" charset="0"/>
                  </a:rPr>
                  <a:t>повышает рентабельность </a:t>
                </a:r>
                <a:r>
                  <a:rPr lang="ru-RU" sz="900" dirty="0">
                    <a:cs typeface="Calibri" pitchFamily="34" charset="0"/>
                  </a:rPr>
                  <a:t>собственного </a:t>
                </a:r>
                <a:r>
                  <a:rPr lang="ru-RU" sz="900" dirty="0" smtClean="0">
                    <a:cs typeface="Calibri" pitchFamily="34" charset="0"/>
                  </a:rPr>
                  <a:t>капитала.</a:t>
                </a:r>
                <a:endParaRPr lang="ru-RU" sz="900" dirty="0">
                  <a:cs typeface="Calibri" pitchFamily="34" charset="0"/>
                </a:endParaRPr>
              </a:p>
              <a:p>
                <a:pPr indent="-257175"/>
                <a:r>
                  <a:rPr lang="ru-RU" sz="900" b="1" dirty="0">
                    <a:cs typeface="Calibri" pitchFamily="34" charset="0"/>
                  </a:rPr>
                  <a:t>Эффект рычага отрицательный </a:t>
                </a:r>
                <a:r>
                  <a:rPr lang="ru-RU" sz="900" dirty="0">
                    <a:cs typeface="Calibri" pitchFamily="34" charset="0"/>
                  </a:rPr>
                  <a:t>– увеличение заемного капитала снижает рентабельность собственного капитала. </a:t>
                </a: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62" y="1660723"/>
                <a:ext cx="4672803" cy="2360839"/>
              </a:xfrm>
              <a:prstGeom prst="rect">
                <a:avLst/>
              </a:prstGeom>
              <a:blipFill rotWithShape="1">
                <a:blip r:embed="rId2"/>
                <a:stretch>
                  <a:fillRect t="-2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13461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Показатели ликвидности/</a:t>
            </a:r>
            <a:br>
              <a:rPr lang="ru-RU" sz="3600" b="1" dirty="0" smtClean="0"/>
            </a:br>
            <a:r>
              <a:rPr lang="ru-RU" sz="3600" b="1" dirty="0" smtClean="0"/>
              <a:t>платежеспособности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046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3" y="1231482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Показатели </a:t>
            </a:r>
            <a:r>
              <a:rPr lang="ru-RU" sz="1800" b="1" dirty="0" smtClean="0"/>
              <a:t>ликвидности/платежеспособности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Прямоугольник 2"/>
              <p:cNvSpPr/>
              <p:nvPr/>
            </p:nvSpPr>
            <p:spPr>
              <a:xfrm>
                <a:off x="568362" y="1660723"/>
                <a:ext cx="4672803" cy="24650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100" b="1" dirty="0">
                    <a:cs typeface="Calibri" pitchFamily="34" charset="0"/>
                  </a:rPr>
                  <a:t>Коэффициент текущей ликвидности </a:t>
                </a:r>
                <a:r>
                  <a:rPr lang="ru-RU" sz="1100" dirty="0">
                    <a:cs typeface="Calibri" pitchFamily="34" charset="0"/>
                  </a:rPr>
                  <a:t>(</a:t>
                </a:r>
                <a:r>
                  <a:rPr lang="en-US" sz="1100" dirty="0">
                    <a:cs typeface="Calibri" pitchFamily="34" charset="0"/>
                  </a:rPr>
                  <a:t>current ratio</a:t>
                </a:r>
                <a:r>
                  <a:rPr lang="ru-RU" sz="1100" dirty="0">
                    <a:cs typeface="Calibri" pitchFamily="34" charset="0"/>
                  </a:rPr>
                  <a:t>, </a:t>
                </a:r>
                <a:r>
                  <a:rPr lang="en-US" sz="1100" dirty="0">
                    <a:cs typeface="Calibri" pitchFamily="34" charset="0"/>
                  </a:rPr>
                  <a:t>CR</a:t>
                </a:r>
                <a:r>
                  <a:rPr lang="en-US" sz="1100" dirty="0" smtClean="0">
                    <a:cs typeface="Calibri" pitchFamily="34" charset="0"/>
                  </a:rPr>
                  <a:t>)</a:t>
                </a:r>
                <a:endParaRPr lang="ru-RU" sz="1100" dirty="0" smtClean="0">
                  <a:cs typeface="Calibri" pitchFamily="34" charset="0"/>
                </a:endParaRPr>
              </a:p>
              <a:p>
                <a:endParaRPr lang="ru-RU" sz="1100" i="1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Коэффициент текущей ликвидности</m:t>
                      </m:r>
                      <m:r>
                        <a:rPr lang="en-US" sz="11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1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Оборотные активы</m:t>
                          </m:r>
                        </m:num>
                        <m:den>
                          <m:r>
                            <a:rPr lang="ru-RU" sz="11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Краткосрочные обязательства</m:t>
                          </m:r>
                        </m:den>
                      </m:f>
                    </m:oMath>
                  </m:oMathPara>
                </a14:m>
                <a:endParaRPr lang="ru-RU" sz="1100" dirty="0" smtClean="0">
                  <a:cs typeface="Calibri" pitchFamily="34" charset="0"/>
                </a:endParaRPr>
              </a:p>
              <a:p>
                <a:endParaRPr lang="ru-RU" sz="900" dirty="0">
                  <a:cs typeface="Calibri" pitchFamily="34" charset="0"/>
                </a:endParaRPr>
              </a:p>
              <a:p>
                <a:endParaRPr lang="ru-RU" sz="900" b="1" dirty="0" smtClean="0">
                  <a:cs typeface="Calibri" pitchFamily="34" charset="0"/>
                </a:endParaRPr>
              </a:p>
              <a:p>
                <a:r>
                  <a:rPr lang="ru-RU" sz="1100" b="1" dirty="0" smtClean="0">
                    <a:cs typeface="Calibri" pitchFamily="34" charset="0"/>
                  </a:rPr>
                  <a:t>Коэффициент </a:t>
                </a:r>
                <a:r>
                  <a:rPr lang="ru-RU" sz="1100" b="1" dirty="0">
                    <a:cs typeface="Calibri" pitchFamily="34" charset="0"/>
                  </a:rPr>
                  <a:t>покрытия среднедневных платежей денежными средствами </a:t>
                </a:r>
                <a:r>
                  <a:rPr lang="ru-RU" sz="1100" dirty="0">
                    <a:cs typeface="Calibri" pitchFamily="34" charset="0"/>
                  </a:rPr>
                  <a:t>(</a:t>
                </a:r>
                <a:r>
                  <a:rPr lang="en-US" sz="1100" dirty="0">
                    <a:cs typeface="Calibri" pitchFamily="34" charset="0"/>
                  </a:rPr>
                  <a:t>defensive interval</a:t>
                </a:r>
                <a:r>
                  <a:rPr lang="en-US" sz="1100" dirty="0" smtClean="0">
                    <a:cs typeface="Calibri" pitchFamily="34" charset="0"/>
                  </a:rPr>
                  <a:t>)</a:t>
                </a:r>
                <a:endParaRPr lang="ru-RU" sz="1100" dirty="0" smtClean="0">
                  <a:cs typeface="Calibri" pitchFamily="34" charset="0"/>
                </a:endParaRPr>
              </a:p>
              <a:p>
                <a:endParaRPr lang="ru-RU" sz="1100" i="1" dirty="0" smtClean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Коэффициент покрытия ср/дн платежей</m:t>
                      </m:r>
                      <m:r>
                        <a:rPr lang="en-US" sz="11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1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Денежные средства</m:t>
                          </m:r>
                        </m:num>
                        <m:den>
                          <m:r>
                            <a:rPr lang="ru-RU" sz="11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Среднедневные платежи</m:t>
                          </m:r>
                        </m:den>
                      </m:f>
                    </m:oMath>
                  </m:oMathPara>
                </a14:m>
                <a:endParaRPr lang="ru-RU" sz="1100" dirty="0" smtClean="0">
                  <a:cs typeface="Calibri" pitchFamily="34" charset="0"/>
                </a:endParaRPr>
              </a:p>
              <a:p>
                <a:endParaRPr lang="ru-RU" sz="900" dirty="0">
                  <a:cs typeface="Calibri" pitchFamily="34" charset="0"/>
                </a:endParaRPr>
              </a:p>
              <a:p>
                <a:endParaRPr lang="ru-RU" sz="900" dirty="0" smtClean="0">
                  <a:cs typeface="Calibri" pitchFamily="34" charset="0"/>
                </a:endParaRPr>
              </a:p>
              <a:p>
                <a:r>
                  <a:rPr lang="ru-RU" sz="900" dirty="0">
                    <a:cs typeface="Calibri" pitchFamily="34" charset="0"/>
                  </a:rPr>
                  <a:t>Среднедневные платежи = (Себестоимость – Амортизация + Административные и коммерческие расходы) / 365* дней </a:t>
                </a:r>
                <a:endParaRPr lang="en-US" sz="900" dirty="0"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62" y="1660723"/>
                <a:ext cx="4672803" cy="2465098"/>
              </a:xfrm>
              <a:prstGeom prst="rect">
                <a:avLst/>
              </a:prstGeom>
              <a:blipFill rotWithShape="1">
                <a:blip r:embed="rId2"/>
                <a:stretch>
                  <a:fillRect t="-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6585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3" y="1231482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Что влияет на ликвидность компании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5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946068880"/>
              </p:ext>
            </p:extLst>
          </p:nvPr>
        </p:nvGraphicFramePr>
        <p:xfrm>
          <a:off x="634976" y="1648959"/>
          <a:ext cx="4512310" cy="2559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3966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Анализ оборачиваемости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2989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68364" y="1231482"/>
            <a:ext cx="4482032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/>
              <a:t>Анализ оборачиваемости</a:t>
            </a:r>
            <a:endParaRPr lang="en-US" sz="18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Прямоугольник 2"/>
              <p:cNvSpPr/>
              <p:nvPr/>
            </p:nvSpPr>
            <p:spPr>
              <a:xfrm>
                <a:off x="583483" y="1650906"/>
                <a:ext cx="4572000" cy="241534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sz="1200" b="1" dirty="0">
                    <a:latin typeface="Calibri" pitchFamily="34" charset="0"/>
                    <a:cs typeface="Calibri" pitchFamily="34" charset="0"/>
                  </a:rPr>
                  <a:t>Коэффициент оборачиваемости активов</a:t>
                </a:r>
                <a:r>
                  <a:rPr lang="en-US" sz="1200" b="1" dirty="0">
                    <a:latin typeface="Calibri" pitchFamily="34" charset="0"/>
                    <a:cs typeface="Calibri" pitchFamily="34" charset="0"/>
                  </a:rPr>
                  <a:t> (total assets turnover</a:t>
                </a:r>
                <a:r>
                  <a:rPr lang="en-US" sz="1200" b="1" dirty="0" smtClean="0"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1200" b="1" dirty="0" smtClean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 smtClean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>
                  <a:latin typeface="Calibri" pitchFamily="34" charset="0"/>
                  <a:cs typeface="Calibri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Коэффициент оборачиваемости активов</m:t>
                      </m:r>
                      <m:r>
                        <a:rPr lang="en-US" sz="1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Выручка</m:t>
                          </m:r>
                        </m:num>
                        <m:den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Итого активы</m:t>
                          </m:r>
                        </m:den>
                      </m:f>
                    </m:oMath>
                  </m:oMathPara>
                </a14:m>
                <a:endParaRPr lang="ru-RU" sz="1200" dirty="0" smtClean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 smtClean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ru-RU" sz="1100" b="1" dirty="0" smtClean="0">
                    <a:latin typeface="Calibri" pitchFamily="34" charset="0"/>
                    <a:cs typeface="Calibri" pitchFamily="34" charset="0"/>
                  </a:rPr>
                  <a:t>Период </a:t>
                </a:r>
                <a:r>
                  <a:rPr lang="ru-RU" sz="1100" b="1" dirty="0">
                    <a:latin typeface="Calibri" pitchFamily="34" charset="0"/>
                    <a:cs typeface="Calibri" pitchFamily="34" charset="0"/>
                  </a:rPr>
                  <a:t>оборачиваемости</a:t>
                </a:r>
                <a:r>
                  <a:rPr lang="en-US" sz="1100" b="1" dirty="0">
                    <a:latin typeface="Calibri" pitchFamily="34" charset="0"/>
                    <a:cs typeface="Calibri" pitchFamily="34" charset="0"/>
                  </a:rPr>
                  <a:t> (period turnover) </a:t>
                </a:r>
                <a:endParaRPr lang="ru-RU" sz="1100" b="1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 smtClean="0">
                  <a:latin typeface="Calibri" pitchFamily="34" charset="0"/>
                  <a:cs typeface="Calibri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Период оборачиваемости активов</m:t>
                      </m:r>
                      <m:r>
                        <a:rPr lang="en-US" sz="1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Итого активы</m:t>
                          </m:r>
                        </m:num>
                        <m:den>
                          <m:r>
                            <a:rPr lang="ru-RU" sz="1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База расчета за 1 день</m:t>
                          </m:r>
                        </m:den>
                      </m:f>
                    </m:oMath>
                  </m:oMathPara>
                </a14:m>
                <a:endParaRPr lang="ru-RU" sz="1200" dirty="0" smtClean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 smtClean="0">
                  <a:latin typeface="Calibri" pitchFamily="34" charset="0"/>
                  <a:cs typeface="Calibri" pitchFamily="34" charset="0"/>
                </a:endParaRPr>
              </a:p>
              <a:p>
                <a:endParaRPr lang="ru-RU" sz="9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ru-RU" sz="900" dirty="0" smtClean="0">
                    <a:latin typeface="Calibri" pitchFamily="34" charset="0"/>
                    <a:cs typeface="Calibri" pitchFamily="34" charset="0"/>
                  </a:rPr>
                  <a:t>База </a:t>
                </a:r>
                <a:r>
                  <a:rPr lang="ru-RU" sz="900" dirty="0">
                    <a:latin typeface="Calibri" pitchFamily="34" charset="0"/>
                    <a:cs typeface="Calibri" pitchFamily="34" charset="0"/>
                  </a:rPr>
                  <a:t>расчета: выручка, </a:t>
                </a:r>
                <a:r>
                  <a:rPr lang="ru-RU" sz="900" dirty="0" smtClean="0">
                    <a:latin typeface="Calibri" pitchFamily="34" charset="0"/>
                    <a:cs typeface="Calibri" pitchFamily="34" charset="0"/>
                  </a:rPr>
                  <a:t>себестоимость.</a:t>
                </a:r>
                <a:endParaRPr lang="ru-RU" sz="900" dirty="0"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83" y="1650906"/>
                <a:ext cx="4572000" cy="2415341"/>
              </a:xfrm>
              <a:prstGeom prst="rect">
                <a:avLst/>
              </a:prstGeom>
              <a:blipFill rotWithShape="1">
                <a:blip r:embed="rId2"/>
                <a:stretch>
                  <a:fillRect l="-1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23936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514729" y="1325449"/>
            <a:ext cx="5475916" cy="2620264"/>
            <a:chOff x="-109439" y="1428736"/>
            <a:chExt cx="8967656" cy="4742004"/>
          </a:xfrm>
        </p:grpSpPr>
        <p:grpSp>
          <p:nvGrpSpPr>
            <p:cNvPr id="6" name="Группа 5"/>
            <p:cNvGrpSpPr/>
            <p:nvPr/>
          </p:nvGrpSpPr>
          <p:grpSpPr>
            <a:xfrm>
              <a:off x="-109439" y="1428736"/>
              <a:ext cx="8967656" cy="4108678"/>
              <a:chOff x="-111205" y="2857496"/>
              <a:chExt cx="9112330" cy="4108678"/>
            </a:xfrm>
          </p:grpSpPr>
          <p:grpSp>
            <p:nvGrpSpPr>
              <p:cNvPr id="13" name="Группа 25"/>
              <p:cNvGrpSpPr>
                <a:grpSpLocks/>
              </p:cNvGrpSpPr>
              <p:nvPr/>
            </p:nvGrpSpPr>
            <p:grpSpPr bwMode="auto">
              <a:xfrm>
                <a:off x="37038" y="3096941"/>
                <a:ext cx="7992088" cy="2021531"/>
                <a:chOff x="-34431" y="3513968"/>
                <a:chExt cx="7992114" cy="1088522"/>
              </a:xfrm>
            </p:grpSpPr>
            <p:cxnSp>
              <p:nvCxnSpPr>
                <p:cNvPr id="32" name="Прямая соединительная линия 31"/>
                <p:cNvCxnSpPr/>
                <p:nvPr/>
              </p:nvCxnSpPr>
              <p:spPr>
                <a:xfrm>
                  <a:off x="1599725" y="4165523"/>
                  <a:ext cx="6357958" cy="1587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Прямоугольник 32"/>
                <p:cNvSpPr/>
                <p:nvPr/>
              </p:nvSpPr>
              <p:spPr>
                <a:xfrm>
                  <a:off x="-34431" y="3673795"/>
                  <a:ext cx="1516407" cy="92869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1000" b="1" dirty="0">
                      <a:solidFill>
                        <a:schemeClr val="accent1"/>
                      </a:solidFill>
                    </a:rPr>
                    <a:t>Оборотные активы</a:t>
                  </a:r>
                </a:p>
              </p:txBody>
            </p:sp>
            <p:sp>
              <p:nvSpPr>
                <p:cNvPr id="34" name="Прямоугольник 33"/>
                <p:cNvSpPr/>
                <p:nvPr/>
              </p:nvSpPr>
              <p:spPr>
                <a:xfrm flipH="1">
                  <a:off x="1599682" y="4162612"/>
                  <a:ext cx="45719" cy="28026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/>
                </a:p>
              </p:txBody>
            </p:sp>
            <p:sp>
              <p:nvSpPr>
                <p:cNvPr id="35" name="Прямоугольник 34"/>
                <p:cNvSpPr/>
                <p:nvPr/>
              </p:nvSpPr>
              <p:spPr>
                <a:xfrm>
                  <a:off x="2856205" y="4091173"/>
                  <a:ext cx="71437" cy="14287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/>
                </a:p>
              </p:txBody>
            </p:sp>
            <p:sp>
              <p:nvSpPr>
                <p:cNvPr id="36" name="Прямоугольник 35"/>
                <p:cNvSpPr/>
                <p:nvPr/>
              </p:nvSpPr>
              <p:spPr>
                <a:xfrm>
                  <a:off x="3673309" y="4085473"/>
                  <a:ext cx="71437" cy="14287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/>
                </a:p>
              </p:txBody>
            </p:sp>
            <p:sp>
              <p:nvSpPr>
                <p:cNvPr id="37" name="Прямоугольник 36"/>
                <p:cNvSpPr/>
                <p:nvPr/>
              </p:nvSpPr>
              <p:spPr>
                <a:xfrm>
                  <a:off x="5299331" y="4095673"/>
                  <a:ext cx="71437" cy="14287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/>
                </a:p>
              </p:txBody>
            </p:sp>
            <p:sp>
              <p:nvSpPr>
                <p:cNvPr id="38" name="Прямоугольник 37"/>
                <p:cNvSpPr/>
                <p:nvPr/>
              </p:nvSpPr>
              <p:spPr>
                <a:xfrm>
                  <a:off x="6470377" y="4096170"/>
                  <a:ext cx="71437" cy="14287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/>
                </a:p>
              </p:txBody>
            </p:sp>
            <p:sp>
              <p:nvSpPr>
                <p:cNvPr id="39" name="Прямоугольник 38"/>
                <p:cNvSpPr/>
                <p:nvPr/>
              </p:nvSpPr>
              <p:spPr>
                <a:xfrm>
                  <a:off x="1599725" y="3571873"/>
                  <a:ext cx="1357316" cy="64294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800" dirty="0">
                      <a:solidFill>
                        <a:schemeClr val="accent1"/>
                      </a:solidFill>
                    </a:rPr>
                    <a:t>Авансы поставщикам</a:t>
                  </a:r>
                </a:p>
              </p:txBody>
            </p:sp>
            <p:sp>
              <p:nvSpPr>
                <p:cNvPr id="40" name="Прямоугольник 39"/>
                <p:cNvSpPr/>
                <p:nvPr/>
              </p:nvSpPr>
              <p:spPr>
                <a:xfrm>
                  <a:off x="2706133" y="3571874"/>
                  <a:ext cx="1143005" cy="64294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800" dirty="0">
                      <a:solidFill>
                        <a:schemeClr val="accent1"/>
                      </a:solidFill>
                    </a:rPr>
                    <a:t>Запасы сырья</a:t>
                  </a:r>
                </a:p>
              </p:txBody>
            </p:sp>
            <p:sp>
              <p:nvSpPr>
                <p:cNvPr id="41" name="Прямоугольник 40"/>
                <p:cNvSpPr/>
                <p:nvPr/>
              </p:nvSpPr>
              <p:spPr>
                <a:xfrm>
                  <a:off x="3755518" y="3535088"/>
                  <a:ext cx="1571630" cy="64294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800" dirty="0">
                      <a:solidFill>
                        <a:schemeClr val="accent1"/>
                      </a:solidFill>
                    </a:rPr>
                    <a:t>Незавершенное производство</a:t>
                  </a:r>
                </a:p>
              </p:txBody>
            </p:sp>
            <p:sp>
              <p:nvSpPr>
                <p:cNvPr id="42" name="Прямоугольник 41"/>
                <p:cNvSpPr/>
                <p:nvPr/>
              </p:nvSpPr>
              <p:spPr>
                <a:xfrm>
                  <a:off x="5214729" y="3541189"/>
                  <a:ext cx="1357316" cy="64294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800" dirty="0">
                      <a:solidFill>
                        <a:schemeClr val="accent1"/>
                      </a:solidFill>
                    </a:rPr>
                    <a:t>Запасы готовой продукции</a:t>
                  </a:r>
                </a:p>
              </p:txBody>
            </p:sp>
            <p:sp>
              <p:nvSpPr>
                <p:cNvPr id="43" name="Прямоугольник 42"/>
                <p:cNvSpPr/>
                <p:nvPr/>
              </p:nvSpPr>
              <p:spPr>
                <a:xfrm>
                  <a:off x="7905576" y="4126890"/>
                  <a:ext cx="45719" cy="31872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/>
                </a:p>
              </p:txBody>
            </p:sp>
            <p:sp>
              <p:nvSpPr>
                <p:cNvPr id="44" name="Прямоугольник 43"/>
                <p:cNvSpPr/>
                <p:nvPr/>
              </p:nvSpPr>
              <p:spPr>
                <a:xfrm>
                  <a:off x="6487419" y="3513968"/>
                  <a:ext cx="1441016" cy="64294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800" dirty="0">
                      <a:solidFill>
                        <a:schemeClr val="accent1"/>
                      </a:solidFill>
                    </a:rPr>
                    <a:t>Дебиторская задолженность</a:t>
                  </a:r>
                </a:p>
              </p:txBody>
            </p:sp>
          </p:grpSp>
          <p:grpSp>
            <p:nvGrpSpPr>
              <p:cNvPr id="14" name="Группа 42"/>
              <p:cNvGrpSpPr>
                <a:grpSpLocks/>
              </p:cNvGrpSpPr>
              <p:nvPr/>
            </p:nvGrpSpPr>
            <p:grpSpPr bwMode="auto">
              <a:xfrm>
                <a:off x="-111205" y="4935268"/>
                <a:ext cx="5888406" cy="1214458"/>
                <a:chOff x="-182677" y="4649527"/>
                <a:chExt cx="5888449" cy="1214467"/>
              </a:xfrm>
            </p:grpSpPr>
            <p:cxnSp>
              <p:nvCxnSpPr>
                <p:cNvPr id="25" name="Прямая соединительная линия 24"/>
                <p:cNvCxnSpPr/>
                <p:nvPr/>
              </p:nvCxnSpPr>
              <p:spPr>
                <a:xfrm>
                  <a:off x="1598088" y="5292469"/>
                  <a:ext cx="4071965" cy="1587"/>
                </a:xfrm>
                <a:prstGeom prst="line">
                  <a:avLst/>
                </a:prstGeom>
                <a:ln w="254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Прямоугольник 25"/>
                <p:cNvSpPr/>
                <p:nvPr/>
              </p:nvSpPr>
              <p:spPr>
                <a:xfrm>
                  <a:off x="-182677" y="4786320"/>
                  <a:ext cx="1780765" cy="92869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1000" b="1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Краткосрочные обязательства</a:t>
                  </a:r>
                </a:p>
              </p:txBody>
            </p:sp>
            <p:sp>
              <p:nvSpPr>
                <p:cNvPr id="28" name="Прямоугольник 27"/>
                <p:cNvSpPr/>
                <p:nvPr/>
              </p:nvSpPr>
              <p:spPr>
                <a:xfrm>
                  <a:off x="2891932" y="5149592"/>
                  <a:ext cx="71438" cy="142877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" name="Прямоугольник 28"/>
                <p:cNvSpPr/>
                <p:nvPr/>
              </p:nvSpPr>
              <p:spPr>
                <a:xfrm>
                  <a:off x="5634334" y="5149593"/>
                  <a:ext cx="71438" cy="142877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" name="Прямоугольник 29"/>
                <p:cNvSpPr/>
                <p:nvPr/>
              </p:nvSpPr>
              <p:spPr>
                <a:xfrm>
                  <a:off x="1599686" y="4651114"/>
                  <a:ext cx="1357322" cy="64294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800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Авансы покупателей</a:t>
                  </a:r>
                </a:p>
              </p:txBody>
            </p:sp>
            <p:sp>
              <p:nvSpPr>
                <p:cNvPr id="31" name="Прямоугольник 30"/>
                <p:cNvSpPr/>
                <p:nvPr/>
              </p:nvSpPr>
              <p:spPr>
                <a:xfrm>
                  <a:off x="2963369" y="4649527"/>
                  <a:ext cx="2551002" cy="64294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ru-RU" sz="800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Кредиторская задолженность</a:t>
                  </a:r>
                </a:p>
              </p:txBody>
            </p:sp>
            <p:sp>
              <p:nvSpPr>
                <p:cNvPr id="27" name="Прямоугольник 26"/>
                <p:cNvSpPr/>
                <p:nvPr/>
              </p:nvSpPr>
              <p:spPr>
                <a:xfrm flipH="1">
                  <a:off x="1598088" y="5292470"/>
                  <a:ext cx="45719" cy="571524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ru-RU" sz="135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" name="Группа 50"/>
              <p:cNvGrpSpPr>
                <a:grpSpLocks/>
              </p:cNvGrpSpPr>
              <p:nvPr/>
            </p:nvGrpSpPr>
            <p:grpSpPr bwMode="auto">
              <a:xfrm>
                <a:off x="5813392" y="4967512"/>
                <a:ext cx="2220472" cy="1998662"/>
                <a:chOff x="5740894" y="4681898"/>
                <a:chExt cx="2221282" cy="1999469"/>
              </a:xfrm>
            </p:grpSpPr>
            <p:cxnSp>
              <p:nvCxnSpPr>
                <p:cNvPr id="21" name="Прямая соединительная линия 20"/>
                <p:cNvCxnSpPr/>
                <p:nvPr/>
              </p:nvCxnSpPr>
              <p:spPr>
                <a:xfrm rot="5400000">
                  <a:off x="5276362" y="5595084"/>
                  <a:ext cx="929063" cy="0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Прямая соединительная линия 21"/>
                <p:cNvCxnSpPr/>
                <p:nvPr/>
              </p:nvCxnSpPr>
              <p:spPr>
                <a:xfrm rot="5400000">
                  <a:off x="6958497" y="5680838"/>
                  <a:ext cx="1999469" cy="1590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Прямая со стрелкой 22"/>
                <p:cNvCxnSpPr/>
                <p:nvPr/>
              </p:nvCxnSpPr>
              <p:spPr>
                <a:xfrm>
                  <a:off x="5746804" y="5864589"/>
                  <a:ext cx="2215372" cy="159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49"/>
                <p:cNvSpPr txBox="1">
                  <a:spLocks noChangeArrowheads="1"/>
                </p:cNvSpPr>
                <p:nvPr/>
              </p:nvSpPr>
              <p:spPr bwMode="auto">
                <a:xfrm>
                  <a:off x="6023845" y="5330572"/>
                  <a:ext cx="1485266" cy="3900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ru-RU" sz="800" b="1" dirty="0">
                      <a:solidFill>
                        <a:srgbClr val="C00000"/>
                      </a:solidFill>
                    </a:rPr>
                    <a:t>«чистый цикл»</a:t>
                  </a:r>
                </a:p>
              </p:txBody>
            </p:sp>
          </p:grpSp>
          <p:sp>
            <p:nvSpPr>
              <p:cNvPr id="16" name="Прямоугольник 15"/>
              <p:cNvSpPr/>
              <p:nvPr/>
            </p:nvSpPr>
            <p:spPr>
              <a:xfrm>
                <a:off x="0" y="2857496"/>
                <a:ext cx="9001125" cy="378619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 sz="1350"/>
              </a:p>
            </p:txBody>
          </p:sp>
          <p:cxnSp>
            <p:nvCxnSpPr>
              <p:cNvPr id="17" name="Прямая соединительная линия 16"/>
              <p:cNvCxnSpPr/>
              <p:nvPr/>
            </p:nvCxnSpPr>
            <p:spPr>
              <a:xfrm>
                <a:off x="1671145" y="4815455"/>
                <a:ext cx="6357981" cy="1587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279083" y="4462863"/>
                <a:ext cx="4643469" cy="389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800" dirty="0" smtClean="0"/>
                  <a:t>«операционный </a:t>
                </a:r>
                <a:r>
                  <a:rPr lang="ru-RU" sz="800" dirty="0"/>
                  <a:t>цикл»</a:t>
                </a:r>
              </a:p>
            </p:txBody>
          </p:sp>
          <p:cxnSp>
            <p:nvCxnSpPr>
              <p:cNvPr id="19" name="Прямая соединительная линия 18"/>
              <p:cNvCxnSpPr/>
              <p:nvPr/>
            </p:nvCxnSpPr>
            <p:spPr>
              <a:xfrm>
                <a:off x="1726527" y="6121206"/>
                <a:ext cx="4080679" cy="0"/>
              </a:xfrm>
              <a:prstGeom prst="line">
                <a:avLst/>
              </a:prstGeom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679209" y="5669017"/>
                <a:ext cx="4214842" cy="389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800" dirty="0"/>
                  <a:t>«кредитный цикл»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1097574" y="1516731"/>
              <a:ext cx="6143667" cy="445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00" dirty="0">
                  <a:solidFill>
                    <a:srgbClr val="C00000"/>
                  </a:solidFill>
                </a:rPr>
                <a:t>периоды  оборота</a:t>
              </a:r>
            </a:p>
          </p:txBody>
        </p:sp>
        <p:cxnSp>
          <p:nvCxnSpPr>
            <p:cNvPr id="9" name="Соединительная линия уступом 8"/>
            <p:cNvCxnSpPr/>
            <p:nvPr/>
          </p:nvCxnSpPr>
          <p:spPr>
            <a:xfrm rot="16200000" flipH="1">
              <a:off x="-542924" y="3571877"/>
              <a:ext cx="3643338" cy="500064"/>
            </a:xfrm>
            <a:prstGeom prst="bentConnector3">
              <a:avLst>
                <a:gd name="adj1" fmla="val -196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782612" y="5770631"/>
              <a:ext cx="15716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350" b="1" dirty="0">
                  <a:solidFill>
                    <a:srgbClr val="C00000"/>
                  </a:solidFill>
                </a:rPr>
                <a:t>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12643" y="5754671"/>
              <a:ext cx="15716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350" b="1" dirty="0">
                  <a:solidFill>
                    <a:srgbClr val="C00000"/>
                  </a:solidFill>
                </a:rPr>
                <a:t>Д</a:t>
              </a:r>
              <a:r>
                <a:rPr lang="en-US" sz="1350" b="1" dirty="0">
                  <a:solidFill>
                    <a:srgbClr val="C00000"/>
                  </a:solidFill>
                </a:rPr>
                <a:t>’</a:t>
              </a:r>
              <a:endParaRPr lang="ru-RU" sz="1350" b="1" dirty="0">
                <a:solidFill>
                  <a:srgbClr val="C0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29199" y="5770631"/>
              <a:ext cx="614366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350" dirty="0">
                  <a:solidFill>
                    <a:srgbClr val="C00000"/>
                  </a:solidFill>
                </a:rPr>
                <a:t>время</a:t>
              </a:r>
            </a:p>
          </p:txBody>
        </p:sp>
      </p:grpSp>
      <p:cxnSp>
        <p:nvCxnSpPr>
          <p:cNvPr id="48" name="Соединительная линия уступом 47"/>
          <p:cNvCxnSpPr/>
          <p:nvPr/>
        </p:nvCxnSpPr>
        <p:spPr>
          <a:xfrm rot="16200000" flipH="1">
            <a:off x="4522366" y="2588605"/>
            <a:ext cx="2039117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5541925" y="1569047"/>
            <a:ext cx="12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2160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498374478"/>
              </p:ext>
            </p:extLst>
          </p:nvPr>
        </p:nvGraphicFramePr>
        <p:xfrm>
          <a:off x="680373" y="1397558"/>
          <a:ext cx="4515357" cy="2702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762"/>
                <a:gridCol w="3221595"/>
              </a:tblGrid>
              <a:tr h="282014">
                <a:tc>
                  <a:txBody>
                    <a:bodyPr/>
                    <a:lstStyle/>
                    <a:p>
                      <a:pPr algn="ctr"/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Элементы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активов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Экономический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смысл периода оборота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278130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Авансы поставщикам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Средний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срок предоплаты за сырье и материалы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278130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Запасы сырья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Средняя периодичность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закупки сырья и материалов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278130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Незавершенное производство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Средняя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продолжительность изготовления продукции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278130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Готовая продукция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Периодичность отгрузки готовой продукции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278130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Дебиторская задолженность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Продолжительность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отсрочки оплаты продукции покупателями 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344017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Кредиторская задолженность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Средняя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продолжительность отсрочки платежей за поставленные  материалы, услуги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278130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Авансы покупателей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Средний срок предоплаты продукции покупателями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  <a:tr h="278130"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Устойчивые пассивы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r>
                        <a:rPr lang="ru-RU" sz="900" dirty="0" smtClean="0">
                          <a:latin typeface="Calibri" pitchFamily="34" charset="0"/>
                          <a:cs typeface="Calibri" pitchFamily="34" charset="0"/>
                        </a:rPr>
                        <a:t>Средний срок отсрочки уплаты налогов,</a:t>
                      </a:r>
                      <a:r>
                        <a:rPr lang="ru-RU" sz="900" baseline="0" dirty="0" smtClean="0">
                          <a:latin typeface="Calibri" pitchFamily="34" charset="0"/>
                          <a:cs typeface="Calibri" pitchFamily="34" charset="0"/>
                        </a:rPr>
                        <a:t> заработной платы</a:t>
                      </a:r>
                      <a:endParaRPr lang="ru-RU" sz="9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77623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951" y="1294505"/>
            <a:ext cx="4366109" cy="2846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">
              <a:spcAft>
                <a:spcPts val="600"/>
              </a:spcAft>
            </a:pPr>
            <a:r>
              <a:rPr lang="ru-RU" sz="1100" b="1" dirty="0">
                <a:solidFill>
                  <a:srgbClr val="00B0F0"/>
                </a:solidFill>
                <a:cs typeface="Calibri" pitchFamily="34" charset="0"/>
              </a:rPr>
              <a:t>Операционный цикл =  </a:t>
            </a:r>
            <a:r>
              <a:rPr lang="ru-RU" sz="1100" dirty="0">
                <a:cs typeface="Calibri" pitchFamily="34" charset="0"/>
              </a:rPr>
              <a:t>Период оборота запасов </a:t>
            </a:r>
            <a:r>
              <a:rPr lang="ru-RU" sz="1100" dirty="0">
                <a:solidFill>
                  <a:srgbClr val="00B0F0"/>
                </a:solidFill>
                <a:cs typeface="Calibri" pitchFamily="34" charset="0"/>
              </a:rPr>
              <a:t>+</a:t>
            </a:r>
            <a:r>
              <a:rPr lang="ru-RU" sz="1100" dirty="0">
                <a:cs typeface="Calibri" pitchFamily="34" charset="0"/>
              </a:rPr>
              <a:t> Период оборота  дебиторской </a:t>
            </a:r>
            <a:r>
              <a:rPr lang="ru-RU" sz="1100" dirty="0" smtClean="0">
                <a:cs typeface="Calibri" pitchFamily="34" charset="0"/>
              </a:rPr>
              <a:t>задолженности</a:t>
            </a:r>
          </a:p>
          <a:p>
            <a:pPr>
              <a:spcAft>
                <a:spcPts val="600"/>
              </a:spcAft>
            </a:pPr>
            <a:r>
              <a:rPr lang="ru-RU" sz="1100" b="1" dirty="0" smtClean="0">
                <a:cs typeface="Calibri" pitchFamily="34" charset="0"/>
              </a:rPr>
              <a:t>Сокращение </a:t>
            </a:r>
            <a:r>
              <a:rPr lang="ru-RU" sz="1100" b="1" dirty="0">
                <a:cs typeface="Calibri" pitchFamily="34" charset="0"/>
              </a:rPr>
              <a:t>операционного цикла </a:t>
            </a:r>
            <a:r>
              <a:rPr lang="ru-RU" sz="1100" dirty="0">
                <a:cs typeface="Calibri" pitchFamily="34" charset="0"/>
              </a:rPr>
              <a:t>- улучшение эффективности использования оборотного капитала (способствует повышению рентабельности активов</a:t>
            </a:r>
            <a:r>
              <a:rPr lang="ru-RU" sz="1100" dirty="0" smtClean="0">
                <a:cs typeface="Calibri" pitchFamily="34" charset="0"/>
              </a:rPr>
              <a:t>).</a:t>
            </a:r>
            <a:endParaRPr lang="ru-RU" sz="1100" dirty="0">
              <a:cs typeface="Calibri" pitchFamily="34" charset="0"/>
            </a:endParaRPr>
          </a:p>
          <a:p>
            <a:pPr>
              <a:spcBef>
                <a:spcPct val="50000"/>
              </a:spcBef>
              <a:spcAft>
                <a:spcPts val="600"/>
              </a:spcAft>
            </a:pPr>
            <a:r>
              <a:rPr kumimoji="1" lang="ru-RU" sz="1100" b="1" dirty="0" smtClean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Кредитный </a:t>
            </a:r>
            <a:r>
              <a:rPr kumimoji="1" lang="ru-RU" sz="1100" b="1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цикл =  </a:t>
            </a:r>
            <a:r>
              <a:rPr lang="ru-RU" sz="1100" dirty="0">
                <a:cs typeface="Calibri" pitchFamily="34" charset="0"/>
              </a:rPr>
              <a:t>Период оборота кредиторской задолженности</a:t>
            </a:r>
          </a:p>
          <a:p>
            <a:pPr>
              <a:spcBef>
                <a:spcPct val="50000"/>
              </a:spcBef>
              <a:spcAft>
                <a:spcPts val="600"/>
              </a:spcAft>
            </a:pPr>
            <a:r>
              <a:rPr kumimoji="1" lang="ru-RU" sz="1100" b="1" dirty="0" smtClean="0">
                <a:latin typeface="Calibri" pitchFamily="34" charset="0"/>
                <a:cs typeface="Calibri" pitchFamily="34" charset="0"/>
              </a:rPr>
              <a:t>Сокращение </a:t>
            </a:r>
            <a:r>
              <a:rPr kumimoji="1" lang="ru-RU" sz="1100" b="1" dirty="0">
                <a:latin typeface="Calibri" pitchFamily="34" charset="0"/>
                <a:cs typeface="Calibri" pitchFamily="34" charset="0"/>
              </a:rPr>
              <a:t>кредитного цикла </a:t>
            </a:r>
            <a:r>
              <a:rPr kumimoji="1" lang="ru-RU" sz="1100" dirty="0">
                <a:latin typeface="Calibri" pitchFamily="34" charset="0"/>
                <a:cs typeface="Calibri" pitchFamily="34" charset="0"/>
              </a:rPr>
              <a:t>- снижение эффективности использования краткосрочных </a:t>
            </a:r>
            <a:r>
              <a:rPr kumimoji="1" lang="ru-RU" sz="1100" dirty="0" smtClean="0">
                <a:latin typeface="Calibri" pitchFamily="34" charset="0"/>
                <a:cs typeface="Calibri" pitchFamily="34" charset="0"/>
              </a:rPr>
              <a:t>обязательств.</a:t>
            </a:r>
            <a:endParaRPr kumimoji="1" lang="ru-RU" sz="1100" dirty="0"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spcAft>
                <a:spcPts val="600"/>
              </a:spcAft>
            </a:pPr>
            <a:r>
              <a:rPr kumimoji="1" lang="ru-RU" sz="1100" b="1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Чистый цикл </a:t>
            </a:r>
            <a:r>
              <a:rPr kumimoji="1" lang="ru-RU" sz="1100" dirty="0">
                <a:latin typeface="Calibri" pitchFamily="34" charset="0"/>
                <a:cs typeface="Calibri" pitchFamily="34" charset="0"/>
              </a:rPr>
              <a:t>= Операционный цикл – Кредитный цикл </a:t>
            </a:r>
          </a:p>
          <a:p>
            <a:pPr>
              <a:spcBef>
                <a:spcPct val="50000"/>
              </a:spcBef>
              <a:spcAft>
                <a:spcPts val="600"/>
              </a:spcAft>
            </a:pPr>
            <a:r>
              <a:rPr kumimoji="1" lang="ru-RU" sz="1100" b="1" dirty="0">
                <a:latin typeface="Calibri" pitchFamily="34" charset="0"/>
                <a:cs typeface="Calibri" pitchFamily="34" charset="0"/>
              </a:rPr>
              <a:t>Рост чистого цикла </a:t>
            </a:r>
            <a:r>
              <a:rPr kumimoji="1" lang="ru-RU" sz="1100" dirty="0">
                <a:latin typeface="Calibri" pitchFamily="34" charset="0"/>
                <a:cs typeface="Calibri" pitchFamily="34" charset="0"/>
              </a:rPr>
              <a:t>- ухудшение общих условий финансирования текущей деятельности:  увеличение «чистого цикла» способствует снижению абсолютной </a:t>
            </a:r>
            <a:r>
              <a:rPr kumimoji="1" lang="ru-RU" sz="1100" dirty="0" smtClean="0">
                <a:latin typeface="Calibri" pitchFamily="34" charset="0"/>
                <a:cs typeface="Calibri" pitchFamily="34" charset="0"/>
              </a:rPr>
              <a:t>ликвидности.</a:t>
            </a:r>
            <a:endParaRPr lang="ru-RU" sz="11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647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Название 1"/>
          <p:cNvSpPr>
            <a:spLocks noGrp="1"/>
          </p:cNvSpPr>
          <p:nvPr>
            <p:ph type="ctrTitle"/>
          </p:nvPr>
        </p:nvSpPr>
        <p:spPr>
          <a:xfrm>
            <a:off x="568364" y="1231482"/>
            <a:ext cx="4482032" cy="609429"/>
          </a:xfrm>
        </p:spPr>
        <p:txBody>
          <a:bodyPr anchor="t">
            <a:noAutofit/>
          </a:bodyPr>
          <a:lstStyle/>
          <a:p>
            <a:pPr algn="l"/>
            <a:r>
              <a:rPr lang="ru-RU" sz="1800" b="1" dirty="0" smtClean="0"/>
              <a:t>Влияние оборачиваемости на финансовое состояние предприятия</a:t>
            </a:r>
            <a:endParaRPr lang="en-US" sz="1800" b="1" dirty="0"/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955545757"/>
              </p:ext>
            </p:extLst>
          </p:nvPr>
        </p:nvGraphicFramePr>
        <p:xfrm>
          <a:off x="568365" y="1644762"/>
          <a:ext cx="4482032" cy="2734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90637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Название 1"/>
          <p:cNvSpPr>
            <a:spLocks noGrp="1"/>
          </p:cNvSpPr>
          <p:nvPr>
            <p:ph type="ctrTitle"/>
          </p:nvPr>
        </p:nvSpPr>
        <p:spPr>
          <a:xfrm>
            <a:off x="568364" y="1231482"/>
            <a:ext cx="4482032" cy="609429"/>
          </a:xfrm>
        </p:spPr>
        <p:txBody>
          <a:bodyPr anchor="t">
            <a:noAutofit/>
          </a:bodyPr>
          <a:lstStyle/>
          <a:p>
            <a:pPr algn="l"/>
            <a:r>
              <a:rPr lang="ru-RU" altLang="ru-RU" sz="1800" b="1" dirty="0"/>
              <a:t>Повышение эффективности деятельности </a:t>
            </a:r>
            <a:endParaRPr lang="en-US" sz="18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3483" y="1621947"/>
            <a:ext cx="4572000" cy="24468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Оптимизация ассортимента </a:t>
            </a:r>
            <a:r>
              <a:rPr lang="ru-RU" sz="1200" dirty="0" smtClean="0"/>
              <a:t>продукции. </a:t>
            </a:r>
            <a:endParaRPr lang="ru-RU" sz="1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Заключение долгосрочных </a:t>
            </a:r>
            <a:r>
              <a:rPr lang="ru-RU" sz="1200" dirty="0" smtClean="0"/>
              <a:t>контрактов. </a:t>
            </a:r>
            <a:endParaRPr lang="ru-RU" sz="1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Активный поиск </a:t>
            </a:r>
            <a:r>
              <a:rPr lang="ru-RU" sz="1200" dirty="0" smtClean="0"/>
              <a:t>клиентов. </a:t>
            </a:r>
            <a:endParaRPr lang="ru-RU" sz="1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Продуманная стратегия ценообразования с увязкой маркетинговых целей и принятых в компании методов управления дебиторской </a:t>
            </a:r>
            <a:r>
              <a:rPr lang="ru-RU" sz="1200" dirty="0" smtClean="0"/>
              <a:t>задолженностью.</a:t>
            </a:r>
            <a:endParaRPr lang="ru-RU" sz="1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Минимизация </a:t>
            </a:r>
            <a:r>
              <a:rPr lang="ru-RU" sz="1200" dirty="0" smtClean="0"/>
              <a:t>расходов: </a:t>
            </a:r>
            <a:r>
              <a:rPr lang="ru-RU" sz="1200" dirty="0"/>
              <a:t>где можно сэкономить</a:t>
            </a:r>
            <a:r>
              <a:rPr lang="ru-RU" sz="1200" dirty="0" smtClean="0"/>
              <a:t>, а где </a:t>
            </a:r>
            <a:r>
              <a:rPr lang="ru-RU" sz="1200" dirty="0"/>
              <a:t>нельзя:</a:t>
            </a: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100" dirty="0">
                <a:solidFill>
                  <a:srgbClr val="00B0F0"/>
                </a:solidFill>
              </a:rPr>
              <a:t>сокращение персонала </a:t>
            </a:r>
            <a:r>
              <a:rPr lang="ru-RU" sz="1100" dirty="0">
                <a:solidFill>
                  <a:srgbClr val="00B0F0"/>
                </a:solidFill>
                <a:sym typeface="Symbol"/>
              </a:rPr>
              <a:t> сокращение заработной </a:t>
            </a:r>
            <a:r>
              <a:rPr lang="ru-RU" sz="1100" dirty="0" smtClean="0">
                <a:solidFill>
                  <a:srgbClr val="00B0F0"/>
                </a:solidFill>
                <a:sym typeface="Symbol"/>
              </a:rPr>
              <a:t>платы; </a:t>
            </a:r>
            <a:endParaRPr lang="ru-RU" sz="1100" dirty="0">
              <a:solidFill>
                <a:srgbClr val="00B0F0"/>
              </a:solidFill>
            </a:endParaRP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100" dirty="0">
                <a:solidFill>
                  <a:srgbClr val="00B0F0"/>
                </a:solidFill>
              </a:rPr>
              <a:t>сокращение накладных расходов (аренда, охрана, </a:t>
            </a:r>
            <a:r>
              <a:rPr lang="ru-RU" sz="1100" dirty="0" err="1">
                <a:solidFill>
                  <a:srgbClr val="00B0F0"/>
                </a:solidFill>
              </a:rPr>
              <a:t>клининг</a:t>
            </a:r>
            <a:r>
              <a:rPr lang="ru-RU" sz="1100" dirty="0">
                <a:solidFill>
                  <a:srgbClr val="00B0F0"/>
                </a:solidFill>
              </a:rPr>
              <a:t>, канцелярские расходы, связь, интернет)  </a:t>
            </a:r>
            <a:r>
              <a:rPr lang="ru-RU" sz="1100" dirty="0">
                <a:solidFill>
                  <a:srgbClr val="00B0F0"/>
                </a:solidFill>
                <a:sym typeface="Symbol"/>
              </a:rPr>
              <a:t> контроль и </a:t>
            </a:r>
            <a:r>
              <a:rPr lang="ru-RU" sz="1100" dirty="0" smtClean="0">
                <a:solidFill>
                  <a:srgbClr val="00B0F0"/>
                </a:solidFill>
                <a:sym typeface="Symbol"/>
              </a:rPr>
              <a:t>учет; </a:t>
            </a:r>
            <a:endParaRPr lang="ru-RU" sz="1100" dirty="0">
              <a:solidFill>
                <a:srgbClr val="00B0F0"/>
              </a:solidFill>
            </a:endParaRP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100" dirty="0">
                <a:solidFill>
                  <a:srgbClr val="00B0F0"/>
                </a:solidFill>
              </a:rPr>
              <a:t>сокращение </a:t>
            </a:r>
            <a:r>
              <a:rPr lang="ru-RU" sz="1100" dirty="0" smtClean="0">
                <a:solidFill>
                  <a:srgbClr val="00B0F0"/>
                </a:solidFill>
              </a:rPr>
              <a:t>рекламы.   </a:t>
            </a:r>
            <a:endParaRPr lang="ru-RU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925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Название 1"/>
          <p:cNvSpPr>
            <a:spLocks noGrp="1"/>
          </p:cNvSpPr>
          <p:nvPr>
            <p:ph type="ctrTitle"/>
          </p:nvPr>
        </p:nvSpPr>
        <p:spPr>
          <a:xfrm>
            <a:off x="568364" y="1231482"/>
            <a:ext cx="4482032" cy="609429"/>
          </a:xfrm>
        </p:spPr>
        <p:txBody>
          <a:bodyPr anchor="t">
            <a:noAutofit/>
          </a:bodyPr>
          <a:lstStyle/>
          <a:p>
            <a:pPr algn="l"/>
            <a:r>
              <a:rPr lang="ru-RU" altLang="ru-RU" sz="1800" b="1" dirty="0"/>
              <a:t>Повышение платежеспособности </a:t>
            </a:r>
            <a:endParaRPr lang="en-US" sz="18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3483" y="1621947"/>
            <a:ext cx="4572000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200" b="1" dirty="0">
                <a:solidFill>
                  <a:srgbClr val="00B0F0"/>
                </a:solidFill>
              </a:rPr>
              <a:t>Управление оборотным </a:t>
            </a:r>
            <a:r>
              <a:rPr lang="ru-RU" sz="1200" b="1" dirty="0" smtClean="0">
                <a:solidFill>
                  <a:srgbClr val="00B0F0"/>
                </a:solidFill>
              </a:rPr>
              <a:t>капиталом</a:t>
            </a:r>
          </a:p>
          <a:p>
            <a:pPr>
              <a:defRPr/>
            </a:pPr>
            <a:endParaRPr lang="ru-RU" sz="1200" b="1" dirty="0">
              <a:solidFill>
                <a:srgbClr val="00B0F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Сокращение дебиторской задолженности: </a:t>
            </a:r>
          </a:p>
          <a:p>
            <a:pPr marL="628650" lvl="1" indent="-171450"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ru-RU" sz="1200" dirty="0">
                <a:sym typeface="Symbol"/>
              </a:rPr>
              <a:t>уговорить клиентов платить (через «бонусы», скидки, </a:t>
            </a:r>
            <a:r>
              <a:rPr lang="ru-RU" sz="1200" dirty="0" smtClean="0">
                <a:sym typeface="Symbol"/>
              </a:rPr>
              <a:t>   угрозы </a:t>
            </a:r>
            <a:r>
              <a:rPr lang="ru-RU" sz="1200" dirty="0">
                <a:sym typeface="Symbol"/>
              </a:rPr>
              <a:t>штрафными санкциями и судебными исками</a:t>
            </a:r>
            <a:r>
              <a:rPr lang="ru-RU" sz="1200" dirty="0" smtClean="0">
                <a:sym typeface="Symbol"/>
              </a:rPr>
              <a:t>).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Сокращение запасов: </a:t>
            </a: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200" dirty="0">
                <a:sym typeface="Symbol"/>
              </a:rPr>
              <a:t>оптимизация запасов, расчет стоимости </a:t>
            </a:r>
            <a:r>
              <a:rPr lang="ru-RU" sz="1200" dirty="0" smtClean="0">
                <a:sym typeface="Symbol"/>
              </a:rPr>
              <a:t>запаса</a:t>
            </a:r>
            <a:br>
              <a:rPr lang="ru-RU" sz="1200" dirty="0" smtClean="0">
                <a:sym typeface="Symbol"/>
              </a:rPr>
            </a:br>
            <a:r>
              <a:rPr lang="ru-RU" sz="1200" dirty="0" smtClean="0">
                <a:sym typeface="Symbol"/>
              </a:rPr>
              <a:t>(</a:t>
            </a:r>
            <a:r>
              <a:rPr lang="ru-RU" sz="1200" dirty="0">
                <a:sym typeface="Symbol"/>
              </a:rPr>
              <a:t>расчет оптимального заказа</a:t>
            </a:r>
            <a:r>
              <a:rPr lang="ru-RU" sz="1200" dirty="0" smtClean="0">
                <a:sym typeface="Symbol"/>
              </a:rPr>
              <a:t>);</a:t>
            </a:r>
            <a:endParaRPr lang="ru-RU" sz="1200" dirty="0">
              <a:sym typeface="Symbol"/>
            </a:endParaRP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200" dirty="0"/>
              <a:t>поиск альтернативных </a:t>
            </a:r>
            <a:r>
              <a:rPr lang="ru-RU" sz="1200" dirty="0" smtClean="0"/>
              <a:t>поставщиков; </a:t>
            </a:r>
            <a:endParaRPr lang="ru-RU" sz="1200" dirty="0"/>
          </a:p>
          <a:p>
            <a:pPr marL="628650" lvl="1" indent="-171450"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ru-RU" sz="1200" dirty="0"/>
              <a:t>вовлечение поставщиков в </a:t>
            </a:r>
            <a:r>
              <a:rPr lang="ru-RU" sz="1200" dirty="0" smtClean="0"/>
              <a:t>финансирование. 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Управление кредиторской задолженности: </a:t>
            </a: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200" dirty="0" smtClean="0">
                <a:sym typeface="Symbol"/>
              </a:rPr>
              <a:t>заключение </a:t>
            </a:r>
            <a:r>
              <a:rPr lang="ru-RU" sz="1200" dirty="0">
                <a:sym typeface="Symbol"/>
              </a:rPr>
              <a:t>контрактов с максимальной отсрочкой  </a:t>
            </a:r>
            <a:r>
              <a:rPr lang="ru-RU" sz="1200" dirty="0" smtClean="0">
                <a:sym typeface="Symbol"/>
              </a:rPr>
              <a:t>оплаты.</a:t>
            </a:r>
            <a:endParaRPr lang="ru-RU" sz="1200" dirty="0"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1611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Название 1"/>
          <p:cNvSpPr>
            <a:spLocks noGrp="1"/>
          </p:cNvSpPr>
          <p:nvPr>
            <p:ph type="ctrTitle"/>
          </p:nvPr>
        </p:nvSpPr>
        <p:spPr>
          <a:xfrm>
            <a:off x="568364" y="1231482"/>
            <a:ext cx="4482032" cy="609429"/>
          </a:xfrm>
        </p:spPr>
        <p:txBody>
          <a:bodyPr anchor="t">
            <a:noAutofit/>
          </a:bodyPr>
          <a:lstStyle/>
          <a:p>
            <a:pPr algn="l"/>
            <a:r>
              <a:rPr lang="ru-RU" altLang="ru-RU" sz="1800" b="1" dirty="0"/>
              <a:t>Повышение платежеспособности </a:t>
            </a:r>
            <a:endParaRPr lang="en-US" sz="18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68364" y="1912617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200" b="1" dirty="0">
                <a:solidFill>
                  <a:srgbClr val="00B0F0"/>
                </a:solidFill>
              </a:rPr>
              <a:t>Инвестиционная политика </a:t>
            </a:r>
          </a:p>
          <a:p>
            <a:pPr>
              <a:defRPr/>
            </a:pPr>
            <a:endParaRPr lang="ru-RU" sz="1200" dirty="0" smtClean="0"/>
          </a:p>
          <a:p>
            <a:pPr>
              <a:defRPr/>
            </a:pPr>
            <a:r>
              <a:rPr lang="ru-RU" sz="1200" dirty="0" smtClean="0"/>
              <a:t>Обновление </a:t>
            </a:r>
            <a:r>
              <a:rPr lang="ru-RU" sz="1200" dirty="0"/>
              <a:t>основных фондов:</a:t>
            </a: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200" dirty="0"/>
              <a:t>снижение риска сбоя </a:t>
            </a:r>
            <a:r>
              <a:rPr lang="ru-RU" sz="1200" dirty="0" smtClean="0"/>
              <a:t>оборудования</a:t>
            </a:r>
            <a:r>
              <a:rPr lang="ru-RU" sz="1200" dirty="0"/>
              <a:t>;</a:t>
            </a:r>
          </a:p>
          <a:p>
            <a:pPr marL="628650" lvl="1" indent="-171450">
              <a:buFont typeface="Courier New" panose="02070309020205020404" pitchFamily="49" charset="0"/>
              <a:buChar char="o"/>
              <a:defRPr/>
            </a:pPr>
            <a:r>
              <a:rPr lang="ru-RU" sz="1200" dirty="0"/>
              <a:t>внедрение современных технологий, как следствие сокращение  затрат, расширение объема </a:t>
            </a:r>
            <a:r>
              <a:rPr lang="ru-RU" sz="1200" dirty="0" smtClean="0"/>
              <a:t>выпуска.</a:t>
            </a:r>
            <a:endParaRPr lang="ru-RU" sz="1200" dirty="0"/>
          </a:p>
          <a:p>
            <a:pPr>
              <a:defRPr/>
            </a:pPr>
            <a:endParaRPr lang="ru-RU" sz="1200" dirty="0" smtClean="0"/>
          </a:p>
          <a:p>
            <a:pPr>
              <a:defRPr/>
            </a:pPr>
            <a:r>
              <a:rPr lang="ru-RU" sz="1200" dirty="0" smtClean="0"/>
              <a:t>Инвестиции </a:t>
            </a:r>
            <a:r>
              <a:rPr lang="ru-RU" sz="1200" dirty="0"/>
              <a:t>за счет собственных средств и долгосрочных кредитов </a:t>
            </a:r>
          </a:p>
          <a:p>
            <a:pPr>
              <a:defRPr/>
            </a:pPr>
            <a:r>
              <a:rPr lang="ru-RU" sz="1200" dirty="0"/>
              <a:t>На инвестиционной фазе – отсрочка выплаты процентов по кредитам/ погашение тела </a:t>
            </a:r>
            <a:r>
              <a:rPr lang="ru-RU" sz="1200" dirty="0" smtClean="0"/>
              <a:t>долга.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xmlns="" val="310026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3483" y="4287851"/>
            <a:ext cx="3225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Комплексная оценка финансового состояния компании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5" name="Название 1"/>
          <p:cNvSpPr>
            <a:spLocks noGrp="1"/>
          </p:cNvSpPr>
          <p:nvPr>
            <p:ph type="ctrTitle"/>
          </p:nvPr>
        </p:nvSpPr>
        <p:spPr>
          <a:xfrm>
            <a:off x="568364" y="1231482"/>
            <a:ext cx="4482032" cy="609429"/>
          </a:xfrm>
        </p:spPr>
        <p:txBody>
          <a:bodyPr anchor="t">
            <a:noAutofit/>
          </a:bodyPr>
          <a:lstStyle/>
          <a:p>
            <a:pPr algn="l"/>
            <a:r>
              <a:rPr lang="ru-RU" altLang="ru-RU" sz="1800" b="1" dirty="0"/>
              <a:t>Повышение платежеспособности </a:t>
            </a:r>
            <a:endParaRPr lang="en-US" sz="18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68364" y="170067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200" b="1" dirty="0">
                <a:solidFill>
                  <a:srgbClr val="00B0F0"/>
                </a:solidFill>
              </a:rPr>
              <a:t>Управление источникам финансирования</a:t>
            </a:r>
          </a:p>
          <a:p>
            <a:pPr>
              <a:defRPr/>
            </a:pPr>
            <a:endParaRPr lang="ru-RU" sz="1200" dirty="0" smtClean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 smtClean="0"/>
              <a:t>Не </a:t>
            </a:r>
            <a:r>
              <a:rPr lang="ru-RU" sz="1200" dirty="0"/>
              <a:t>финансировать долгосрочные инвестиции короткими  </a:t>
            </a:r>
            <a:r>
              <a:rPr lang="ru-RU" sz="1200" dirty="0" smtClean="0"/>
              <a:t>деньгами.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Стараться не использовать источники финансовых ресурсов на относительно невыгодных </a:t>
            </a:r>
            <a:r>
              <a:rPr lang="ru-RU" sz="1200" dirty="0" smtClean="0"/>
              <a:t>условиях.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/>
              <a:t>Поиск дешевых денег, и как следствия – минимизация расходов на обслуживание </a:t>
            </a:r>
            <a:r>
              <a:rPr lang="ru-RU" sz="1200" dirty="0" smtClean="0"/>
              <a:t>задолженности.</a:t>
            </a:r>
          </a:p>
          <a:p>
            <a:pPr>
              <a:defRPr/>
            </a:pPr>
            <a:r>
              <a:rPr lang="ru-RU" sz="1200" dirty="0" smtClean="0"/>
              <a:t>  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/>
              <a:t>Использование </a:t>
            </a:r>
            <a:r>
              <a:rPr lang="ru-RU" sz="1200" smtClean="0"/>
              <a:t>внутренних источников финансирования.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xmlns="" val="224225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6878" y="3986380"/>
            <a:ext cx="5914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Кольцова Ирина</a:t>
            </a:r>
            <a:r>
              <a:rPr lang="en-US" b="1" dirty="0"/>
              <a:t/>
            </a:r>
            <a:br>
              <a:rPr lang="en-US" b="1" dirty="0"/>
            </a:br>
            <a:r>
              <a:rPr lang="ru-RU" dirty="0"/>
              <a:t>директор по консалтингу группы компаний «Альт-Инвест»</a:t>
            </a:r>
          </a:p>
        </p:txBody>
      </p:sp>
    </p:spTree>
    <p:extLst>
      <p:ext uri="{BB962C8B-B14F-4D97-AF65-F5344CB8AC3E}">
        <p14:creationId xmlns:p14="http://schemas.microsoft.com/office/powerpoint/2010/main" xmlns="" val="1021285957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7444</TotalTime>
  <Words>1140</Words>
  <Application>Microsoft Office PowerPoint</Application>
  <PresentationFormat>Экран (16:9)</PresentationFormat>
  <Paragraphs>293</Paragraphs>
  <Slides>40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40</vt:i4>
      </vt:variant>
    </vt:vector>
  </HeadingPairs>
  <TitlesOfParts>
    <vt:vector size="44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Комплексная оценка финансового состояния компании</vt:lpstr>
      <vt:lpstr>Основные направления анализа</vt:lpstr>
      <vt:lpstr>Низкая прибыльность </vt:lpstr>
      <vt:lpstr>Нерациональное управление результатами деятельности</vt:lpstr>
      <vt:lpstr>Нерациональное управление результатами деятельности</vt:lpstr>
      <vt:lpstr>Нерациональное управление результатами деятельности</vt:lpstr>
      <vt:lpstr>Нерациональное управление результатами деятельности</vt:lpstr>
      <vt:lpstr>Основные направления анализа </vt:lpstr>
      <vt:lpstr>Анализ эффективности (рентабельности) деятельности</vt:lpstr>
      <vt:lpstr>Слайд 10</vt:lpstr>
      <vt:lpstr>Маржинальный анализ </vt:lpstr>
      <vt:lpstr>Слайд 12</vt:lpstr>
      <vt:lpstr>Что влияет на рентабельность деятельности</vt:lpstr>
      <vt:lpstr>Анализ рентабельности капитала</vt:lpstr>
      <vt:lpstr>Анализ рентабельности капитала</vt:lpstr>
      <vt:lpstr>Анализ рентабельности капитала</vt:lpstr>
      <vt:lpstr>Анализ рентабельности капитала</vt:lpstr>
      <vt:lpstr>Что влияет на рентабельность капитала/собственного капитала</vt:lpstr>
      <vt:lpstr>Анализ финансовой устойчивости/ долговой нагрузки</vt:lpstr>
      <vt:lpstr>Анализ финансовой устойчивости/ долговой нагрузки</vt:lpstr>
      <vt:lpstr>Анализ финансовой устойчивости/ долговой нагрузки</vt:lpstr>
      <vt:lpstr>Что влияет на финансовую устойчивость</vt:lpstr>
      <vt:lpstr>Анализ долговой нагрузки</vt:lpstr>
      <vt:lpstr>Анализ долговой нагрузки</vt:lpstr>
      <vt:lpstr>Долговая нагрузка компании</vt:lpstr>
      <vt:lpstr>Влияние финансового рычага на ROE</vt:lpstr>
      <vt:lpstr>Показатели ликвидности/ платежеспособности</vt:lpstr>
      <vt:lpstr>Показатели ликвидности/платежеспособности</vt:lpstr>
      <vt:lpstr>Что влияет на ликвидность компании</vt:lpstr>
      <vt:lpstr>Анализ оборачиваемости</vt:lpstr>
      <vt:lpstr>Анализ оборачиваемости</vt:lpstr>
      <vt:lpstr>Слайд 32</vt:lpstr>
      <vt:lpstr>Слайд 33</vt:lpstr>
      <vt:lpstr>Слайд 34</vt:lpstr>
      <vt:lpstr>Влияние оборачиваемости на финансовое состояние предприятия</vt:lpstr>
      <vt:lpstr>Повышение эффективности деятельности </vt:lpstr>
      <vt:lpstr>Повышение платежеспособности </vt:lpstr>
      <vt:lpstr>Повышение платежеспособности </vt:lpstr>
      <vt:lpstr>Повышение платежеспособности </vt:lpstr>
      <vt:lpstr>Слайд 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95</cp:revision>
  <dcterms:created xsi:type="dcterms:W3CDTF">2018-01-12T10:39:47Z</dcterms:created>
  <dcterms:modified xsi:type="dcterms:W3CDTF">2018-12-19T07:37:54Z</dcterms:modified>
</cp:coreProperties>
</file>