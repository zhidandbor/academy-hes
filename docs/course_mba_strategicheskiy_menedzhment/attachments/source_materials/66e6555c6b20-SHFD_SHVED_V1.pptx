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Default Extension="xlsx" ContentType="application/vnd.openxmlformats-officedocument.spreadsheetml.sheet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  <p:sldMasterId id="2147483696" r:id="rId3"/>
    <p:sldMasterId id="2147483708" r:id="rId4"/>
  </p:sldMasterIdLst>
  <p:notesMasterIdLst>
    <p:notesMasterId r:id="rId31"/>
  </p:notesMasterIdLst>
  <p:sldIdLst>
    <p:sldId id="256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58" r:id="rId30"/>
  </p:sldIdLst>
  <p:sldSz cx="9144000" cy="5143500" type="screen16x9"/>
  <p:notesSz cx="6858000" cy="9144000"/>
  <p:defaultTextStyle>
    <a:defPPr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E132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9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317" y="15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6AD17-C8BE-0042-A047-B264E547F3F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0AB3A-EF41-3C43-86EF-13128BED826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7114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Чтобы добавить рисунок, перетащите его на заполнитель или щелкните значок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Чтобы добавить рисунок, перетащите его на заполнитель или щелкните значок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Чтобы добавить рисунок, перетащите его на заполнитель или щелкните значок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Чтобы добавить рисунок, перетащите его на заполнитель или щелкните значок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Office_Excel1.xls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Office_Excel2.xls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662495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b="1" dirty="0" smtClean="0"/>
              <a:t>Инструменты анализа причин отклонения от бюджета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898947" y="3905220"/>
            <a:ext cx="4968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 smtClean="0"/>
              <a:t>Шведков</a:t>
            </a:r>
            <a:r>
              <a:rPr lang="ru-RU" b="1" dirty="0" smtClean="0"/>
              <a:t> Руслан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sz="1400" dirty="0" smtClean="0"/>
              <a:t>финансовый </a:t>
            </a:r>
            <a:r>
              <a:rPr lang="ru-RU" sz="1400" dirty="0"/>
              <a:t>директор ОАО «БНС </a:t>
            </a:r>
            <a:r>
              <a:rPr lang="ru-RU" sz="1400" dirty="0" err="1"/>
              <a:t>Груп</a:t>
            </a:r>
            <a:r>
              <a:rPr lang="ru-RU" sz="1400" dirty="0" smtClean="0"/>
              <a:t>»</a:t>
            </a:r>
            <a:endParaRPr lang="ru-RU" sz="1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097802" y="523777"/>
            <a:ext cx="1392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CE1325"/>
                </a:solidFill>
              </a:rPr>
              <a:t>school.gd.ru</a:t>
            </a:r>
            <a:r>
              <a:rPr lang="ru-RU" dirty="0" smtClean="0">
                <a:solidFill>
                  <a:srgbClr val="CE1325"/>
                </a:solidFill>
              </a:rPr>
              <a:t> </a:t>
            </a:r>
            <a:endParaRPr lang="ru-RU" dirty="0">
              <a:solidFill>
                <a:srgbClr val="CE1325"/>
              </a:solidFill>
            </a:endParaRPr>
          </a:p>
        </p:txBody>
      </p:sp>
      <p:pic>
        <p:nvPicPr>
          <p:cNvPr id="3" name="Изображение 2" descr="shfd_shvedkov_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95684" y="3472973"/>
            <a:ext cx="989260" cy="96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270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662495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 smtClean="0"/>
              <a:t>Природа факторного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ru-RU" sz="3600" b="1" dirty="0" smtClean="0"/>
              <a:t>анализа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4541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32937" y="1542253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2000" b="1" dirty="0"/>
              <a:t>О чем пойдет </a:t>
            </a:r>
            <a:r>
              <a:rPr lang="ru-RU" sz="2000" b="1" dirty="0" smtClean="0"/>
              <a:t>речь:</a:t>
            </a:r>
            <a:endParaRPr lang="en-US" sz="2000" b="1" dirty="0"/>
          </a:p>
        </p:txBody>
      </p:sp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 smtClean="0"/>
              <a:t>Природа </a:t>
            </a:r>
            <a:r>
              <a:rPr lang="ru-RU" sz="1600" dirty="0"/>
              <a:t>факторного </a:t>
            </a:r>
            <a:r>
              <a:rPr lang="ru-RU" sz="1600" dirty="0" smtClean="0"/>
              <a:t>анализа.</a:t>
            </a:r>
            <a:endParaRPr lang="ru-RU" sz="1000" dirty="0" smtClean="0"/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 smtClean="0"/>
              <a:t>Идентификация отклонений.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 smtClean="0"/>
              <a:t>Анализ </a:t>
            </a:r>
            <a:r>
              <a:rPr lang="ru-RU" sz="1600" dirty="0"/>
              <a:t>количественных </a:t>
            </a:r>
            <a:r>
              <a:rPr lang="ru-RU" sz="1600" dirty="0" smtClean="0"/>
              <a:t>отклонений.</a:t>
            </a:r>
            <a:endParaRPr lang="ru-RU" sz="1000" dirty="0" smtClean="0"/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 smtClean="0"/>
              <a:t>Анализ </a:t>
            </a:r>
            <a:r>
              <a:rPr lang="ru-RU" sz="1600" dirty="0"/>
              <a:t>ценовых </a:t>
            </a:r>
            <a:r>
              <a:rPr lang="ru-RU" sz="1600" dirty="0" smtClean="0"/>
              <a:t>отклонений.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 smtClean="0"/>
              <a:t>Расследование </a:t>
            </a:r>
            <a:r>
              <a:rPr lang="ru-RU" sz="1600" dirty="0"/>
              <a:t>критичных </a:t>
            </a:r>
            <a:r>
              <a:rPr lang="ru-RU" sz="1600" dirty="0" smtClean="0"/>
              <a:t>отклонений.</a:t>
            </a:r>
            <a:endParaRPr lang="ru-RU" sz="1600" dirty="0"/>
          </a:p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6528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32937" y="1542253"/>
            <a:ext cx="5352381" cy="417477"/>
          </a:xfrm>
        </p:spPr>
        <p:txBody>
          <a:bodyPr anchor="t">
            <a:noAutofit/>
          </a:bodyPr>
          <a:lstStyle/>
          <a:p>
            <a:pPr algn="l"/>
            <a:r>
              <a:rPr lang="ru-RU" sz="2000" b="1" dirty="0" smtClean="0"/>
              <a:t>Факторный анализ это:</a:t>
            </a:r>
            <a:endParaRPr lang="en-US" sz="2000" b="1" dirty="0"/>
          </a:p>
        </p:txBody>
      </p:sp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600" dirty="0" smtClean="0"/>
              <a:t>разложение </a:t>
            </a:r>
            <a:r>
              <a:rPr lang="ru-RU" sz="1600" dirty="0"/>
              <a:t>суммовых или процентных отклонений фактических значений от бюджетных на составляющие причины по </a:t>
            </a:r>
            <a:r>
              <a:rPr lang="ru-RU" sz="1600" dirty="0" smtClean="0"/>
              <a:t>значениям.</a:t>
            </a:r>
            <a:endParaRPr lang="ru-RU" sz="1600" dirty="0"/>
          </a:p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93376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600" dirty="0"/>
              <a:t>Факторный анализ необходим для понимания количественного влияния различных </a:t>
            </a:r>
            <a:r>
              <a:rPr lang="ru-RU" sz="1600" dirty="0" smtClean="0"/>
              <a:t>факторов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ru-RU" sz="1600" dirty="0" smtClean="0"/>
              <a:t>на </a:t>
            </a:r>
            <a:r>
              <a:rPr lang="ru-RU" sz="1600" dirty="0"/>
              <a:t>исполнение </a:t>
            </a:r>
            <a:r>
              <a:rPr lang="ru-RU" sz="1600" dirty="0" smtClean="0"/>
              <a:t>бюджета.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4369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600" dirty="0"/>
              <a:t>Отклонения делятся на количественные (количество проданного товара/услуг, количество потребленных ресурсов) и ценовые (их цена</a:t>
            </a:r>
            <a:r>
              <a:rPr lang="ru-RU" sz="1600" dirty="0" smtClean="0"/>
              <a:t>).</a:t>
            </a:r>
            <a:endParaRPr lang="ru-RU" sz="1600" dirty="0"/>
          </a:p>
          <a:p>
            <a:pPr algn="l"/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651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600" dirty="0"/>
              <a:t>Возможно </a:t>
            </a:r>
            <a:r>
              <a:rPr lang="ru-RU" sz="1600" dirty="0" err="1"/>
              <a:t>сальдирование</a:t>
            </a:r>
            <a:r>
              <a:rPr lang="ru-RU" sz="1600" dirty="0"/>
              <a:t> эффекта противоположно действующих факторов на общее отклонение </a:t>
            </a:r>
            <a:r>
              <a:rPr lang="ru-RU" sz="1600" dirty="0" smtClean="0"/>
              <a:t>–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ru-RU" sz="1600" dirty="0" smtClean="0"/>
              <a:t>это создает </a:t>
            </a:r>
            <a:r>
              <a:rPr lang="ru-RU" sz="1600" dirty="0"/>
              <a:t>у пользователя отчетности </a:t>
            </a:r>
            <a:r>
              <a:rPr lang="ru-RU" sz="1600" dirty="0" smtClean="0"/>
              <a:t>иллюзию нормы.</a:t>
            </a:r>
            <a:endParaRPr lang="ru-RU" sz="1600" dirty="0"/>
          </a:p>
          <a:p>
            <a:pPr algn="l"/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1027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662495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 smtClean="0"/>
              <a:t>Идентификация отклонений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8771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83482" y="1561161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400" dirty="0"/>
              <a:t>Общее отклонение статьи делится на количественное (потребление ресурсов по сравнению с плановым) и ценовое (отклонение стоимости фактического количества ресурсов</a:t>
            </a:r>
            <a:r>
              <a:rPr lang="ru-RU" sz="1400" dirty="0" smtClean="0"/>
              <a:t>).</a:t>
            </a:r>
          </a:p>
          <a:p>
            <a:pPr algn="l"/>
            <a:endParaRPr lang="ru-RU" sz="1400" dirty="0"/>
          </a:p>
          <a:p>
            <a:pPr algn="l"/>
            <a:r>
              <a:rPr lang="ru-RU" sz="1200" b="1" dirty="0" smtClean="0"/>
              <a:t>Пример 1</a:t>
            </a:r>
            <a:endParaRPr lang="ru-RU" sz="12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608285748"/>
              </p:ext>
            </p:extLst>
          </p:nvPr>
        </p:nvGraphicFramePr>
        <p:xfrm>
          <a:off x="696886" y="2759002"/>
          <a:ext cx="4140200" cy="1079500"/>
        </p:xfrm>
        <a:graphic>
          <a:graphicData uri="http://schemas.openxmlformats.org/presentationml/2006/ole">
            <p:oleObj spid="_x0000_s1045" name="Лист" r:id="rId3" imgW="4132440" imgH="1069560" progId="Excel.Sheet.12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896968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83482" y="1561161"/>
            <a:ext cx="5352381" cy="3126800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400" dirty="0"/>
              <a:t>При продаже/приобретении различных товаров/услуг по одной статье также следует считать структурное </a:t>
            </a:r>
            <a:r>
              <a:rPr lang="ru-RU" sz="1400" dirty="0" smtClean="0"/>
              <a:t>отклонение.</a:t>
            </a:r>
          </a:p>
          <a:p>
            <a:pPr algn="l"/>
            <a:endParaRPr lang="ru-RU" sz="1400" dirty="0"/>
          </a:p>
          <a:p>
            <a:pPr algn="l"/>
            <a:r>
              <a:rPr lang="ru-RU" sz="1200" b="1" dirty="0"/>
              <a:t>Пример </a:t>
            </a:r>
            <a:r>
              <a:rPr lang="ru-RU" sz="1200" b="1" dirty="0" smtClean="0"/>
              <a:t>2</a:t>
            </a:r>
            <a:endParaRPr lang="ru-RU" sz="1200" b="1" dirty="0"/>
          </a:p>
          <a:p>
            <a:pPr algn="l"/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594137918"/>
              </p:ext>
            </p:extLst>
          </p:nvPr>
        </p:nvGraphicFramePr>
        <p:xfrm>
          <a:off x="688975" y="2500313"/>
          <a:ext cx="3333750" cy="1724025"/>
        </p:xfrm>
        <a:graphic>
          <a:graphicData uri="http://schemas.openxmlformats.org/presentationml/2006/ole">
            <p:oleObj spid="_x0000_s2069" name="Лист" r:id="rId3" imgW="3333560" imgH="1723930" progId="Excel.Sheet.12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85120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662495"/>
            <a:ext cx="6527599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 smtClean="0"/>
              <a:t>Анализ количественных отклонений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9535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1900274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600" dirty="0"/>
              <a:t>Количественные отклонения обычно </a:t>
            </a:r>
            <a:r>
              <a:rPr lang="ru-RU" sz="1600" dirty="0" smtClean="0"/>
              <a:t>говорят:</a:t>
            </a:r>
          </a:p>
          <a:p>
            <a:pPr marL="285750" indent="-285750" algn="l">
              <a:buSzPct val="100000"/>
              <a:buFont typeface="Arial"/>
              <a:buChar char="•"/>
            </a:pPr>
            <a:r>
              <a:rPr lang="ru-RU" sz="1600" dirty="0" smtClean="0"/>
              <a:t>об </a:t>
            </a:r>
            <a:r>
              <a:rPr lang="ru-RU" sz="1600" dirty="0"/>
              <a:t>ошибке планирования количества закупленного/проданного </a:t>
            </a:r>
            <a:r>
              <a:rPr lang="ru-RU" sz="1600" dirty="0" smtClean="0"/>
              <a:t>товара;</a:t>
            </a:r>
          </a:p>
          <a:p>
            <a:pPr marL="285750" indent="-285750" algn="l">
              <a:buSzPct val="100000"/>
              <a:buFont typeface="Arial"/>
              <a:buChar char="•"/>
            </a:pPr>
            <a:r>
              <a:rPr lang="ru-RU" sz="1600" dirty="0" smtClean="0"/>
              <a:t>о </a:t>
            </a:r>
            <a:r>
              <a:rPr lang="ru-RU" sz="1600" dirty="0"/>
              <a:t>неожиданном изменении покупательского </a:t>
            </a:r>
            <a:r>
              <a:rPr lang="ru-RU" sz="1600" dirty="0" smtClean="0"/>
              <a:t>спроса.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sz="1600" dirty="0"/>
          </a:p>
          <a:p>
            <a:pPr algn="l"/>
            <a:r>
              <a:rPr lang="ru-RU" sz="1600" dirty="0" smtClean="0"/>
              <a:t>Причина </a:t>
            </a:r>
            <a:r>
              <a:rPr lang="ru-RU" sz="1600" dirty="0"/>
              <a:t>большинства количественных отклонений – неверная оценка менеджментом рыночных </a:t>
            </a:r>
            <a:r>
              <a:rPr lang="ru-RU" sz="1600" dirty="0" smtClean="0"/>
              <a:t>реалий.</a:t>
            </a:r>
            <a:endParaRPr lang="ru-RU" sz="1600" dirty="0"/>
          </a:p>
          <a:p>
            <a:pPr algn="l"/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0716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1900274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600" dirty="0"/>
              <a:t>Если количественные отклонения по </a:t>
            </a:r>
            <a:r>
              <a:rPr lang="ru-RU" sz="1600" dirty="0" smtClean="0"/>
              <a:t>продажам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ru-RU" sz="1600" dirty="0" smtClean="0"/>
              <a:t>и </a:t>
            </a:r>
            <a:r>
              <a:rPr lang="ru-RU" sz="1600" dirty="0"/>
              <a:t>по затратам «</a:t>
            </a:r>
            <a:r>
              <a:rPr lang="ru-RU" sz="1600" dirty="0" err="1"/>
              <a:t>схлопываются</a:t>
            </a:r>
            <a:r>
              <a:rPr lang="ru-RU" sz="1600" dirty="0"/>
              <a:t>» друг на друга</a:t>
            </a:r>
            <a:r>
              <a:rPr lang="ru-RU" sz="1600" dirty="0" smtClean="0"/>
              <a:t>,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ru-RU" sz="1600" dirty="0" smtClean="0"/>
              <a:t>то </a:t>
            </a:r>
            <a:r>
              <a:rPr lang="ru-RU" sz="1600" dirty="0"/>
              <a:t>это говорит о высокой адаптивности бизнес-модели компании к изменению объемов ее </a:t>
            </a:r>
            <a:r>
              <a:rPr lang="ru-RU" sz="1600" dirty="0" smtClean="0"/>
              <a:t>бизнеса.</a:t>
            </a:r>
          </a:p>
          <a:p>
            <a:pPr algn="l"/>
            <a:endParaRPr lang="ru-RU" sz="1600" dirty="0"/>
          </a:p>
          <a:p>
            <a:pPr algn="l"/>
            <a:r>
              <a:rPr lang="ru-RU" sz="1600" dirty="0" smtClean="0"/>
              <a:t>На </a:t>
            </a:r>
            <a:r>
              <a:rPr lang="ru-RU" sz="1600" dirty="0"/>
              <a:t>практике </a:t>
            </a:r>
            <a:r>
              <a:rPr lang="ru-RU" sz="1600" dirty="0" smtClean="0"/>
              <a:t>это встречается </a:t>
            </a:r>
            <a:r>
              <a:rPr lang="ru-RU" sz="1600" dirty="0"/>
              <a:t>только в оптовой (посреднической) торговле и в сфере услуг.</a:t>
            </a:r>
          </a:p>
          <a:p>
            <a:pPr algn="l"/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93499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2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600" dirty="0"/>
              <a:t>Более типична </a:t>
            </a:r>
            <a:r>
              <a:rPr lang="ru-RU" sz="1600" dirty="0" smtClean="0"/>
              <a:t>ситуация </a:t>
            </a:r>
            <a:r>
              <a:rPr lang="ru-RU" sz="1600" dirty="0"/>
              <a:t>–</a:t>
            </a:r>
            <a:r>
              <a:rPr lang="ru-RU" sz="1600" dirty="0" smtClean="0"/>
              <a:t> </a:t>
            </a:r>
            <a:r>
              <a:rPr lang="ru-RU" sz="1600" dirty="0"/>
              <a:t>когда негативное </a:t>
            </a:r>
            <a:r>
              <a:rPr lang="ru-RU" sz="1600" dirty="0" smtClean="0"/>
              <a:t>отклонение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ru-RU" sz="1600" dirty="0" smtClean="0"/>
              <a:t>по </a:t>
            </a:r>
            <a:r>
              <a:rPr lang="ru-RU" sz="1600" dirty="0"/>
              <a:t>продажам не перекрывается </a:t>
            </a:r>
            <a:r>
              <a:rPr lang="ru-RU" sz="1600" dirty="0" smtClean="0"/>
              <a:t>положительным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ru-RU" sz="1600" dirty="0" smtClean="0"/>
              <a:t>по </a:t>
            </a:r>
            <a:r>
              <a:rPr lang="ru-RU" sz="1600" dirty="0"/>
              <a:t>закупкам (себестоимости). </a:t>
            </a:r>
            <a:r>
              <a:rPr lang="ru-RU" sz="1600" dirty="0" smtClean="0"/>
              <a:t>Вероятно, </a:t>
            </a:r>
            <a:r>
              <a:rPr lang="ru-RU" sz="1600" dirty="0"/>
              <a:t>непроданный товар окажется на складе или будет списан по </a:t>
            </a:r>
            <a:r>
              <a:rPr lang="ru-RU" sz="1600" dirty="0" smtClean="0"/>
              <a:t>негодности.</a:t>
            </a:r>
            <a:endParaRPr lang="ru-RU" sz="1600" dirty="0"/>
          </a:p>
          <a:p>
            <a:pPr algn="l"/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7428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2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600" dirty="0"/>
              <a:t>Структурные отклонения обычно означают, что компания плохо владеет собственной товарной </a:t>
            </a:r>
            <a:r>
              <a:rPr lang="ru-RU" sz="1600" dirty="0" smtClean="0"/>
              <a:t>политикой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ru-RU" sz="1600" dirty="0" smtClean="0"/>
              <a:t>или </a:t>
            </a:r>
            <a:r>
              <a:rPr lang="ru-RU" sz="1600" dirty="0"/>
              <a:t>сильно </a:t>
            </a:r>
            <a:r>
              <a:rPr lang="ru-RU" sz="1600" dirty="0" smtClean="0"/>
              <a:t>диверсифицирована.</a:t>
            </a:r>
            <a:endParaRPr lang="ru-RU" sz="1600" dirty="0"/>
          </a:p>
          <a:p>
            <a:pPr algn="l"/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06219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662495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 smtClean="0"/>
              <a:t>Анализ ценовых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ru-RU" sz="3600" b="1" dirty="0" smtClean="0"/>
              <a:t>отклонений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087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2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600" dirty="0"/>
              <a:t>С ценовыми отклонениями все предельно </a:t>
            </a:r>
            <a:r>
              <a:rPr lang="ru-RU" sz="1600" dirty="0" smtClean="0"/>
              <a:t>просто:</a:t>
            </a:r>
            <a:br>
              <a:rPr lang="ru-RU" sz="1600" dirty="0" smtClean="0"/>
            </a:br>
            <a:r>
              <a:rPr lang="ru-RU" sz="1600" dirty="0" smtClean="0"/>
              <a:t>цена </a:t>
            </a:r>
            <a:r>
              <a:rPr lang="ru-RU" sz="1600" dirty="0"/>
              <a:t>выше или ниже </a:t>
            </a:r>
            <a:r>
              <a:rPr lang="ru-RU" sz="1600" dirty="0" smtClean="0"/>
              <a:t>запланированной</a:t>
            </a:r>
            <a:r>
              <a:rPr lang="ru-RU" sz="1600" dirty="0"/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0669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2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600" dirty="0"/>
              <a:t>Ценовые отклонения сальдируются, если компания перекладывает возросшую стоимость покупных товаров (сырья) на </a:t>
            </a:r>
            <a:r>
              <a:rPr lang="ru-RU" sz="1600" dirty="0" smtClean="0"/>
              <a:t>покупателей.</a:t>
            </a: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96060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2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600" dirty="0"/>
              <a:t>Положительное ценовое отклонение по </a:t>
            </a:r>
            <a:r>
              <a:rPr lang="ru-RU" sz="1600" dirty="0" smtClean="0"/>
              <a:t>продажам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ru-RU" sz="1600" dirty="0" smtClean="0"/>
              <a:t>без </a:t>
            </a:r>
            <a:r>
              <a:rPr lang="ru-RU" sz="1600" dirty="0" err="1"/>
              <a:t>сальдирования</a:t>
            </a:r>
            <a:r>
              <a:rPr lang="ru-RU" sz="1600" dirty="0"/>
              <a:t> на отрицательное по закупкам говорит об изменении ценовой политики и может сопровождаться отрицательным количественным </a:t>
            </a:r>
            <a:r>
              <a:rPr lang="ru-RU" sz="1600" dirty="0" smtClean="0"/>
              <a:t>отклонением</a:t>
            </a:r>
            <a:br>
              <a:rPr lang="ru-RU" sz="1600" dirty="0" smtClean="0"/>
            </a:br>
            <a:r>
              <a:rPr lang="ru-RU" sz="1600" dirty="0" smtClean="0"/>
              <a:t>(люди </a:t>
            </a:r>
            <a:r>
              <a:rPr lang="ru-RU" sz="1600" dirty="0"/>
              <a:t>не готовы покупать дороже в тех же объемах</a:t>
            </a:r>
            <a:r>
              <a:rPr lang="ru-RU" sz="1600" dirty="0" smtClean="0"/>
              <a:t>).</a:t>
            </a: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3641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2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600" dirty="0"/>
              <a:t>Отрицательное ценовое отклонение по расходам, превышающее инфляцию цен на соответствующие ресурсы, является </a:t>
            </a:r>
            <a:r>
              <a:rPr lang="ru-RU" sz="1600" dirty="0" smtClean="0"/>
              <a:t>тревожным знаком.</a:t>
            </a: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802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662495"/>
            <a:ext cx="6309187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 smtClean="0"/>
              <a:t>Расследование критичных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ru-RU" sz="3600" b="1" dirty="0" smtClean="0"/>
              <a:t>отклонений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6857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6" y="169438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600" dirty="0"/>
              <a:t>Порог критичности отклонений определяется рентабельностью бизнеса по выручке</a:t>
            </a:r>
            <a:r>
              <a:rPr lang="ru-RU" sz="1600" dirty="0" smtClean="0"/>
              <a:t>.</a:t>
            </a:r>
          </a:p>
          <a:p>
            <a:pPr algn="l"/>
            <a:endParaRPr lang="ru-RU" sz="1600" dirty="0" smtClean="0"/>
          </a:p>
          <a:p>
            <a:pPr algn="l"/>
            <a:r>
              <a:rPr lang="ru-RU" sz="1600" dirty="0" smtClean="0"/>
              <a:t>Например, при </a:t>
            </a:r>
            <a:r>
              <a:rPr lang="ru-RU" sz="1600" dirty="0"/>
              <a:t>10% рентабельности любое </a:t>
            </a:r>
            <a:r>
              <a:rPr lang="ru-RU" sz="1600" dirty="0" smtClean="0"/>
              <a:t>отклонение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ru-RU" sz="1600" dirty="0" smtClean="0"/>
              <a:t>по </a:t>
            </a:r>
            <a:r>
              <a:rPr lang="ru-RU" sz="1600" dirty="0"/>
              <a:t>статье свыше 10% является критичным</a:t>
            </a:r>
            <a:r>
              <a:rPr lang="ru-RU" sz="1600" dirty="0" smtClean="0"/>
              <a:t>,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ru-RU" sz="1600" dirty="0" smtClean="0"/>
              <a:t>так как </a:t>
            </a:r>
            <a:r>
              <a:rPr lang="ru-RU" sz="1600" dirty="0"/>
              <a:t>нарушает структуру доходов и расходов, заложенную в бизнес-модель компании.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3790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2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600" dirty="0"/>
              <a:t>В дополнение, любое отклонение свыше 10</a:t>
            </a:r>
            <a:r>
              <a:rPr lang="ru-RU" sz="1600" dirty="0" smtClean="0"/>
              <a:t>%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ru-RU" sz="1600" dirty="0" smtClean="0"/>
              <a:t>от </a:t>
            </a:r>
            <a:r>
              <a:rPr lang="ru-RU" sz="1600" dirty="0"/>
              <a:t>абсолютной суммы плановой прибыли должно рассматриваться как </a:t>
            </a:r>
            <a:r>
              <a:rPr lang="ru-RU" sz="1600" dirty="0" smtClean="0"/>
              <a:t>критичное.</a:t>
            </a: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1870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2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600" dirty="0"/>
              <a:t>Все критичные отклонения обычно имеют единую </a:t>
            </a:r>
            <a:r>
              <a:rPr lang="ru-RU" sz="1600" dirty="0" smtClean="0"/>
              <a:t>рыночную </a:t>
            </a:r>
            <a:r>
              <a:rPr lang="ru-RU" sz="1600" dirty="0"/>
              <a:t>природу и должны рассматриваться </a:t>
            </a:r>
            <a:r>
              <a:rPr lang="ru-RU" sz="1600" dirty="0" smtClean="0"/>
              <a:t>совокупно.</a:t>
            </a: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9239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632374" y="1447296"/>
            <a:ext cx="5247642" cy="2718250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1200"/>
              </a:spcAft>
            </a:pPr>
            <a:r>
              <a:rPr lang="ru-RU" sz="1600" b="1" dirty="0" smtClean="0"/>
              <a:t>Основные причины </a:t>
            </a:r>
            <a:r>
              <a:rPr lang="ru-RU" sz="1600" b="1" dirty="0"/>
              <a:t>почти всех </a:t>
            </a:r>
            <a:r>
              <a:rPr lang="ru-RU" sz="1600" b="1" dirty="0" smtClean="0"/>
              <a:t>отклонений: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+mj-lt"/>
                <a:ea typeface="+mj-ea"/>
                <a:cs typeface="+mj-cs"/>
              </a:rPr>
              <a:t>Падение </a:t>
            </a:r>
            <a:r>
              <a:rPr lang="ru-RU" sz="1600" dirty="0">
                <a:latin typeface="+mj-lt"/>
                <a:ea typeface="+mj-ea"/>
                <a:cs typeface="+mj-cs"/>
              </a:rPr>
              <a:t>рынка или изменение потребительского 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>настроя.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Инфляционные или валютные </a:t>
            </a:r>
            <a:r>
              <a:rPr lang="ru-RU" sz="1600" dirty="0" smtClean="0"/>
              <a:t>потрясения.</a:t>
            </a:r>
            <a:endParaRPr lang="ru-RU" sz="1600" dirty="0"/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Внутренние операционные </a:t>
            </a:r>
            <a:r>
              <a:rPr lang="ru-RU" sz="1600" dirty="0" smtClean="0"/>
              <a:t>сбои</a:t>
            </a:r>
            <a:br>
              <a:rPr lang="ru-RU" sz="1600" dirty="0" smtClean="0"/>
            </a:br>
            <a:r>
              <a:rPr lang="ru-RU" sz="1600" dirty="0" smtClean="0"/>
              <a:t>(закупки/производство/продажи</a:t>
            </a:r>
            <a:r>
              <a:rPr lang="ru-RU" sz="1600" dirty="0"/>
              <a:t>).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 smtClean="0"/>
              <a:t>Злоупотребления/некомпетентность</a:t>
            </a:r>
            <a:r>
              <a:rPr lang="ru-RU" sz="1600" dirty="0" smtClean="0">
                <a:latin typeface="+mj-lt"/>
                <a:ea typeface="+mj-ea"/>
                <a:cs typeface="+mj-cs"/>
              </a:rPr>
              <a:t>.</a:t>
            </a:r>
            <a:endParaRPr lang="ru-RU" sz="1600" dirty="0">
              <a:latin typeface="+mj-lt"/>
              <a:ea typeface="+mj-ea"/>
              <a:cs typeface="+mj-cs"/>
            </a:endParaRPr>
          </a:p>
          <a:p>
            <a:pPr algn="l"/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161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 smtClean="0"/>
              <a:t>Инструменты анализа причин отклонения от бюджета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5706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6879" y="3774433"/>
            <a:ext cx="4968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 smtClean="0"/>
              <a:t>Шведков</a:t>
            </a:r>
            <a:r>
              <a:rPr lang="ru-RU" b="1" dirty="0" smtClean="0"/>
              <a:t> Руслан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sz="1400" dirty="0" smtClean="0"/>
              <a:t>финансовый </a:t>
            </a:r>
            <a:r>
              <a:rPr lang="ru-RU" sz="1400" dirty="0"/>
              <a:t>директор ОАО «БНС </a:t>
            </a:r>
            <a:r>
              <a:rPr lang="ru-RU" sz="1400" dirty="0" err="1"/>
              <a:t>Груп</a:t>
            </a:r>
            <a:r>
              <a:rPr lang="ru-RU" sz="1400" dirty="0" smtClean="0"/>
              <a:t>»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xmlns="" val="1021285957"/>
      </p:ext>
    </p:extLst>
  </p:cSld>
  <p:clrMapOvr>
    <a:masterClrMapping/>
  </p:clrMapOvr>
</p:sld>
</file>

<file path=ppt/theme/theme1.xml><?xml version="1.0" encoding="utf-8"?>
<a:theme xmlns:a="http://schemas.openxmlformats.org/drawingml/2006/main" name="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shfd_videolessons_23 01 18.thmx</Template>
  <TotalTime>535</TotalTime>
  <Words>469</Words>
  <Application>Microsoft Office PowerPoint</Application>
  <PresentationFormat>Экран (16:9)</PresentationFormat>
  <Paragraphs>98</Paragraphs>
  <Slides>26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4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shfd_videolessons_23 01 18</vt:lpstr>
      <vt:lpstr>Специальное оформление</vt:lpstr>
      <vt:lpstr>1_shfd_videolessons_23 01 18</vt:lpstr>
      <vt:lpstr>1_Специальное оформление</vt:lpstr>
      <vt:lpstr>Лист</vt:lpstr>
      <vt:lpstr>Инструменты анализа причин отклонения от бюджета</vt:lpstr>
      <vt:lpstr>Природа факторного анализа</vt:lpstr>
      <vt:lpstr>О чем пойдет речь:</vt:lpstr>
      <vt:lpstr>Факторный анализ это:</vt:lpstr>
      <vt:lpstr>Слайд 5</vt:lpstr>
      <vt:lpstr>Слайд 6</vt:lpstr>
      <vt:lpstr>Слайд 7</vt:lpstr>
      <vt:lpstr>Идентификация отклонений</vt:lpstr>
      <vt:lpstr>Слайд 9</vt:lpstr>
      <vt:lpstr>Слайд 10</vt:lpstr>
      <vt:lpstr>Анализ количественных отклонений</vt:lpstr>
      <vt:lpstr>Слайд 12</vt:lpstr>
      <vt:lpstr>Слайд 13</vt:lpstr>
      <vt:lpstr>Слайд 14</vt:lpstr>
      <vt:lpstr>Слайд 15</vt:lpstr>
      <vt:lpstr>Анализ ценовых отклонений</vt:lpstr>
      <vt:lpstr>Слайд 17</vt:lpstr>
      <vt:lpstr>Слайд 18</vt:lpstr>
      <vt:lpstr>Слайд 19</vt:lpstr>
      <vt:lpstr>Слайд 20</vt:lpstr>
      <vt:lpstr>Расследование критичных отклонений</vt:lpstr>
      <vt:lpstr>Слайд 22</vt:lpstr>
      <vt:lpstr>Слайд 23</vt:lpstr>
      <vt:lpstr>Слайд 24</vt:lpstr>
      <vt:lpstr>Слайд 25</vt:lpstr>
      <vt:lpstr>Слайд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Эксклюзив от ФНС:  как заполнять счета-фактуры  и регистры учета после 1 октября</dc:title>
  <dc:creator>User</dc:creator>
  <cp:lastModifiedBy>Натали</cp:lastModifiedBy>
  <cp:revision>55</cp:revision>
  <dcterms:created xsi:type="dcterms:W3CDTF">2018-01-12T10:39:47Z</dcterms:created>
  <dcterms:modified xsi:type="dcterms:W3CDTF">2018-12-19T08:43:47Z</dcterms:modified>
</cp:coreProperties>
</file>