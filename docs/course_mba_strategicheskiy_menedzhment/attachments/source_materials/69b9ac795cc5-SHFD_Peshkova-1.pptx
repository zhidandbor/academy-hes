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changesInfos/changesInfo1.xml" ContentType="application/vnd.ms-powerpoint.changesinfo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4" r:id="rId2"/>
    <p:sldMasterId id="2147483696" r:id="rId3"/>
    <p:sldMasterId id="2147483708" r:id="rId4"/>
  </p:sldMasterIdLst>
  <p:notesMasterIdLst>
    <p:notesMasterId r:id="rId25"/>
  </p:notesMasterIdLst>
  <p:sldIdLst>
    <p:sldId id="26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5" r:id="rId18"/>
    <p:sldId id="294" r:id="rId19"/>
    <p:sldId id="296" r:id="rId20"/>
    <p:sldId id="297" r:id="rId21"/>
    <p:sldId id="299" r:id="rId22"/>
    <p:sldId id="300" r:id="rId23"/>
    <p:sldId id="298" r:id="rId24"/>
  </p:sldIdLst>
  <p:sldSz cx="9144000" cy="5143500" type="screen16x9"/>
  <p:notesSz cx="6858000" cy="9144000"/>
  <p:defaultTextStyle>
    <a:defPPr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E132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425" autoAdjust="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-792" y="-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етта Новикова" userId="e708aafe7de06156" providerId="LiveId" clId="{CA88BD23-6668-47FF-BAD4-47C21F49CBBB}"/>
    <pc:docChg chg="undo custSel addSld delSld modSld sldOrd">
      <pc:chgData name="Иветта Новикова" userId="e708aafe7de06156" providerId="LiveId" clId="{CA88BD23-6668-47FF-BAD4-47C21F49CBBB}" dt="2018-03-13T15:24:01.068" v="2163" actId="20577"/>
      <pc:docMkLst>
        <pc:docMk/>
      </pc:docMkLst>
      <pc:sldChg chg="modSp">
        <pc:chgData name="Иветта Новикова" userId="e708aafe7de06156" providerId="LiveId" clId="{CA88BD23-6668-47FF-BAD4-47C21F49CBBB}" dt="2018-03-13T15:02:55.719" v="65" actId="1076"/>
        <pc:sldMkLst>
          <pc:docMk/>
          <pc:sldMk cId="3165284890" sldId="261"/>
        </pc:sldMkLst>
        <pc:spChg chg="mod">
          <ac:chgData name="Иветта Новикова" userId="e708aafe7de06156" providerId="LiveId" clId="{CA88BD23-6668-47FF-BAD4-47C21F49CBBB}" dt="2018-03-13T15:02:55.719" v="65" actId="1076"/>
          <ac:spMkLst>
            <pc:docMk/>
            <pc:sldMk cId="3165284890" sldId="261"/>
            <ac:spMk id="8" creationId="{3566EB60-5257-494F-9E72-845827F2B1F6}"/>
          </ac:spMkLst>
        </pc:spChg>
        <pc:spChg chg="mod">
          <ac:chgData name="Иветта Новикова" userId="e708aafe7de06156" providerId="LiveId" clId="{CA88BD23-6668-47FF-BAD4-47C21F49CBBB}" dt="2018-03-13T14:53:03.259" v="53" actId="20577"/>
          <ac:spMkLst>
            <pc:docMk/>
            <pc:sldMk cId="3165284890" sldId="261"/>
            <ac:spMk id="11" creationId="{83B216AE-E002-4B69-8586-A1804C935C1E}"/>
          </ac:spMkLst>
        </pc:spChg>
      </pc:sldChg>
      <pc:sldChg chg="modSp">
        <pc:chgData name="Иветта Новикова" userId="e708aafe7de06156" providerId="LiveId" clId="{CA88BD23-6668-47FF-BAD4-47C21F49CBBB}" dt="2018-03-13T15:23:07.781" v="2134" actId="20577"/>
        <pc:sldMkLst>
          <pc:docMk/>
          <pc:sldMk cId="3756243833" sldId="282"/>
        </pc:sldMkLst>
        <pc:spChg chg="mod">
          <ac:chgData name="Иветта Новикова" userId="e708aafe7de06156" providerId="LiveId" clId="{CA88BD23-6668-47FF-BAD4-47C21F49CBBB}" dt="2018-03-13T15:23:07.781" v="2134" actId="20577"/>
          <ac:spMkLst>
            <pc:docMk/>
            <pc:sldMk cId="3756243833" sldId="282"/>
            <ac:spMk id="2" creationId="{00000000-0000-0000-0000-000000000000}"/>
          </ac:spMkLst>
        </pc:spChg>
        <pc:spChg chg="mod">
          <ac:chgData name="Иветта Новикова" userId="e708aafe7de06156" providerId="LiveId" clId="{CA88BD23-6668-47FF-BAD4-47C21F49CBBB}" dt="2018-03-13T15:03:10.526" v="111" actId="20577"/>
          <ac:spMkLst>
            <pc:docMk/>
            <pc:sldMk cId="3756243833" sldId="282"/>
            <ac:spMk id="6" creationId="{2902F4ED-CBF4-4160-9402-4D5CE2B437FE}"/>
          </ac:spMkLst>
        </pc:spChg>
      </pc:sldChg>
      <pc:sldChg chg="addSp delSp modSp">
        <pc:chgData name="Иветта Новикова" userId="e708aafe7de06156" providerId="LiveId" clId="{CA88BD23-6668-47FF-BAD4-47C21F49CBBB}" dt="2018-03-13T15:06:49.811" v="180" actId="14100"/>
        <pc:sldMkLst>
          <pc:docMk/>
          <pc:sldMk cId="3400700245" sldId="283"/>
        </pc:sldMkLst>
        <pc:spChg chg="del">
          <ac:chgData name="Иветта Новикова" userId="e708aafe7de06156" providerId="LiveId" clId="{CA88BD23-6668-47FF-BAD4-47C21F49CBBB}" dt="2018-03-13T15:03:24.354" v="115" actId="478"/>
          <ac:spMkLst>
            <pc:docMk/>
            <pc:sldMk cId="3400700245" sldId="283"/>
            <ac:spMk id="8" creationId="{7C709758-DE55-47AE-B413-6FB3887427AC}"/>
          </ac:spMkLst>
        </pc:spChg>
        <pc:spChg chg="mod">
          <ac:chgData name="Иветта Новикова" userId="e708aafe7de06156" providerId="LiveId" clId="{CA88BD23-6668-47FF-BAD4-47C21F49CBBB}" dt="2018-03-13T15:03:15.495" v="112" actId="6549"/>
          <ac:spMkLst>
            <pc:docMk/>
            <pc:sldMk cId="3400700245" sldId="283"/>
            <ac:spMk id="16" creationId="{CD58D6BA-97B2-4D79-85D7-008CC59F6089}"/>
          </ac:spMkLst>
        </pc:spChg>
        <pc:spChg chg="del">
          <ac:chgData name="Иветта Новикова" userId="e708aafe7de06156" providerId="LiveId" clId="{CA88BD23-6668-47FF-BAD4-47C21F49CBBB}" dt="2018-03-13T15:03:19.816" v="114" actId="478"/>
          <ac:spMkLst>
            <pc:docMk/>
            <pc:sldMk cId="3400700245" sldId="283"/>
            <ac:spMk id="25" creationId="{71E6B3F0-0B3F-42EF-9D04-803FA265EBBA}"/>
          </ac:spMkLst>
        </pc:spChg>
        <pc:spChg chg="add">
          <ac:chgData name="Иветта Новикова" userId="e708aafe7de06156" providerId="LiveId" clId="{CA88BD23-6668-47FF-BAD4-47C21F49CBBB}" dt="2018-03-13T15:03:27.733" v="116" actId="14100"/>
          <ac:spMkLst>
            <pc:docMk/>
            <pc:sldMk cId="3400700245" sldId="283"/>
            <ac:spMk id="26" creationId="{C334727C-4FC4-4BB6-9AE9-ECE262EF7D2F}"/>
          </ac:spMkLst>
        </pc:spChg>
        <pc:spChg chg="add mod">
          <ac:chgData name="Иветта Новикова" userId="e708aafe7de06156" providerId="LiveId" clId="{CA88BD23-6668-47FF-BAD4-47C21F49CBBB}" dt="2018-03-13T15:06:49.811" v="180" actId="14100"/>
          <ac:spMkLst>
            <pc:docMk/>
            <pc:sldMk cId="3400700245" sldId="283"/>
            <ac:spMk id="27" creationId="{FFFD5234-363F-4AA2-9B7A-D669536A061A}"/>
          </ac:spMkLst>
        </pc:spChg>
        <pc:spChg chg="add mod">
          <ac:chgData name="Иветта Новикова" userId="e708aafe7de06156" providerId="LiveId" clId="{CA88BD23-6668-47FF-BAD4-47C21F49CBBB}" dt="2018-03-13T15:04:59.690" v="147" actId="1076"/>
          <ac:spMkLst>
            <pc:docMk/>
            <pc:sldMk cId="3400700245" sldId="283"/>
            <ac:spMk id="28" creationId="{40690820-4876-404D-B208-B6E366EA17BB}"/>
          </ac:spMkLst>
        </pc:spChg>
        <pc:grpChg chg="del">
          <ac:chgData name="Иветта Новикова" userId="e708aafe7de06156" providerId="LiveId" clId="{CA88BD23-6668-47FF-BAD4-47C21F49CBBB}" dt="2018-03-13T15:03:16.981" v="113" actId="478"/>
          <ac:grpSpMkLst>
            <pc:docMk/>
            <pc:sldMk cId="3400700245" sldId="283"/>
            <ac:grpSpMk id="9" creationId="{8AA72139-9CF9-478C-BF60-037AF1193525}"/>
          </ac:grpSpMkLst>
        </pc:grpChg>
      </pc:sldChg>
      <pc:sldChg chg="modSp add">
        <pc:chgData name="Иветта Новикова" userId="e708aafe7de06156" providerId="LiveId" clId="{CA88BD23-6668-47FF-BAD4-47C21F49CBBB}" dt="2018-03-13T15:06:57.228" v="181" actId="948"/>
        <pc:sldMkLst>
          <pc:docMk/>
          <pc:sldMk cId="1088654007" sldId="284"/>
        </pc:sldMkLst>
        <pc:spChg chg="mod">
          <ac:chgData name="Иветта Новикова" userId="e708aafe7de06156" providerId="LiveId" clId="{CA88BD23-6668-47FF-BAD4-47C21F49CBBB}" dt="2018-03-13T15:06:57.228" v="181" actId="948"/>
          <ac:spMkLst>
            <pc:docMk/>
            <pc:sldMk cId="1088654007" sldId="284"/>
            <ac:spMk id="27" creationId="{FFFD5234-363F-4AA2-9B7A-D669536A061A}"/>
          </ac:spMkLst>
        </pc:spChg>
        <pc:spChg chg="mod">
          <ac:chgData name="Иветта Новикова" userId="e708aafe7de06156" providerId="LiveId" clId="{CA88BD23-6668-47FF-BAD4-47C21F49CBBB}" dt="2018-03-13T15:05:28.921" v="153" actId="14100"/>
          <ac:spMkLst>
            <pc:docMk/>
            <pc:sldMk cId="1088654007" sldId="284"/>
            <ac:spMk id="28" creationId="{40690820-4876-404D-B208-B6E366EA17BB}"/>
          </ac:spMkLst>
        </pc:spChg>
      </pc:sldChg>
      <pc:sldChg chg="modSp add">
        <pc:chgData name="Иветта Новикова" userId="e708aafe7de06156" providerId="LiveId" clId="{CA88BD23-6668-47FF-BAD4-47C21F49CBBB}" dt="2018-03-13T15:08:04.123" v="316" actId="20577"/>
        <pc:sldMkLst>
          <pc:docMk/>
          <pc:sldMk cId="3220631258" sldId="285"/>
        </pc:sldMkLst>
        <pc:spChg chg="mod">
          <ac:chgData name="Иветта Новикова" userId="e708aafe7de06156" providerId="LiveId" clId="{CA88BD23-6668-47FF-BAD4-47C21F49CBBB}" dt="2018-03-13T15:08:04.123" v="316" actId="20577"/>
          <ac:spMkLst>
            <pc:docMk/>
            <pc:sldMk cId="3220631258" sldId="285"/>
            <ac:spMk id="27" creationId="{FFFD5234-363F-4AA2-9B7A-D669536A061A}"/>
          </ac:spMkLst>
        </pc:spChg>
        <pc:spChg chg="mod">
          <ac:chgData name="Иветта Новикова" userId="e708aafe7de06156" providerId="LiveId" clId="{CA88BD23-6668-47FF-BAD4-47C21F49CBBB}" dt="2018-03-13T15:07:32.335" v="223" actId="20577"/>
          <ac:spMkLst>
            <pc:docMk/>
            <pc:sldMk cId="3220631258" sldId="285"/>
            <ac:spMk id="28" creationId="{40690820-4876-404D-B208-B6E366EA17BB}"/>
          </ac:spMkLst>
        </pc:spChg>
      </pc:sldChg>
      <pc:sldChg chg="modSp add">
        <pc:chgData name="Иветта Новикова" userId="e708aafe7de06156" providerId="LiveId" clId="{CA88BD23-6668-47FF-BAD4-47C21F49CBBB}" dt="2018-03-13T15:08:50.009" v="442" actId="20577"/>
        <pc:sldMkLst>
          <pc:docMk/>
          <pc:sldMk cId="3615716398" sldId="286"/>
        </pc:sldMkLst>
        <pc:spChg chg="mod">
          <ac:chgData name="Иветта Новикова" userId="e708aafe7de06156" providerId="LiveId" clId="{CA88BD23-6668-47FF-BAD4-47C21F49CBBB}" dt="2018-03-13T15:08:50.009" v="442" actId="20577"/>
          <ac:spMkLst>
            <pc:docMk/>
            <pc:sldMk cId="3615716398" sldId="286"/>
            <ac:spMk id="27" creationId="{FFFD5234-363F-4AA2-9B7A-D669536A061A}"/>
          </ac:spMkLst>
        </pc:spChg>
        <pc:spChg chg="mod">
          <ac:chgData name="Иветта Новикова" userId="e708aafe7de06156" providerId="LiveId" clId="{CA88BD23-6668-47FF-BAD4-47C21F49CBBB}" dt="2018-03-13T15:08:22.418" v="348" actId="14100"/>
          <ac:spMkLst>
            <pc:docMk/>
            <pc:sldMk cId="3615716398" sldId="286"/>
            <ac:spMk id="28" creationId="{40690820-4876-404D-B208-B6E366EA17BB}"/>
          </ac:spMkLst>
        </pc:spChg>
      </pc:sldChg>
      <pc:sldChg chg="modSp add">
        <pc:chgData name="Иветта Новикова" userId="e708aafe7de06156" providerId="LiveId" clId="{CA88BD23-6668-47FF-BAD4-47C21F49CBBB}" dt="2018-03-13T15:10:08.186" v="611" actId="20577"/>
        <pc:sldMkLst>
          <pc:docMk/>
          <pc:sldMk cId="677862785" sldId="287"/>
        </pc:sldMkLst>
        <pc:spChg chg="mod">
          <ac:chgData name="Иветта Новикова" userId="e708aafe7de06156" providerId="LiveId" clId="{CA88BD23-6668-47FF-BAD4-47C21F49CBBB}" dt="2018-03-13T15:10:08.186" v="611" actId="20577"/>
          <ac:spMkLst>
            <pc:docMk/>
            <pc:sldMk cId="677862785" sldId="287"/>
            <ac:spMk id="27" creationId="{FFFD5234-363F-4AA2-9B7A-D669536A061A}"/>
          </ac:spMkLst>
        </pc:spChg>
        <pc:spChg chg="mod">
          <ac:chgData name="Иветта Новикова" userId="e708aafe7de06156" providerId="LiveId" clId="{CA88BD23-6668-47FF-BAD4-47C21F49CBBB}" dt="2018-03-13T15:09:27.191" v="471" actId="20577"/>
          <ac:spMkLst>
            <pc:docMk/>
            <pc:sldMk cId="677862785" sldId="287"/>
            <ac:spMk id="28" creationId="{40690820-4876-404D-B208-B6E366EA17BB}"/>
          </ac:spMkLst>
        </pc:spChg>
      </pc:sldChg>
      <pc:sldChg chg="modSp add">
        <pc:chgData name="Иветта Новикова" userId="e708aafe7de06156" providerId="LiveId" clId="{CA88BD23-6668-47FF-BAD4-47C21F49CBBB}" dt="2018-03-13T15:11:32.309" v="884" actId="14100"/>
        <pc:sldMkLst>
          <pc:docMk/>
          <pc:sldMk cId="1923844560" sldId="288"/>
        </pc:sldMkLst>
        <pc:spChg chg="mod">
          <ac:chgData name="Иветта Новикова" userId="e708aafe7de06156" providerId="LiveId" clId="{CA88BD23-6668-47FF-BAD4-47C21F49CBBB}" dt="2018-03-13T15:11:32.309" v="884" actId="14100"/>
          <ac:spMkLst>
            <pc:docMk/>
            <pc:sldMk cId="1923844560" sldId="288"/>
            <ac:spMk id="27" creationId="{FFFD5234-363F-4AA2-9B7A-D669536A061A}"/>
          </ac:spMkLst>
        </pc:spChg>
        <pc:spChg chg="mod">
          <ac:chgData name="Иветта Новикова" userId="e708aafe7de06156" providerId="LiveId" clId="{CA88BD23-6668-47FF-BAD4-47C21F49CBBB}" dt="2018-03-13T15:11:19.269" v="847" actId="1076"/>
          <ac:spMkLst>
            <pc:docMk/>
            <pc:sldMk cId="1923844560" sldId="288"/>
            <ac:spMk id="28" creationId="{40690820-4876-404D-B208-B6E366EA17BB}"/>
          </ac:spMkLst>
        </pc:spChg>
      </pc:sldChg>
      <pc:sldChg chg="modSp add">
        <pc:chgData name="Иветта Новикова" userId="e708aafe7de06156" providerId="LiveId" clId="{CA88BD23-6668-47FF-BAD4-47C21F49CBBB}" dt="2018-03-13T15:12:38.743" v="1088" actId="20577"/>
        <pc:sldMkLst>
          <pc:docMk/>
          <pc:sldMk cId="2936219665" sldId="289"/>
        </pc:sldMkLst>
        <pc:spChg chg="mod">
          <ac:chgData name="Иветта Новикова" userId="e708aafe7de06156" providerId="LiveId" clId="{CA88BD23-6668-47FF-BAD4-47C21F49CBBB}" dt="2018-03-13T15:12:38.743" v="1088" actId="20577"/>
          <ac:spMkLst>
            <pc:docMk/>
            <pc:sldMk cId="2936219665" sldId="289"/>
            <ac:spMk id="27" creationId="{FFFD5234-363F-4AA2-9B7A-D669536A061A}"/>
          </ac:spMkLst>
        </pc:spChg>
        <pc:spChg chg="mod">
          <ac:chgData name="Иветта Новикова" userId="e708aafe7de06156" providerId="LiveId" clId="{CA88BD23-6668-47FF-BAD4-47C21F49CBBB}" dt="2018-03-13T15:11:45.223" v="906" actId="20577"/>
          <ac:spMkLst>
            <pc:docMk/>
            <pc:sldMk cId="2936219665" sldId="289"/>
            <ac:spMk id="28" creationId="{40690820-4876-404D-B208-B6E366EA17BB}"/>
          </ac:spMkLst>
        </pc:spChg>
      </pc:sldChg>
      <pc:sldChg chg="modSp add">
        <pc:chgData name="Иветта Новикова" userId="e708aafe7de06156" providerId="LiveId" clId="{CA88BD23-6668-47FF-BAD4-47C21F49CBBB}" dt="2018-03-13T15:13:51.802" v="1266" actId="20577"/>
        <pc:sldMkLst>
          <pc:docMk/>
          <pc:sldMk cId="2138780884" sldId="290"/>
        </pc:sldMkLst>
        <pc:spChg chg="mod">
          <ac:chgData name="Иветта Новикова" userId="e708aafe7de06156" providerId="LiveId" clId="{CA88BD23-6668-47FF-BAD4-47C21F49CBBB}" dt="2018-03-13T15:13:51.802" v="1266" actId="20577"/>
          <ac:spMkLst>
            <pc:docMk/>
            <pc:sldMk cId="2138780884" sldId="290"/>
            <ac:spMk id="27" creationId="{FFFD5234-363F-4AA2-9B7A-D669536A061A}"/>
          </ac:spMkLst>
        </pc:spChg>
        <pc:spChg chg="mod">
          <ac:chgData name="Иветта Новикова" userId="e708aafe7de06156" providerId="LiveId" clId="{CA88BD23-6668-47FF-BAD4-47C21F49CBBB}" dt="2018-03-13T15:12:58.451" v="1133" actId="14100"/>
          <ac:spMkLst>
            <pc:docMk/>
            <pc:sldMk cId="2138780884" sldId="290"/>
            <ac:spMk id="28" creationId="{40690820-4876-404D-B208-B6E366EA17BB}"/>
          </ac:spMkLst>
        </pc:spChg>
      </pc:sldChg>
      <pc:sldChg chg="modSp add">
        <pc:chgData name="Иветта Новикова" userId="e708aafe7de06156" providerId="LiveId" clId="{CA88BD23-6668-47FF-BAD4-47C21F49CBBB}" dt="2018-03-13T15:14:43.322" v="1470" actId="20577"/>
        <pc:sldMkLst>
          <pc:docMk/>
          <pc:sldMk cId="954810333" sldId="291"/>
        </pc:sldMkLst>
        <pc:spChg chg="mod">
          <ac:chgData name="Иветта Новикова" userId="e708aafe7de06156" providerId="LiveId" clId="{CA88BD23-6668-47FF-BAD4-47C21F49CBBB}" dt="2018-03-13T15:14:43.322" v="1470" actId="20577"/>
          <ac:spMkLst>
            <pc:docMk/>
            <pc:sldMk cId="954810333" sldId="291"/>
            <ac:spMk id="27" creationId="{FFFD5234-363F-4AA2-9B7A-D669536A061A}"/>
          </ac:spMkLst>
        </pc:spChg>
        <pc:spChg chg="mod">
          <ac:chgData name="Иветта Новикова" userId="e708aafe7de06156" providerId="LiveId" clId="{CA88BD23-6668-47FF-BAD4-47C21F49CBBB}" dt="2018-03-13T15:14:05.367" v="1302" actId="20577"/>
          <ac:spMkLst>
            <pc:docMk/>
            <pc:sldMk cId="954810333" sldId="291"/>
            <ac:spMk id="28" creationId="{40690820-4876-404D-B208-B6E366EA17BB}"/>
          </ac:spMkLst>
        </pc:spChg>
      </pc:sldChg>
      <pc:sldChg chg="delSp modSp add">
        <pc:chgData name="Иветта Новикова" userId="e708aafe7de06156" providerId="LiveId" clId="{CA88BD23-6668-47FF-BAD4-47C21F49CBBB}" dt="2018-03-13T15:18:10.914" v="1927" actId="20577"/>
        <pc:sldMkLst>
          <pc:docMk/>
          <pc:sldMk cId="778039706" sldId="292"/>
        </pc:sldMkLst>
        <pc:spChg chg="del">
          <ac:chgData name="Иветта Новикова" userId="e708aafe7de06156" providerId="LiveId" clId="{CA88BD23-6668-47FF-BAD4-47C21F49CBBB}" dt="2018-03-13T15:17:47.538" v="1844" actId="478"/>
          <ac:spMkLst>
            <pc:docMk/>
            <pc:sldMk cId="778039706" sldId="292"/>
            <ac:spMk id="26" creationId="{C334727C-4FC4-4BB6-9AE9-ECE262EF7D2F}"/>
          </ac:spMkLst>
        </pc:spChg>
        <pc:spChg chg="mod">
          <ac:chgData name="Иветта Новикова" userId="e708aafe7de06156" providerId="LiveId" clId="{CA88BD23-6668-47FF-BAD4-47C21F49CBBB}" dt="2018-03-13T15:18:10.914" v="1927" actId="20577"/>
          <ac:spMkLst>
            <pc:docMk/>
            <pc:sldMk cId="778039706" sldId="292"/>
            <ac:spMk id="27" creationId="{FFFD5234-363F-4AA2-9B7A-D669536A061A}"/>
          </ac:spMkLst>
        </pc:spChg>
        <pc:spChg chg="mod">
          <ac:chgData name="Иветта Новикова" userId="e708aafe7de06156" providerId="LiveId" clId="{CA88BD23-6668-47FF-BAD4-47C21F49CBBB}" dt="2018-03-13T15:17:17.265" v="1779" actId="1076"/>
          <ac:spMkLst>
            <pc:docMk/>
            <pc:sldMk cId="778039706" sldId="292"/>
            <ac:spMk id="28" creationId="{40690820-4876-404D-B208-B6E366EA17BB}"/>
          </ac:spMkLst>
        </pc:spChg>
      </pc:sldChg>
      <pc:sldChg chg="modSp add ord">
        <pc:chgData name="Иветта Новикова" userId="e708aafe7de06156" providerId="LiveId" clId="{CA88BD23-6668-47FF-BAD4-47C21F49CBBB}" dt="2018-03-13T15:19:58.650" v="2117" actId="20577"/>
        <pc:sldMkLst>
          <pc:docMk/>
          <pc:sldMk cId="2096510800" sldId="293"/>
        </pc:sldMkLst>
        <pc:spChg chg="mod">
          <ac:chgData name="Иветта Новикова" userId="e708aafe7de06156" providerId="LiveId" clId="{CA88BD23-6668-47FF-BAD4-47C21F49CBBB}" dt="2018-03-13T15:19:58.650" v="2117" actId="20577"/>
          <ac:spMkLst>
            <pc:docMk/>
            <pc:sldMk cId="2096510800" sldId="293"/>
            <ac:spMk id="27" creationId="{FFFD5234-363F-4AA2-9B7A-D669536A061A}"/>
          </ac:spMkLst>
        </pc:spChg>
        <pc:spChg chg="mod">
          <ac:chgData name="Иветта Новикова" userId="e708aafe7de06156" providerId="LiveId" clId="{CA88BD23-6668-47FF-BAD4-47C21F49CBBB}" dt="2018-03-13T15:19:08.846" v="1949" actId="20577"/>
          <ac:spMkLst>
            <pc:docMk/>
            <pc:sldMk cId="2096510800" sldId="293"/>
            <ac:spMk id="28" creationId="{40690820-4876-404D-B208-B6E366EA17BB}"/>
          </ac:spMkLst>
        </pc:spChg>
      </pc:sldChg>
      <pc:sldChg chg="modSp add ord">
        <pc:chgData name="Иветта Новикова" userId="e708aafe7de06156" providerId="LiveId" clId="{CA88BD23-6668-47FF-BAD4-47C21F49CBBB}" dt="2018-03-13T15:24:01.068" v="2163" actId="20577"/>
        <pc:sldMkLst>
          <pc:docMk/>
          <pc:sldMk cId="646787426" sldId="294"/>
        </pc:sldMkLst>
        <pc:spChg chg="mod">
          <ac:chgData name="Иветта Новикова" userId="e708aafe7de06156" providerId="LiveId" clId="{CA88BD23-6668-47FF-BAD4-47C21F49CBBB}" dt="2018-03-13T15:24:01.068" v="2163" actId="20577"/>
          <ac:spMkLst>
            <pc:docMk/>
            <pc:sldMk cId="646787426" sldId="294"/>
            <ac:spMk id="2" creationId="{00000000-0000-0000-0000-000000000000}"/>
          </ac:spMkLst>
        </pc:spChg>
      </pc:sldChg>
    </pc:docChg>
  </pc:docChgLst>
  <pc:docChgLst>
    <pc:chgData name="Иветта Новикова" userId="e708aafe7de06156" providerId="LiveId" clId="{C711B23B-AFDE-43EF-B86B-8AAD2B0716C7}"/>
    <pc:docChg chg="addSld modSld sldOrd">
      <pc:chgData name="Иветта Новикова" userId="e708aafe7de06156" providerId="LiveId" clId="{C711B23B-AFDE-43EF-B86B-8AAD2B0716C7}" dt="2018-03-18T10:37:45.416" v="72"/>
      <pc:docMkLst>
        <pc:docMk/>
      </pc:docMkLst>
      <pc:sldChg chg="modSp add ord">
        <pc:chgData name="Иветта Новикова" userId="e708aafe7de06156" providerId="LiveId" clId="{C711B23B-AFDE-43EF-B86B-8AAD2B0716C7}" dt="2018-03-18T10:37:45.416" v="72"/>
        <pc:sldMkLst>
          <pc:docMk/>
          <pc:sldMk cId="2331189294" sldId="295"/>
        </pc:sldMkLst>
        <pc:spChg chg="mod">
          <ac:chgData name="Иветта Новикова" userId="e708aafe7de06156" providerId="LiveId" clId="{C711B23B-AFDE-43EF-B86B-8AAD2B0716C7}" dt="2018-03-18T10:37:29.736" v="70" actId="1076"/>
          <ac:spMkLst>
            <pc:docMk/>
            <pc:sldMk cId="2331189294" sldId="295"/>
            <ac:spMk id="2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2B63DC-494C-46CC-9339-2FEDD8547100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BF4C898-5144-4554-B47F-7BD265E1F94B}">
      <dgm:prSet/>
      <dgm:spPr/>
      <dgm:t>
        <a:bodyPr/>
        <a:lstStyle/>
        <a:p>
          <a:pPr rtl="0"/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Потенциальный объем рынка </a:t>
          </a:r>
        </a:p>
      </dgm:t>
    </dgm:pt>
    <dgm:pt modelId="{DFBE00A6-76A5-46CC-BC9D-1053BFDAE515}" type="parTrans" cxnId="{1700DFDD-C79E-46E1-A30B-FA19C63004E5}">
      <dgm:prSet/>
      <dgm:spPr/>
      <dgm:t>
        <a:bodyPr/>
        <a:lstStyle/>
        <a:p>
          <a:endParaRPr lang="ru-RU"/>
        </a:p>
      </dgm:t>
    </dgm:pt>
    <dgm:pt modelId="{550472E6-DA16-4B14-BBCA-20A70E57E182}" type="sibTrans" cxnId="{1700DFDD-C79E-46E1-A30B-FA19C63004E5}">
      <dgm:prSet/>
      <dgm:spPr/>
      <dgm:t>
        <a:bodyPr/>
        <a:lstStyle/>
        <a:p>
          <a:endParaRPr lang="ru-RU"/>
        </a:p>
      </dgm:t>
    </dgm:pt>
    <dgm:pt modelId="{3BF9EE90-E40E-43E5-ACBC-1DA10D32593F}">
      <dgm:prSet/>
      <dgm:spPr/>
      <dgm:t>
        <a:bodyPr/>
        <a:lstStyle/>
        <a:p>
          <a:pPr rtl="0"/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Реальный объем рынка</a:t>
          </a:r>
        </a:p>
      </dgm:t>
    </dgm:pt>
    <dgm:pt modelId="{6536CD4C-FA2B-4DA7-899C-4BE76276DEBE}" type="parTrans" cxnId="{8BD3D863-1021-4D5E-9901-937C9B06493E}">
      <dgm:prSet/>
      <dgm:spPr/>
      <dgm:t>
        <a:bodyPr/>
        <a:lstStyle/>
        <a:p>
          <a:endParaRPr lang="ru-RU"/>
        </a:p>
      </dgm:t>
    </dgm:pt>
    <dgm:pt modelId="{471B3722-414D-47C9-B744-280FECA041A9}" type="sibTrans" cxnId="{8BD3D863-1021-4D5E-9901-937C9B06493E}">
      <dgm:prSet/>
      <dgm:spPr/>
      <dgm:t>
        <a:bodyPr/>
        <a:lstStyle/>
        <a:p>
          <a:endParaRPr lang="ru-RU"/>
        </a:p>
      </dgm:t>
    </dgm:pt>
    <dgm:pt modelId="{7D7F4087-1771-4445-B226-B55BBF997800}">
      <dgm:prSet/>
      <dgm:spPr/>
      <dgm:t>
        <a:bodyPr/>
        <a:lstStyle/>
        <a:p>
          <a:pPr rtl="0"/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Темп роста рынка</a:t>
          </a:r>
        </a:p>
      </dgm:t>
    </dgm:pt>
    <dgm:pt modelId="{3C011814-A7D0-4BF4-8FEC-35FA8CFA58AF}" type="parTrans" cxnId="{4058B11F-4A20-4C60-B813-D52567E5F369}">
      <dgm:prSet/>
      <dgm:spPr/>
      <dgm:t>
        <a:bodyPr/>
        <a:lstStyle/>
        <a:p>
          <a:endParaRPr lang="ru-RU"/>
        </a:p>
      </dgm:t>
    </dgm:pt>
    <dgm:pt modelId="{626E5C49-F667-4C4B-A7D5-5875E4813AA1}" type="sibTrans" cxnId="{4058B11F-4A20-4C60-B813-D52567E5F369}">
      <dgm:prSet/>
      <dgm:spPr/>
      <dgm:t>
        <a:bodyPr/>
        <a:lstStyle/>
        <a:p>
          <a:endParaRPr lang="ru-RU"/>
        </a:p>
      </dgm:t>
    </dgm:pt>
    <dgm:pt modelId="{BA02CA76-E28B-4990-B2C5-D7AB7CC0C39F}">
      <dgm:prSet/>
      <dgm:spPr/>
      <dgm:t>
        <a:bodyPr/>
        <a:lstStyle/>
        <a:p>
          <a:pPr rtl="0"/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Соотношение долей конкурентов</a:t>
          </a:r>
        </a:p>
      </dgm:t>
    </dgm:pt>
    <dgm:pt modelId="{D1159191-BB91-423F-A429-0731BA357C85}" type="parTrans" cxnId="{25EF0BFA-1B23-4702-9D47-90BEEE5812E6}">
      <dgm:prSet/>
      <dgm:spPr/>
      <dgm:t>
        <a:bodyPr/>
        <a:lstStyle/>
        <a:p>
          <a:endParaRPr lang="ru-RU"/>
        </a:p>
      </dgm:t>
    </dgm:pt>
    <dgm:pt modelId="{B1B401E7-30E0-45DC-8768-DC714962002F}" type="sibTrans" cxnId="{25EF0BFA-1B23-4702-9D47-90BEEE5812E6}">
      <dgm:prSet/>
      <dgm:spPr/>
      <dgm:t>
        <a:bodyPr/>
        <a:lstStyle/>
        <a:p>
          <a:endParaRPr lang="ru-RU"/>
        </a:p>
      </dgm:t>
    </dgm:pt>
    <dgm:pt modelId="{B2550C58-0A72-4977-B95E-C26B5072283F}">
      <dgm:prSet/>
      <dgm:spPr/>
      <dgm:t>
        <a:bodyPr/>
        <a:lstStyle/>
        <a:p>
          <a:pPr rtl="0"/>
          <a:r>
            <a:rPr lang="ru-RU">
              <a:latin typeface="Arial" panose="020B0604020202020204" pitchFamily="34" charset="0"/>
              <a:cs typeface="Arial" panose="020B0604020202020204" pitchFamily="34" charset="0"/>
            </a:rPr>
            <a:t>Плановая доля рынка</a:t>
          </a:r>
        </a:p>
      </dgm:t>
    </dgm:pt>
    <dgm:pt modelId="{1D522AC4-0EF9-4272-AAC0-65916B79AA73}" type="parTrans" cxnId="{3ACB7ADB-A430-40D6-94B8-DD2B83930ABF}">
      <dgm:prSet/>
      <dgm:spPr/>
      <dgm:t>
        <a:bodyPr/>
        <a:lstStyle/>
        <a:p>
          <a:endParaRPr lang="ru-RU"/>
        </a:p>
      </dgm:t>
    </dgm:pt>
    <dgm:pt modelId="{290E39F6-B447-40F5-9B8F-D2CAC2BA7C5B}" type="sibTrans" cxnId="{3ACB7ADB-A430-40D6-94B8-DD2B83930ABF}">
      <dgm:prSet/>
      <dgm:spPr/>
      <dgm:t>
        <a:bodyPr/>
        <a:lstStyle/>
        <a:p>
          <a:endParaRPr lang="ru-RU"/>
        </a:p>
      </dgm:t>
    </dgm:pt>
    <dgm:pt modelId="{3C10EF92-ECD3-4CBB-8AD3-28AB6CC1FAE8}" type="pres">
      <dgm:prSet presAssocID="{A72B63DC-494C-46CC-9339-2FEDD854710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9D945D0-9C53-4DE6-938D-7661F575CDF2}" type="pres">
      <dgm:prSet presAssocID="{6BF4C898-5144-4554-B47F-7BD265E1F94B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4B3013A-395E-4DDC-AC8F-7CCD6F8324AC}" type="pres">
      <dgm:prSet presAssocID="{550472E6-DA16-4B14-BBCA-20A70E57E182}" presName="spacer" presStyleCnt="0"/>
      <dgm:spPr/>
    </dgm:pt>
    <dgm:pt modelId="{9BE3C97B-4BCD-4699-9061-273548C38D13}" type="pres">
      <dgm:prSet presAssocID="{3BF9EE90-E40E-43E5-ACBC-1DA10D32593F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C25624B-A144-44B4-B9E5-EE8680C216DE}" type="pres">
      <dgm:prSet presAssocID="{471B3722-414D-47C9-B744-280FECA041A9}" presName="spacer" presStyleCnt="0"/>
      <dgm:spPr/>
    </dgm:pt>
    <dgm:pt modelId="{D7D63E6B-BD10-49F3-96A1-F89D59B213CE}" type="pres">
      <dgm:prSet presAssocID="{7D7F4087-1771-4445-B226-B55BBF997800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2F8D162-7062-4F64-9327-11F62D6BDE97}" type="pres">
      <dgm:prSet presAssocID="{626E5C49-F667-4C4B-A7D5-5875E4813AA1}" presName="spacer" presStyleCnt="0"/>
      <dgm:spPr/>
    </dgm:pt>
    <dgm:pt modelId="{334740B6-C8E3-4B8E-B4A5-E948FD7369E9}" type="pres">
      <dgm:prSet presAssocID="{BA02CA76-E28B-4990-B2C5-D7AB7CC0C39F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FA17152-C61A-461F-B5C9-518D06EF4923}" type="pres">
      <dgm:prSet presAssocID="{B1B401E7-30E0-45DC-8768-DC714962002F}" presName="spacer" presStyleCnt="0"/>
      <dgm:spPr/>
    </dgm:pt>
    <dgm:pt modelId="{03850E52-223C-4888-9428-B62EDEC5D7A3}" type="pres">
      <dgm:prSet presAssocID="{B2550C58-0A72-4977-B95E-C26B5072283F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058B11F-4A20-4C60-B813-D52567E5F369}" srcId="{A72B63DC-494C-46CC-9339-2FEDD8547100}" destId="{7D7F4087-1771-4445-B226-B55BBF997800}" srcOrd="2" destOrd="0" parTransId="{3C011814-A7D0-4BF4-8FEC-35FA8CFA58AF}" sibTransId="{626E5C49-F667-4C4B-A7D5-5875E4813AA1}"/>
    <dgm:cxn modelId="{8BD3D863-1021-4D5E-9901-937C9B06493E}" srcId="{A72B63DC-494C-46CC-9339-2FEDD8547100}" destId="{3BF9EE90-E40E-43E5-ACBC-1DA10D32593F}" srcOrd="1" destOrd="0" parTransId="{6536CD4C-FA2B-4DA7-899C-4BE76276DEBE}" sibTransId="{471B3722-414D-47C9-B744-280FECA041A9}"/>
    <dgm:cxn modelId="{25EF0BFA-1B23-4702-9D47-90BEEE5812E6}" srcId="{A72B63DC-494C-46CC-9339-2FEDD8547100}" destId="{BA02CA76-E28B-4990-B2C5-D7AB7CC0C39F}" srcOrd="3" destOrd="0" parTransId="{D1159191-BB91-423F-A429-0731BA357C85}" sibTransId="{B1B401E7-30E0-45DC-8768-DC714962002F}"/>
    <dgm:cxn modelId="{BCC685C9-27B7-4779-8F17-8C051A7981CE}" type="presOf" srcId="{A72B63DC-494C-46CC-9339-2FEDD8547100}" destId="{3C10EF92-ECD3-4CBB-8AD3-28AB6CC1FAE8}" srcOrd="0" destOrd="0" presId="urn:microsoft.com/office/officeart/2005/8/layout/vList2"/>
    <dgm:cxn modelId="{0DDD96B7-78C1-41E1-AEA8-D97AAC121EB0}" type="presOf" srcId="{6BF4C898-5144-4554-B47F-7BD265E1F94B}" destId="{59D945D0-9C53-4DE6-938D-7661F575CDF2}" srcOrd="0" destOrd="0" presId="urn:microsoft.com/office/officeart/2005/8/layout/vList2"/>
    <dgm:cxn modelId="{0F1A2CE4-7CE3-4F46-9D16-A8A5CBFA14BD}" type="presOf" srcId="{BA02CA76-E28B-4990-B2C5-D7AB7CC0C39F}" destId="{334740B6-C8E3-4B8E-B4A5-E948FD7369E9}" srcOrd="0" destOrd="0" presId="urn:microsoft.com/office/officeart/2005/8/layout/vList2"/>
    <dgm:cxn modelId="{39F91F79-86A8-4B72-BE50-3B15F70E80C3}" type="presOf" srcId="{B2550C58-0A72-4977-B95E-C26B5072283F}" destId="{03850E52-223C-4888-9428-B62EDEC5D7A3}" srcOrd="0" destOrd="0" presId="urn:microsoft.com/office/officeart/2005/8/layout/vList2"/>
    <dgm:cxn modelId="{1700DFDD-C79E-46E1-A30B-FA19C63004E5}" srcId="{A72B63DC-494C-46CC-9339-2FEDD8547100}" destId="{6BF4C898-5144-4554-B47F-7BD265E1F94B}" srcOrd="0" destOrd="0" parTransId="{DFBE00A6-76A5-46CC-BC9D-1053BFDAE515}" sibTransId="{550472E6-DA16-4B14-BBCA-20A70E57E182}"/>
    <dgm:cxn modelId="{9D837BBF-73AB-4CD3-9E89-CEFAB0A2BBDB}" type="presOf" srcId="{3BF9EE90-E40E-43E5-ACBC-1DA10D32593F}" destId="{9BE3C97B-4BCD-4699-9061-273548C38D13}" srcOrd="0" destOrd="0" presId="urn:microsoft.com/office/officeart/2005/8/layout/vList2"/>
    <dgm:cxn modelId="{3ACB7ADB-A430-40D6-94B8-DD2B83930ABF}" srcId="{A72B63DC-494C-46CC-9339-2FEDD8547100}" destId="{B2550C58-0A72-4977-B95E-C26B5072283F}" srcOrd="4" destOrd="0" parTransId="{1D522AC4-0EF9-4272-AAC0-65916B79AA73}" sibTransId="{290E39F6-B447-40F5-9B8F-D2CAC2BA7C5B}"/>
    <dgm:cxn modelId="{A14A08E5-C79B-4BFC-A7E9-04E06E08BB21}" type="presOf" srcId="{7D7F4087-1771-4445-B226-B55BBF997800}" destId="{D7D63E6B-BD10-49F3-96A1-F89D59B213CE}" srcOrd="0" destOrd="0" presId="urn:microsoft.com/office/officeart/2005/8/layout/vList2"/>
    <dgm:cxn modelId="{F020486A-D23B-43F3-8DB8-DA71FBCFAFE9}" type="presParOf" srcId="{3C10EF92-ECD3-4CBB-8AD3-28AB6CC1FAE8}" destId="{59D945D0-9C53-4DE6-938D-7661F575CDF2}" srcOrd="0" destOrd="0" presId="urn:microsoft.com/office/officeart/2005/8/layout/vList2"/>
    <dgm:cxn modelId="{B01FF4B3-C753-4596-8397-0B18A181BC89}" type="presParOf" srcId="{3C10EF92-ECD3-4CBB-8AD3-28AB6CC1FAE8}" destId="{84B3013A-395E-4DDC-AC8F-7CCD6F8324AC}" srcOrd="1" destOrd="0" presId="urn:microsoft.com/office/officeart/2005/8/layout/vList2"/>
    <dgm:cxn modelId="{10DDDA64-4207-4F40-918D-7E9143AB3715}" type="presParOf" srcId="{3C10EF92-ECD3-4CBB-8AD3-28AB6CC1FAE8}" destId="{9BE3C97B-4BCD-4699-9061-273548C38D13}" srcOrd="2" destOrd="0" presId="urn:microsoft.com/office/officeart/2005/8/layout/vList2"/>
    <dgm:cxn modelId="{9C40BCB6-C80F-4EAD-92F1-0CEB3B93E818}" type="presParOf" srcId="{3C10EF92-ECD3-4CBB-8AD3-28AB6CC1FAE8}" destId="{1C25624B-A144-44B4-B9E5-EE8680C216DE}" srcOrd="3" destOrd="0" presId="urn:microsoft.com/office/officeart/2005/8/layout/vList2"/>
    <dgm:cxn modelId="{17FD19FD-DF5B-465F-B443-22AF79F5EAAD}" type="presParOf" srcId="{3C10EF92-ECD3-4CBB-8AD3-28AB6CC1FAE8}" destId="{D7D63E6B-BD10-49F3-96A1-F89D59B213CE}" srcOrd="4" destOrd="0" presId="urn:microsoft.com/office/officeart/2005/8/layout/vList2"/>
    <dgm:cxn modelId="{118343B5-CE28-417F-989A-54005D5B7FC3}" type="presParOf" srcId="{3C10EF92-ECD3-4CBB-8AD3-28AB6CC1FAE8}" destId="{12F8D162-7062-4F64-9327-11F62D6BDE97}" srcOrd="5" destOrd="0" presId="urn:microsoft.com/office/officeart/2005/8/layout/vList2"/>
    <dgm:cxn modelId="{313F8FA5-7D5B-4A9A-AE85-918FE9E7741A}" type="presParOf" srcId="{3C10EF92-ECD3-4CBB-8AD3-28AB6CC1FAE8}" destId="{334740B6-C8E3-4B8E-B4A5-E948FD7369E9}" srcOrd="6" destOrd="0" presId="urn:microsoft.com/office/officeart/2005/8/layout/vList2"/>
    <dgm:cxn modelId="{A37A2E39-47F4-4B5F-94C2-00DD4835688E}" type="presParOf" srcId="{3C10EF92-ECD3-4CBB-8AD3-28AB6CC1FAE8}" destId="{1FA17152-C61A-461F-B5C9-518D06EF4923}" srcOrd="7" destOrd="0" presId="urn:microsoft.com/office/officeart/2005/8/layout/vList2"/>
    <dgm:cxn modelId="{A8BE455F-AFBE-4CFB-89DB-7041F6545033}" type="presParOf" srcId="{3C10EF92-ECD3-4CBB-8AD3-28AB6CC1FAE8}" destId="{03850E52-223C-4888-9428-B62EDEC5D7A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0F7A9A-785E-49BF-B192-D643F61E6C49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AA9D10B-A4A0-4133-92F1-AF5641B8BE03}">
      <dgm:prSet phldrT="[Текст]"/>
      <dgm:spPr>
        <a:solidFill>
          <a:srgbClr val="7795C7"/>
        </a:solidFill>
      </dgm:spPr>
      <dgm:t>
        <a:bodyPr/>
        <a:lstStyle/>
        <a:p>
          <a:r>
            <a:rPr lang="ru-RU" dirty="0">
              <a:solidFill>
                <a:srgbClr val="19263C"/>
              </a:solidFill>
              <a:latin typeface="Arial" panose="020B0604020202020204" pitchFamily="34" charset="0"/>
              <a:cs typeface="Arial" panose="020B0604020202020204" pitchFamily="34" charset="0"/>
            </a:rPr>
            <a:t>Интенсивность</a:t>
          </a:r>
        </a:p>
        <a:p>
          <a:r>
            <a:rPr lang="ru-RU" dirty="0">
              <a:solidFill>
                <a:srgbClr val="19263C"/>
              </a:solidFill>
              <a:latin typeface="Arial" panose="020B0604020202020204" pitchFamily="34" charset="0"/>
              <a:cs typeface="Arial" panose="020B0604020202020204" pitchFamily="34" charset="0"/>
            </a:rPr>
            <a:t>конкуренции</a:t>
          </a:r>
        </a:p>
      </dgm:t>
    </dgm:pt>
    <dgm:pt modelId="{AE5B0217-ABD9-465B-8F46-DAB40B4C9439}" type="parTrans" cxnId="{612241AF-11C0-4088-86AA-D5B9FE32BF40}">
      <dgm:prSet/>
      <dgm:spPr/>
      <dgm:t>
        <a:bodyPr/>
        <a:lstStyle/>
        <a:p>
          <a:endParaRPr lang="ru-RU"/>
        </a:p>
      </dgm:t>
    </dgm:pt>
    <dgm:pt modelId="{0EE3CD4C-8426-4584-80C3-2C1FA1ABBE83}" type="sibTrans" cxnId="{612241AF-11C0-4088-86AA-D5B9FE32BF40}">
      <dgm:prSet/>
      <dgm:spPr/>
      <dgm:t>
        <a:bodyPr/>
        <a:lstStyle/>
        <a:p>
          <a:endParaRPr lang="ru-RU"/>
        </a:p>
      </dgm:t>
    </dgm:pt>
    <dgm:pt modelId="{B18F5834-8D4B-4B2E-9DA0-45585F5E85B0}">
      <dgm:prSet phldrT="[Текст]"/>
      <dgm:spPr>
        <a:solidFill>
          <a:srgbClr val="19263C"/>
        </a:solidFill>
      </dgm:spPr>
      <dgm:t>
        <a:bodyPr/>
        <a:lstStyle/>
        <a:p>
          <a:r>
            <a: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Барьеры входа</a:t>
          </a:r>
        </a:p>
      </dgm:t>
    </dgm:pt>
    <dgm:pt modelId="{99EF607C-A2E2-484A-8E30-F45250C6116C}" type="parTrans" cxnId="{4EEBF1C2-3F2C-4086-B555-F95E692B468F}">
      <dgm:prSet/>
      <dgm:spPr/>
      <dgm:t>
        <a:bodyPr/>
        <a:lstStyle/>
        <a:p>
          <a:endParaRPr lang="ru-RU"/>
        </a:p>
      </dgm:t>
    </dgm:pt>
    <dgm:pt modelId="{0B735300-B8C3-4A1F-8B7F-2F0223DA1F5F}" type="sibTrans" cxnId="{4EEBF1C2-3F2C-4086-B555-F95E692B468F}">
      <dgm:prSet/>
      <dgm:spPr/>
      <dgm:t>
        <a:bodyPr/>
        <a:lstStyle/>
        <a:p>
          <a:endParaRPr lang="ru-RU"/>
        </a:p>
      </dgm:t>
    </dgm:pt>
    <dgm:pt modelId="{2EDCE605-7FFC-4C96-B3DF-B7E7495B4A34}">
      <dgm:prSet phldrT="[Текст]"/>
      <dgm:spPr>
        <a:solidFill>
          <a:srgbClr val="19263C"/>
        </a:solidFill>
      </dgm:spPr>
      <dgm:t>
        <a:bodyPr/>
        <a:lstStyle/>
        <a:p>
          <a:r>
            <a: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Сила поставщиков</a:t>
          </a:r>
        </a:p>
      </dgm:t>
    </dgm:pt>
    <dgm:pt modelId="{7A0F87BC-84F3-4D79-A670-A5488F494416}" type="parTrans" cxnId="{2FE3F57A-08B1-4880-B793-FF5937EFC1B5}">
      <dgm:prSet/>
      <dgm:spPr/>
      <dgm:t>
        <a:bodyPr/>
        <a:lstStyle/>
        <a:p>
          <a:endParaRPr lang="ru-RU"/>
        </a:p>
      </dgm:t>
    </dgm:pt>
    <dgm:pt modelId="{12F6D235-F2BA-4DD9-9D62-A8C0F654E4B8}" type="sibTrans" cxnId="{2FE3F57A-08B1-4880-B793-FF5937EFC1B5}">
      <dgm:prSet/>
      <dgm:spPr/>
      <dgm:t>
        <a:bodyPr/>
        <a:lstStyle/>
        <a:p>
          <a:endParaRPr lang="ru-RU"/>
        </a:p>
      </dgm:t>
    </dgm:pt>
    <dgm:pt modelId="{FB58838B-6B44-4820-ADFA-6D68213B34FD}">
      <dgm:prSet phldrT="[Текст]"/>
      <dgm:spPr>
        <a:solidFill>
          <a:srgbClr val="19263C"/>
        </a:solidFill>
      </dgm:spPr>
      <dgm:t>
        <a:bodyPr/>
        <a:lstStyle/>
        <a:p>
          <a:r>
            <a: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Сила покупателей</a:t>
          </a:r>
        </a:p>
      </dgm:t>
    </dgm:pt>
    <dgm:pt modelId="{A3FB00EB-3774-4847-934E-A24E30B09D25}" type="parTrans" cxnId="{1516285C-25BC-4FED-A149-E10CC82C147D}">
      <dgm:prSet/>
      <dgm:spPr/>
      <dgm:t>
        <a:bodyPr/>
        <a:lstStyle/>
        <a:p>
          <a:endParaRPr lang="ru-RU"/>
        </a:p>
      </dgm:t>
    </dgm:pt>
    <dgm:pt modelId="{E940A5E9-8D96-4DA7-B150-1531618BCD60}" type="sibTrans" cxnId="{1516285C-25BC-4FED-A149-E10CC82C147D}">
      <dgm:prSet/>
      <dgm:spPr/>
      <dgm:t>
        <a:bodyPr/>
        <a:lstStyle/>
        <a:p>
          <a:endParaRPr lang="ru-RU"/>
        </a:p>
      </dgm:t>
    </dgm:pt>
    <dgm:pt modelId="{4E9A3B2B-33A5-426C-98BA-3B31C6FCF8A4}">
      <dgm:prSet phldrT="[Текст]"/>
      <dgm:spPr>
        <a:solidFill>
          <a:srgbClr val="19263C"/>
        </a:solidFill>
      </dgm:spPr>
      <dgm:t>
        <a:bodyPr/>
        <a:lstStyle/>
        <a:p>
          <a:r>
            <a: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Аналоги</a:t>
          </a:r>
        </a:p>
      </dgm:t>
    </dgm:pt>
    <dgm:pt modelId="{35A9B89B-CDCB-4B3B-9A31-827EC67E4CB5}" type="parTrans" cxnId="{B253FD6E-5B1D-4ED2-9382-BA558FC2DC15}">
      <dgm:prSet/>
      <dgm:spPr/>
      <dgm:t>
        <a:bodyPr/>
        <a:lstStyle/>
        <a:p>
          <a:endParaRPr lang="ru-RU"/>
        </a:p>
      </dgm:t>
    </dgm:pt>
    <dgm:pt modelId="{9E82050A-6A53-4276-B595-04D373843449}" type="sibTrans" cxnId="{B253FD6E-5B1D-4ED2-9382-BA558FC2DC15}">
      <dgm:prSet/>
      <dgm:spPr/>
      <dgm:t>
        <a:bodyPr/>
        <a:lstStyle/>
        <a:p>
          <a:endParaRPr lang="ru-RU"/>
        </a:p>
      </dgm:t>
    </dgm:pt>
    <dgm:pt modelId="{50758265-EC42-4467-9078-671CAEE8988A}" type="pres">
      <dgm:prSet presAssocID="{000F7A9A-785E-49BF-B192-D643F61E6C49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FB478D1-5DC5-4831-80A9-C1D7D6BF9973}" type="pres">
      <dgm:prSet presAssocID="{000F7A9A-785E-49BF-B192-D643F61E6C49}" presName="matrix" presStyleCnt="0"/>
      <dgm:spPr/>
    </dgm:pt>
    <dgm:pt modelId="{6E7B7542-EE86-4564-931F-6381775E95A3}" type="pres">
      <dgm:prSet presAssocID="{000F7A9A-785E-49BF-B192-D643F61E6C49}" presName="tile1" presStyleLbl="node1" presStyleIdx="0" presStyleCnt="4"/>
      <dgm:spPr/>
      <dgm:t>
        <a:bodyPr/>
        <a:lstStyle/>
        <a:p>
          <a:endParaRPr lang="ru-RU"/>
        </a:p>
      </dgm:t>
    </dgm:pt>
    <dgm:pt modelId="{84A9B874-8992-42F1-BEC3-B7BAFCE839EA}" type="pres">
      <dgm:prSet presAssocID="{000F7A9A-785E-49BF-B192-D643F61E6C49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51BAD1F-9D00-4C70-B474-A381A3FA05BF}" type="pres">
      <dgm:prSet presAssocID="{000F7A9A-785E-49BF-B192-D643F61E6C49}" presName="tile2" presStyleLbl="node1" presStyleIdx="1" presStyleCnt="4"/>
      <dgm:spPr/>
      <dgm:t>
        <a:bodyPr/>
        <a:lstStyle/>
        <a:p>
          <a:endParaRPr lang="ru-RU"/>
        </a:p>
      </dgm:t>
    </dgm:pt>
    <dgm:pt modelId="{5A9E7ED2-7F1E-4C9E-8901-C7CA2630E3C3}" type="pres">
      <dgm:prSet presAssocID="{000F7A9A-785E-49BF-B192-D643F61E6C49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7F25A02-B6C7-458A-AFB0-14A6CD40B73F}" type="pres">
      <dgm:prSet presAssocID="{000F7A9A-785E-49BF-B192-D643F61E6C49}" presName="tile3" presStyleLbl="node1" presStyleIdx="2" presStyleCnt="4"/>
      <dgm:spPr/>
      <dgm:t>
        <a:bodyPr/>
        <a:lstStyle/>
        <a:p>
          <a:endParaRPr lang="ru-RU"/>
        </a:p>
      </dgm:t>
    </dgm:pt>
    <dgm:pt modelId="{BC842D85-7567-44D8-99DF-F202FCFFB29D}" type="pres">
      <dgm:prSet presAssocID="{000F7A9A-785E-49BF-B192-D643F61E6C49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6BBA857-386A-4BD3-92C8-321C5A61A6D1}" type="pres">
      <dgm:prSet presAssocID="{000F7A9A-785E-49BF-B192-D643F61E6C49}" presName="tile4" presStyleLbl="node1" presStyleIdx="3" presStyleCnt="4"/>
      <dgm:spPr/>
      <dgm:t>
        <a:bodyPr/>
        <a:lstStyle/>
        <a:p>
          <a:endParaRPr lang="ru-RU"/>
        </a:p>
      </dgm:t>
    </dgm:pt>
    <dgm:pt modelId="{E4DA6EAF-C5D4-4CE8-ACF9-E9189787BDC8}" type="pres">
      <dgm:prSet presAssocID="{000F7A9A-785E-49BF-B192-D643F61E6C49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79CFCDB-0D59-463D-931E-4E39DC2C8943}" type="pres">
      <dgm:prSet presAssocID="{000F7A9A-785E-49BF-B192-D643F61E6C49}" presName="centerTile" presStyleLbl="fgShp" presStyleIdx="0" presStyleCnt="1" custScaleX="133873" custScaleY="170098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</dgm:ptLst>
  <dgm:cxnLst>
    <dgm:cxn modelId="{875CC2D5-3EB1-43B6-89CA-2D21886762F5}" type="presOf" srcId="{B18F5834-8D4B-4B2E-9DA0-45585F5E85B0}" destId="{6E7B7542-EE86-4564-931F-6381775E95A3}" srcOrd="0" destOrd="0" presId="urn:microsoft.com/office/officeart/2005/8/layout/matrix1"/>
    <dgm:cxn modelId="{9C9FFFC3-F037-4921-8C22-E3361913D4E7}" type="presOf" srcId="{4E9A3B2B-33A5-426C-98BA-3B31C6FCF8A4}" destId="{A6BBA857-386A-4BD3-92C8-321C5A61A6D1}" srcOrd="0" destOrd="0" presId="urn:microsoft.com/office/officeart/2005/8/layout/matrix1"/>
    <dgm:cxn modelId="{B253FD6E-5B1D-4ED2-9382-BA558FC2DC15}" srcId="{8AA9D10B-A4A0-4133-92F1-AF5641B8BE03}" destId="{4E9A3B2B-33A5-426C-98BA-3B31C6FCF8A4}" srcOrd="3" destOrd="0" parTransId="{35A9B89B-CDCB-4B3B-9A31-827EC67E4CB5}" sibTransId="{9E82050A-6A53-4276-B595-04D373843449}"/>
    <dgm:cxn modelId="{612241AF-11C0-4088-86AA-D5B9FE32BF40}" srcId="{000F7A9A-785E-49BF-B192-D643F61E6C49}" destId="{8AA9D10B-A4A0-4133-92F1-AF5641B8BE03}" srcOrd="0" destOrd="0" parTransId="{AE5B0217-ABD9-465B-8F46-DAB40B4C9439}" sibTransId="{0EE3CD4C-8426-4584-80C3-2C1FA1ABBE83}"/>
    <dgm:cxn modelId="{2FE3F57A-08B1-4880-B793-FF5937EFC1B5}" srcId="{8AA9D10B-A4A0-4133-92F1-AF5641B8BE03}" destId="{2EDCE605-7FFC-4C96-B3DF-B7E7495B4A34}" srcOrd="1" destOrd="0" parTransId="{7A0F87BC-84F3-4D79-A670-A5488F494416}" sibTransId="{12F6D235-F2BA-4DD9-9D62-A8C0F654E4B8}"/>
    <dgm:cxn modelId="{4EEBF1C2-3F2C-4086-B555-F95E692B468F}" srcId="{8AA9D10B-A4A0-4133-92F1-AF5641B8BE03}" destId="{B18F5834-8D4B-4B2E-9DA0-45585F5E85B0}" srcOrd="0" destOrd="0" parTransId="{99EF607C-A2E2-484A-8E30-F45250C6116C}" sibTransId="{0B735300-B8C3-4A1F-8B7F-2F0223DA1F5F}"/>
    <dgm:cxn modelId="{1516285C-25BC-4FED-A149-E10CC82C147D}" srcId="{8AA9D10B-A4A0-4133-92F1-AF5641B8BE03}" destId="{FB58838B-6B44-4820-ADFA-6D68213B34FD}" srcOrd="2" destOrd="0" parTransId="{A3FB00EB-3774-4847-934E-A24E30B09D25}" sibTransId="{E940A5E9-8D96-4DA7-B150-1531618BCD60}"/>
    <dgm:cxn modelId="{EE3928F3-2DE3-4B8D-99D6-E360965D4840}" type="presOf" srcId="{8AA9D10B-A4A0-4133-92F1-AF5641B8BE03}" destId="{679CFCDB-0D59-463D-931E-4E39DC2C8943}" srcOrd="0" destOrd="0" presId="urn:microsoft.com/office/officeart/2005/8/layout/matrix1"/>
    <dgm:cxn modelId="{92AE1077-1057-4031-AFDC-E52DB76245E2}" type="presOf" srcId="{4E9A3B2B-33A5-426C-98BA-3B31C6FCF8A4}" destId="{E4DA6EAF-C5D4-4CE8-ACF9-E9189787BDC8}" srcOrd="1" destOrd="0" presId="urn:microsoft.com/office/officeart/2005/8/layout/matrix1"/>
    <dgm:cxn modelId="{F25C2E10-2D85-4983-8A90-CE2F4D49CFCA}" type="presOf" srcId="{B18F5834-8D4B-4B2E-9DA0-45585F5E85B0}" destId="{84A9B874-8992-42F1-BEC3-B7BAFCE839EA}" srcOrd="1" destOrd="0" presId="urn:microsoft.com/office/officeart/2005/8/layout/matrix1"/>
    <dgm:cxn modelId="{BDC5E238-E918-469E-A42E-C50351DAE8DE}" type="presOf" srcId="{FB58838B-6B44-4820-ADFA-6D68213B34FD}" destId="{B7F25A02-B6C7-458A-AFB0-14A6CD40B73F}" srcOrd="0" destOrd="0" presId="urn:microsoft.com/office/officeart/2005/8/layout/matrix1"/>
    <dgm:cxn modelId="{3E2E7B8C-07D8-4F38-8997-887ADBBCE3FC}" type="presOf" srcId="{000F7A9A-785E-49BF-B192-D643F61E6C49}" destId="{50758265-EC42-4467-9078-671CAEE8988A}" srcOrd="0" destOrd="0" presId="urn:microsoft.com/office/officeart/2005/8/layout/matrix1"/>
    <dgm:cxn modelId="{D2B04D0B-E888-46D4-8557-1F8ACAB1F63C}" type="presOf" srcId="{2EDCE605-7FFC-4C96-B3DF-B7E7495B4A34}" destId="{5A9E7ED2-7F1E-4C9E-8901-C7CA2630E3C3}" srcOrd="1" destOrd="0" presId="urn:microsoft.com/office/officeart/2005/8/layout/matrix1"/>
    <dgm:cxn modelId="{5950D7BB-BC23-4590-9BE2-61013223BA86}" type="presOf" srcId="{FB58838B-6B44-4820-ADFA-6D68213B34FD}" destId="{BC842D85-7567-44D8-99DF-F202FCFFB29D}" srcOrd="1" destOrd="0" presId="urn:microsoft.com/office/officeart/2005/8/layout/matrix1"/>
    <dgm:cxn modelId="{6B8DBB85-F4A0-4A33-998D-A534775C250D}" type="presOf" srcId="{2EDCE605-7FFC-4C96-B3DF-B7E7495B4A34}" destId="{751BAD1F-9D00-4C70-B474-A381A3FA05BF}" srcOrd="0" destOrd="0" presId="urn:microsoft.com/office/officeart/2005/8/layout/matrix1"/>
    <dgm:cxn modelId="{A4A4F026-9E6E-40B4-A0D3-812AD55FFCA1}" type="presParOf" srcId="{50758265-EC42-4467-9078-671CAEE8988A}" destId="{EFB478D1-5DC5-4831-80A9-C1D7D6BF9973}" srcOrd="0" destOrd="0" presId="urn:microsoft.com/office/officeart/2005/8/layout/matrix1"/>
    <dgm:cxn modelId="{74E173D2-1DDD-4FFC-A27A-309CEA38A3B5}" type="presParOf" srcId="{EFB478D1-5DC5-4831-80A9-C1D7D6BF9973}" destId="{6E7B7542-EE86-4564-931F-6381775E95A3}" srcOrd="0" destOrd="0" presId="urn:microsoft.com/office/officeart/2005/8/layout/matrix1"/>
    <dgm:cxn modelId="{5E63D6D1-20FA-4881-B40D-921E78B1361C}" type="presParOf" srcId="{EFB478D1-5DC5-4831-80A9-C1D7D6BF9973}" destId="{84A9B874-8992-42F1-BEC3-B7BAFCE839EA}" srcOrd="1" destOrd="0" presId="urn:microsoft.com/office/officeart/2005/8/layout/matrix1"/>
    <dgm:cxn modelId="{0AD265EF-F7C0-488E-953D-CFE654F6E6E0}" type="presParOf" srcId="{EFB478D1-5DC5-4831-80A9-C1D7D6BF9973}" destId="{751BAD1F-9D00-4C70-B474-A381A3FA05BF}" srcOrd="2" destOrd="0" presId="urn:microsoft.com/office/officeart/2005/8/layout/matrix1"/>
    <dgm:cxn modelId="{4E71A1E6-4AEC-4459-85EF-CAAED8D9F385}" type="presParOf" srcId="{EFB478D1-5DC5-4831-80A9-C1D7D6BF9973}" destId="{5A9E7ED2-7F1E-4C9E-8901-C7CA2630E3C3}" srcOrd="3" destOrd="0" presId="urn:microsoft.com/office/officeart/2005/8/layout/matrix1"/>
    <dgm:cxn modelId="{D9B85F87-9442-4056-9382-61A8A5A25818}" type="presParOf" srcId="{EFB478D1-5DC5-4831-80A9-C1D7D6BF9973}" destId="{B7F25A02-B6C7-458A-AFB0-14A6CD40B73F}" srcOrd="4" destOrd="0" presId="urn:microsoft.com/office/officeart/2005/8/layout/matrix1"/>
    <dgm:cxn modelId="{12D50993-D948-4D36-AD8B-E67FB50E1C9F}" type="presParOf" srcId="{EFB478D1-5DC5-4831-80A9-C1D7D6BF9973}" destId="{BC842D85-7567-44D8-99DF-F202FCFFB29D}" srcOrd="5" destOrd="0" presId="urn:microsoft.com/office/officeart/2005/8/layout/matrix1"/>
    <dgm:cxn modelId="{2DD45437-F33D-4C12-AAF1-1DF5B2C580ED}" type="presParOf" srcId="{EFB478D1-5DC5-4831-80A9-C1D7D6BF9973}" destId="{A6BBA857-386A-4BD3-92C8-321C5A61A6D1}" srcOrd="6" destOrd="0" presId="urn:microsoft.com/office/officeart/2005/8/layout/matrix1"/>
    <dgm:cxn modelId="{378260C2-63C7-4F8D-9023-26DE6B86ED71}" type="presParOf" srcId="{EFB478D1-5DC5-4831-80A9-C1D7D6BF9973}" destId="{E4DA6EAF-C5D4-4CE8-ACF9-E9189787BDC8}" srcOrd="7" destOrd="0" presId="urn:microsoft.com/office/officeart/2005/8/layout/matrix1"/>
    <dgm:cxn modelId="{B0489B5A-4F42-4E8E-87F9-53FB1535AB36}" type="presParOf" srcId="{50758265-EC42-4467-9078-671CAEE8988A}" destId="{679CFCDB-0D59-463D-931E-4E39DC2C8943}" srcOrd="1" destOrd="0" presId="urn:microsoft.com/office/officeart/2005/8/layout/matrix1"/>
  </dgm:cxnLst>
  <dgm:bg>
    <a:noFill/>
  </dgm:bg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D945D0-9C53-4DE6-938D-7661F575CDF2}">
      <dsp:nvSpPr>
        <dsp:cNvPr id="0" name=""/>
        <dsp:cNvSpPr/>
      </dsp:nvSpPr>
      <dsp:spPr>
        <a:xfrm>
          <a:off x="0" y="592894"/>
          <a:ext cx="3293058" cy="351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>
              <a:latin typeface="Arial" panose="020B0604020202020204" pitchFamily="34" charset="0"/>
              <a:cs typeface="Arial" panose="020B0604020202020204" pitchFamily="34" charset="0"/>
            </a:rPr>
            <a:t>Потенциальный объем рынка </a:t>
          </a:r>
        </a:p>
      </dsp:txBody>
      <dsp:txXfrm>
        <a:off x="17134" y="610028"/>
        <a:ext cx="3258790" cy="316732"/>
      </dsp:txXfrm>
    </dsp:sp>
    <dsp:sp modelId="{9BE3C97B-4BCD-4699-9061-273548C38D13}">
      <dsp:nvSpPr>
        <dsp:cNvPr id="0" name=""/>
        <dsp:cNvSpPr/>
      </dsp:nvSpPr>
      <dsp:spPr>
        <a:xfrm>
          <a:off x="0" y="987094"/>
          <a:ext cx="3293058" cy="351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>
              <a:latin typeface="Arial" panose="020B0604020202020204" pitchFamily="34" charset="0"/>
              <a:cs typeface="Arial" panose="020B0604020202020204" pitchFamily="34" charset="0"/>
            </a:rPr>
            <a:t>Реальный объем рынка</a:t>
          </a:r>
        </a:p>
      </dsp:txBody>
      <dsp:txXfrm>
        <a:off x="17134" y="1004228"/>
        <a:ext cx="3258790" cy="316732"/>
      </dsp:txXfrm>
    </dsp:sp>
    <dsp:sp modelId="{D7D63E6B-BD10-49F3-96A1-F89D59B213CE}">
      <dsp:nvSpPr>
        <dsp:cNvPr id="0" name=""/>
        <dsp:cNvSpPr/>
      </dsp:nvSpPr>
      <dsp:spPr>
        <a:xfrm>
          <a:off x="0" y="1381294"/>
          <a:ext cx="3293058" cy="351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>
              <a:latin typeface="Arial" panose="020B0604020202020204" pitchFamily="34" charset="0"/>
              <a:cs typeface="Arial" panose="020B0604020202020204" pitchFamily="34" charset="0"/>
            </a:rPr>
            <a:t>Темп роста рынка</a:t>
          </a:r>
        </a:p>
      </dsp:txBody>
      <dsp:txXfrm>
        <a:off x="17134" y="1398428"/>
        <a:ext cx="3258790" cy="316732"/>
      </dsp:txXfrm>
    </dsp:sp>
    <dsp:sp modelId="{334740B6-C8E3-4B8E-B4A5-E948FD7369E9}">
      <dsp:nvSpPr>
        <dsp:cNvPr id="0" name=""/>
        <dsp:cNvSpPr/>
      </dsp:nvSpPr>
      <dsp:spPr>
        <a:xfrm>
          <a:off x="0" y="1775494"/>
          <a:ext cx="3293058" cy="351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>
              <a:latin typeface="Arial" panose="020B0604020202020204" pitchFamily="34" charset="0"/>
              <a:cs typeface="Arial" panose="020B0604020202020204" pitchFamily="34" charset="0"/>
            </a:rPr>
            <a:t>Соотношение долей конкурентов</a:t>
          </a:r>
        </a:p>
      </dsp:txBody>
      <dsp:txXfrm>
        <a:off x="17134" y="1792628"/>
        <a:ext cx="3258790" cy="316732"/>
      </dsp:txXfrm>
    </dsp:sp>
    <dsp:sp modelId="{03850E52-223C-4888-9428-B62EDEC5D7A3}">
      <dsp:nvSpPr>
        <dsp:cNvPr id="0" name=""/>
        <dsp:cNvSpPr/>
      </dsp:nvSpPr>
      <dsp:spPr>
        <a:xfrm>
          <a:off x="0" y="2169694"/>
          <a:ext cx="3293058" cy="351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>
              <a:latin typeface="Arial" panose="020B0604020202020204" pitchFamily="34" charset="0"/>
              <a:cs typeface="Arial" panose="020B0604020202020204" pitchFamily="34" charset="0"/>
            </a:rPr>
            <a:t>Плановая доля рынка</a:t>
          </a:r>
        </a:p>
      </dsp:txBody>
      <dsp:txXfrm>
        <a:off x="17134" y="2186828"/>
        <a:ext cx="3258790" cy="3167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7B7542-EE86-4564-931F-6381775E95A3}">
      <dsp:nvSpPr>
        <dsp:cNvPr id="0" name=""/>
        <dsp:cNvSpPr/>
      </dsp:nvSpPr>
      <dsp:spPr>
        <a:xfrm rot="16200000">
          <a:off x="136275" y="-136275"/>
          <a:ext cx="1264942" cy="1537493"/>
        </a:xfrm>
        <a:prstGeom prst="round1Rect">
          <a:avLst/>
        </a:prstGeom>
        <a:solidFill>
          <a:srgbClr val="19263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Барьеры входа</a:t>
          </a:r>
        </a:p>
      </dsp:txBody>
      <dsp:txXfrm rot="5400000">
        <a:off x="0" y="0"/>
        <a:ext cx="1537493" cy="948706"/>
      </dsp:txXfrm>
    </dsp:sp>
    <dsp:sp modelId="{751BAD1F-9D00-4C70-B474-A381A3FA05BF}">
      <dsp:nvSpPr>
        <dsp:cNvPr id="0" name=""/>
        <dsp:cNvSpPr/>
      </dsp:nvSpPr>
      <dsp:spPr>
        <a:xfrm>
          <a:off x="1537493" y="0"/>
          <a:ext cx="1537493" cy="1264942"/>
        </a:xfrm>
        <a:prstGeom prst="round1Rect">
          <a:avLst/>
        </a:prstGeom>
        <a:solidFill>
          <a:srgbClr val="19263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Сила поставщиков</a:t>
          </a:r>
        </a:p>
      </dsp:txBody>
      <dsp:txXfrm>
        <a:off x="1537493" y="0"/>
        <a:ext cx="1537493" cy="948706"/>
      </dsp:txXfrm>
    </dsp:sp>
    <dsp:sp modelId="{B7F25A02-B6C7-458A-AFB0-14A6CD40B73F}">
      <dsp:nvSpPr>
        <dsp:cNvPr id="0" name=""/>
        <dsp:cNvSpPr/>
      </dsp:nvSpPr>
      <dsp:spPr>
        <a:xfrm rot="10800000">
          <a:off x="0" y="1264942"/>
          <a:ext cx="1537493" cy="1264942"/>
        </a:xfrm>
        <a:prstGeom prst="round1Rect">
          <a:avLst/>
        </a:prstGeom>
        <a:solidFill>
          <a:srgbClr val="19263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Сила покупателей</a:t>
          </a:r>
        </a:p>
      </dsp:txBody>
      <dsp:txXfrm rot="10800000">
        <a:off x="0" y="1581177"/>
        <a:ext cx="1537493" cy="948706"/>
      </dsp:txXfrm>
    </dsp:sp>
    <dsp:sp modelId="{A6BBA857-386A-4BD3-92C8-321C5A61A6D1}">
      <dsp:nvSpPr>
        <dsp:cNvPr id="0" name=""/>
        <dsp:cNvSpPr/>
      </dsp:nvSpPr>
      <dsp:spPr>
        <a:xfrm rot="5400000">
          <a:off x="1673768" y="1128666"/>
          <a:ext cx="1264942" cy="1537493"/>
        </a:xfrm>
        <a:prstGeom prst="round1Rect">
          <a:avLst/>
        </a:prstGeom>
        <a:solidFill>
          <a:srgbClr val="19263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Аналоги</a:t>
          </a:r>
        </a:p>
      </dsp:txBody>
      <dsp:txXfrm rot="-5400000">
        <a:off x="1537493" y="1581177"/>
        <a:ext cx="1537493" cy="948706"/>
      </dsp:txXfrm>
    </dsp:sp>
    <dsp:sp modelId="{679CFCDB-0D59-463D-931E-4E39DC2C8943}">
      <dsp:nvSpPr>
        <dsp:cNvPr id="0" name=""/>
        <dsp:cNvSpPr/>
      </dsp:nvSpPr>
      <dsp:spPr>
        <a:xfrm>
          <a:off x="920006" y="727031"/>
          <a:ext cx="1234972" cy="1075820"/>
        </a:xfrm>
        <a:prstGeom prst="roundRect">
          <a:avLst/>
        </a:prstGeom>
        <a:solidFill>
          <a:srgbClr val="7795C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>
              <a:solidFill>
                <a:srgbClr val="19263C"/>
              </a:solidFill>
              <a:latin typeface="Arial" panose="020B0604020202020204" pitchFamily="34" charset="0"/>
              <a:cs typeface="Arial" panose="020B0604020202020204" pitchFamily="34" charset="0"/>
            </a:rPr>
            <a:t>Интенсивность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>
              <a:solidFill>
                <a:srgbClr val="19263C"/>
              </a:solidFill>
              <a:latin typeface="Arial" panose="020B0604020202020204" pitchFamily="34" charset="0"/>
              <a:cs typeface="Arial" panose="020B0604020202020204" pitchFamily="34" charset="0"/>
            </a:rPr>
            <a:t>конкуренции</a:t>
          </a:r>
        </a:p>
      </dsp:txBody>
      <dsp:txXfrm>
        <a:off x="972523" y="779548"/>
        <a:ext cx="1129938" cy="9707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6AD17-C8BE-0042-A047-B264E547F3F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0AB3A-EF41-3C43-86EF-13128BED826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7114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10AB3A-EF41-3C43-86EF-13128BED8263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360294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10AB3A-EF41-3C43-86EF-13128BED8263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360294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10AB3A-EF41-3C43-86EF-13128BED8263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883105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566EB60-5257-494F-9E72-845827F2B1F6}"/>
              </a:ext>
            </a:extLst>
          </p:cNvPr>
          <p:cNvSpPr txBox="1"/>
          <p:nvPr/>
        </p:nvSpPr>
        <p:spPr>
          <a:xfrm>
            <a:off x="1826918" y="4027418"/>
            <a:ext cx="5622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 smtClean="0"/>
              <a:t>Вероника Пешкова</a:t>
            </a:r>
            <a:r>
              <a:rPr lang="en-US" b="1" dirty="0"/>
              <a:t/>
            </a:r>
            <a:br>
              <a:rPr lang="en-US" b="1" dirty="0"/>
            </a:br>
            <a:r>
              <a:rPr lang="ru-RU" sz="1400" dirty="0"/>
              <a:t>генеральный </a:t>
            </a:r>
            <a:r>
              <a:rPr lang="ru-RU" sz="1400" dirty="0" smtClean="0"/>
              <a:t>директор </a:t>
            </a:r>
            <a:r>
              <a:rPr lang="ru-RU" sz="1400" dirty="0" err="1" smtClean="0"/>
              <a:t>iExpert</a:t>
            </a:r>
            <a:endParaRPr lang="ru-RU" sz="1400" dirty="0">
              <a:highlight>
                <a:srgbClr val="FFFF00"/>
              </a:highlight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64823E2A-C44A-42E2-B622-4E22EC2080D9}"/>
              </a:ext>
            </a:extLst>
          </p:cNvPr>
          <p:cNvSpPr/>
          <p:nvPr/>
        </p:nvSpPr>
        <p:spPr>
          <a:xfrm>
            <a:off x="7097802" y="523777"/>
            <a:ext cx="1392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CE1325"/>
                </a:solidFill>
              </a:rPr>
              <a:t>school.gd.ru</a:t>
            </a:r>
            <a:r>
              <a:rPr lang="ru-RU" dirty="0" smtClean="0">
                <a:solidFill>
                  <a:srgbClr val="CE1325"/>
                </a:solidFill>
              </a:rPr>
              <a:t> </a:t>
            </a:r>
            <a:endParaRPr lang="ru-RU" dirty="0">
              <a:solidFill>
                <a:srgbClr val="CE1325"/>
              </a:solidFill>
            </a:endParaRPr>
          </a:p>
        </p:txBody>
      </p:sp>
      <p:pic>
        <p:nvPicPr>
          <p:cNvPr id="10" name="Изображение 2">
            <a:extLst>
              <a:ext uri="{FF2B5EF4-FFF2-40B4-BE49-F238E27FC236}">
                <a16:creationId xmlns="" xmlns:a16="http://schemas.microsoft.com/office/drawing/2014/main" id="{3C266811-C323-46A5-8586-C0A0BD782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66608" y="3451939"/>
            <a:ext cx="1060310" cy="1092934"/>
          </a:xfrm>
          <a:prstGeom prst="rect">
            <a:avLst/>
          </a:prstGeom>
        </p:spPr>
      </p:pic>
      <p:sp>
        <p:nvSpPr>
          <p:cNvPr id="11" name="Название 1">
            <a:extLst>
              <a:ext uri="{FF2B5EF4-FFF2-40B4-BE49-F238E27FC236}">
                <a16:creationId xmlns="" xmlns:a16="http://schemas.microsoft.com/office/drawing/2014/main" id="{83B216AE-E002-4B69-8586-A1804C935C1E}"/>
              </a:ext>
            </a:extLst>
          </p:cNvPr>
          <p:cNvSpPr txBox="1">
            <a:spLocks/>
          </p:cNvSpPr>
          <p:nvPr/>
        </p:nvSpPr>
        <p:spPr>
          <a:xfrm>
            <a:off x="625683" y="1858543"/>
            <a:ext cx="7772400" cy="182595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1000"/>
              </a:lnSpc>
            </a:pPr>
            <a:r>
              <a:rPr lang="ru-RU" sz="3600" b="1" dirty="0" smtClean="0"/>
              <a:t>Методы разработки и оцифровки стратегии компании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xmlns="" val="3165284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77512" y="2258758"/>
            <a:ext cx="7878915" cy="417477"/>
          </a:xfrm>
        </p:spPr>
        <p:txBody>
          <a:bodyPr anchor="t">
            <a:noAutofit/>
          </a:bodyPr>
          <a:lstStyle/>
          <a:p>
            <a:pPr marL="0" indent="0" algn="l"/>
            <a:r>
              <a:rPr lang="ru-RU" sz="4000" b="1" dirty="0" smtClean="0"/>
              <a:t>Стратегическое планирование</a:t>
            </a:r>
            <a:endParaRPr lang="ru-RU" sz="4000" b="1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Методы разработки и оцифровки стратегии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56243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Двойная стрелка влево/вправо 12"/>
          <p:cNvSpPr/>
          <p:nvPr/>
        </p:nvSpPr>
        <p:spPr>
          <a:xfrm>
            <a:off x="1200246" y="3624962"/>
            <a:ext cx="2246235" cy="674535"/>
          </a:xfrm>
          <a:prstGeom prst="leftRightArrow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="" xmlns:a16="http://schemas.microsoft.com/office/drawing/2014/main" id="{40690820-4876-404D-B208-B6E366EA17BB}"/>
              </a:ext>
            </a:extLst>
          </p:cNvPr>
          <p:cNvSpPr/>
          <p:nvPr/>
        </p:nvSpPr>
        <p:spPr>
          <a:xfrm>
            <a:off x="654899" y="1209941"/>
            <a:ext cx="3080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Стратегическая мета-модель</a:t>
            </a:r>
            <a:endParaRPr lang="ru-RU" b="1" dirty="0">
              <a:latin typeface="+mj-lt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Методы разработки и оцифровки стратегии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pic>
        <p:nvPicPr>
          <p:cNvPr id="7" name="Picture 2" descr="C:\Алина\буклет и сайт\xdeventures\презентации\стратегический менеджмент\ФОТО\старбакс\лейблы\ic32__0000_Layer-8.png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435183" y="2029053"/>
            <a:ext cx="1765115" cy="1536324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1753442" y="1601112"/>
            <a:ext cx="11398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>
                <a:cs typeface="Arial" pitchFamily="34" charset="0"/>
              </a:rPr>
              <a:t>ВНЕШНЯЯ СРЕДА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8737" y="2646166"/>
            <a:ext cx="1302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>
                <a:cs typeface="Arial" pitchFamily="34" charset="0"/>
              </a:rPr>
              <a:t>ПРОЦЕССЫ</a:t>
            </a:r>
          </a:p>
          <a:p>
            <a:pPr algn="ctr"/>
            <a:r>
              <a:rPr lang="ru-RU" sz="1000" b="1" dirty="0">
                <a:cs typeface="Arial" pitchFamily="34" charset="0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409" y="2655234"/>
            <a:ext cx="11398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>
                <a:cs typeface="Arial" pitchFamily="34" charset="0"/>
              </a:rPr>
              <a:t>АКТИВЫ</a:t>
            </a:r>
          </a:p>
          <a:p>
            <a:pPr algn="ctr"/>
            <a:endParaRPr lang="ru-RU" sz="1000" b="1" dirty="0"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13693" y="3762175"/>
            <a:ext cx="1619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>
                <a:solidFill>
                  <a:schemeClr val="bg1"/>
                </a:solidFill>
                <a:cs typeface="Arial" pitchFamily="34" charset="0"/>
              </a:rPr>
              <a:t>ОРГАНИЗАЦИОННЫЕ КОМПЕТЕНЦИИ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47817" y="2674104"/>
            <a:ext cx="11398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>
                <a:solidFill>
                  <a:srgbClr val="FF0000"/>
                </a:solidFill>
                <a:cs typeface="Arial" pitchFamily="34" charset="0"/>
              </a:rPr>
              <a:t>СТРАТЕГИЯ</a:t>
            </a:r>
          </a:p>
        </p:txBody>
      </p:sp>
    </p:spTree>
    <p:extLst>
      <p:ext uri="{BB962C8B-B14F-4D97-AF65-F5344CB8AC3E}">
        <p14:creationId xmlns:p14="http://schemas.microsoft.com/office/powerpoint/2010/main" xmlns="" val="3400700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279000" y="214884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="" xmlns:a16="http://schemas.microsoft.com/office/drawing/2014/main" id="{40690820-4876-404D-B208-B6E366EA17BB}"/>
              </a:ext>
            </a:extLst>
          </p:cNvPr>
          <p:cNvSpPr/>
          <p:nvPr/>
        </p:nvSpPr>
        <p:spPr>
          <a:xfrm>
            <a:off x="654899" y="1209941"/>
            <a:ext cx="22871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Стратегический цикл</a:t>
            </a:r>
            <a:endParaRPr lang="ru-RU" b="1" dirty="0">
              <a:latin typeface="+mj-lt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Методы разработки и оцифровки стратегии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pSp>
        <p:nvGrpSpPr>
          <p:cNvPr id="14" name="Group 3"/>
          <p:cNvGrpSpPr>
            <a:grpSpLocks noChangeAspect="1"/>
          </p:cNvGrpSpPr>
          <p:nvPr/>
        </p:nvGrpSpPr>
        <p:grpSpPr bwMode="auto">
          <a:xfrm>
            <a:off x="-248909" y="1673991"/>
            <a:ext cx="4852363" cy="2648697"/>
            <a:chOff x="2044" y="97"/>
            <a:chExt cx="11695" cy="7907"/>
          </a:xfrm>
        </p:grpSpPr>
        <p:sp>
          <p:nvSpPr>
            <p:cNvPr id="15" name="AutoShape 4"/>
            <p:cNvSpPr>
              <a:spLocks noChangeAspect="1" noChangeArrowheads="1"/>
            </p:cNvSpPr>
            <p:nvPr/>
          </p:nvSpPr>
          <p:spPr bwMode="auto">
            <a:xfrm>
              <a:off x="2044" y="97"/>
              <a:ext cx="11193" cy="79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ru-RU" sz="1100" b="1">
                <a:cs typeface="Tahoma" pitchFamily="34" charset="0"/>
              </a:endParaRPr>
            </a:p>
          </p:txBody>
        </p:sp>
        <p:grpSp>
          <p:nvGrpSpPr>
            <p:cNvPr id="16" name="Group 5"/>
            <p:cNvGrpSpPr>
              <a:grpSpLocks/>
            </p:cNvGrpSpPr>
            <p:nvPr/>
          </p:nvGrpSpPr>
          <p:grpSpPr bwMode="auto">
            <a:xfrm>
              <a:off x="5136" y="1209"/>
              <a:ext cx="4999" cy="5039"/>
              <a:chOff x="1723" y="1252"/>
              <a:chExt cx="2400" cy="2352"/>
            </a:xfrm>
          </p:grpSpPr>
          <p:sp>
            <p:nvSpPr>
              <p:cNvPr id="26" name="Line 6"/>
              <p:cNvSpPr>
                <a:spLocks noChangeShapeType="1"/>
              </p:cNvSpPr>
              <p:nvPr/>
            </p:nvSpPr>
            <p:spPr bwMode="auto">
              <a:xfrm flipH="1" flipV="1">
                <a:off x="1723" y="2611"/>
                <a:ext cx="14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lang="ru-RU" sz="1100" b="1"/>
              </a:p>
            </p:txBody>
          </p:sp>
          <p:sp>
            <p:nvSpPr>
              <p:cNvPr id="27" name="Oval 7"/>
              <p:cNvSpPr>
                <a:spLocks noChangeArrowheads="1"/>
              </p:cNvSpPr>
              <p:nvPr/>
            </p:nvSpPr>
            <p:spPr bwMode="auto">
              <a:xfrm>
                <a:off x="1723" y="1252"/>
                <a:ext cx="2400" cy="235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lIns="59436" tIns="29718" rIns="59436" bIns="29718" anchor="ctr"/>
              <a:lstStyle/>
              <a:p>
                <a:pPr algn="ctr"/>
                <a:endParaRPr lang="ru-RU" sz="1100" b="1">
                  <a:solidFill>
                    <a:schemeClr val="tx1"/>
                  </a:solidFill>
                  <a:cs typeface="Tahoma" pitchFamily="34" charset="0"/>
                </a:endParaRPr>
              </a:p>
            </p:txBody>
          </p:sp>
          <p:sp>
            <p:nvSpPr>
              <p:cNvPr id="29" name="Line 8"/>
              <p:cNvSpPr>
                <a:spLocks noChangeShapeType="1"/>
              </p:cNvSpPr>
              <p:nvPr/>
            </p:nvSpPr>
            <p:spPr bwMode="auto">
              <a:xfrm flipH="1">
                <a:off x="1882" y="1253"/>
                <a:ext cx="998" cy="176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lang="ru-RU" sz="1100" b="1"/>
              </a:p>
            </p:txBody>
          </p:sp>
          <p:sp>
            <p:nvSpPr>
              <p:cNvPr id="30" name="Line 9"/>
              <p:cNvSpPr>
                <a:spLocks noChangeShapeType="1"/>
              </p:cNvSpPr>
              <p:nvPr/>
            </p:nvSpPr>
            <p:spPr bwMode="auto">
              <a:xfrm flipV="1">
                <a:off x="1882" y="3015"/>
                <a:ext cx="208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lang="ru-RU" sz="1100" b="1"/>
              </a:p>
            </p:txBody>
          </p:sp>
          <p:sp>
            <p:nvSpPr>
              <p:cNvPr id="31" name="Line 10"/>
              <p:cNvSpPr>
                <a:spLocks noChangeShapeType="1"/>
              </p:cNvSpPr>
              <p:nvPr/>
            </p:nvSpPr>
            <p:spPr bwMode="auto">
              <a:xfrm>
                <a:off x="2880" y="1253"/>
                <a:ext cx="1089" cy="176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lang="ru-RU" sz="1100" b="1"/>
              </a:p>
            </p:txBody>
          </p:sp>
          <p:sp>
            <p:nvSpPr>
              <p:cNvPr id="32" name="Line 11"/>
              <p:cNvSpPr>
                <a:spLocks noChangeShapeType="1"/>
              </p:cNvSpPr>
              <p:nvPr/>
            </p:nvSpPr>
            <p:spPr bwMode="auto">
              <a:xfrm flipH="1">
                <a:off x="3198" y="1609"/>
                <a:ext cx="544" cy="19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lang="ru-RU" sz="1100" b="1"/>
              </a:p>
            </p:txBody>
          </p:sp>
          <p:sp>
            <p:nvSpPr>
              <p:cNvPr id="33" name="Line 12"/>
              <p:cNvSpPr>
                <a:spLocks noChangeShapeType="1"/>
              </p:cNvSpPr>
              <p:nvPr/>
            </p:nvSpPr>
            <p:spPr bwMode="auto">
              <a:xfrm flipV="1">
                <a:off x="3198" y="2251"/>
                <a:ext cx="903" cy="131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lang="ru-RU" sz="1100" b="1"/>
              </a:p>
            </p:txBody>
          </p:sp>
          <p:sp>
            <p:nvSpPr>
              <p:cNvPr id="34" name="Line 13"/>
              <p:cNvSpPr>
                <a:spLocks noChangeShapeType="1"/>
              </p:cNvSpPr>
              <p:nvPr/>
            </p:nvSpPr>
            <p:spPr bwMode="auto">
              <a:xfrm flipH="1" flipV="1">
                <a:off x="2018" y="1616"/>
                <a:ext cx="2083" cy="6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lang="ru-RU" sz="1100" b="1"/>
              </a:p>
            </p:txBody>
          </p:sp>
          <p:sp>
            <p:nvSpPr>
              <p:cNvPr id="35" name="Line 14"/>
              <p:cNvSpPr>
                <a:spLocks noChangeShapeType="1"/>
              </p:cNvSpPr>
              <p:nvPr/>
            </p:nvSpPr>
            <p:spPr bwMode="auto">
              <a:xfrm>
                <a:off x="2018" y="1616"/>
                <a:ext cx="425" cy="19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lang="ru-RU" sz="1100" b="1"/>
              </a:p>
            </p:txBody>
          </p:sp>
          <p:sp>
            <p:nvSpPr>
              <p:cNvPr id="36" name="Line 15"/>
              <p:cNvSpPr>
                <a:spLocks noChangeShapeType="1"/>
              </p:cNvSpPr>
              <p:nvPr/>
            </p:nvSpPr>
            <p:spPr bwMode="auto">
              <a:xfrm flipH="1" flipV="1">
                <a:off x="1746" y="2251"/>
                <a:ext cx="681" cy="127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lang="ru-RU" sz="1100" b="1"/>
              </a:p>
            </p:txBody>
          </p:sp>
          <p:sp>
            <p:nvSpPr>
              <p:cNvPr id="37" name="Line 16"/>
              <p:cNvSpPr>
                <a:spLocks noChangeShapeType="1"/>
              </p:cNvSpPr>
              <p:nvPr/>
            </p:nvSpPr>
            <p:spPr bwMode="auto">
              <a:xfrm flipV="1">
                <a:off x="1746" y="1609"/>
                <a:ext cx="1996" cy="64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lang="ru-RU" sz="1100" b="1"/>
              </a:p>
            </p:txBody>
          </p:sp>
        </p:grp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8775" y="4525"/>
              <a:ext cx="4964" cy="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9436" tIns="29718" rIns="59436" bIns="29718"/>
            <a:lstStyle/>
            <a:p>
              <a:pPr algn="ctr"/>
              <a:r>
                <a:rPr lang="ru-RU" sz="1100" b="1" dirty="0">
                  <a:cs typeface="Arial" panose="020B0604020202020204" pitchFamily="34" charset="0"/>
                </a:rPr>
                <a:t>         Сценарии развития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568" y="6107"/>
              <a:ext cx="3689" cy="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9436" tIns="29718" rIns="59436" bIns="29718"/>
            <a:lstStyle/>
            <a:p>
              <a:pPr algn="ctr"/>
              <a:r>
                <a:rPr lang="ru-RU" sz="1100" b="1" dirty="0" smtClean="0">
                  <a:cs typeface="Arial" panose="020B0604020202020204" pitchFamily="34" charset="0"/>
                </a:rPr>
                <a:t>Оценка </a:t>
              </a:r>
              <a:r>
                <a:rPr lang="ru-RU" sz="1100" b="1" dirty="0">
                  <a:cs typeface="Arial" panose="020B0604020202020204" pitchFamily="34" charset="0"/>
                </a:rPr>
                <a:t>рисков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4313" y="6205"/>
              <a:ext cx="3106" cy="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9436" tIns="29718" rIns="59436" bIns="29718"/>
            <a:lstStyle/>
            <a:p>
              <a:pPr algn="ctr"/>
              <a:r>
                <a:rPr lang="ru-RU" sz="1100" b="1" dirty="0">
                  <a:cs typeface="Arial" panose="020B0604020202020204" pitchFamily="34" charset="0"/>
                </a:rPr>
                <a:t> Выбор сценария</a:t>
              </a:r>
            </a:p>
            <a:p>
              <a:pPr algn="ctr"/>
              <a:r>
                <a:rPr lang="ru-RU" sz="1100" b="1" dirty="0">
                  <a:cs typeface="Arial" panose="020B0604020202020204" pitchFamily="34" charset="0"/>
                </a:rPr>
                <a:t>            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2835" y="4704"/>
              <a:ext cx="2775" cy="7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9436" tIns="29718" rIns="59436" bIns="29718"/>
            <a:lstStyle/>
            <a:p>
              <a:pPr algn="ctr"/>
              <a:r>
                <a:rPr lang="ru-RU" sz="1100" b="1" dirty="0" smtClean="0">
                  <a:cs typeface="Arial" panose="020B0604020202020204" pitchFamily="34" charset="0"/>
                </a:rPr>
                <a:t>Реализация</a:t>
              </a:r>
              <a:endParaRPr lang="ru-RU" sz="1100" b="1" dirty="0">
                <a:cs typeface="Arial" panose="020B0604020202020204" pitchFamily="34" charset="0"/>
              </a:endParaRPr>
            </a:p>
          </p:txBody>
        </p: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2490" y="2998"/>
              <a:ext cx="3236" cy="4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9436" tIns="29718" rIns="59436" bIns="29718"/>
            <a:lstStyle/>
            <a:p>
              <a:pPr algn="ctr"/>
              <a:r>
                <a:rPr lang="ru-RU" sz="1100" b="1" dirty="0">
                  <a:cs typeface="Arial" panose="020B0604020202020204" pitchFamily="34" charset="0"/>
                </a:rPr>
                <a:t> Контроль</a:t>
              </a:r>
            </a:p>
          </p:txBody>
        </p:sp>
        <p:sp>
          <p:nvSpPr>
            <p:cNvPr id="22" name="Text Box 22"/>
            <p:cNvSpPr txBox="1">
              <a:spLocks noChangeArrowheads="1"/>
            </p:cNvSpPr>
            <p:nvPr/>
          </p:nvSpPr>
          <p:spPr bwMode="auto">
            <a:xfrm>
              <a:off x="3373" y="1451"/>
              <a:ext cx="2353" cy="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9436" tIns="29718" rIns="59436" bIns="29718"/>
            <a:lstStyle/>
            <a:p>
              <a:pPr algn="ctr"/>
              <a:r>
                <a:rPr lang="ru-RU" sz="1100" b="1" dirty="0" smtClean="0">
                  <a:cs typeface="Arial" panose="020B0604020202020204" pitchFamily="34" charset="0"/>
                </a:rPr>
                <a:t>Адаптация</a:t>
              </a:r>
              <a:endParaRPr lang="ru-RU" sz="1100" b="1" dirty="0">
                <a:cs typeface="Arial" panose="020B0604020202020204" pitchFamily="34" charset="0"/>
              </a:endParaRPr>
            </a:p>
          </p:txBody>
        </p:sp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9267" y="1146"/>
              <a:ext cx="3444" cy="3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9436" tIns="29718" rIns="59436" bIns="29718"/>
            <a:lstStyle/>
            <a:p>
              <a:pPr algn="ctr"/>
              <a:r>
                <a:rPr lang="ru-RU" sz="1100" b="1" dirty="0">
                  <a:cs typeface="Arial" panose="020B0604020202020204" pitchFamily="34" charset="0"/>
                </a:rPr>
                <a:t>Постановка целей и ценностей</a:t>
              </a:r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10089" y="2797"/>
              <a:ext cx="3088" cy="8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9436" tIns="29718" rIns="59436" bIns="29718"/>
            <a:lstStyle/>
            <a:p>
              <a:pPr algn="ctr"/>
              <a:r>
                <a:rPr lang="ru-RU" sz="1100" b="1" dirty="0">
                  <a:cs typeface="Arial" panose="020B0604020202020204" pitchFamily="34" charset="0"/>
                </a:rPr>
                <a:t> Оценка ресурсов </a:t>
              </a:r>
            </a:p>
            <a:p>
              <a:pPr algn="ctr"/>
              <a:endParaRPr lang="ru-RU" sz="1100" b="1" dirty="0">
                <a:cs typeface="Arial" panose="020B0604020202020204" pitchFamily="34" charset="0"/>
              </a:endParaRPr>
            </a:p>
          </p:txBody>
        </p:sp>
        <p:sp>
          <p:nvSpPr>
            <p:cNvPr id="25" name="Text Box 25"/>
            <p:cNvSpPr txBox="1">
              <a:spLocks noChangeArrowheads="1"/>
            </p:cNvSpPr>
            <p:nvPr/>
          </p:nvSpPr>
          <p:spPr bwMode="auto">
            <a:xfrm>
              <a:off x="6237" y="106"/>
              <a:ext cx="2617" cy="8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9436" tIns="29718" rIns="59436" bIns="29718"/>
            <a:lstStyle/>
            <a:p>
              <a:pPr algn="ctr"/>
              <a:r>
                <a:rPr lang="ru-RU" sz="1100" b="1" dirty="0" smtClean="0">
                  <a:cs typeface="Arial" panose="020B0604020202020204" pitchFamily="34" charset="0"/>
                </a:rPr>
                <a:t>Анализ </a:t>
              </a:r>
              <a:endParaRPr lang="ru-RU" sz="1100" b="1" dirty="0">
                <a:cs typeface="Arial" panose="020B0604020202020204" pitchFamily="34" charset="0"/>
              </a:endParaRPr>
            </a:p>
            <a:p>
              <a:pPr algn="ctr"/>
              <a:r>
                <a:rPr lang="ru-RU" sz="1100" b="1" dirty="0">
                  <a:cs typeface="Arial" panose="020B0604020202020204" pitchFamily="34" charset="0"/>
                </a:rPr>
                <a:t>внешней среды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108919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83483" y="1189812"/>
            <a:ext cx="2590691" cy="417477"/>
          </a:xfrm>
        </p:spPr>
        <p:txBody>
          <a:bodyPr anchor="t">
            <a:noAutofit/>
          </a:bodyPr>
          <a:lstStyle/>
          <a:p>
            <a:pPr marL="0" indent="0" algn="l"/>
            <a:r>
              <a:rPr lang="ru-RU" sz="1800" b="1" dirty="0" smtClean="0"/>
              <a:t>Стратегическая триада</a:t>
            </a:r>
            <a:endParaRPr lang="ru-RU" sz="1800" b="1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Методы разработки и оцифровки стратегии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pSp>
        <p:nvGrpSpPr>
          <p:cNvPr id="5" name="Group 6"/>
          <p:cNvGrpSpPr>
            <a:grpSpLocks noChangeAspect="1"/>
          </p:cNvGrpSpPr>
          <p:nvPr/>
        </p:nvGrpSpPr>
        <p:grpSpPr bwMode="auto">
          <a:xfrm>
            <a:off x="328647" y="1538268"/>
            <a:ext cx="4556100" cy="2732655"/>
            <a:chOff x="2317" y="5235"/>
            <a:chExt cx="9055" cy="7448"/>
          </a:xfrm>
        </p:grpSpPr>
        <p:sp>
          <p:nvSpPr>
            <p:cNvPr id="7" name="AutoShape 22"/>
            <p:cNvSpPr>
              <a:spLocks noChangeAspect="1" noChangeArrowheads="1" noTextEdit="1"/>
            </p:cNvSpPr>
            <p:nvPr/>
          </p:nvSpPr>
          <p:spPr bwMode="auto">
            <a:xfrm>
              <a:off x="2446" y="5235"/>
              <a:ext cx="7789" cy="74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 sz="1000"/>
            </a:p>
          </p:txBody>
        </p:sp>
        <p:sp>
          <p:nvSpPr>
            <p:cNvPr id="8" name="Line 21"/>
            <p:cNvSpPr>
              <a:spLocks noChangeShapeType="1"/>
            </p:cNvSpPr>
            <p:nvPr/>
          </p:nvSpPr>
          <p:spPr bwMode="auto">
            <a:xfrm>
              <a:off x="5825" y="6851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ru-RU" sz="1000"/>
            </a:p>
          </p:txBody>
        </p:sp>
        <p:sp>
          <p:nvSpPr>
            <p:cNvPr id="9" name="Line 20"/>
            <p:cNvSpPr>
              <a:spLocks noChangeShapeType="1"/>
            </p:cNvSpPr>
            <p:nvPr/>
          </p:nvSpPr>
          <p:spPr bwMode="auto">
            <a:xfrm>
              <a:off x="6325" y="9217"/>
              <a:ext cx="1700" cy="123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ru-RU" sz="1000"/>
            </a:p>
          </p:txBody>
        </p:sp>
        <p:sp>
          <p:nvSpPr>
            <p:cNvPr id="10" name="Line 19"/>
            <p:cNvSpPr>
              <a:spLocks noChangeShapeType="1"/>
            </p:cNvSpPr>
            <p:nvPr/>
          </p:nvSpPr>
          <p:spPr bwMode="auto">
            <a:xfrm flipH="1">
              <a:off x="4125" y="9217"/>
              <a:ext cx="1500" cy="13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ru-RU" sz="1000"/>
            </a:p>
          </p:txBody>
        </p:sp>
        <p:sp>
          <p:nvSpPr>
            <p:cNvPr id="11" name="Line 18"/>
            <p:cNvSpPr>
              <a:spLocks noChangeShapeType="1"/>
            </p:cNvSpPr>
            <p:nvPr/>
          </p:nvSpPr>
          <p:spPr bwMode="auto">
            <a:xfrm>
              <a:off x="5999" y="6351"/>
              <a:ext cx="0" cy="17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ru-RU" sz="1000"/>
            </a:p>
          </p:txBody>
        </p:sp>
        <p:sp>
          <p:nvSpPr>
            <p:cNvPr id="12" name="Text Box 17"/>
            <p:cNvSpPr txBox="1">
              <a:spLocks noChangeArrowheads="1"/>
            </p:cNvSpPr>
            <p:nvPr/>
          </p:nvSpPr>
          <p:spPr bwMode="auto">
            <a:xfrm>
              <a:off x="4581" y="8351"/>
              <a:ext cx="2837" cy="7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4125" tIns="42062" rIns="84125" bIns="42062"/>
            <a:lstStyle/>
            <a:p>
              <a:pPr algn="ctr" eaLnBrk="0" hangingPunct="0"/>
              <a:r>
                <a:rPr lang="ru-RU" sz="1400" b="1" dirty="0">
                  <a:solidFill>
                    <a:srgbClr val="FF0000"/>
                  </a:solidFill>
                  <a:cs typeface="Arial" panose="020B0604020202020204" pitchFamily="34" charset="0"/>
                </a:rPr>
                <a:t>Стратегия </a:t>
              </a:r>
              <a:endParaRPr lang="en-US" sz="140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Text Box 16"/>
            <p:cNvSpPr txBox="1">
              <a:spLocks noChangeArrowheads="1"/>
            </p:cNvSpPr>
            <p:nvPr/>
          </p:nvSpPr>
          <p:spPr bwMode="auto">
            <a:xfrm>
              <a:off x="4583" y="5513"/>
              <a:ext cx="2835" cy="6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4125" tIns="42062" rIns="84125" bIns="42062"/>
            <a:lstStyle/>
            <a:p>
              <a:pPr algn="ctr" eaLnBrk="0" hangingPunct="0"/>
              <a:r>
                <a:rPr lang="ru-RU" sz="1000" b="1" dirty="0" smtClean="0">
                  <a:cs typeface="Arial" panose="020B0604020202020204" pitchFamily="34" charset="0"/>
                </a:rPr>
                <a:t>ВНЕШНЯЯ </a:t>
              </a:r>
              <a:r>
                <a:rPr lang="ru-RU" sz="1000" b="1" dirty="0">
                  <a:cs typeface="Arial" panose="020B0604020202020204" pitchFamily="34" charset="0"/>
                </a:rPr>
                <a:t>СРЕДА</a:t>
              </a:r>
              <a:endParaRPr lang="ru-RU" sz="1000" dirty="0">
                <a:cs typeface="Arial" panose="020B0604020202020204" pitchFamily="34" charset="0"/>
              </a:endParaRPr>
            </a:p>
          </p:txBody>
        </p:sp>
        <p:sp>
          <p:nvSpPr>
            <p:cNvPr id="14" name="Text Box 15"/>
            <p:cNvSpPr txBox="1">
              <a:spLocks noChangeArrowheads="1"/>
            </p:cNvSpPr>
            <p:nvPr/>
          </p:nvSpPr>
          <p:spPr bwMode="auto">
            <a:xfrm>
              <a:off x="8104" y="9887"/>
              <a:ext cx="1958" cy="14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4125" tIns="42062" rIns="84125" bIns="42062"/>
            <a:lstStyle/>
            <a:p>
              <a:pPr eaLnBrk="0" hangingPunct="0"/>
              <a:r>
                <a:rPr lang="ru-RU" sz="1000" b="1" dirty="0">
                  <a:cs typeface="Arial" panose="020B0604020202020204" pitchFamily="34" charset="0"/>
                </a:rPr>
                <a:t>Проекты, ресурсы, процессы</a:t>
              </a:r>
              <a:endParaRPr lang="ru-RU" sz="1000" dirty="0">
                <a:cs typeface="Arial" panose="020B0604020202020204" pitchFamily="34" charset="0"/>
              </a:endParaRPr>
            </a:p>
            <a:p>
              <a:pPr eaLnBrk="0" hangingPunct="0"/>
              <a:endParaRPr lang="ru-RU" sz="1000" dirty="0">
                <a:cs typeface="Arial" panose="020B0604020202020204" pitchFamily="34" charset="0"/>
              </a:endParaRP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2775" y="10451"/>
              <a:ext cx="2100" cy="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4125" tIns="42062" rIns="84125" bIns="42062"/>
            <a:lstStyle/>
            <a:p>
              <a:pPr eaLnBrk="0" hangingPunct="0"/>
              <a:r>
                <a:rPr lang="ru-RU" sz="1000" b="1" dirty="0">
                  <a:cs typeface="Arial" panose="020B0604020202020204" pitchFamily="34" charset="0"/>
                </a:rPr>
                <a:t>Решения</a:t>
              </a: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5925" y="9217"/>
              <a:ext cx="2800" cy="329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ru-RU" sz="1000"/>
            </a:p>
          </p:txBody>
        </p:sp>
        <p:sp>
          <p:nvSpPr>
            <p:cNvPr id="17" name="Text Box 12"/>
            <p:cNvSpPr txBox="1">
              <a:spLocks noChangeArrowheads="1"/>
            </p:cNvSpPr>
            <p:nvPr/>
          </p:nvSpPr>
          <p:spPr bwMode="auto">
            <a:xfrm>
              <a:off x="8751" y="11916"/>
              <a:ext cx="2621" cy="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4125" tIns="42062" rIns="84125" bIns="42062"/>
            <a:lstStyle/>
            <a:p>
              <a:pPr eaLnBrk="0" hangingPunct="0"/>
              <a:r>
                <a:rPr lang="ru-RU" sz="1000" b="1" dirty="0">
                  <a:cs typeface="Arial" panose="020B0604020202020204" pitchFamily="34" charset="0"/>
                </a:rPr>
                <a:t>Время</a:t>
              </a:r>
              <a:r>
                <a:rPr lang="en-US" sz="1000" b="1" dirty="0">
                  <a:cs typeface="Arial" panose="020B0604020202020204" pitchFamily="34" charset="0"/>
                </a:rPr>
                <a:t> (</a:t>
              </a:r>
              <a:r>
                <a:rPr lang="ru-RU" sz="1000" b="1" dirty="0">
                  <a:cs typeface="Arial" panose="020B0604020202020204" pitchFamily="34" charset="0"/>
                </a:rPr>
                <a:t>Будущее</a:t>
              </a:r>
              <a:r>
                <a:rPr lang="en-US" sz="1000" b="1" dirty="0">
                  <a:cs typeface="Arial" panose="020B0604020202020204" pitchFamily="34" charset="0"/>
                </a:rPr>
                <a:t> )</a:t>
              </a:r>
              <a:endParaRPr lang="ru-RU" sz="1000" b="1" dirty="0">
                <a:cs typeface="Arial" panose="020B0604020202020204" pitchFamily="34" charset="0"/>
              </a:endParaRPr>
            </a:p>
            <a:p>
              <a:pPr eaLnBrk="0" hangingPunct="0"/>
              <a:r>
                <a:rPr lang="ru-RU" sz="1000" b="1" dirty="0">
                  <a:cs typeface="Arial" panose="020B0604020202020204" pitchFamily="34" charset="0"/>
                </a:rPr>
                <a:t>Результат </a:t>
              </a:r>
              <a:endParaRPr lang="en-US" sz="1000" dirty="0">
                <a:cs typeface="Arial" panose="020B0604020202020204" pitchFamily="34" charset="0"/>
              </a:endParaRPr>
            </a:p>
          </p:txBody>
        </p:sp>
        <p:sp>
          <p:nvSpPr>
            <p:cNvPr id="18" name="Line 11"/>
            <p:cNvSpPr>
              <a:spLocks noChangeShapeType="1"/>
            </p:cNvSpPr>
            <p:nvPr/>
          </p:nvSpPr>
          <p:spPr bwMode="auto">
            <a:xfrm>
              <a:off x="3925" y="6748"/>
              <a:ext cx="1300" cy="164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ru-RU" sz="1000"/>
            </a:p>
          </p:txBody>
        </p:sp>
        <p:sp>
          <p:nvSpPr>
            <p:cNvPr id="19" name="Text Box 10"/>
            <p:cNvSpPr txBox="1">
              <a:spLocks noChangeArrowheads="1"/>
            </p:cNvSpPr>
            <p:nvPr/>
          </p:nvSpPr>
          <p:spPr bwMode="auto">
            <a:xfrm>
              <a:off x="2317" y="5772"/>
              <a:ext cx="1808" cy="10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4125" tIns="42062" rIns="84125" bIns="42062"/>
            <a:lstStyle/>
            <a:p>
              <a:pPr eaLnBrk="0" hangingPunct="0"/>
              <a:r>
                <a:rPr lang="ru-RU" sz="1000" b="1" dirty="0">
                  <a:cs typeface="Arial" panose="020B0604020202020204" pitchFamily="34" charset="0"/>
                </a:rPr>
                <a:t>Время</a:t>
              </a:r>
              <a:r>
                <a:rPr lang="en-US" sz="1000" b="1" dirty="0">
                  <a:cs typeface="Arial" panose="020B0604020202020204" pitchFamily="34" charset="0"/>
                </a:rPr>
                <a:t> (</a:t>
              </a:r>
              <a:r>
                <a:rPr lang="ru-RU" sz="1000" b="1" dirty="0">
                  <a:cs typeface="Arial" panose="020B0604020202020204" pitchFamily="34" charset="0"/>
                </a:rPr>
                <a:t>Прошлое)</a:t>
              </a:r>
            </a:p>
            <a:p>
              <a:pPr eaLnBrk="0" hangingPunct="0"/>
              <a:r>
                <a:rPr lang="ru-RU" sz="1000" b="1" dirty="0">
                  <a:cs typeface="Arial" panose="020B0604020202020204" pitchFamily="34" charset="0"/>
                </a:rPr>
                <a:t>Прошлые решения</a:t>
              </a:r>
              <a:endParaRPr lang="ru-RU" sz="1000" dirty="0">
                <a:cs typeface="Arial" panose="020B0604020202020204" pitchFamily="34" charset="0"/>
              </a:endParaRPr>
            </a:p>
          </p:txBody>
        </p:sp>
        <p:sp>
          <p:nvSpPr>
            <p:cNvPr id="20" name="Text Box 9"/>
            <p:cNvSpPr txBox="1">
              <a:spLocks noChangeArrowheads="1"/>
            </p:cNvSpPr>
            <p:nvPr/>
          </p:nvSpPr>
          <p:spPr bwMode="auto">
            <a:xfrm>
              <a:off x="4400" y="11157"/>
              <a:ext cx="2850" cy="8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/>
              <a:r>
                <a:rPr lang="ru-RU" sz="1000" b="1" dirty="0">
                  <a:cs typeface="Arial" panose="020B0604020202020204" pitchFamily="34" charset="0"/>
                </a:rPr>
                <a:t>ВНУТРЕННЯЯ СРЕДА ОРГАНИЗАЦИИ</a:t>
              </a:r>
              <a:endParaRPr lang="ru-RU" sz="1000" dirty="0">
                <a:cs typeface="Arial" panose="020B0604020202020204" pitchFamily="34" charset="0"/>
              </a:endParaRPr>
            </a:p>
          </p:txBody>
        </p:sp>
        <p:sp>
          <p:nvSpPr>
            <p:cNvPr id="21" name="Text Box 8"/>
            <p:cNvSpPr txBox="1">
              <a:spLocks noChangeArrowheads="1"/>
            </p:cNvSpPr>
            <p:nvPr/>
          </p:nvSpPr>
          <p:spPr bwMode="auto">
            <a:xfrm>
              <a:off x="7418" y="8153"/>
              <a:ext cx="2109" cy="13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ru-RU" sz="1000" b="1" dirty="0">
                  <a:cs typeface="Arial" panose="020B0604020202020204" pitchFamily="34" charset="0"/>
                </a:rPr>
                <a:t>Деловая культура</a:t>
              </a:r>
              <a:endParaRPr lang="ru-RU" sz="1000" dirty="0">
                <a:cs typeface="Arial" panose="020B0604020202020204" pitchFamily="34" charset="0"/>
              </a:endParaRPr>
            </a:p>
          </p:txBody>
        </p:sp>
        <p:sp>
          <p:nvSpPr>
            <p:cNvPr id="22" name="Text Box 7"/>
            <p:cNvSpPr txBox="1">
              <a:spLocks noChangeArrowheads="1"/>
            </p:cNvSpPr>
            <p:nvPr/>
          </p:nvSpPr>
          <p:spPr bwMode="auto">
            <a:xfrm>
              <a:off x="3460" y="8456"/>
              <a:ext cx="1536" cy="3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ru-RU" sz="1000" b="1" dirty="0">
                  <a:cs typeface="Arial" panose="020B0604020202020204" pitchFamily="34" charset="0"/>
                </a:rPr>
                <a:t>Люди</a:t>
              </a:r>
              <a:endParaRPr lang="ru-RU" sz="1000" dirty="0"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426320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83483" y="2213680"/>
            <a:ext cx="7878915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4000" b="1" dirty="0" smtClean="0">
                <a:cs typeface="Arial" pitchFamily="34" charset="0"/>
              </a:rPr>
              <a:t>Постановка стратегической цели</a:t>
            </a:r>
            <a:endParaRPr lang="ru-RU" sz="4000" b="1" dirty="0">
              <a:cs typeface="Arial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Методы разработки и оцифровки стратегии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51365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Методы разработки и оцифровки стратегии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27948" y="3584669"/>
            <a:ext cx="906302" cy="1374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Точка приложения сил</a:t>
            </a:r>
          </a:p>
        </p:txBody>
      </p:sp>
      <p:sp>
        <p:nvSpPr>
          <p:cNvPr id="8" name="Кольцо 7"/>
          <p:cNvSpPr/>
          <p:nvPr/>
        </p:nvSpPr>
        <p:spPr>
          <a:xfrm>
            <a:off x="515155" y="1133341"/>
            <a:ext cx="2462474" cy="2395470"/>
          </a:xfrm>
          <a:prstGeom prst="donut">
            <a:avLst>
              <a:gd name="adj" fmla="val 564"/>
            </a:avLst>
          </a:prstGeom>
          <a:ln>
            <a:solidFill>
              <a:srgbClr val="47E5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Кольцо 8"/>
          <p:cNvSpPr/>
          <p:nvPr/>
        </p:nvSpPr>
        <p:spPr>
          <a:xfrm>
            <a:off x="1828800" y="1152660"/>
            <a:ext cx="2491751" cy="2376151"/>
          </a:xfrm>
          <a:prstGeom prst="donut">
            <a:avLst>
              <a:gd name="adj" fmla="val 564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Кольцо 9"/>
          <p:cNvSpPr/>
          <p:nvPr/>
        </p:nvSpPr>
        <p:spPr>
          <a:xfrm>
            <a:off x="1171977" y="1957590"/>
            <a:ext cx="2466305" cy="2390932"/>
          </a:xfrm>
          <a:prstGeom prst="donut">
            <a:avLst>
              <a:gd name="adj" fmla="val 5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 flipH="1">
            <a:off x="656822" y="1871804"/>
            <a:ext cx="1302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>
                <a:cs typeface="Arial" panose="020B0604020202020204" pitchFamily="34" charset="0"/>
              </a:rPr>
              <a:t>КОМПЕТЕНЦИИ </a:t>
            </a:r>
          </a:p>
          <a:p>
            <a:pPr algn="ctr"/>
            <a:r>
              <a:rPr lang="ru-RU" sz="1000" b="1" dirty="0">
                <a:cs typeface="Arial" panose="020B0604020202020204" pitchFamily="34" charset="0"/>
              </a:rPr>
              <a:t>И РЕСУРСЫ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3087" y="1840126"/>
            <a:ext cx="1617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>
                <a:cs typeface="Arial" panose="020B0604020202020204" pitchFamily="34" charset="0"/>
              </a:rPr>
              <a:t>ЖЕЛАНИЯ И </a:t>
            </a:r>
          </a:p>
          <a:p>
            <a:pPr algn="ctr"/>
            <a:r>
              <a:rPr lang="ru-RU" sz="1000" b="1" dirty="0">
                <a:cs typeface="Arial" panose="020B0604020202020204" pitchFamily="34" charset="0"/>
              </a:rPr>
              <a:t>АМБИЦИИ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648" y="3601128"/>
            <a:ext cx="18358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>
                <a:cs typeface="Arial" panose="020B0604020202020204" pitchFamily="34" charset="0"/>
              </a:rPr>
              <a:t>ПОТРЕБНОСТИ РЫНКА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7557" y="2240236"/>
            <a:ext cx="10700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>
                <a:cs typeface="Arial" panose="020B0604020202020204" pitchFamily="34" charset="0"/>
              </a:rPr>
              <a:t>ЗОНА </a:t>
            </a:r>
            <a:r>
              <a:rPr lang="ru-RU" sz="1000" b="1" dirty="0" smtClean="0">
                <a:cs typeface="Arial" panose="020B0604020202020204" pitchFamily="34" charset="0"/>
              </a:rPr>
              <a:t>ПРИЛОЖЕНИЯ</a:t>
            </a:r>
          </a:p>
          <a:p>
            <a:pPr algn="ctr"/>
            <a:r>
              <a:rPr lang="ru-RU" sz="1000" b="1" dirty="0" smtClean="0">
                <a:cs typeface="Arial" panose="020B0604020202020204" pitchFamily="34" charset="0"/>
              </a:rPr>
              <a:t>СИЛ</a:t>
            </a:r>
            <a:endParaRPr lang="ru-RU" sz="1000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25546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38407" y="1211108"/>
            <a:ext cx="3305937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 smtClean="0">
                <a:cs typeface="Arial" pitchFamily="34" charset="0"/>
              </a:rPr>
              <a:t>Стратегический контекст</a:t>
            </a:r>
            <a:endParaRPr lang="ru-RU" sz="1800" b="1" dirty="0">
              <a:cs typeface="Arial" pitchFamily="34" charset="0"/>
            </a:endParaRPr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383714" y="1008119"/>
            <a:ext cx="8085138" cy="3255788"/>
            <a:chOff x="239" y="556"/>
            <a:chExt cx="5093" cy="1350"/>
          </a:xfrm>
        </p:grpSpPr>
        <p:sp>
          <p:nvSpPr>
            <p:cNvPr id="8" name="Oval 3"/>
            <p:cNvSpPr>
              <a:spLocks noChangeArrowheads="1"/>
            </p:cNvSpPr>
            <p:nvPr/>
          </p:nvSpPr>
          <p:spPr bwMode="auto">
            <a:xfrm>
              <a:off x="239" y="893"/>
              <a:ext cx="1184" cy="71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ru-RU" altLang="ru-RU" sz="1800" smtClean="0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77" y="986"/>
              <a:ext cx="742" cy="1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900" b="1" dirty="0">
                  <a:latin typeface="+mn-lt"/>
                </a:rPr>
                <a:t>Текущая внешняя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900" b="1" dirty="0" smtClean="0">
                  <a:latin typeface="+mn-lt"/>
                </a:rPr>
                <a:t>среда</a:t>
              </a:r>
              <a:endParaRPr lang="en-GB" altLang="ru-RU" sz="900" b="1" dirty="0">
                <a:latin typeface="+mn-lt"/>
              </a:endParaRPr>
            </a:p>
          </p:txBody>
        </p:sp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463" y="1205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2000" b="1"/>
            </a:p>
          </p:txBody>
        </p:sp>
        <p:sp>
          <p:nvSpPr>
            <p:cNvPr id="11" name="Oval 6"/>
            <p:cNvSpPr>
              <a:spLocks noChangeArrowheads="1"/>
            </p:cNvSpPr>
            <p:nvPr/>
          </p:nvSpPr>
          <p:spPr bwMode="auto">
            <a:xfrm>
              <a:off x="509" y="1176"/>
              <a:ext cx="793" cy="38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ru-RU" altLang="ru-RU" sz="1800" smtClean="0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12" name="Text Box 7"/>
            <p:cNvSpPr txBox="1">
              <a:spLocks noChangeArrowheads="1"/>
            </p:cNvSpPr>
            <p:nvPr/>
          </p:nvSpPr>
          <p:spPr bwMode="auto">
            <a:xfrm>
              <a:off x="497" y="1251"/>
              <a:ext cx="498" cy="1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800" b="1" dirty="0" smtClean="0">
                  <a:latin typeface="+mn-lt"/>
                </a:rPr>
                <a:t>Текущие </a:t>
              </a:r>
              <a:endParaRPr lang="ru-RU" altLang="ru-RU" sz="800" b="1" dirty="0">
                <a:latin typeface="+mn-lt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800" b="1" dirty="0">
                  <a:latin typeface="+mn-lt"/>
                </a:rPr>
                <a:t>компетенции</a:t>
              </a:r>
              <a:endParaRPr lang="en-GB" altLang="ru-RU" sz="800" b="1" dirty="0">
                <a:latin typeface="+mn-lt"/>
              </a:endParaRPr>
            </a:p>
          </p:txBody>
        </p:sp>
        <p:sp>
          <p:nvSpPr>
            <p:cNvPr id="13" name="Oval 8"/>
            <p:cNvSpPr>
              <a:spLocks noChangeArrowheads="1"/>
            </p:cNvSpPr>
            <p:nvPr/>
          </p:nvSpPr>
          <p:spPr bwMode="auto">
            <a:xfrm>
              <a:off x="900" y="1108"/>
              <a:ext cx="1236" cy="798"/>
            </a:xfrm>
            <a:prstGeom prst="ellips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ru-RU" altLang="ru-RU" sz="1800" smtClean="0">
                <a:ln>
                  <a:solidFill>
                    <a:srgbClr val="00B0F0"/>
                  </a:solidFill>
                </a:ln>
              </a:endParaRPr>
            </a:p>
          </p:txBody>
        </p: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1369" y="1271"/>
              <a:ext cx="606" cy="1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900" b="1" dirty="0">
                  <a:latin typeface="+mn-lt"/>
                </a:rPr>
                <a:t>Новая внешняя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900" b="1" dirty="0">
                  <a:latin typeface="+mn-lt"/>
                </a:rPr>
                <a:t>среда </a:t>
              </a:r>
              <a:r>
                <a:rPr lang="en-GB" altLang="ru-RU" sz="900" b="1" dirty="0">
                  <a:latin typeface="+mn-lt"/>
                </a:rPr>
                <a:t>1</a:t>
              </a:r>
            </a:p>
          </p:txBody>
        </p:sp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>
              <a:off x="5216" y="107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2000" b="1"/>
            </a:p>
          </p:txBody>
        </p:sp>
        <p:sp>
          <p:nvSpPr>
            <p:cNvPr id="16" name="Text Box 11"/>
            <p:cNvSpPr txBox="1">
              <a:spLocks noChangeArrowheads="1"/>
            </p:cNvSpPr>
            <p:nvPr/>
          </p:nvSpPr>
          <p:spPr bwMode="auto">
            <a:xfrm>
              <a:off x="3016" y="134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2000" b="1"/>
            </a:p>
          </p:txBody>
        </p:sp>
        <p:sp>
          <p:nvSpPr>
            <p:cNvPr id="17" name="Text Box 12"/>
            <p:cNvSpPr txBox="1">
              <a:spLocks noChangeArrowheads="1"/>
            </p:cNvSpPr>
            <p:nvPr/>
          </p:nvSpPr>
          <p:spPr bwMode="auto">
            <a:xfrm>
              <a:off x="995" y="1648"/>
              <a:ext cx="990" cy="1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ru-RU" sz="800" b="1" dirty="0">
                  <a:latin typeface="+mn-lt"/>
                </a:rPr>
                <a:t>     </a:t>
              </a:r>
              <a:r>
                <a:rPr lang="ru-RU" altLang="ru-RU" sz="800" b="1" dirty="0">
                  <a:latin typeface="+mn-lt"/>
                </a:rPr>
                <a:t>Возможность модификации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800" b="1" dirty="0" smtClean="0">
                  <a:latin typeface="+mn-lt"/>
                </a:rPr>
                <a:t>текущих </a:t>
              </a:r>
              <a:r>
                <a:rPr lang="ru-RU" altLang="ru-RU" sz="800" b="1" dirty="0">
                  <a:latin typeface="+mn-lt"/>
                </a:rPr>
                <a:t>компетенций</a:t>
              </a:r>
              <a:endParaRPr lang="en-GB" altLang="ru-RU" sz="800" b="1" dirty="0">
                <a:latin typeface="+mn-lt"/>
              </a:endParaRPr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 flipH="1">
              <a:off x="900" y="1205"/>
              <a:ext cx="235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 flipH="1">
              <a:off x="900" y="1226"/>
              <a:ext cx="267" cy="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 flipH="1">
              <a:off x="905" y="1250"/>
              <a:ext cx="293" cy="3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 flipH="1">
              <a:off x="961" y="1254"/>
              <a:ext cx="273" cy="3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 flipH="1">
              <a:off x="1014" y="1285"/>
              <a:ext cx="243" cy="2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 flipH="1">
              <a:off x="1167" y="1366"/>
              <a:ext cx="135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 flipH="1">
              <a:off x="1087" y="1302"/>
              <a:ext cx="210" cy="2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1" name="Oval 26"/>
            <p:cNvSpPr>
              <a:spLocks noChangeArrowheads="1"/>
            </p:cNvSpPr>
            <p:nvPr/>
          </p:nvSpPr>
          <p:spPr bwMode="auto">
            <a:xfrm>
              <a:off x="1994" y="741"/>
              <a:ext cx="1132" cy="723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32" name="Text Box 27"/>
            <p:cNvSpPr txBox="1">
              <a:spLocks noChangeArrowheads="1"/>
            </p:cNvSpPr>
            <p:nvPr/>
          </p:nvSpPr>
          <p:spPr bwMode="auto">
            <a:xfrm>
              <a:off x="2249" y="793"/>
              <a:ext cx="622" cy="1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900" b="1" dirty="0">
                  <a:latin typeface="+mn-lt"/>
                </a:rPr>
                <a:t>Новая внешняя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900" b="1" dirty="0">
                  <a:latin typeface="+mn-lt"/>
                </a:rPr>
                <a:t>среда</a:t>
              </a:r>
              <a:r>
                <a:rPr lang="en-GB" altLang="ru-RU" sz="900" b="1" dirty="0">
                  <a:latin typeface="+mn-lt"/>
                </a:rPr>
                <a:t> 2</a:t>
              </a:r>
            </a:p>
          </p:txBody>
        </p:sp>
        <p:sp>
          <p:nvSpPr>
            <p:cNvPr id="33" name="Oval 28"/>
            <p:cNvSpPr>
              <a:spLocks noChangeArrowheads="1"/>
            </p:cNvSpPr>
            <p:nvPr/>
          </p:nvSpPr>
          <p:spPr bwMode="auto">
            <a:xfrm>
              <a:off x="2182" y="937"/>
              <a:ext cx="757" cy="5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34" name="Text Box 29"/>
            <p:cNvSpPr txBox="1">
              <a:spLocks noChangeArrowheads="1"/>
            </p:cNvSpPr>
            <p:nvPr/>
          </p:nvSpPr>
          <p:spPr bwMode="auto">
            <a:xfrm>
              <a:off x="2244" y="1069"/>
              <a:ext cx="63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900" b="1" dirty="0">
                  <a:latin typeface="+mn-lt"/>
                </a:rPr>
                <a:t>Необходимость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900" b="1" dirty="0" smtClean="0">
                  <a:latin typeface="+mn-lt"/>
                </a:rPr>
                <a:t>новых </a:t>
              </a:r>
              <a:endParaRPr lang="ru-RU" altLang="ru-RU" sz="900" b="1" dirty="0">
                <a:latin typeface="+mn-lt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900" b="1" dirty="0">
                  <a:latin typeface="+mn-lt"/>
                </a:rPr>
                <a:t>компетенций</a:t>
              </a:r>
              <a:endParaRPr lang="en-GB" altLang="ru-RU" sz="900" b="1" dirty="0">
                <a:latin typeface="+mn-lt"/>
              </a:endParaRPr>
            </a:p>
          </p:txBody>
        </p:sp>
        <p:sp>
          <p:nvSpPr>
            <p:cNvPr id="35" name="Text Box 30"/>
            <p:cNvSpPr txBox="1">
              <a:spLocks noChangeArrowheads="1"/>
            </p:cNvSpPr>
            <p:nvPr/>
          </p:nvSpPr>
          <p:spPr bwMode="auto">
            <a:xfrm>
              <a:off x="690" y="556"/>
              <a:ext cx="11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ru-RU" sz="1000"/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 flipH="1" flipV="1">
              <a:off x="1234" y="1472"/>
              <a:ext cx="256" cy="147"/>
            </a:xfrm>
            <a:prstGeom prst="line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ru-RU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36" name="Прямоугольник 3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Методы разработки и оцифровки стратегии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50338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38407" y="1298088"/>
            <a:ext cx="3292589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/>
              <a:t>Ключевые показатели рынка</a:t>
            </a:r>
            <a:endParaRPr lang="ru-RU" sz="1800" b="1" dirty="0">
              <a:cs typeface="Arial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Методы разработки и оцифровки стратегии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5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479265017"/>
              </p:ext>
            </p:extLst>
          </p:nvPr>
        </p:nvGraphicFramePr>
        <p:xfrm>
          <a:off x="583483" y="1506827"/>
          <a:ext cx="3293058" cy="31135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252347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38407" y="1298088"/>
            <a:ext cx="3292589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 smtClean="0"/>
              <a:t>Виды конкурентных сил</a:t>
            </a:r>
            <a:endParaRPr lang="ru-RU" sz="1800" b="1" dirty="0">
              <a:cs typeface="Arial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Методы разработки и оцифровки стратегии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xmlns="" val="3256693330"/>
              </p:ext>
            </p:extLst>
          </p:nvPr>
        </p:nvGraphicFramePr>
        <p:xfrm>
          <a:off x="634130" y="1715565"/>
          <a:ext cx="3074986" cy="2529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1175571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 62"/>
          <p:cNvSpPr/>
          <p:nvPr/>
        </p:nvSpPr>
        <p:spPr>
          <a:xfrm>
            <a:off x="2481157" y="3493852"/>
            <a:ext cx="1089955" cy="607223"/>
          </a:xfrm>
          <a:prstGeom prst="rect">
            <a:avLst/>
          </a:prstGeom>
          <a:solidFill>
            <a:srgbClr val="CED9EA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900" b="1" u="sng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7" name="Прямоугольник 56"/>
          <p:cNvSpPr/>
          <p:nvPr/>
        </p:nvSpPr>
        <p:spPr>
          <a:xfrm>
            <a:off x="2481159" y="2091437"/>
            <a:ext cx="1089955" cy="607223"/>
          </a:xfrm>
          <a:prstGeom prst="rect">
            <a:avLst/>
          </a:prstGeom>
          <a:solidFill>
            <a:srgbClr val="CED9EA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926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22821" y="1156420"/>
            <a:ext cx="4207458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 smtClean="0"/>
              <a:t>Конкурентные модели портера</a:t>
            </a:r>
            <a:endParaRPr lang="ru-RU" sz="1800" b="1" dirty="0">
              <a:cs typeface="Arial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Методы разработки и оцифровки стратегии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4" name="Прямоугольник 43"/>
          <p:cNvSpPr/>
          <p:nvPr/>
        </p:nvSpPr>
        <p:spPr>
          <a:xfrm>
            <a:off x="641236" y="2100665"/>
            <a:ext cx="639793" cy="2000410"/>
          </a:xfrm>
          <a:prstGeom prst="rect">
            <a:avLst/>
          </a:prstGeom>
          <a:solidFill>
            <a:srgbClr val="3049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Circe Bold" pitchFamily="34" charset="-52"/>
            </a:endParaRPr>
          </a:p>
        </p:txBody>
      </p:sp>
      <p:sp>
        <p:nvSpPr>
          <p:cNvPr id="45" name="Прямоугольник 44"/>
          <p:cNvSpPr/>
          <p:nvPr/>
        </p:nvSpPr>
        <p:spPr>
          <a:xfrm>
            <a:off x="641236" y="1656309"/>
            <a:ext cx="639793" cy="357216"/>
          </a:xfrm>
          <a:prstGeom prst="rect">
            <a:avLst/>
          </a:prstGeom>
          <a:solidFill>
            <a:srgbClr val="4252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 rot="16200000">
            <a:off x="40293" y="2804983"/>
            <a:ext cx="1841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СФЕРА</a:t>
            </a:r>
          </a:p>
          <a:p>
            <a:pPr algn="ctr"/>
            <a:r>
              <a:rPr lang="ru-RU" sz="16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КОНКУРЕНЦИИ</a:t>
            </a:r>
            <a:endParaRPr lang="ru-RU" sz="1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47" name="Picture 2" descr="C:\Алина\буклет и сайт\xdeventures\презентации\стратегический менеджмент\иконки\ic22__0020_Layer-8.png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805335" y="1679005"/>
            <a:ext cx="311593" cy="311823"/>
          </a:xfrm>
          <a:prstGeom prst="rect">
            <a:avLst/>
          </a:prstGeom>
          <a:noFill/>
        </p:spPr>
      </p:pic>
      <p:sp>
        <p:nvSpPr>
          <p:cNvPr id="48" name="Прямоугольник 47"/>
          <p:cNvSpPr/>
          <p:nvPr/>
        </p:nvSpPr>
        <p:spPr>
          <a:xfrm>
            <a:off x="1335418" y="1656309"/>
            <a:ext cx="3394861" cy="357216"/>
          </a:xfrm>
          <a:prstGeom prst="rect">
            <a:avLst/>
          </a:prstGeom>
          <a:solidFill>
            <a:srgbClr val="3049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335419" y="1691287"/>
            <a:ext cx="3394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КОНКУРЕНТНОЕ ПРЕИМУЩЕСТВО</a:t>
            </a:r>
          </a:p>
        </p:txBody>
      </p:sp>
      <p:sp>
        <p:nvSpPr>
          <p:cNvPr id="52" name="Прямоугольник 51"/>
          <p:cNvSpPr/>
          <p:nvPr/>
        </p:nvSpPr>
        <p:spPr>
          <a:xfrm>
            <a:off x="1335418" y="2091437"/>
            <a:ext cx="1089955" cy="607223"/>
          </a:xfrm>
          <a:prstGeom prst="rect">
            <a:avLst/>
          </a:prstGeom>
          <a:solidFill>
            <a:srgbClr val="CED9EA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926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469139" y="2206635"/>
            <a:ext cx="1127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>
                <a:solidFill>
                  <a:srgbClr val="19263C"/>
                </a:solidFill>
                <a:cs typeface="Arial" panose="020B0604020202020204" pitchFamily="34" charset="0"/>
              </a:rPr>
              <a:t>Меньшие издержки</a:t>
            </a:r>
            <a:endParaRPr lang="ru-RU" sz="1000" b="1" u="sng" dirty="0">
              <a:solidFill>
                <a:srgbClr val="19263C"/>
              </a:solidFill>
              <a:cs typeface="Arial" panose="020B0604020202020204" pitchFamily="34" charset="0"/>
            </a:endParaRPr>
          </a:p>
        </p:txBody>
      </p:sp>
      <p:sp>
        <p:nvSpPr>
          <p:cNvPr id="58" name="Прямоугольник 57"/>
          <p:cNvSpPr/>
          <p:nvPr/>
        </p:nvSpPr>
        <p:spPr>
          <a:xfrm>
            <a:off x="3640324" y="2091436"/>
            <a:ext cx="1089955" cy="607223"/>
          </a:xfrm>
          <a:prstGeom prst="rect">
            <a:avLst/>
          </a:prstGeom>
          <a:solidFill>
            <a:srgbClr val="CED9EA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926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596559" y="2271936"/>
            <a:ext cx="12013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>
                <a:solidFill>
                  <a:srgbClr val="19263C"/>
                </a:solidFill>
                <a:cs typeface="Arial" panose="020B0604020202020204" pitchFamily="34" charset="0"/>
              </a:rPr>
              <a:t>Дифференциация</a:t>
            </a:r>
            <a:endParaRPr lang="ru-RU" sz="1000" b="1" u="sng" dirty="0">
              <a:solidFill>
                <a:srgbClr val="19263C"/>
              </a:solidFill>
              <a:cs typeface="Arial" panose="020B0604020202020204" pitchFamily="34" charset="0"/>
            </a:endParaRPr>
          </a:p>
        </p:txBody>
      </p:sp>
      <p:sp>
        <p:nvSpPr>
          <p:cNvPr id="60" name="Прямоугольник 59"/>
          <p:cNvSpPr/>
          <p:nvPr/>
        </p:nvSpPr>
        <p:spPr>
          <a:xfrm>
            <a:off x="2481158" y="2793758"/>
            <a:ext cx="1089955" cy="607223"/>
          </a:xfrm>
          <a:prstGeom prst="rect">
            <a:avLst/>
          </a:prstGeom>
          <a:solidFill>
            <a:srgbClr val="CED9EA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926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Прямоугольник 60"/>
          <p:cNvSpPr/>
          <p:nvPr/>
        </p:nvSpPr>
        <p:spPr>
          <a:xfrm>
            <a:off x="1335417" y="2793758"/>
            <a:ext cx="1089955" cy="607223"/>
          </a:xfrm>
          <a:prstGeom prst="rect">
            <a:avLst/>
          </a:prstGeom>
          <a:solidFill>
            <a:srgbClr val="CED9EA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926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Прямоугольник 61"/>
          <p:cNvSpPr/>
          <p:nvPr/>
        </p:nvSpPr>
        <p:spPr>
          <a:xfrm>
            <a:off x="3640323" y="2793757"/>
            <a:ext cx="1089955" cy="607223"/>
          </a:xfrm>
          <a:prstGeom prst="rect">
            <a:avLst/>
          </a:prstGeom>
          <a:solidFill>
            <a:srgbClr val="CED9EA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926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Прямоугольник 63"/>
          <p:cNvSpPr/>
          <p:nvPr/>
        </p:nvSpPr>
        <p:spPr>
          <a:xfrm>
            <a:off x="1335416" y="3493852"/>
            <a:ext cx="1089955" cy="607223"/>
          </a:xfrm>
          <a:prstGeom prst="rect">
            <a:avLst/>
          </a:prstGeom>
          <a:solidFill>
            <a:srgbClr val="CED9EA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926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Прямоугольник 64"/>
          <p:cNvSpPr/>
          <p:nvPr/>
        </p:nvSpPr>
        <p:spPr>
          <a:xfrm>
            <a:off x="3640322" y="3493851"/>
            <a:ext cx="1089955" cy="607223"/>
          </a:xfrm>
          <a:prstGeom prst="rect">
            <a:avLst/>
          </a:prstGeom>
          <a:solidFill>
            <a:srgbClr val="CED9EA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926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335419" y="2974257"/>
            <a:ext cx="1127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 smtClean="0">
                <a:solidFill>
                  <a:srgbClr val="19263C"/>
                </a:solidFill>
                <a:cs typeface="Arial" panose="020B0604020202020204" pitchFamily="34" charset="0"/>
              </a:rPr>
              <a:t>Широкая цель</a:t>
            </a:r>
            <a:endParaRPr lang="ru-RU" sz="1000" b="1" u="sng" dirty="0">
              <a:solidFill>
                <a:srgbClr val="19263C"/>
              </a:solidFill>
              <a:cs typeface="Arial" panose="020B0604020202020204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335416" y="3674351"/>
            <a:ext cx="1127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 smtClean="0">
                <a:solidFill>
                  <a:srgbClr val="19263C"/>
                </a:solidFill>
                <a:cs typeface="Arial" panose="020B0604020202020204" pitchFamily="34" charset="0"/>
              </a:rPr>
              <a:t>Узкая цель</a:t>
            </a:r>
            <a:endParaRPr lang="ru-RU" sz="1000" b="1" u="sng" dirty="0">
              <a:solidFill>
                <a:srgbClr val="19263C"/>
              </a:solidFill>
              <a:cs typeface="Arial" panose="020B0604020202020204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443692" y="2846219"/>
            <a:ext cx="11274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 smtClean="0">
                <a:cs typeface="Arial" panose="020B0604020202020204" pitchFamily="34" charset="0"/>
              </a:rPr>
              <a:t>Лидерство за счет экономии на издержках </a:t>
            </a:r>
            <a:endParaRPr lang="ru-RU" sz="1000" b="1" u="sng" dirty="0">
              <a:cs typeface="Arial" panose="020B0604020202020204" pitchFamily="34" charset="0"/>
            </a:endParaRPr>
          </a:p>
        </p:txBody>
      </p:sp>
      <p:sp>
        <p:nvSpPr>
          <p:cNvPr id="70" name="Прямоугольник 69"/>
          <p:cNvSpPr/>
          <p:nvPr/>
        </p:nvSpPr>
        <p:spPr>
          <a:xfrm>
            <a:off x="2415314" y="3615864"/>
            <a:ext cx="12350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00" b="1" dirty="0">
                <a:cs typeface="Arial" panose="020B0604020202020204" pitchFamily="34" charset="0"/>
              </a:rPr>
              <a:t>Сфокусированные издержки</a:t>
            </a:r>
            <a:endParaRPr lang="ru-RU" sz="1000" b="1" u="sng" dirty="0">
              <a:cs typeface="Arial" panose="020B0604020202020204" pitchFamily="34" charset="0"/>
            </a:endParaRPr>
          </a:p>
        </p:txBody>
      </p:sp>
      <p:sp>
        <p:nvSpPr>
          <p:cNvPr id="71" name="Прямоугольник 70"/>
          <p:cNvSpPr/>
          <p:nvPr/>
        </p:nvSpPr>
        <p:spPr>
          <a:xfrm>
            <a:off x="3572984" y="3615864"/>
            <a:ext cx="12350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00" b="1" dirty="0" smtClean="0">
                <a:cs typeface="Arial" panose="020B0604020202020204" pitchFamily="34" charset="0"/>
              </a:rPr>
              <a:t>Сфокусированная дифференциация</a:t>
            </a:r>
            <a:endParaRPr lang="ru-RU" sz="1000" b="1" u="sng" dirty="0">
              <a:cs typeface="Arial" panose="020B0604020202020204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606663" y="3000107"/>
            <a:ext cx="12013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>
                <a:solidFill>
                  <a:srgbClr val="19263C"/>
                </a:solidFill>
                <a:cs typeface="Arial" panose="020B0604020202020204" pitchFamily="34" charset="0"/>
              </a:rPr>
              <a:t>Дифференциация</a:t>
            </a:r>
            <a:endParaRPr lang="ru-RU" sz="1000" b="1" u="sng" dirty="0">
              <a:solidFill>
                <a:srgbClr val="19263C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49011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77512" y="1222008"/>
            <a:ext cx="2835389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 smtClean="0">
                <a:cs typeface="Arial" pitchFamily="34" charset="0"/>
              </a:rPr>
              <a:t>Многообразие моделей</a:t>
            </a:r>
            <a:endParaRPr lang="ru-RU" sz="1800" b="1" dirty="0">
              <a:cs typeface="Arial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Методы разработки и оцифровки стратегии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923410" y="1772149"/>
            <a:ext cx="1988073" cy="22921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ru" sz="1000" b="1" dirty="0">
                <a:cs typeface="Arial" panose="020B0604020202020204" pitchFamily="34" charset="0"/>
              </a:rPr>
              <a:t>Большой объем – низкая маржа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689607" y="1772149"/>
            <a:ext cx="1824843" cy="7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ctr"/>
            <a:r>
              <a:rPr lang="ru" sz="1000" b="1" dirty="0">
                <a:cs typeface="Arial" panose="020B0604020202020204" pitchFamily="34" charset="0"/>
              </a:rPr>
              <a:t>Малый объем – высокая маржа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2656877" y="1637192"/>
            <a:ext cx="0" cy="2421691"/>
          </a:xfrm>
          <a:prstGeom prst="line">
            <a:avLst/>
          </a:prstGeom>
          <a:ln w="38100">
            <a:solidFill>
              <a:srgbClr val="839EC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http://agent-jet.ru/wp-content/uploads/2015/05/bf8d852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51542" y="2115450"/>
            <a:ext cx="2203769" cy="1555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ttp://www.funlib.ru/cimg/2014/101422/0134810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5864"/>
          <a:stretch/>
        </p:blipFill>
        <p:spPr bwMode="auto">
          <a:xfrm>
            <a:off x="577512" y="2124333"/>
            <a:ext cx="2008148" cy="1546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/>
          <p:cNvSpPr/>
          <p:nvPr/>
        </p:nvSpPr>
        <p:spPr>
          <a:xfrm>
            <a:off x="575946" y="3800334"/>
            <a:ext cx="205216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" sz="800" b="1" dirty="0">
                <a:cs typeface="Arial" panose="020B0604020202020204" pitchFamily="34" charset="0"/>
              </a:rPr>
              <a:t>«Пусть дороже, но точно не как у других»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3199240" y="3784756"/>
            <a:ext cx="130837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" sz="800" b="1" dirty="0">
                <a:cs typeface="Arial" panose="020B0604020202020204" pitchFamily="34" charset="0"/>
              </a:rPr>
              <a:t>«Меня выберут по цене»</a:t>
            </a:r>
          </a:p>
        </p:txBody>
      </p:sp>
    </p:spTree>
    <p:extLst>
      <p:ext uri="{BB962C8B-B14F-4D97-AF65-F5344CB8AC3E}">
        <p14:creationId xmlns:p14="http://schemas.microsoft.com/office/powerpoint/2010/main" xmlns="" val="174061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83483" y="1220522"/>
            <a:ext cx="2521225" cy="417477"/>
          </a:xfrm>
        </p:spPr>
        <p:txBody>
          <a:bodyPr anchor="t">
            <a:noAutofit/>
          </a:bodyPr>
          <a:lstStyle/>
          <a:p>
            <a:pPr algn="l"/>
            <a:r>
              <a:rPr lang="en-US" sz="1800" b="1" dirty="0">
                <a:latin typeface="+mn-lt"/>
                <a:cs typeface="Arial" pitchFamily="34" charset="0"/>
              </a:rPr>
              <a:t>U </a:t>
            </a:r>
            <a:r>
              <a:rPr lang="ru-RU" sz="1800" b="1" dirty="0">
                <a:latin typeface="+mn-lt"/>
                <a:cs typeface="Arial" pitchFamily="34" charset="0"/>
              </a:rPr>
              <a:t>- ДИАГРАММА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Методы разработки и оцифровки стратегии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637445" y="3122847"/>
            <a:ext cx="388192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637445" y="1637999"/>
            <a:ext cx="1086446" cy="684076"/>
          </a:xfrm>
          <a:prstGeom prst="rect">
            <a:avLst/>
          </a:prstGeom>
          <a:solidFill>
            <a:srgbClr val="006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cs typeface="Arial" panose="020B0604020202020204" pitchFamily="34" charset="0"/>
              </a:rPr>
              <a:t>Малый объем – высокая маржа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3387884" y="1647151"/>
            <a:ext cx="1131488" cy="684103"/>
          </a:xfrm>
          <a:prstGeom prst="rect">
            <a:avLst/>
          </a:prstGeom>
          <a:solidFill>
            <a:srgbClr val="40A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cs typeface="Arial" panose="020B0604020202020204" pitchFamily="34" charset="0"/>
              </a:rPr>
              <a:t>Большой объем  – низкая маржа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181084" y="2752434"/>
            <a:ext cx="1545088" cy="370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rgbClr val="92D050"/>
                </a:solidFill>
                <a:cs typeface="Arial" panose="020B0604020202020204" pitchFamily="34" charset="0"/>
              </a:rPr>
              <a:t>Зона прибыли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2873508" y="3122847"/>
            <a:ext cx="2160240" cy="3222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rgbClr val="C00000"/>
                </a:solidFill>
                <a:cs typeface="Arial" panose="020B0604020202020204" pitchFamily="34" charset="0"/>
              </a:rPr>
              <a:t>Зона убытка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1621595" y="974043"/>
            <a:ext cx="1886059" cy="32172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0" dirty="0">
                <a:solidFill>
                  <a:srgbClr val="92D050"/>
                </a:solidFill>
              </a:rPr>
              <a:t>U</a:t>
            </a:r>
            <a:endParaRPr lang="ru-RU" sz="250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604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 62"/>
          <p:cNvSpPr/>
          <p:nvPr/>
        </p:nvSpPr>
        <p:spPr>
          <a:xfrm>
            <a:off x="2481157" y="3493852"/>
            <a:ext cx="1089955" cy="607223"/>
          </a:xfrm>
          <a:prstGeom prst="rect">
            <a:avLst/>
          </a:prstGeom>
          <a:solidFill>
            <a:srgbClr val="CED9EA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900" b="1" u="sng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7" name="Прямоугольник 56"/>
          <p:cNvSpPr/>
          <p:nvPr/>
        </p:nvSpPr>
        <p:spPr>
          <a:xfrm>
            <a:off x="2481159" y="2091437"/>
            <a:ext cx="1089955" cy="607223"/>
          </a:xfrm>
          <a:prstGeom prst="rect">
            <a:avLst/>
          </a:prstGeom>
          <a:solidFill>
            <a:srgbClr val="CED9EA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926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22821" y="1156420"/>
            <a:ext cx="4207458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 smtClean="0"/>
              <a:t>Варианты стратегического развития</a:t>
            </a:r>
            <a:endParaRPr lang="ru-RU" sz="1800" b="1" dirty="0">
              <a:cs typeface="Arial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Методы разработки и оцифровки стратегии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4" name="Прямоугольник 43"/>
          <p:cNvSpPr/>
          <p:nvPr/>
        </p:nvSpPr>
        <p:spPr>
          <a:xfrm>
            <a:off x="641236" y="2100665"/>
            <a:ext cx="639793" cy="2000410"/>
          </a:xfrm>
          <a:prstGeom prst="rect">
            <a:avLst/>
          </a:prstGeom>
          <a:solidFill>
            <a:srgbClr val="3049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Circe Bold" pitchFamily="34" charset="-52"/>
            </a:endParaRPr>
          </a:p>
        </p:txBody>
      </p:sp>
      <p:sp>
        <p:nvSpPr>
          <p:cNvPr id="45" name="Прямоугольник 44"/>
          <p:cNvSpPr/>
          <p:nvPr/>
        </p:nvSpPr>
        <p:spPr>
          <a:xfrm>
            <a:off x="641236" y="1656309"/>
            <a:ext cx="639793" cy="357216"/>
          </a:xfrm>
          <a:prstGeom prst="rect">
            <a:avLst/>
          </a:prstGeom>
          <a:solidFill>
            <a:srgbClr val="4252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 rot="16200000">
            <a:off x="40293" y="2928093"/>
            <a:ext cx="1841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РЫНОК</a:t>
            </a:r>
            <a:endParaRPr lang="ru-RU" sz="1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47" name="Picture 2" descr="C:\Алина\буклет и сайт\xdeventures\презентации\стратегический менеджмент\иконки\ic22__0020_Layer-8.png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805335" y="1679005"/>
            <a:ext cx="311593" cy="311823"/>
          </a:xfrm>
          <a:prstGeom prst="rect">
            <a:avLst/>
          </a:prstGeom>
          <a:noFill/>
        </p:spPr>
      </p:pic>
      <p:sp>
        <p:nvSpPr>
          <p:cNvPr id="48" name="Прямоугольник 47"/>
          <p:cNvSpPr/>
          <p:nvPr/>
        </p:nvSpPr>
        <p:spPr>
          <a:xfrm>
            <a:off x="1335418" y="1656309"/>
            <a:ext cx="3394861" cy="357216"/>
          </a:xfrm>
          <a:prstGeom prst="rect">
            <a:avLst/>
          </a:prstGeom>
          <a:solidFill>
            <a:srgbClr val="3049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335419" y="1691287"/>
            <a:ext cx="3394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ПРОДУКТ</a:t>
            </a:r>
            <a:endParaRPr lang="ru-RU" sz="14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2" name="Прямоугольник 51"/>
          <p:cNvSpPr/>
          <p:nvPr/>
        </p:nvSpPr>
        <p:spPr>
          <a:xfrm>
            <a:off x="1335418" y="2091437"/>
            <a:ext cx="1089955" cy="607223"/>
          </a:xfrm>
          <a:prstGeom prst="rect">
            <a:avLst/>
          </a:prstGeom>
          <a:solidFill>
            <a:srgbClr val="CED9EA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926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469139" y="2269844"/>
            <a:ext cx="1127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 smtClean="0">
                <a:solidFill>
                  <a:srgbClr val="19263C"/>
                </a:solidFill>
                <a:cs typeface="Arial" panose="020B0604020202020204" pitchFamily="34" charset="0"/>
              </a:rPr>
              <a:t>Старый</a:t>
            </a:r>
            <a:endParaRPr lang="ru-RU" sz="1000" b="1" u="sng" dirty="0">
              <a:solidFill>
                <a:srgbClr val="19263C"/>
              </a:solidFill>
              <a:cs typeface="Arial" panose="020B0604020202020204" pitchFamily="34" charset="0"/>
            </a:endParaRPr>
          </a:p>
        </p:txBody>
      </p:sp>
      <p:sp>
        <p:nvSpPr>
          <p:cNvPr id="58" name="Прямоугольник 57"/>
          <p:cNvSpPr/>
          <p:nvPr/>
        </p:nvSpPr>
        <p:spPr>
          <a:xfrm>
            <a:off x="3640324" y="2091436"/>
            <a:ext cx="1089955" cy="607223"/>
          </a:xfrm>
          <a:prstGeom prst="rect">
            <a:avLst/>
          </a:prstGeom>
          <a:solidFill>
            <a:srgbClr val="CED9EA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926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596559" y="2271936"/>
            <a:ext cx="12013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 smtClean="0">
                <a:solidFill>
                  <a:srgbClr val="19263C"/>
                </a:solidFill>
                <a:cs typeface="Arial" panose="020B0604020202020204" pitchFamily="34" charset="0"/>
              </a:rPr>
              <a:t>Новый</a:t>
            </a:r>
            <a:endParaRPr lang="ru-RU" sz="1000" b="1" u="sng" dirty="0">
              <a:solidFill>
                <a:srgbClr val="19263C"/>
              </a:solidFill>
              <a:cs typeface="Arial" panose="020B0604020202020204" pitchFamily="34" charset="0"/>
            </a:endParaRPr>
          </a:p>
        </p:txBody>
      </p:sp>
      <p:sp>
        <p:nvSpPr>
          <p:cNvPr id="60" name="Прямоугольник 59"/>
          <p:cNvSpPr/>
          <p:nvPr/>
        </p:nvSpPr>
        <p:spPr>
          <a:xfrm>
            <a:off x="2481158" y="2793758"/>
            <a:ext cx="1089955" cy="607223"/>
          </a:xfrm>
          <a:prstGeom prst="rect">
            <a:avLst/>
          </a:prstGeom>
          <a:solidFill>
            <a:srgbClr val="CED9EA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926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Прямоугольник 60"/>
          <p:cNvSpPr/>
          <p:nvPr/>
        </p:nvSpPr>
        <p:spPr>
          <a:xfrm>
            <a:off x="1335417" y="2793758"/>
            <a:ext cx="1089955" cy="607223"/>
          </a:xfrm>
          <a:prstGeom prst="rect">
            <a:avLst/>
          </a:prstGeom>
          <a:solidFill>
            <a:srgbClr val="CED9EA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926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Прямоугольник 61"/>
          <p:cNvSpPr/>
          <p:nvPr/>
        </p:nvSpPr>
        <p:spPr>
          <a:xfrm>
            <a:off x="3640323" y="2793757"/>
            <a:ext cx="1089955" cy="607223"/>
          </a:xfrm>
          <a:prstGeom prst="rect">
            <a:avLst/>
          </a:prstGeom>
          <a:solidFill>
            <a:srgbClr val="CED9EA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926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Прямоугольник 63"/>
          <p:cNvSpPr/>
          <p:nvPr/>
        </p:nvSpPr>
        <p:spPr>
          <a:xfrm>
            <a:off x="1335416" y="3493852"/>
            <a:ext cx="1089955" cy="607223"/>
          </a:xfrm>
          <a:prstGeom prst="rect">
            <a:avLst/>
          </a:prstGeom>
          <a:solidFill>
            <a:srgbClr val="CED9EA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926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Прямоугольник 64"/>
          <p:cNvSpPr/>
          <p:nvPr/>
        </p:nvSpPr>
        <p:spPr>
          <a:xfrm>
            <a:off x="3640322" y="3493851"/>
            <a:ext cx="1089955" cy="607223"/>
          </a:xfrm>
          <a:prstGeom prst="rect">
            <a:avLst/>
          </a:prstGeom>
          <a:solidFill>
            <a:srgbClr val="CED9EA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926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335419" y="2974257"/>
            <a:ext cx="1127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 smtClean="0">
                <a:solidFill>
                  <a:srgbClr val="19263C"/>
                </a:solidFill>
                <a:cs typeface="Arial" panose="020B0604020202020204" pitchFamily="34" charset="0"/>
              </a:rPr>
              <a:t>Старый</a:t>
            </a:r>
            <a:endParaRPr lang="ru-RU" sz="1000" b="1" u="sng" dirty="0">
              <a:solidFill>
                <a:srgbClr val="19263C"/>
              </a:solidFill>
              <a:cs typeface="Arial" panose="020B0604020202020204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335416" y="3674351"/>
            <a:ext cx="1127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 smtClean="0">
                <a:solidFill>
                  <a:srgbClr val="19263C"/>
                </a:solidFill>
                <a:cs typeface="Arial" panose="020B0604020202020204" pitchFamily="34" charset="0"/>
              </a:rPr>
              <a:t>Новый</a:t>
            </a:r>
            <a:endParaRPr lang="ru-RU" sz="1000" b="1" u="sng" dirty="0">
              <a:solidFill>
                <a:srgbClr val="19263C"/>
              </a:solidFill>
              <a:cs typeface="Arial" panose="020B0604020202020204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443692" y="2846219"/>
            <a:ext cx="11274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 smtClean="0">
                <a:cs typeface="Arial" panose="020B0604020202020204" pitchFamily="34" charset="0"/>
              </a:rPr>
              <a:t>Инвестиции в лояльность клиентов</a:t>
            </a:r>
            <a:endParaRPr lang="ru-RU" sz="1000" b="1" u="sng" dirty="0">
              <a:cs typeface="Arial" panose="020B0604020202020204" pitchFamily="34" charset="0"/>
            </a:endParaRPr>
          </a:p>
        </p:txBody>
      </p:sp>
      <p:sp>
        <p:nvSpPr>
          <p:cNvPr id="70" name="Прямоугольник 69"/>
          <p:cNvSpPr/>
          <p:nvPr/>
        </p:nvSpPr>
        <p:spPr>
          <a:xfrm>
            <a:off x="2415314" y="3569734"/>
            <a:ext cx="123507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00" b="1" dirty="0" smtClean="0">
                <a:cs typeface="Arial" panose="020B0604020202020204" pitchFamily="34" charset="0"/>
              </a:rPr>
              <a:t>Инвестиции в тиражирование на новые рынки</a:t>
            </a:r>
            <a:endParaRPr lang="ru-RU" sz="1000" b="1" u="sng" dirty="0">
              <a:cs typeface="Arial" panose="020B0604020202020204" pitchFamily="34" charset="0"/>
            </a:endParaRPr>
          </a:p>
        </p:txBody>
      </p:sp>
      <p:sp>
        <p:nvSpPr>
          <p:cNvPr id="71" name="Прямоугольник 70"/>
          <p:cNvSpPr/>
          <p:nvPr/>
        </p:nvSpPr>
        <p:spPr>
          <a:xfrm>
            <a:off x="3567764" y="3674350"/>
            <a:ext cx="123507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00" b="1" dirty="0" smtClean="0">
                <a:cs typeface="Arial" panose="020B0604020202020204" pitchFamily="34" charset="0"/>
              </a:rPr>
              <a:t>«Голубой океан»</a:t>
            </a:r>
            <a:endParaRPr lang="ru-RU" sz="1000" b="1" u="sng" dirty="0">
              <a:cs typeface="Arial" panose="020B0604020202020204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606663" y="2846983"/>
            <a:ext cx="12013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 smtClean="0">
                <a:solidFill>
                  <a:srgbClr val="19263C"/>
                </a:solidFill>
                <a:cs typeface="Arial" panose="020B0604020202020204" pitchFamily="34" charset="0"/>
              </a:rPr>
              <a:t>Инвестиции в продукт и маркетинг</a:t>
            </a:r>
            <a:endParaRPr lang="ru-RU" sz="1000" b="1" u="sng" dirty="0">
              <a:solidFill>
                <a:srgbClr val="19263C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45761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83483" y="1241325"/>
            <a:ext cx="3808213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 smtClean="0">
                <a:cs typeface="Arial" pitchFamily="34" charset="0"/>
              </a:rPr>
              <a:t>Матрица бостонской консалтинговой группы</a:t>
            </a:r>
            <a:endParaRPr lang="ru-RU" sz="1800" b="1" dirty="0">
              <a:cs typeface="Arial" pitchFamily="34" charset="0"/>
            </a:endParaRPr>
          </a:p>
        </p:txBody>
      </p:sp>
      <p:sp>
        <p:nvSpPr>
          <p:cNvPr id="5" name="Line 1072"/>
          <p:cNvSpPr>
            <a:spLocks noChangeShapeType="1"/>
          </p:cNvSpPr>
          <p:nvPr/>
        </p:nvSpPr>
        <p:spPr bwMode="auto">
          <a:xfrm flipV="1">
            <a:off x="1586811" y="1929936"/>
            <a:ext cx="0" cy="258958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ru-RU" sz="1000"/>
          </a:p>
        </p:txBody>
      </p:sp>
      <p:sp>
        <p:nvSpPr>
          <p:cNvPr id="7" name="Line 1073"/>
          <p:cNvSpPr>
            <a:spLocks noChangeShapeType="1"/>
          </p:cNvSpPr>
          <p:nvPr/>
        </p:nvSpPr>
        <p:spPr bwMode="auto">
          <a:xfrm>
            <a:off x="615845" y="4064918"/>
            <a:ext cx="4323203" cy="25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ru-RU" sz="1000"/>
          </a:p>
        </p:txBody>
      </p:sp>
      <p:sp>
        <p:nvSpPr>
          <p:cNvPr id="8" name="Rectangle 1075"/>
          <p:cNvSpPr>
            <a:spLocks noChangeArrowheads="1"/>
          </p:cNvSpPr>
          <p:nvPr/>
        </p:nvSpPr>
        <p:spPr bwMode="auto">
          <a:xfrm>
            <a:off x="1763024" y="3331929"/>
            <a:ext cx="60655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ru-RU" sz="1000" b="1" dirty="0">
                <a:cs typeface="Times New Roman" pitchFamily="18" charset="0"/>
              </a:rPr>
              <a:t>Звезды</a:t>
            </a:r>
          </a:p>
        </p:txBody>
      </p:sp>
      <p:sp>
        <p:nvSpPr>
          <p:cNvPr id="9" name="AutoShape 1077"/>
          <p:cNvSpPr>
            <a:spLocks noChangeArrowheads="1"/>
          </p:cNvSpPr>
          <p:nvPr/>
        </p:nvSpPr>
        <p:spPr bwMode="auto">
          <a:xfrm>
            <a:off x="4003746" y="3865719"/>
            <a:ext cx="127127" cy="199199"/>
          </a:xfrm>
          <a:prstGeom prst="triangle">
            <a:avLst>
              <a:gd name="adj" fmla="val 50000"/>
            </a:avLst>
          </a:prstGeom>
          <a:solidFill>
            <a:srgbClr val="00FF00"/>
          </a:solidFill>
          <a:ln w="9525">
            <a:solidFill>
              <a:srgbClr val="00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 sz="1000"/>
          </a:p>
        </p:txBody>
      </p:sp>
      <p:sp>
        <p:nvSpPr>
          <p:cNvPr id="10" name="AutoShape 1078"/>
          <p:cNvSpPr>
            <a:spLocks noChangeArrowheads="1"/>
          </p:cNvSpPr>
          <p:nvPr/>
        </p:nvSpPr>
        <p:spPr bwMode="auto">
          <a:xfrm>
            <a:off x="2623290" y="3855733"/>
            <a:ext cx="127127" cy="199199"/>
          </a:xfrm>
          <a:prstGeom prst="triangle">
            <a:avLst>
              <a:gd name="adj" fmla="val 50000"/>
            </a:avLst>
          </a:prstGeom>
          <a:solidFill>
            <a:srgbClr val="00FF00"/>
          </a:solidFill>
          <a:ln w="9525">
            <a:solidFill>
              <a:srgbClr val="00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 sz="1000"/>
          </a:p>
        </p:txBody>
      </p:sp>
      <p:sp>
        <p:nvSpPr>
          <p:cNvPr id="11" name="AutoShape 1079"/>
          <p:cNvSpPr>
            <a:spLocks noChangeArrowheads="1"/>
          </p:cNvSpPr>
          <p:nvPr/>
        </p:nvSpPr>
        <p:spPr bwMode="auto">
          <a:xfrm>
            <a:off x="2002737" y="3856270"/>
            <a:ext cx="127127" cy="199199"/>
          </a:xfrm>
          <a:prstGeom prst="triangle">
            <a:avLst>
              <a:gd name="adj" fmla="val 50000"/>
            </a:avLst>
          </a:prstGeom>
          <a:solidFill>
            <a:srgbClr val="00FF00"/>
          </a:solidFill>
          <a:ln w="9525">
            <a:solidFill>
              <a:srgbClr val="00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 sz="1000"/>
          </a:p>
        </p:txBody>
      </p:sp>
      <p:sp>
        <p:nvSpPr>
          <p:cNvPr id="12" name="AutoShape 1080"/>
          <p:cNvSpPr>
            <a:spLocks noChangeArrowheads="1"/>
          </p:cNvSpPr>
          <p:nvPr/>
        </p:nvSpPr>
        <p:spPr bwMode="auto">
          <a:xfrm>
            <a:off x="672411" y="3863126"/>
            <a:ext cx="127127" cy="199199"/>
          </a:xfrm>
          <a:prstGeom prst="triangle">
            <a:avLst>
              <a:gd name="adj" fmla="val 50000"/>
            </a:avLst>
          </a:prstGeom>
          <a:solidFill>
            <a:srgbClr val="00FF00"/>
          </a:solidFill>
          <a:ln w="9525">
            <a:solidFill>
              <a:srgbClr val="00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 sz="1000"/>
          </a:p>
        </p:txBody>
      </p:sp>
      <p:sp>
        <p:nvSpPr>
          <p:cNvPr id="13" name="Rectangle 1081"/>
          <p:cNvSpPr>
            <a:spLocks noChangeArrowheads="1"/>
          </p:cNvSpPr>
          <p:nvPr/>
        </p:nvSpPr>
        <p:spPr bwMode="auto">
          <a:xfrm>
            <a:off x="345608" y="3456161"/>
            <a:ext cx="8092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ru-RU" sz="1000" b="1" dirty="0">
                <a:cs typeface="Times New Roman" pitchFamily="18" charset="0"/>
              </a:rPr>
              <a:t>Трудные дети</a:t>
            </a:r>
          </a:p>
        </p:txBody>
      </p:sp>
      <p:sp>
        <p:nvSpPr>
          <p:cNvPr id="14" name="Line 1083"/>
          <p:cNvSpPr>
            <a:spLocks noChangeShapeType="1"/>
          </p:cNvSpPr>
          <p:nvPr/>
        </p:nvSpPr>
        <p:spPr bwMode="auto">
          <a:xfrm>
            <a:off x="2676148" y="2703343"/>
            <a:ext cx="0" cy="1352126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ru-RU" sz="1000"/>
          </a:p>
        </p:txBody>
      </p:sp>
      <p:sp>
        <p:nvSpPr>
          <p:cNvPr id="15" name="Line 1084"/>
          <p:cNvSpPr>
            <a:spLocks noChangeShapeType="1"/>
          </p:cNvSpPr>
          <p:nvPr/>
        </p:nvSpPr>
        <p:spPr bwMode="auto">
          <a:xfrm flipV="1">
            <a:off x="748611" y="4111326"/>
            <a:ext cx="0" cy="331999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ru-RU" sz="1000"/>
          </a:p>
        </p:txBody>
      </p:sp>
      <p:sp>
        <p:nvSpPr>
          <p:cNvPr id="16" name="Line 1086"/>
          <p:cNvSpPr>
            <a:spLocks noChangeShapeType="1"/>
          </p:cNvSpPr>
          <p:nvPr/>
        </p:nvSpPr>
        <p:spPr bwMode="auto">
          <a:xfrm>
            <a:off x="4067309" y="2601532"/>
            <a:ext cx="0" cy="1453936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ru-RU" sz="1000"/>
          </a:p>
        </p:txBody>
      </p:sp>
      <p:sp>
        <p:nvSpPr>
          <p:cNvPr id="17" name="Rectangle 1087"/>
          <p:cNvSpPr>
            <a:spLocks noChangeArrowheads="1"/>
          </p:cNvSpPr>
          <p:nvPr/>
        </p:nvSpPr>
        <p:spPr bwMode="auto">
          <a:xfrm>
            <a:off x="2001153" y="2285408"/>
            <a:ext cx="9122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ru-RU" sz="1000" b="1" dirty="0">
                <a:cs typeface="Times New Roman" pitchFamily="18" charset="0"/>
              </a:rPr>
              <a:t>Дойные коровы</a:t>
            </a:r>
            <a:endParaRPr lang="en-GB" sz="1000" b="1" dirty="0">
              <a:cs typeface="Times New Roman" pitchFamily="18" charset="0"/>
            </a:endParaRPr>
          </a:p>
        </p:txBody>
      </p:sp>
      <p:sp>
        <p:nvSpPr>
          <p:cNvPr id="18" name="Rectangle 1088"/>
          <p:cNvSpPr>
            <a:spLocks noChangeArrowheads="1"/>
          </p:cNvSpPr>
          <p:nvPr/>
        </p:nvSpPr>
        <p:spPr bwMode="auto">
          <a:xfrm>
            <a:off x="3642343" y="2276412"/>
            <a:ext cx="84993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ru-RU" sz="1000" b="1" dirty="0">
                <a:cs typeface="Times New Roman" pitchFamily="18" charset="0"/>
              </a:rPr>
              <a:t>Собаки</a:t>
            </a:r>
          </a:p>
        </p:txBody>
      </p:sp>
      <p:sp>
        <p:nvSpPr>
          <p:cNvPr id="19" name="Text Box 1089"/>
          <p:cNvSpPr txBox="1">
            <a:spLocks noChangeArrowheads="1"/>
          </p:cNvSpPr>
          <p:nvPr/>
        </p:nvSpPr>
        <p:spPr bwMode="auto">
          <a:xfrm>
            <a:off x="4441874" y="3786309"/>
            <a:ext cx="65172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sz="1000" i="1" dirty="0">
                <a:latin typeface="Times New Roman" pitchFamily="18" charset="0"/>
              </a:rPr>
              <a:t>Время</a:t>
            </a:r>
          </a:p>
        </p:txBody>
      </p:sp>
      <p:sp>
        <p:nvSpPr>
          <p:cNvPr id="20" name="Rectangle 1090"/>
          <p:cNvSpPr>
            <a:spLocks noChangeArrowheads="1"/>
          </p:cNvSpPr>
          <p:nvPr/>
        </p:nvSpPr>
        <p:spPr bwMode="auto">
          <a:xfrm>
            <a:off x="799538" y="1929936"/>
            <a:ext cx="71064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000" i="1" dirty="0"/>
              <a:t>Доход</a:t>
            </a:r>
          </a:p>
        </p:txBody>
      </p:sp>
      <p:sp>
        <p:nvSpPr>
          <p:cNvPr id="21" name="Freeform 1074"/>
          <p:cNvSpPr>
            <a:spLocks/>
          </p:cNvSpPr>
          <p:nvPr/>
        </p:nvSpPr>
        <p:spPr bwMode="auto">
          <a:xfrm>
            <a:off x="769249" y="2528800"/>
            <a:ext cx="3813799" cy="1914525"/>
          </a:xfrm>
          <a:custGeom>
            <a:avLst/>
            <a:gdLst>
              <a:gd name="T0" fmla="*/ 0 w 2880"/>
              <a:gd name="T1" fmla="*/ 2197100 h 1384"/>
              <a:gd name="T2" fmla="*/ 1066800 w 2880"/>
              <a:gd name="T3" fmla="*/ 2120900 h 1384"/>
              <a:gd name="T4" fmla="*/ 1524000 w 2880"/>
              <a:gd name="T5" fmla="*/ 1816100 h 1384"/>
              <a:gd name="T6" fmla="*/ 2133600 w 2880"/>
              <a:gd name="T7" fmla="*/ 368300 h 1384"/>
              <a:gd name="T8" fmla="*/ 2590800 w 2880"/>
              <a:gd name="T9" fmla="*/ 63500 h 1384"/>
              <a:gd name="T10" fmla="*/ 3962400 w 2880"/>
              <a:gd name="T11" fmla="*/ 63500 h 1384"/>
              <a:gd name="T12" fmla="*/ 4572000 w 2880"/>
              <a:gd name="T13" fmla="*/ 444500 h 1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80"/>
              <a:gd name="T22" fmla="*/ 0 h 1384"/>
              <a:gd name="T23" fmla="*/ 2880 w 2880"/>
              <a:gd name="T24" fmla="*/ 1384 h 1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80" h="1384">
                <a:moveTo>
                  <a:pt x="0" y="1384"/>
                </a:moveTo>
                <a:cubicBezTo>
                  <a:pt x="256" y="1380"/>
                  <a:pt x="512" y="1376"/>
                  <a:pt x="672" y="1336"/>
                </a:cubicBezTo>
                <a:cubicBezTo>
                  <a:pt x="832" y="1296"/>
                  <a:pt x="848" y="1328"/>
                  <a:pt x="960" y="1144"/>
                </a:cubicBezTo>
                <a:cubicBezTo>
                  <a:pt x="1072" y="960"/>
                  <a:pt x="1232" y="416"/>
                  <a:pt x="1344" y="232"/>
                </a:cubicBezTo>
                <a:cubicBezTo>
                  <a:pt x="1456" y="48"/>
                  <a:pt x="1440" y="72"/>
                  <a:pt x="1632" y="40"/>
                </a:cubicBezTo>
                <a:cubicBezTo>
                  <a:pt x="1824" y="8"/>
                  <a:pt x="2288" y="0"/>
                  <a:pt x="2496" y="40"/>
                </a:cubicBezTo>
                <a:cubicBezTo>
                  <a:pt x="2704" y="80"/>
                  <a:pt x="2792" y="180"/>
                  <a:pt x="2880" y="280"/>
                </a:cubicBezTo>
              </a:path>
            </a:pathLst>
          </a:custGeom>
          <a:noFill/>
          <a:ln w="3492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xmlns="" val="2294812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83483" y="1226961"/>
            <a:ext cx="3936533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 smtClean="0">
                <a:cs typeface="Arial" pitchFamily="34" charset="0"/>
              </a:rPr>
              <a:t>Стратегия развития бизнеса на новой территории</a:t>
            </a:r>
            <a:endParaRPr lang="ru-RU" sz="1800" b="1" dirty="0">
              <a:cs typeface="Arial" pitchFamily="34" charset="0"/>
            </a:endParaRPr>
          </a:p>
        </p:txBody>
      </p:sp>
      <p:grpSp>
        <p:nvGrpSpPr>
          <p:cNvPr id="5" name="Group 1"/>
          <p:cNvGrpSpPr>
            <a:grpSpLocks noChangeAspect="1"/>
          </p:cNvGrpSpPr>
          <p:nvPr/>
        </p:nvGrpSpPr>
        <p:grpSpPr bwMode="auto">
          <a:xfrm>
            <a:off x="448255" y="1887146"/>
            <a:ext cx="4739143" cy="2593835"/>
            <a:chOff x="2067" y="5050"/>
            <a:chExt cx="10800" cy="4875"/>
          </a:xfrm>
        </p:grpSpPr>
        <p:sp>
          <p:nvSpPr>
            <p:cNvPr id="7" name="AutoShape 21"/>
            <p:cNvSpPr>
              <a:spLocks noChangeAspect="1" noChangeArrowheads="1" noTextEdit="1"/>
            </p:cNvSpPr>
            <p:nvPr/>
          </p:nvSpPr>
          <p:spPr bwMode="auto">
            <a:xfrm>
              <a:off x="2067" y="5050"/>
              <a:ext cx="10800" cy="45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800">
                <a:solidFill>
                  <a:srgbClr val="00206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" name="Rectangle 20"/>
            <p:cNvSpPr>
              <a:spLocks noChangeArrowheads="1"/>
            </p:cNvSpPr>
            <p:nvPr/>
          </p:nvSpPr>
          <p:spPr bwMode="auto">
            <a:xfrm>
              <a:off x="6208" y="7391"/>
              <a:ext cx="2522" cy="359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sz="800" b="1" dirty="0">
                  <a:solidFill>
                    <a:srgbClr val="002060"/>
                  </a:solidFill>
                  <a:cs typeface="Arial" pitchFamily="34" charset="0"/>
                </a:rPr>
                <a:t>МОДЕЛЬ ВХОДА</a:t>
              </a:r>
              <a:endParaRPr lang="en-US" altLang="ru-RU" sz="800" dirty="0">
                <a:solidFill>
                  <a:srgbClr val="002060"/>
                </a:solidFill>
                <a:cs typeface="Arial" pitchFamily="34" charset="0"/>
              </a:endParaRPr>
            </a:p>
          </p:txBody>
        </p:sp>
        <p:sp>
          <p:nvSpPr>
            <p:cNvPr id="9" name="Rectangle 19"/>
            <p:cNvSpPr>
              <a:spLocks noChangeArrowheads="1"/>
            </p:cNvSpPr>
            <p:nvPr/>
          </p:nvSpPr>
          <p:spPr bwMode="auto">
            <a:xfrm>
              <a:off x="3328" y="5230"/>
              <a:ext cx="1800" cy="759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sz="800" dirty="0">
                  <a:solidFill>
                    <a:srgbClr val="002060"/>
                  </a:solidFill>
                  <a:cs typeface="Arial" panose="020B0604020202020204" pitchFamily="34" charset="0"/>
                </a:rPr>
                <a:t>Факторы территории</a:t>
              </a:r>
              <a:endParaRPr lang="en-US" altLang="ru-RU" sz="800" dirty="0">
                <a:solidFill>
                  <a:srgbClr val="00206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Rectangle 18"/>
            <p:cNvSpPr>
              <a:spLocks noChangeArrowheads="1"/>
            </p:cNvSpPr>
            <p:nvPr/>
          </p:nvSpPr>
          <p:spPr bwMode="auto">
            <a:xfrm>
              <a:off x="5487" y="5228"/>
              <a:ext cx="1799" cy="759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sz="800" dirty="0">
                  <a:solidFill>
                    <a:srgbClr val="002060"/>
                  </a:solidFill>
                  <a:cs typeface="Arial" panose="020B0604020202020204" pitchFamily="34" charset="0"/>
                </a:rPr>
                <a:t>Факторы отрасли</a:t>
              </a:r>
              <a:endParaRPr lang="en-US" altLang="ru-RU" sz="800" dirty="0">
                <a:solidFill>
                  <a:srgbClr val="00206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" name="Rectangle 17"/>
            <p:cNvSpPr>
              <a:spLocks noChangeArrowheads="1"/>
            </p:cNvSpPr>
            <p:nvPr/>
          </p:nvSpPr>
          <p:spPr bwMode="auto">
            <a:xfrm>
              <a:off x="7649" y="5228"/>
              <a:ext cx="1799" cy="759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sz="800" dirty="0">
                  <a:solidFill>
                    <a:srgbClr val="002060"/>
                  </a:solidFill>
                  <a:cs typeface="Arial" panose="020B0604020202020204" pitchFamily="34" charset="0"/>
                </a:rPr>
                <a:t>Факторы продукта</a:t>
              </a:r>
              <a:endParaRPr lang="en-US" altLang="ru-RU" sz="800" dirty="0">
                <a:solidFill>
                  <a:srgbClr val="00206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Rectangle 16"/>
            <p:cNvSpPr>
              <a:spLocks noChangeArrowheads="1"/>
            </p:cNvSpPr>
            <p:nvPr/>
          </p:nvSpPr>
          <p:spPr bwMode="auto">
            <a:xfrm>
              <a:off x="9808" y="5230"/>
              <a:ext cx="1799" cy="759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sz="800" dirty="0">
                  <a:solidFill>
                    <a:srgbClr val="002060"/>
                  </a:solidFill>
                  <a:cs typeface="Arial" panose="020B0604020202020204" pitchFamily="34" charset="0"/>
                </a:rPr>
                <a:t>Факторы компании</a:t>
              </a:r>
              <a:endParaRPr lang="en-US" altLang="ru-RU" sz="800" dirty="0">
                <a:solidFill>
                  <a:srgbClr val="00206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AutoShape 15"/>
            <p:cNvSpPr>
              <a:spLocks noChangeShapeType="1"/>
            </p:cNvSpPr>
            <p:nvPr/>
          </p:nvSpPr>
          <p:spPr bwMode="auto">
            <a:xfrm rot="16200000" flipH="1">
              <a:off x="5129" y="5051"/>
              <a:ext cx="1439" cy="3241"/>
            </a:xfrm>
            <a:prstGeom prst="bentConnector3">
              <a:avLst>
                <a:gd name="adj1" fmla="val 49963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800">
                <a:solidFill>
                  <a:srgbClr val="00206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4" name="AutoShape 14"/>
            <p:cNvSpPr>
              <a:spLocks noChangeShapeType="1"/>
            </p:cNvSpPr>
            <p:nvPr/>
          </p:nvSpPr>
          <p:spPr bwMode="auto">
            <a:xfrm rot="5400000">
              <a:off x="8371" y="5054"/>
              <a:ext cx="1435" cy="3239"/>
            </a:xfrm>
            <a:prstGeom prst="bentConnector3">
              <a:avLst>
                <a:gd name="adj1" fmla="val 49963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800">
                <a:solidFill>
                  <a:srgbClr val="00206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" name="AutoShape 13"/>
            <p:cNvSpPr>
              <a:spLocks noChangeShapeType="1"/>
            </p:cNvSpPr>
            <p:nvPr/>
          </p:nvSpPr>
          <p:spPr bwMode="auto">
            <a:xfrm rot="16200000" flipH="1">
              <a:off x="6209" y="6131"/>
              <a:ext cx="1438" cy="1082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800">
                <a:solidFill>
                  <a:srgbClr val="00206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AutoShape 12"/>
            <p:cNvSpPr>
              <a:spLocks noChangeShapeType="1"/>
            </p:cNvSpPr>
            <p:nvPr/>
          </p:nvSpPr>
          <p:spPr bwMode="auto">
            <a:xfrm rot="5400000">
              <a:off x="7291" y="6134"/>
              <a:ext cx="1435" cy="1080"/>
            </a:xfrm>
            <a:prstGeom prst="bentConnector3">
              <a:avLst>
                <a:gd name="adj1" fmla="val 49963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800">
                <a:solidFill>
                  <a:srgbClr val="00206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4228" y="8650"/>
              <a:ext cx="2342" cy="12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sz="800" b="1" dirty="0">
                  <a:solidFill>
                    <a:srgbClr val="002060"/>
                  </a:solidFill>
                  <a:cs typeface="Arial" pitchFamily="34" charset="0"/>
                </a:rPr>
                <a:t>Контрактные соглашения </a:t>
              </a:r>
              <a:r>
                <a:rPr lang="ru-RU" altLang="ru-RU" sz="800" dirty="0">
                  <a:solidFill>
                    <a:srgbClr val="002060"/>
                  </a:solidFill>
                  <a:cs typeface="Arial" pitchFamily="34" charset="0"/>
                </a:rPr>
                <a:t>(лицензирование, франчайзинг)</a:t>
              </a:r>
              <a:endParaRPr lang="en-US" altLang="ru-RU" sz="800" dirty="0">
                <a:solidFill>
                  <a:srgbClr val="002060"/>
                </a:solidFill>
                <a:cs typeface="Arial" pitchFamily="34" charset="0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6748" y="8650"/>
              <a:ext cx="1982" cy="12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sz="800" b="1" dirty="0">
                  <a:solidFill>
                    <a:srgbClr val="002060"/>
                  </a:solidFill>
                  <a:cs typeface="Arial" pitchFamily="34" charset="0"/>
                </a:rPr>
                <a:t>Совместное предприятие </a:t>
              </a:r>
              <a:r>
                <a:rPr lang="ru-RU" altLang="ru-RU" sz="600" dirty="0">
                  <a:solidFill>
                    <a:srgbClr val="002060"/>
                  </a:solidFill>
                  <a:cs typeface="Arial" pitchFamily="34" charset="0"/>
                </a:rPr>
                <a:t>(контролируемое, неконтролируемое, альянс)</a:t>
              </a:r>
              <a:endParaRPr lang="en-US" altLang="ru-RU" sz="600" dirty="0">
                <a:solidFill>
                  <a:srgbClr val="002060"/>
                </a:solidFill>
                <a:cs typeface="Arial" pitchFamily="34" charset="0"/>
              </a:endParaRPr>
            </a:p>
          </p:txBody>
        </p: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8909" y="8650"/>
              <a:ext cx="1899" cy="12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sz="800" b="1" dirty="0">
                  <a:solidFill>
                    <a:srgbClr val="002060"/>
                  </a:solidFill>
                  <a:cs typeface="Arial" pitchFamily="34" charset="0"/>
                </a:rPr>
                <a:t>Поглощение </a:t>
              </a:r>
              <a:r>
                <a:rPr lang="ru-RU" altLang="ru-RU" sz="600" dirty="0">
                  <a:solidFill>
                    <a:srgbClr val="002060"/>
                  </a:solidFill>
                  <a:cs typeface="Arial" pitchFamily="34" charset="0"/>
                </a:rPr>
                <a:t>(дружественное, недружественное)</a:t>
              </a:r>
              <a:endParaRPr lang="en-US" altLang="ru-RU" sz="600" dirty="0">
                <a:solidFill>
                  <a:srgbClr val="002060"/>
                </a:solidFill>
                <a:cs typeface="Arial" pitchFamily="34" charset="0"/>
              </a:endParaRPr>
            </a:p>
          </p:txBody>
        </p:sp>
        <p:sp>
          <p:nvSpPr>
            <p:cNvPr id="20" name="AutoShape 8"/>
            <p:cNvSpPr>
              <a:spLocks noChangeShapeType="1"/>
            </p:cNvSpPr>
            <p:nvPr/>
          </p:nvSpPr>
          <p:spPr bwMode="auto">
            <a:xfrm flipH="1" flipV="1">
              <a:off x="7469" y="7750"/>
              <a:ext cx="269" cy="9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800">
                <a:solidFill>
                  <a:srgbClr val="00206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" name="AutoShape 7"/>
            <p:cNvSpPr>
              <a:spLocks noChangeShapeType="1"/>
            </p:cNvSpPr>
            <p:nvPr/>
          </p:nvSpPr>
          <p:spPr bwMode="auto">
            <a:xfrm flipV="1">
              <a:off x="5398" y="7750"/>
              <a:ext cx="2071" cy="9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800">
                <a:solidFill>
                  <a:srgbClr val="00206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2" name="AutoShape 6"/>
            <p:cNvSpPr>
              <a:spLocks noChangeShapeType="1"/>
            </p:cNvSpPr>
            <p:nvPr/>
          </p:nvSpPr>
          <p:spPr bwMode="auto">
            <a:xfrm flipH="1" flipV="1">
              <a:off x="7469" y="7750"/>
              <a:ext cx="2340" cy="9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800">
                <a:solidFill>
                  <a:srgbClr val="00206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3" name="Rectangle 5"/>
            <p:cNvSpPr>
              <a:spLocks noChangeArrowheads="1"/>
            </p:cNvSpPr>
            <p:nvPr/>
          </p:nvSpPr>
          <p:spPr bwMode="auto">
            <a:xfrm>
              <a:off x="2247" y="8650"/>
              <a:ext cx="1801" cy="12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sz="800" b="1" dirty="0">
                  <a:solidFill>
                    <a:srgbClr val="002060"/>
                  </a:solidFill>
                  <a:cs typeface="Arial" pitchFamily="34" charset="0"/>
                </a:rPr>
                <a:t>Экспорт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sz="800" dirty="0">
                  <a:solidFill>
                    <a:srgbClr val="002060"/>
                  </a:solidFill>
                  <a:cs typeface="Arial" pitchFamily="34" charset="0"/>
                </a:rPr>
                <a:t>(прямой, непрямой</a:t>
              </a:r>
              <a:r>
                <a:rPr lang="ru-RU" altLang="ru-RU" sz="800" dirty="0" smtClean="0">
                  <a:solidFill>
                    <a:srgbClr val="002060"/>
                  </a:solidFill>
                  <a:cs typeface="Arial" pitchFamily="34" charset="0"/>
                </a:rPr>
                <a:t>)</a:t>
              </a:r>
              <a:endParaRPr lang="en-US" altLang="ru-RU" sz="800" dirty="0">
                <a:solidFill>
                  <a:srgbClr val="002060"/>
                </a:solidFill>
                <a:cs typeface="Arial" pitchFamily="34" charset="0"/>
              </a:endParaRPr>
            </a:p>
          </p:txBody>
        </p:sp>
        <p:sp>
          <p:nvSpPr>
            <p:cNvPr id="24" name="AutoShape 4"/>
            <p:cNvSpPr>
              <a:spLocks noChangeShapeType="1"/>
            </p:cNvSpPr>
            <p:nvPr/>
          </p:nvSpPr>
          <p:spPr bwMode="auto">
            <a:xfrm flipH="1">
              <a:off x="3147" y="7750"/>
              <a:ext cx="4322" cy="9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800">
                <a:solidFill>
                  <a:srgbClr val="00206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" name="Rectangle 3"/>
            <p:cNvSpPr>
              <a:spLocks noChangeArrowheads="1"/>
            </p:cNvSpPr>
            <p:nvPr/>
          </p:nvSpPr>
          <p:spPr bwMode="auto">
            <a:xfrm>
              <a:off x="10887" y="8650"/>
              <a:ext cx="1801" cy="12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sz="800" b="1" dirty="0">
                  <a:solidFill>
                    <a:srgbClr val="002060"/>
                  </a:solidFill>
                  <a:cs typeface="Arial" pitchFamily="34" charset="0"/>
                </a:rPr>
                <a:t>Инвестиция «зеленого поля»</a:t>
              </a:r>
              <a:endParaRPr lang="en-US" altLang="ru-RU" sz="800" b="1" dirty="0">
                <a:solidFill>
                  <a:srgbClr val="002060"/>
                </a:solidFill>
                <a:cs typeface="Arial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ru-RU" sz="800" dirty="0">
                <a:solidFill>
                  <a:srgbClr val="002060"/>
                </a:solidFill>
                <a:cs typeface="Arial" pitchFamily="34" charset="0"/>
              </a:endParaRPr>
            </a:p>
          </p:txBody>
        </p:sp>
        <p:sp>
          <p:nvSpPr>
            <p:cNvPr id="26" name="AutoShape 2"/>
            <p:cNvSpPr>
              <a:spLocks noChangeShapeType="1"/>
            </p:cNvSpPr>
            <p:nvPr/>
          </p:nvSpPr>
          <p:spPr bwMode="auto">
            <a:xfrm>
              <a:off x="7469" y="7750"/>
              <a:ext cx="4318" cy="9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800">
                <a:solidFill>
                  <a:srgbClr val="002060"/>
                </a:solidFill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892288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25528" y="1183370"/>
            <a:ext cx="3447136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>
                <a:cs typeface="Arial" pitchFamily="34" charset="0"/>
              </a:rPr>
              <a:t>М</a:t>
            </a:r>
            <a:r>
              <a:rPr lang="ru-RU" sz="1800" b="1" dirty="0" smtClean="0">
                <a:cs typeface="Arial" pitchFamily="34" charset="0"/>
              </a:rPr>
              <a:t>отивы инвестиций в новые территории</a:t>
            </a:r>
            <a:endParaRPr lang="ru-RU" sz="1800" b="1" dirty="0"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7768" y="1968308"/>
            <a:ext cx="4039307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000" b="1" dirty="0">
                <a:cs typeface="Arial" pitchFamily="34" charset="0"/>
              </a:rPr>
              <a:t>Поиск ресурсов </a:t>
            </a:r>
            <a:r>
              <a:rPr lang="ru-RU" sz="1000" dirty="0">
                <a:cs typeface="Arial" pitchFamily="34" charset="0"/>
              </a:rPr>
              <a:t>– поиск возможностей по снижению затрат и доступа к сырью на другой территории, такие инвестиции называют </a:t>
            </a:r>
            <a:r>
              <a:rPr lang="ru-RU" sz="1000" dirty="0" smtClean="0">
                <a:cs typeface="Arial" pitchFamily="34" charset="0"/>
              </a:rPr>
              <a:t>вертикальными.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000" b="1" dirty="0">
                <a:cs typeface="Arial" pitchFamily="34" charset="0"/>
              </a:rPr>
              <a:t>Поиск рынков </a:t>
            </a:r>
            <a:r>
              <a:rPr lang="ru-RU" sz="1000" dirty="0">
                <a:cs typeface="Arial" pitchFamily="34" charset="0"/>
              </a:rPr>
              <a:t>– инвестиции с целью повышения продаж на другой территории. Этот тип инвестиций называют «горизонтальными», поскольку они включают в себя копирование производственных мощностей на территории-реципиенте инвестиций</a:t>
            </a:r>
            <a:r>
              <a:rPr lang="ru-RU" sz="1000" dirty="0" smtClean="0">
                <a:cs typeface="Arial" pitchFamily="34" charset="0"/>
              </a:rPr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000" b="1" dirty="0">
                <a:cs typeface="Arial" pitchFamily="34" charset="0"/>
              </a:rPr>
              <a:t>Поиск рентабельности </a:t>
            </a:r>
            <a:r>
              <a:rPr lang="ru-RU" sz="1000" dirty="0">
                <a:cs typeface="Arial" pitchFamily="34" charset="0"/>
              </a:rPr>
              <a:t>–</a:t>
            </a:r>
            <a:r>
              <a:rPr lang="ru-RU" sz="1000" b="1" dirty="0" smtClean="0">
                <a:cs typeface="Arial" pitchFamily="34" charset="0"/>
              </a:rPr>
              <a:t> </a:t>
            </a:r>
            <a:r>
              <a:rPr lang="ru-RU" sz="1000" dirty="0">
                <a:cs typeface="Arial" pitchFamily="34" charset="0"/>
              </a:rPr>
              <a:t>использование конкурентных преимуществ принимающей территории, в которой дешевле производить продукцию, для дальнейшего вывоза на другие территории, которые являются </a:t>
            </a:r>
            <a:r>
              <a:rPr lang="ru-RU" sz="1000" dirty="0" smtClean="0">
                <a:cs typeface="Arial" pitchFamily="34" charset="0"/>
              </a:rPr>
              <a:t>целевыми.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000" b="1" dirty="0">
                <a:cs typeface="Arial" pitchFamily="34" charset="0"/>
              </a:rPr>
              <a:t>Поисках стратегических активов / </a:t>
            </a:r>
            <a:r>
              <a:rPr lang="ru-RU" sz="1000" b="1" dirty="0" smtClean="0">
                <a:cs typeface="Arial" pitchFamily="34" charset="0"/>
              </a:rPr>
              <a:t>возможностей </a:t>
            </a:r>
            <a:r>
              <a:rPr lang="ru-RU" sz="1000" dirty="0" smtClean="0">
                <a:cs typeface="Arial" pitchFamily="34" charset="0"/>
              </a:rPr>
              <a:t>– к таким </a:t>
            </a:r>
            <a:r>
              <a:rPr lang="ru-RU" sz="1000" dirty="0">
                <a:cs typeface="Arial" pitchFamily="34" charset="0"/>
              </a:rPr>
              <a:t>стратегических целям относятся приобретение ключевых местных компаний, приобретение местных возможностей, приобретение ноу-хау, вхождение на рынок раньше конкурентов и другие</a:t>
            </a:r>
            <a:r>
              <a:rPr lang="ru-RU" sz="1000" dirty="0" smtClean="0">
                <a:cs typeface="Arial" pitchFamily="34" charset="0"/>
              </a:rPr>
              <a:t>.</a:t>
            </a:r>
            <a:endParaRPr lang="ru-RU" sz="10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34800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77512" y="2200802"/>
            <a:ext cx="7878915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4000" b="1" dirty="0" smtClean="0">
                <a:cs typeface="Arial" pitchFamily="34" charset="0"/>
              </a:rPr>
              <a:t>Стратегические цели</a:t>
            </a:r>
            <a:endParaRPr lang="ru-RU" sz="4000" b="1" dirty="0">
              <a:cs typeface="Arial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Методы разработки и оцифровки стратегии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23293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Методы разработки и оцифровки стратегии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27948" y="3584669"/>
            <a:ext cx="906302" cy="1374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Точка приложения сил</a:t>
            </a:r>
          </a:p>
        </p:txBody>
      </p:sp>
      <p:sp>
        <p:nvSpPr>
          <p:cNvPr id="8" name="Кольцо 7"/>
          <p:cNvSpPr/>
          <p:nvPr/>
        </p:nvSpPr>
        <p:spPr>
          <a:xfrm>
            <a:off x="515155" y="1133341"/>
            <a:ext cx="2462474" cy="2395470"/>
          </a:xfrm>
          <a:prstGeom prst="donut">
            <a:avLst>
              <a:gd name="adj" fmla="val 564"/>
            </a:avLst>
          </a:prstGeom>
          <a:ln>
            <a:solidFill>
              <a:srgbClr val="47E5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Кольцо 8"/>
          <p:cNvSpPr/>
          <p:nvPr/>
        </p:nvSpPr>
        <p:spPr>
          <a:xfrm>
            <a:off x="1828800" y="1152660"/>
            <a:ext cx="2491751" cy="2376151"/>
          </a:xfrm>
          <a:prstGeom prst="donut">
            <a:avLst>
              <a:gd name="adj" fmla="val 564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Кольцо 9"/>
          <p:cNvSpPr/>
          <p:nvPr/>
        </p:nvSpPr>
        <p:spPr>
          <a:xfrm>
            <a:off x="1171977" y="1957590"/>
            <a:ext cx="2466305" cy="2390932"/>
          </a:xfrm>
          <a:prstGeom prst="donut">
            <a:avLst>
              <a:gd name="adj" fmla="val 5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651537" y="1544931"/>
            <a:ext cx="13962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dirty="0">
                <a:cs typeface="Arial" panose="020B0604020202020204" pitchFamily="34" charset="0"/>
              </a:rPr>
              <a:t>КОМПЕТЕНЦИИ </a:t>
            </a:r>
            <a:r>
              <a:rPr lang="ru-RU" sz="800" dirty="0" smtClean="0">
                <a:cs typeface="Arial" panose="020B0604020202020204" pitchFamily="34" charset="0"/>
              </a:rPr>
              <a:t>И </a:t>
            </a:r>
            <a:r>
              <a:rPr lang="ru-RU" sz="800" dirty="0">
                <a:cs typeface="Arial" panose="020B0604020202020204" pitchFamily="34" charset="0"/>
              </a:rPr>
              <a:t>РЕСУРСЫ: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ru-RU" sz="800" dirty="0">
                <a:cs typeface="Arial" panose="020B0604020202020204" pitchFamily="34" charset="0"/>
              </a:rPr>
              <a:t>Управление мощностью и </a:t>
            </a:r>
            <a:r>
              <a:rPr lang="ru-RU" sz="800" dirty="0" smtClean="0">
                <a:cs typeface="Arial" panose="020B0604020202020204" pitchFamily="34" charset="0"/>
              </a:rPr>
              <a:t>загрузкой.</a:t>
            </a:r>
            <a:endParaRPr lang="ru-RU" sz="800" dirty="0">
              <a:cs typeface="Arial" panose="020B0604020202020204" pitchFamily="34" charset="0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ru-RU" sz="800" dirty="0">
                <a:cs typeface="Arial" panose="020B0604020202020204" pitchFamily="34" charset="0"/>
              </a:rPr>
              <a:t>Запуск </a:t>
            </a:r>
            <a:r>
              <a:rPr lang="ru-RU" sz="800" dirty="0" smtClean="0">
                <a:cs typeface="Arial" panose="020B0604020202020204" pitchFamily="34" charset="0"/>
              </a:rPr>
              <a:t>продуктов.</a:t>
            </a:r>
            <a:endParaRPr lang="ru-RU" sz="800" dirty="0">
              <a:cs typeface="Arial" panose="020B0604020202020204" pitchFamily="34" charset="0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ru-RU" sz="800" dirty="0" smtClean="0">
                <a:cs typeface="Arial" panose="020B0604020202020204" pitchFamily="34" charset="0"/>
              </a:rPr>
              <a:t>Эффективность.</a:t>
            </a:r>
            <a:endParaRPr lang="ru-RU" sz="800" dirty="0"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99278" y="1539353"/>
            <a:ext cx="1478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dirty="0">
                <a:cs typeface="Arial" panose="020B0604020202020204" pitchFamily="34" charset="0"/>
              </a:rPr>
              <a:t>ЖЕЛАНИЯ И </a:t>
            </a:r>
            <a:r>
              <a:rPr lang="ru-RU" sz="800" dirty="0" smtClean="0">
                <a:cs typeface="Arial" panose="020B0604020202020204" pitchFamily="34" charset="0"/>
              </a:rPr>
              <a:t>АМБИЦИИ</a:t>
            </a:r>
            <a:r>
              <a:rPr lang="ru-RU" sz="800" dirty="0">
                <a:cs typeface="Arial" panose="020B0604020202020204" pitchFamily="34" charset="0"/>
              </a:rPr>
              <a:t>:</a:t>
            </a:r>
          </a:p>
          <a:p>
            <a:r>
              <a:rPr lang="ru-RU" sz="800" dirty="0">
                <a:cs typeface="Arial" panose="020B0604020202020204" pitchFamily="34" charset="0"/>
              </a:rPr>
              <a:t>Постановка </a:t>
            </a:r>
            <a:r>
              <a:rPr lang="en-US" sz="800" dirty="0">
                <a:cs typeface="Arial" panose="020B0604020202020204" pitchFamily="34" charset="0"/>
              </a:rPr>
              <a:t>SMART </a:t>
            </a:r>
            <a:endParaRPr lang="ru-RU" sz="800" dirty="0">
              <a:cs typeface="Arial" panose="020B0604020202020204" pitchFamily="34" charset="0"/>
            </a:endParaRPr>
          </a:p>
          <a:p>
            <a:r>
              <a:rPr lang="ru-RU" sz="800" dirty="0">
                <a:cs typeface="Arial" panose="020B0604020202020204" pitchFamily="34" charset="0"/>
              </a:rPr>
              <a:t>цели по объему и</a:t>
            </a:r>
          </a:p>
          <a:p>
            <a:r>
              <a:rPr lang="ru-RU" sz="800" dirty="0">
                <a:cs typeface="Arial" panose="020B0604020202020204" pitchFamily="34" charset="0"/>
              </a:rPr>
              <a:t>прибыли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46392" y="3537939"/>
            <a:ext cx="13163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>
                <a:cs typeface="Arial" panose="020B0604020202020204" pitchFamily="34" charset="0"/>
              </a:rPr>
              <a:t>ПОТРЕБНОСТИ РЫНКА: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ru-RU" sz="800" dirty="0">
                <a:cs typeface="Arial" panose="020B0604020202020204" pitchFamily="34" charset="0"/>
              </a:rPr>
              <a:t>Объем </a:t>
            </a:r>
            <a:r>
              <a:rPr lang="ru-RU" sz="800" dirty="0" smtClean="0">
                <a:cs typeface="Arial" panose="020B0604020202020204" pitchFamily="34" charset="0"/>
              </a:rPr>
              <a:t>рынка.</a:t>
            </a:r>
            <a:endParaRPr lang="ru-RU" sz="800" dirty="0">
              <a:cs typeface="Arial" panose="020B0604020202020204" pitchFamily="34" charset="0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ru-RU" sz="800" dirty="0">
                <a:cs typeface="Arial" panose="020B0604020202020204" pitchFamily="34" charset="0"/>
              </a:rPr>
              <a:t>Темп роста </a:t>
            </a:r>
            <a:r>
              <a:rPr lang="ru-RU" sz="800" dirty="0" smtClean="0">
                <a:cs typeface="Arial" panose="020B0604020202020204" pitchFamily="34" charset="0"/>
              </a:rPr>
              <a:t>рынка.</a:t>
            </a:r>
            <a:endParaRPr lang="ru-RU" sz="800" dirty="0">
              <a:cs typeface="Arial" panose="020B0604020202020204" pitchFamily="34" charset="0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ru-RU" sz="800" dirty="0">
                <a:cs typeface="Arial" panose="020B0604020202020204" pitchFamily="34" charset="0"/>
              </a:rPr>
              <a:t>Распределение </a:t>
            </a:r>
            <a:r>
              <a:rPr lang="ru-RU" sz="800" dirty="0" smtClean="0">
                <a:cs typeface="Arial" panose="020B0604020202020204" pitchFamily="34" charset="0"/>
              </a:rPr>
              <a:t>долей.</a:t>
            </a:r>
            <a:endParaRPr lang="ru-RU" sz="8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62288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25527" y="1183370"/>
            <a:ext cx="3994957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 smtClean="0">
                <a:cs typeface="Arial" pitchFamily="34" charset="0"/>
              </a:rPr>
              <a:t>Постановка целей. </a:t>
            </a:r>
            <a:r>
              <a:rPr lang="en-US" sz="1800" b="1" dirty="0" smtClean="0">
                <a:cs typeface="Arial" pitchFamily="34" charset="0"/>
              </a:rPr>
              <a:t>SMART </a:t>
            </a:r>
            <a:r>
              <a:rPr lang="ru-RU" sz="1800" b="1" dirty="0" smtClean="0">
                <a:cs typeface="Arial" pitchFamily="34" charset="0"/>
              </a:rPr>
              <a:t>МОДЕЛЬ</a:t>
            </a:r>
            <a:endParaRPr lang="ru-RU" sz="1800" b="1" dirty="0"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7768" y="1968308"/>
            <a:ext cx="4039307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chemeClr val="hlink"/>
              </a:buClr>
              <a:buSzPct val="120000"/>
            </a:pPr>
            <a:r>
              <a:rPr lang="ru-RU" sz="1200" dirty="0">
                <a:cs typeface="Arial" panose="020B0604020202020204" pitchFamily="34" charset="0"/>
              </a:rPr>
              <a:t>Цель должна быть: </a:t>
            </a:r>
          </a:p>
          <a:p>
            <a:pPr marL="171450" indent="-171450">
              <a:spcAft>
                <a:spcPts val="600"/>
              </a:spcAft>
              <a:buSzPct val="102000"/>
              <a:buFont typeface="Arial" panose="020B0604020202020204" pitchFamily="34" charset="0"/>
              <a:buChar char="•"/>
            </a:pPr>
            <a:r>
              <a:rPr lang="en-US" sz="1200" b="1" dirty="0">
                <a:cs typeface="Arial" panose="020B0604020202020204" pitchFamily="34" charset="0"/>
              </a:rPr>
              <a:t>S </a:t>
            </a:r>
            <a:r>
              <a:rPr lang="ru-RU" sz="1200" dirty="0">
                <a:cs typeface="Arial" panose="020B0604020202020204" pitchFamily="34" charset="0"/>
              </a:rPr>
              <a:t>–</a:t>
            </a:r>
            <a:r>
              <a:rPr lang="en-US" sz="1200" dirty="0" smtClean="0">
                <a:cs typeface="Arial" panose="020B0604020202020204" pitchFamily="34" charset="0"/>
              </a:rPr>
              <a:t> </a:t>
            </a:r>
            <a:r>
              <a:rPr lang="ru-RU" sz="1200" dirty="0" err="1">
                <a:cs typeface="Arial" panose="020B0604020202020204" pitchFamily="34" charset="0"/>
              </a:rPr>
              <a:t>Specific</a:t>
            </a:r>
            <a:r>
              <a:rPr lang="ru-RU" sz="1200" dirty="0">
                <a:cs typeface="Arial" panose="020B0604020202020204" pitchFamily="34" charset="0"/>
              </a:rPr>
              <a:t> – </a:t>
            </a:r>
            <a:r>
              <a:rPr lang="ru-RU" sz="1200" dirty="0" smtClean="0">
                <a:cs typeface="Arial" panose="020B0604020202020204" pitchFamily="34" charset="0"/>
              </a:rPr>
              <a:t>конкретная</a:t>
            </a:r>
            <a:r>
              <a:rPr lang="ru-RU" sz="1200" dirty="0">
                <a:cs typeface="Arial" panose="020B0604020202020204" pitchFamily="34" charset="0"/>
              </a:rPr>
              <a:t>;</a:t>
            </a:r>
          </a:p>
          <a:p>
            <a:pPr marL="171450" indent="-171450">
              <a:spcAft>
                <a:spcPts val="600"/>
              </a:spcAft>
              <a:buSzPct val="102000"/>
              <a:buFont typeface="Arial" panose="020B0604020202020204" pitchFamily="34" charset="0"/>
              <a:buChar char="•"/>
            </a:pPr>
            <a:r>
              <a:rPr lang="en-US" sz="1200" b="1" dirty="0">
                <a:cs typeface="Arial" panose="020B0604020202020204" pitchFamily="34" charset="0"/>
              </a:rPr>
              <a:t>M</a:t>
            </a:r>
            <a:r>
              <a:rPr lang="en-US" sz="1200" dirty="0">
                <a:cs typeface="Arial" panose="020B0604020202020204" pitchFamily="34" charset="0"/>
              </a:rPr>
              <a:t> </a:t>
            </a:r>
            <a:r>
              <a:rPr lang="ru-RU" sz="1200" dirty="0">
                <a:cs typeface="Arial" panose="020B0604020202020204" pitchFamily="34" charset="0"/>
              </a:rPr>
              <a:t>– </a:t>
            </a:r>
            <a:r>
              <a:rPr lang="ru-RU" sz="1200" dirty="0" err="1" smtClean="0">
                <a:cs typeface="Arial" panose="020B0604020202020204" pitchFamily="34" charset="0"/>
              </a:rPr>
              <a:t>Measurable</a:t>
            </a:r>
            <a:r>
              <a:rPr lang="ru-RU" sz="1200" dirty="0" smtClean="0">
                <a:cs typeface="Arial" panose="020B0604020202020204" pitchFamily="34" charset="0"/>
              </a:rPr>
              <a:t> </a:t>
            </a:r>
            <a:r>
              <a:rPr lang="ru-RU" sz="1200" dirty="0">
                <a:cs typeface="Arial" panose="020B0604020202020204" pitchFamily="34" charset="0"/>
              </a:rPr>
              <a:t>–</a:t>
            </a:r>
            <a:r>
              <a:rPr lang="ru-RU" sz="1200" dirty="0" smtClean="0">
                <a:cs typeface="Arial" panose="020B0604020202020204" pitchFamily="34" charset="0"/>
              </a:rPr>
              <a:t> </a:t>
            </a:r>
            <a:r>
              <a:rPr lang="ru-RU" sz="1200" dirty="0">
                <a:cs typeface="Arial" panose="020B0604020202020204" pitchFamily="34" charset="0"/>
              </a:rPr>
              <a:t>измеримая;</a:t>
            </a:r>
          </a:p>
          <a:p>
            <a:pPr marL="171450" indent="-171450">
              <a:spcAft>
                <a:spcPts val="600"/>
              </a:spcAft>
              <a:buSzPct val="102000"/>
              <a:buFont typeface="Arial" panose="020B0604020202020204" pitchFamily="34" charset="0"/>
              <a:buChar char="•"/>
            </a:pPr>
            <a:r>
              <a:rPr lang="en-US" sz="1200" b="1" dirty="0">
                <a:cs typeface="Arial" panose="020B0604020202020204" pitchFamily="34" charset="0"/>
              </a:rPr>
              <a:t>A </a:t>
            </a:r>
            <a:r>
              <a:rPr lang="ru-RU" sz="1200" dirty="0">
                <a:cs typeface="Arial" panose="020B0604020202020204" pitchFamily="34" charset="0"/>
              </a:rPr>
              <a:t>–</a:t>
            </a:r>
            <a:r>
              <a:rPr lang="en-US" sz="1200" dirty="0" smtClean="0">
                <a:cs typeface="Arial" panose="020B0604020202020204" pitchFamily="34" charset="0"/>
              </a:rPr>
              <a:t> </a:t>
            </a:r>
            <a:r>
              <a:rPr lang="ru-RU" sz="1200" dirty="0" err="1">
                <a:cs typeface="Arial" panose="020B0604020202020204" pitchFamily="34" charset="0"/>
              </a:rPr>
              <a:t>Achievable</a:t>
            </a:r>
            <a:r>
              <a:rPr lang="ru-RU" sz="1200" dirty="0">
                <a:cs typeface="Arial" panose="020B0604020202020204" pitchFamily="34" charset="0"/>
              </a:rPr>
              <a:t> </a:t>
            </a:r>
            <a:r>
              <a:rPr lang="ru-RU" sz="1200" dirty="0" smtClean="0">
                <a:cs typeface="Arial" panose="020B0604020202020204" pitchFamily="34" charset="0"/>
              </a:rPr>
              <a:t> – </a:t>
            </a:r>
            <a:r>
              <a:rPr lang="ru-RU" sz="1200" dirty="0">
                <a:cs typeface="Arial" panose="020B0604020202020204" pitchFamily="34" charset="0"/>
              </a:rPr>
              <a:t>достижимая</a:t>
            </a:r>
            <a:r>
              <a:rPr lang="en-US" sz="1200" dirty="0">
                <a:cs typeface="Arial" panose="020B0604020202020204" pitchFamily="34" charset="0"/>
              </a:rPr>
              <a:t> </a:t>
            </a:r>
            <a:r>
              <a:rPr lang="ru-RU" sz="1200" dirty="0">
                <a:cs typeface="Arial" panose="020B0604020202020204" pitchFamily="34" charset="0"/>
              </a:rPr>
              <a:t>или</a:t>
            </a:r>
            <a:r>
              <a:rPr lang="en-US" sz="1200" dirty="0">
                <a:cs typeface="Arial" panose="020B0604020202020204" pitchFamily="34" charset="0"/>
              </a:rPr>
              <a:t> Agreed</a:t>
            </a:r>
            <a:r>
              <a:rPr lang="ru-RU" sz="1200" dirty="0">
                <a:cs typeface="Arial" panose="020B0604020202020204" pitchFamily="34" charset="0"/>
              </a:rPr>
              <a:t> – согласованная со всеми участвующими сторонами или </a:t>
            </a:r>
            <a:r>
              <a:rPr lang="en-US" sz="1200" dirty="0">
                <a:cs typeface="Arial" panose="020B0604020202020204" pitchFamily="34" charset="0"/>
              </a:rPr>
              <a:t>Attractive </a:t>
            </a:r>
            <a:r>
              <a:rPr lang="ru-RU" sz="1200" dirty="0">
                <a:cs typeface="Arial" panose="020B0604020202020204" pitchFamily="34" charset="0"/>
              </a:rPr>
              <a:t>– привлекательная;</a:t>
            </a:r>
          </a:p>
          <a:p>
            <a:pPr marL="171450" indent="-171450">
              <a:spcAft>
                <a:spcPts val="600"/>
              </a:spcAft>
              <a:buSzPct val="102000"/>
              <a:buFont typeface="Arial" panose="020B0604020202020204" pitchFamily="34" charset="0"/>
              <a:buChar char="•"/>
            </a:pPr>
            <a:r>
              <a:rPr lang="en-US" sz="1200" b="1" dirty="0">
                <a:cs typeface="Arial" panose="020B0604020202020204" pitchFamily="34" charset="0"/>
              </a:rPr>
              <a:t>R</a:t>
            </a:r>
            <a:r>
              <a:rPr lang="en-US" sz="1200" dirty="0">
                <a:cs typeface="Arial" panose="020B0604020202020204" pitchFamily="34" charset="0"/>
              </a:rPr>
              <a:t> </a:t>
            </a:r>
            <a:r>
              <a:rPr lang="ru-RU" sz="1200" dirty="0">
                <a:cs typeface="Arial" panose="020B0604020202020204" pitchFamily="34" charset="0"/>
              </a:rPr>
              <a:t>–</a:t>
            </a:r>
            <a:r>
              <a:rPr lang="en-US" sz="1200" dirty="0" smtClean="0">
                <a:cs typeface="Arial" panose="020B0604020202020204" pitchFamily="34" charset="0"/>
              </a:rPr>
              <a:t> </a:t>
            </a:r>
            <a:r>
              <a:rPr lang="ru-RU" sz="1200" dirty="0" err="1">
                <a:cs typeface="Arial" panose="020B0604020202020204" pitchFamily="34" charset="0"/>
              </a:rPr>
              <a:t>Realistiс</a:t>
            </a:r>
            <a:r>
              <a:rPr lang="ru-RU" sz="1200" dirty="0">
                <a:cs typeface="Arial" panose="020B0604020202020204" pitchFamily="34" charset="0"/>
              </a:rPr>
              <a:t> –</a:t>
            </a:r>
            <a:r>
              <a:rPr lang="ru-RU" sz="1200" dirty="0" smtClean="0">
                <a:cs typeface="Arial" panose="020B0604020202020204" pitchFamily="34" charset="0"/>
              </a:rPr>
              <a:t> </a:t>
            </a:r>
            <a:r>
              <a:rPr lang="ru-RU" sz="1200" dirty="0">
                <a:cs typeface="Arial" panose="020B0604020202020204" pitchFamily="34" charset="0"/>
              </a:rPr>
              <a:t>реалистичная;</a:t>
            </a:r>
          </a:p>
          <a:p>
            <a:pPr marL="171450" indent="-171450">
              <a:spcAft>
                <a:spcPts val="600"/>
              </a:spcAft>
              <a:buSzPct val="102000"/>
              <a:buFont typeface="Arial" panose="020B0604020202020204" pitchFamily="34" charset="0"/>
              <a:buChar char="•"/>
            </a:pPr>
            <a:r>
              <a:rPr lang="en-US" sz="1200" b="1" dirty="0">
                <a:cs typeface="Arial" panose="020B0604020202020204" pitchFamily="34" charset="0"/>
              </a:rPr>
              <a:t>T</a:t>
            </a:r>
            <a:r>
              <a:rPr lang="en-US" sz="1200" dirty="0">
                <a:cs typeface="Arial" panose="020B0604020202020204" pitchFamily="34" charset="0"/>
              </a:rPr>
              <a:t> </a:t>
            </a:r>
            <a:r>
              <a:rPr lang="ru-RU" sz="1200" dirty="0">
                <a:cs typeface="Arial" panose="020B0604020202020204" pitchFamily="34" charset="0"/>
              </a:rPr>
              <a:t>–</a:t>
            </a:r>
            <a:r>
              <a:rPr lang="en-US" sz="1200" dirty="0" smtClean="0">
                <a:cs typeface="Arial" panose="020B0604020202020204" pitchFamily="34" charset="0"/>
              </a:rPr>
              <a:t> </a:t>
            </a:r>
            <a:r>
              <a:rPr lang="ru-RU" sz="1200" dirty="0" err="1">
                <a:cs typeface="Arial" panose="020B0604020202020204" pitchFamily="34" charset="0"/>
              </a:rPr>
              <a:t>Timed</a:t>
            </a:r>
            <a:r>
              <a:rPr lang="ru-RU" sz="1200" dirty="0">
                <a:cs typeface="Arial" panose="020B0604020202020204" pitchFamily="34" charset="0"/>
              </a:rPr>
              <a:t> (</a:t>
            </a:r>
            <a:r>
              <a:rPr lang="en-US" sz="1200" dirty="0">
                <a:cs typeface="Arial" panose="020B0604020202020204" pitchFamily="34" charset="0"/>
              </a:rPr>
              <a:t>time</a:t>
            </a:r>
            <a:r>
              <a:rPr lang="ru-RU" sz="1200" dirty="0">
                <a:cs typeface="Arial" panose="020B0604020202020204" pitchFamily="34" charset="0"/>
              </a:rPr>
              <a:t> </a:t>
            </a:r>
            <a:r>
              <a:rPr lang="en-US" sz="1200" dirty="0">
                <a:cs typeface="Arial" panose="020B0604020202020204" pitchFamily="34" charset="0"/>
              </a:rPr>
              <a:t>framed</a:t>
            </a:r>
            <a:r>
              <a:rPr lang="ru-RU" sz="1200" dirty="0">
                <a:cs typeface="Arial" panose="020B0604020202020204" pitchFamily="34" charset="0"/>
              </a:rPr>
              <a:t>) –</a:t>
            </a:r>
            <a:r>
              <a:rPr lang="ru-RU" sz="1200" dirty="0" smtClean="0">
                <a:cs typeface="Arial" panose="020B0604020202020204" pitchFamily="34" charset="0"/>
              </a:rPr>
              <a:t> </a:t>
            </a:r>
            <a:r>
              <a:rPr lang="ru-RU" sz="1200" dirty="0">
                <a:cs typeface="Arial" panose="020B0604020202020204" pitchFamily="34" charset="0"/>
              </a:rPr>
              <a:t>определенная по времени,  </a:t>
            </a:r>
            <a:r>
              <a:rPr lang="ru-RU" sz="1200" dirty="0" smtClean="0">
                <a:cs typeface="Arial" panose="020B0604020202020204" pitchFamily="34" charset="0"/>
              </a:rPr>
              <a:t>соотнесенном с </a:t>
            </a:r>
            <a:r>
              <a:rPr lang="ru-RU" sz="1200" dirty="0">
                <a:cs typeface="Arial" panose="020B0604020202020204" pitchFamily="34" charset="0"/>
              </a:rPr>
              <a:t>определенными сроками.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Методы разработки и оцифровки стратегии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32875619"/>
      </p:ext>
    </p:extLst>
  </p:cSld>
  <p:clrMapOvr>
    <a:masterClrMapping/>
  </p:clrMapOvr>
</p:sld>
</file>

<file path=ppt/theme/theme1.xml><?xml version="1.0" encoding="utf-8"?>
<a:theme xmlns:a="http://schemas.openxmlformats.org/drawingml/2006/main" name="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shfd_videolessons_23 01 18.thmx</Template>
  <TotalTime>1210</TotalTime>
  <Words>639</Words>
  <Application>Microsoft Office PowerPoint</Application>
  <PresentationFormat>Экран (16:9)</PresentationFormat>
  <Paragraphs>185</Paragraphs>
  <Slides>20</Slides>
  <Notes>3</Notes>
  <HiddenSlides>0</HiddenSlides>
  <MMClips>0</MMClips>
  <ScaleCrop>false</ScaleCrop>
  <HeadingPairs>
    <vt:vector size="4" baseType="variant">
      <vt:variant>
        <vt:lpstr>Тема</vt:lpstr>
      </vt:variant>
      <vt:variant>
        <vt:i4>4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shfd_videolessons_23 01 18</vt:lpstr>
      <vt:lpstr>Специальное оформление</vt:lpstr>
      <vt:lpstr>1_shfd_videolessons_23 01 18</vt:lpstr>
      <vt:lpstr>1_Специальное оформление</vt:lpstr>
      <vt:lpstr>Слайд 1</vt:lpstr>
      <vt:lpstr>Стратегическое планирование</vt:lpstr>
      <vt:lpstr>Слайд 3</vt:lpstr>
      <vt:lpstr>Слайд 4</vt:lpstr>
      <vt:lpstr>Стратегическая триада</vt:lpstr>
      <vt:lpstr>Постановка стратегической цели</vt:lpstr>
      <vt:lpstr>Слайд 7</vt:lpstr>
      <vt:lpstr>Стратегический контекст</vt:lpstr>
      <vt:lpstr>Ключевые показатели рынка</vt:lpstr>
      <vt:lpstr>Виды конкурентных сил</vt:lpstr>
      <vt:lpstr>Конкурентные модели портера</vt:lpstr>
      <vt:lpstr>Многообразие моделей</vt:lpstr>
      <vt:lpstr>U - ДИАГРАММА</vt:lpstr>
      <vt:lpstr>Варианты стратегического развития</vt:lpstr>
      <vt:lpstr>Матрица бостонской консалтинговой группы</vt:lpstr>
      <vt:lpstr>Стратегия развития бизнеса на новой территории</vt:lpstr>
      <vt:lpstr>Мотивы инвестиций в новые территории</vt:lpstr>
      <vt:lpstr>Стратегические цели</vt:lpstr>
      <vt:lpstr>Слайд 19</vt:lpstr>
      <vt:lpstr>Постановка целей. SMART МОДЕЛЬ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Эксклюзив от ФНС:  как заполнять счета-фактуры  и регистры учета после 1 октября</dc:title>
  <dc:creator>User</dc:creator>
  <cp:lastModifiedBy>Натали</cp:lastModifiedBy>
  <cp:revision>66</cp:revision>
  <dcterms:created xsi:type="dcterms:W3CDTF">2018-01-12T10:39:47Z</dcterms:created>
  <dcterms:modified xsi:type="dcterms:W3CDTF">2018-12-19T07:44:10Z</dcterms:modified>
</cp:coreProperties>
</file>