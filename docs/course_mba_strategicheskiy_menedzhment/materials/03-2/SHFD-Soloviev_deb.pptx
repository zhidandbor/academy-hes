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29.xml" ContentType="application/vnd.openxmlformats-officedocument.presentationml.slide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diagrams/layout3.xml" ContentType="application/vnd.openxmlformats-officedocument.drawingml.diagram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changesInfos/changesInfo1.xml" ContentType="application/vnd.ms-powerpoint.changesinfo+xml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diagrams/quickStyle3.xml" ContentType="application/vnd.openxmlformats-officedocument.drawingml.diagramStyle+xml"/>
  <Override PartName="/ppt/diagrams/drawing1.xml" ContentType="application/vnd.ms-office.drawingml.diagramDrawing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data3.xml" ContentType="application/vnd.openxmlformats-officedocument.drawingml.diagramData+xml"/>
  <Override PartName="/ppt/slides/slide8.xml" ContentType="application/vnd.openxmlformats-officedocument.presentationml.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  <p:sldMasterId id="2147483684" r:id="rId2"/>
    <p:sldMasterId id="2147483696" r:id="rId3"/>
    <p:sldMasterId id="2147483708" r:id="rId4"/>
  </p:sldMasterIdLst>
  <p:notesMasterIdLst>
    <p:notesMasterId r:id="rId46"/>
  </p:notesMasterIdLst>
  <p:sldIdLst>
    <p:sldId id="339" r:id="rId5"/>
    <p:sldId id="340" r:id="rId6"/>
    <p:sldId id="344" r:id="rId7"/>
    <p:sldId id="345" r:id="rId8"/>
    <p:sldId id="346" r:id="rId9"/>
    <p:sldId id="347" r:id="rId10"/>
    <p:sldId id="348" r:id="rId11"/>
    <p:sldId id="349" r:id="rId12"/>
    <p:sldId id="350" r:id="rId13"/>
    <p:sldId id="341" r:id="rId14"/>
    <p:sldId id="352" r:id="rId15"/>
    <p:sldId id="353" r:id="rId16"/>
    <p:sldId id="355" r:id="rId17"/>
    <p:sldId id="356" r:id="rId18"/>
    <p:sldId id="358" r:id="rId19"/>
    <p:sldId id="363" r:id="rId20"/>
    <p:sldId id="364" r:id="rId21"/>
    <p:sldId id="365" r:id="rId22"/>
    <p:sldId id="342" r:id="rId23"/>
    <p:sldId id="366" r:id="rId24"/>
    <p:sldId id="367" r:id="rId25"/>
    <p:sldId id="369" r:id="rId26"/>
    <p:sldId id="370" r:id="rId27"/>
    <p:sldId id="371" r:id="rId28"/>
    <p:sldId id="372" r:id="rId29"/>
    <p:sldId id="373" r:id="rId30"/>
    <p:sldId id="374" r:id="rId31"/>
    <p:sldId id="375" r:id="rId32"/>
    <p:sldId id="377" r:id="rId33"/>
    <p:sldId id="390" r:id="rId34"/>
    <p:sldId id="378" r:id="rId35"/>
    <p:sldId id="379" r:id="rId36"/>
    <p:sldId id="380" r:id="rId37"/>
    <p:sldId id="381" r:id="rId38"/>
    <p:sldId id="382" r:id="rId39"/>
    <p:sldId id="383" r:id="rId40"/>
    <p:sldId id="384" r:id="rId41"/>
    <p:sldId id="385" r:id="rId42"/>
    <p:sldId id="386" r:id="rId43"/>
    <p:sldId id="387" r:id="rId44"/>
    <p:sldId id="388" r:id="rId45"/>
  </p:sldIdLst>
  <p:sldSz cx="9144000" cy="5143500" type="screen16x9"/>
  <p:notesSz cx="6858000" cy="9144000"/>
  <p:defaultTextStyle>
    <a:defPPr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CE1325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7E473B-D3F2-489C-880B-C1F644F27992}" v="367" dt="2018-07-21T16:35:19.8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69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-302" y="15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Иветта Новикова" userId="e708aafe7de06156" providerId="LiveId" clId="{A97E473B-D3F2-489C-880B-C1F644F27992}"/>
    <pc:docChg chg="undo addSld delSld modSld sldOrd">
      <pc:chgData name="Иветта Новикова" userId="e708aafe7de06156" providerId="LiveId" clId="{A97E473B-D3F2-489C-880B-C1F644F27992}" dt="2018-07-21T16:35:19.830" v="366" actId="2696"/>
      <pc:docMkLst>
        <pc:docMk/>
      </pc:docMkLst>
      <pc:sldChg chg="modSp">
        <pc:chgData name="Иветта Новикова" userId="e708aafe7de06156" providerId="LiveId" clId="{A97E473B-D3F2-489C-880B-C1F644F27992}" dt="2018-07-21T14:31:24.559" v="364" actId="20577"/>
        <pc:sldMkLst>
          <pc:docMk/>
          <pc:sldMk cId="1785912827" sldId="341"/>
        </pc:sldMkLst>
        <pc:spChg chg="mod">
          <ac:chgData name="Иветта Новикова" userId="e708aafe7de06156" providerId="LiveId" clId="{A97E473B-D3F2-489C-880B-C1F644F27992}" dt="2018-07-21T14:31:24.559" v="364" actId="20577"/>
          <ac:spMkLst>
            <pc:docMk/>
            <pc:sldMk cId="1785912827" sldId="341"/>
            <ac:spMk id="11" creationId="{83B216AE-E002-4B69-8586-A1804C935C1E}"/>
          </ac:spMkLst>
        </pc:spChg>
      </pc:sldChg>
      <pc:sldChg chg="modSp add del ord">
        <pc:chgData name="Иветта Новикова" userId="e708aafe7de06156" providerId="LiveId" clId="{A97E473B-D3F2-489C-880B-C1F644F27992}" dt="2018-07-21T14:29:08.088" v="93" actId="1076"/>
        <pc:sldMkLst>
          <pc:docMk/>
          <pc:sldMk cId="4038307458" sldId="342"/>
        </pc:sldMkLst>
        <pc:spChg chg="mod">
          <ac:chgData name="Иветта Новикова" userId="e708aafe7de06156" providerId="LiveId" clId="{A97E473B-D3F2-489C-880B-C1F644F27992}" dt="2018-07-21T14:29:08.088" v="93" actId="1076"/>
          <ac:spMkLst>
            <pc:docMk/>
            <pc:sldMk cId="4038307458" sldId="342"/>
            <ac:spMk id="11" creationId="{83B216AE-E002-4B69-8586-A1804C935C1E}"/>
          </ac:spMkLst>
        </pc:spChg>
      </pc:sldChg>
      <pc:sldChg chg="del">
        <pc:chgData name="Иветта Новикова" userId="e708aafe7de06156" providerId="LiveId" clId="{A97E473B-D3F2-489C-880B-C1F644F27992}" dt="2018-07-21T12:45:45.079" v="0" actId="2696"/>
        <pc:sldMkLst>
          <pc:docMk/>
          <pc:sldMk cId="1241635093" sldId="343"/>
        </pc:sldMkLst>
      </pc:sldChg>
      <pc:sldChg chg="del">
        <pc:chgData name="Иветта Новикова" userId="e708aafe7de06156" providerId="LiveId" clId="{A97E473B-D3F2-489C-880B-C1F644F27992}" dt="2018-07-21T13:02:27.473" v="1" actId="2696"/>
        <pc:sldMkLst>
          <pc:docMk/>
          <pc:sldMk cId="1189282023" sldId="351"/>
        </pc:sldMkLst>
      </pc:sldChg>
      <pc:sldChg chg="modSp">
        <pc:chgData name="Иветта Новикова" userId="e708aafe7de06156" providerId="LiveId" clId="{A97E473B-D3F2-489C-880B-C1F644F27992}" dt="2018-07-21T13:02:53.105" v="36" actId="1076"/>
        <pc:sldMkLst>
          <pc:docMk/>
          <pc:sldMk cId="1355464343" sldId="352"/>
        </pc:sldMkLst>
        <pc:spChg chg="mod">
          <ac:chgData name="Иветта Новикова" userId="e708aafe7de06156" providerId="LiveId" clId="{A97E473B-D3F2-489C-880B-C1F644F27992}" dt="2018-07-21T13:02:49.948" v="35" actId="14100"/>
          <ac:spMkLst>
            <pc:docMk/>
            <pc:sldMk cId="1355464343" sldId="352"/>
            <ac:spMk id="2" creationId="{00000000-0000-0000-0000-000000000000}"/>
          </ac:spMkLst>
        </pc:spChg>
        <pc:spChg chg="mod">
          <ac:chgData name="Иветта Новикова" userId="e708aafe7de06156" providerId="LiveId" clId="{A97E473B-D3F2-489C-880B-C1F644F27992}" dt="2018-07-21T13:02:53.105" v="36" actId="1076"/>
          <ac:spMkLst>
            <pc:docMk/>
            <pc:sldMk cId="1355464343" sldId="352"/>
            <ac:spMk id="4" creationId="{00000000-0000-0000-0000-000000000000}"/>
          </ac:spMkLst>
        </pc:spChg>
      </pc:sldChg>
      <pc:sldChg chg="del">
        <pc:chgData name="Иветта Новикова" userId="e708aafe7de06156" providerId="LiveId" clId="{A97E473B-D3F2-489C-880B-C1F644F27992}" dt="2018-07-21T13:07:07.971" v="37" actId="2696"/>
        <pc:sldMkLst>
          <pc:docMk/>
          <pc:sldMk cId="531304326" sldId="354"/>
        </pc:sldMkLst>
      </pc:sldChg>
      <pc:sldChg chg="del">
        <pc:chgData name="Иветта Новикова" userId="e708aafe7de06156" providerId="LiveId" clId="{A97E473B-D3F2-489C-880B-C1F644F27992}" dt="2018-07-21T13:33:16.798" v="38" actId="2696"/>
        <pc:sldMkLst>
          <pc:docMk/>
          <pc:sldMk cId="2937889187" sldId="357"/>
        </pc:sldMkLst>
      </pc:sldChg>
      <pc:sldChg chg="modSp del">
        <pc:chgData name="Иветта Новикова" userId="e708aafe7de06156" providerId="LiveId" clId="{A97E473B-D3F2-489C-880B-C1F644F27992}" dt="2018-07-21T14:02:27.624" v="70" actId="2696"/>
        <pc:sldMkLst>
          <pc:docMk/>
          <pc:sldMk cId="2004103328" sldId="359"/>
        </pc:sldMkLst>
        <pc:spChg chg="mod">
          <ac:chgData name="Иветта Новикова" userId="e708aafe7de06156" providerId="LiveId" clId="{A97E473B-D3F2-489C-880B-C1F644F27992}" dt="2018-07-21T13:42:46.413" v="67" actId="20577"/>
          <ac:spMkLst>
            <pc:docMk/>
            <pc:sldMk cId="2004103328" sldId="359"/>
            <ac:spMk id="4" creationId="{00000000-0000-0000-0000-000000000000}"/>
          </ac:spMkLst>
        </pc:spChg>
      </pc:sldChg>
      <pc:sldChg chg="del">
        <pc:chgData name="Иветта Новикова" userId="e708aafe7de06156" providerId="LiveId" clId="{A97E473B-D3F2-489C-880B-C1F644F27992}" dt="2018-07-21T14:02:27.620" v="69" actId="2696"/>
        <pc:sldMkLst>
          <pc:docMk/>
          <pc:sldMk cId="1345325584" sldId="360"/>
        </pc:sldMkLst>
      </pc:sldChg>
      <pc:sldChg chg="del">
        <pc:chgData name="Иветта Новикова" userId="e708aafe7de06156" providerId="LiveId" clId="{A97E473B-D3F2-489C-880B-C1F644F27992}" dt="2018-07-21T14:02:27.617" v="68" actId="2696"/>
        <pc:sldMkLst>
          <pc:docMk/>
          <pc:sldMk cId="3154553415" sldId="361"/>
        </pc:sldMkLst>
      </pc:sldChg>
      <pc:sldChg chg="del">
        <pc:chgData name="Иветта Новикова" userId="e708aafe7de06156" providerId="LiveId" clId="{A97E473B-D3F2-489C-880B-C1F644F27992}" dt="2018-07-21T14:27:39.085" v="86" actId="2696"/>
        <pc:sldMkLst>
          <pc:docMk/>
          <pc:sldMk cId="4291163213" sldId="362"/>
        </pc:sldMkLst>
      </pc:sldChg>
      <pc:sldChg chg="ord">
        <pc:chgData name="Иветта Новикова" userId="e708aafe7de06156" providerId="LiveId" clId="{A97E473B-D3F2-489C-880B-C1F644F27992}" dt="2018-07-21T14:02:51.751" v="71"/>
        <pc:sldMkLst>
          <pc:docMk/>
          <pc:sldMk cId="3562760101" sldId="363"/>
        </pc:sldMkLst>
      </pc:sldChg>
      <pc:sldChg chg="ord">
        <pc:chgData name="Иветта Новикова" userId="e708aafe7de06156" providerId="LiveId" clId="{A97E473B-D3F2-489C-880B-C1F644F27992}" dt="2018-07-21T14:08:50.457" v="74"/>
        <pc:sldMkLst>
          <pc:docMk/>
          <pc:sldMk cId="2793238395" sldId="364"/>
        </pc:sldMkLst>
      </pc:sldChg>
      <pc:sldChg chg="modSp ord">
        <pc:chgData name="Иветта Новикова" userId="e708aafe7de06156" providerId="LiveId" clId="{A97E473B-D3F2-489C-880B-C1F644F27992}" dt="2018-07-21T14:23:51.193" v="85" actId="20577"/>
        <pc:sldMkLst>
          <pc:docMk/>
          <pc:sldMk cId="2676552981" sldId="365"/>
        </pc:sldMkLst>
        <pc:spChg chg="mod">
          <ac:chgData name="Иветта Новикова" userId="e708aafe7de06156" providerId="LiveId" clId="{A97E473B-D3F2-489C-880B-C1F644F27992}" dt="2018-07-21T14:23:51.193" v="85" actId="20577"/>
          <ac:spMkLst>
            <pc:docMk/>
            <pc:sldMk cId="2676552981" sldId="365"/>
            <ac:spMk id="6" creationId="{00000000-0000-0000-0000-000000000000}"/>
          </ac:spMkLst>
        </pc:spChg>
      </pc:sldChg>
      <pc:sldChg chg="del">
        <pc:chgData name="Иветта Новикова" userId="e708aafe7de06156" providerId="LiveId" clId="{A97E473B-D3F2-489C-880B-C1F644F27992}" dt="2018-07-21T14:43:38.572" v="365" actId="2696"/>
        <pc:sldMkLst>
          <pc:docMk/>
          <pc:sldMk cId="394028673" sldId="368"/>
        </pc:sldMkLst>
      </pc:sldChg>
      <pc:sldChg chg="del">
        <pc:chgData name="Иветта Новикова" userId="e708aafe7de06156" providerId="LiveId" clId="{A97E473B-D3F2-489C-880B-C1F644F27992}" dt="2018-07-21T16:35:19.830" v="366" actId="2696"/>
        <pc:sldMkLst>
          <pc:docMk/>
          <pc:sldMk cId="418795502" sldId="389"/>
        </pc:sldMkLst>
      </pc:sldChg>
      <pc:sldChg chg="add">
        <pc:chgData name="Иветта Новикова" userId="e708aafe7de06156" providerId="LiveId" clId="{A97E473B-D3F2-489C-880B-C1F644F27992}" dt="2018-07-21T14:27:49.191" v="87"/>
        <pc:sldMkLst>
          <pc:docMk/>
          <pc:sldMk cId="1180156555" sldId="390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48D8C4-DCFE-4283-A4EF-8B4CD7A2EB93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ru-RU"/>
        </a:p>
      </dgm:t>
    </dgm:pt>
    <dgm:pt modelId="{0F580189-6DB5-4EB7-84F2-4A30A6450D4E}">
      <dgm:prSet phldrT="[Текст]"/>
      <dgm:spPr/>
      <dgm:t>
        <a:bodyPr/>
        <a:lstStyle/>
        <a:p>
          <a:pPr algn="ctr"/>
          <a:r>
            <a:rPr lang="ru-RU" dirty="0"/>
            <a:t>Проверка Клиента</a:t>
          </a:r>
        </a:p>
      </dgm:t>
    </dgm:pt>
    <dgm:pt modelId="{B2C6C497-BE45-4812-A45D-C59D2A6322C2}" type="parTrans" cxnId="{E8FA8059-414E-40B6-B01E-8D987B383D03}">
      <dgm:prSet/>
      <dgm:spPr/>
      <dgm:t>
        <a:bodyPr/>
        <a:lstStyle/>
        <a:p>
          <a:pPr algn="ctr"/>
          <a:endParaRPr lang="ru-RU"/>
        </a:p>
      </dgm:t>
    </dgm:pt>
    <dgm:pt modelId="{A0E3F9AA-405B-46B6-AC38-576A61554A42}" type="sibTrans" cxnId="{E8FA8059-414E-40B6-B01E-8D987B383D03}">
      <dgm:prSet/>
      <dgm:spPr/>
      <dgm:t>
        <a:bodyPr/>
        <a:lstStyle/>
        <a:p>
          <a:pPr algn="ctr"/>
          <a:endParaRPr lang="ru-RU"/>
        </a:p>
      </dgm:t>
    </dgm:pt>
    <dgm:pt modelId="{D048F22B-40E4-4811-81CD-568D7FC08A99}">
      <dgm:prSet phldrT="[Текст]"/>
      <dgm:spPr/>
      <dgm:t>
        <a:bodyPr/>
        <a:lstStyle/>
        <a:p>
          <a:pPr algn="ctr"/>
          <a:r>
            <a:rPr lang="ru-RU" dirty="0"/>
            <a:t>Работа в рамках согласованной отсрочки</a:t>
          </a:r>
        </a:p>
      </dgm:t>
    </dgm:pt>
    <dgm:pt modelId="{DDF71BF5-52A1-4F31-90B9-0E63FEC4FA4B}" type="parTrans" cxnId="{4C375BA5-0B62-4977-B27F-F68DA5521799}">
      <dgm:prSet/>
      <dgm:spPr/>
      <dgm:t>
        <a:bodyPr/>
        <a:lstStyle/>
        <a:p>
          <a:pPr algn="ctr"/>
          <a:endParaRPr lang="ru-RU"/>
        </a:p>
      </dgm:t>
    </dgm:pt>
    <dgm:pt modelId="{D6995002-7618-4CB9-A90E-B1D297D13712}" type="sibTrans" cxnId="{4C375BA5-0B62-4977-B27F-F68DA5521799}">
      <dgm:prSet/>
      <dgm:spPr/>
      <dgm:t>
        <a:bodyPr/>
        <a:lstStyle/>
        <a:p>
          <a:pPr algn="ctr"/>
          <a:endParaRPr lang="ru-RU"/>
        </a:p>
      </dgm:t>
    </dgm:pt>
    <dgm:pt modelId="{D4D04A55-76F1-4B88-9F41-AB248DF5B245}">
      <dgm:prSet phldrT="[Текст]"/>
      <dgm:spPr/>
      <dgm:t>
        <a:bodyPr/>
        <a:lstStyle/>
        <a:p>
          <a:pPr algn="ctr"/>
          <a:r>
            <a:rPr lang="ru-RU" dirty="0"/>
            <a:t>Возврат долга</a:t>
          </a:r>
        </a:p>
      </dgm:t>
    </dgm:pt>
    <dgm:pt modelId="{F8D32D78-8B0A-466D-BEAD-4BF70C6DAC12}" type="parTrans" cxnId="{F2D1B6C4-6B96-4D7C-90E5-C0F7C0A8435A}">
      <dgm:prSet/>
      <dgm:spPr/>
      <dgm:t>
        <a:bodyPr/>
        <a:lstStyle/>
        <a:p>
          <a:pPr algn="ctr"/>
          <a:endParaRPr lang="ru-RU"/>
        </a:p>
      </dgm:t>
    </dgm:pt>
    <dgm:pt modelId="{74324120-F132-455A-ADA5-7A730436224A}" type="sibTrans" cxnId="{F2D1B6C4-6B96-4D7C-90E5-C0F7C0A8435A}">
      <dgm:prSet/>
      <dgm:spPr/>
      <dgm:t>
        <a:bodyPr/>
        <a:lstStyle/>
        <a:p>
          <a:pPr algn="ctr"/>
          <a:endParaRPr lang="ru-RU"/>
        </a:p>
      </dgm:t>
    </dgm:pt>
    <dgm:pt modelId="{6BA3C286-3938-482F-957F-92D8658A66E0}" type="pres">
      <dgm:prSet presAssocID="{F648D8C4-DCFE-4283-A4EF-8B4CD7A2EB93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2D93EF3D-C7DC-45C1-8372-03E622706583}" type="pres">
      <dgm:prSet presAssocID="{D4D04A55-76F1-4B88-9F41-AB248DF5B245}" presName="boxAndChildren" presStyleCnt="0"/>
      <dgm:spPr/>
    </dgm:pt>
    <dgm:pt modelId="{E29D4D8F-7377-42BC-9E2C-EDB2DDD3E834}" type="pres">
      <dgm:prSet presAssocID="{D4D04A55-76F1-4B88-9F41-AB248DF5B245}" presName="parentTextBox" presStyleLbl="node1" presStyleIdx="0" presStyleCnt="3"/>
      <dgm:spPr/>
      <dgm:t>
        <a:bodyPr/>
        <a:lstStyle/>
        <a:p>
          <a:endParaRPr lang="ru-RU"/>
        </a:p>
      </dgm:t>
    </dgm:pt>
    <dgm:pt modelId="{83CC37B0-10F5-4DA4-B812-6E58A72EA326}" type="pres">
      <dgm:prSet presAssocID="{D6995002-7618-4CB9-A90E-B1D297D13712}" presName="sp" presStyleCnt="0"/>
      <dgm:spPr/>
    </dgm:pt>
    <dgm:pt modelId="{66934F0A-353D-41D6-A5B7-607BD1C0E0D9}" type="pres">
      <dgm:prSet presAssocID="{D048F22B-40E4-4811-81CD-568D7FC08A99}" presName="arrowAndChildren" presStyleCnt="0"/>
      <dgm:spPr/>
    </dgm:pt>
    <dgm:pt modelId="{99A7594E-59D9-4CDE-86A0-134082158749}" type="pres">
      <dgm:prSet presAssocID="{D048F22B-40E4-4811-81CD-568D7FC08A99}" presName="parentTextArrow" presStyleLbl="node1" presStyleIdx="1" presStyleCnt="3" custLinFactNeighborY="-1152"/>
      <dgm:spPr/>
      <dgm:t>
        <a:bodyPr/>
        <a:lstStyle/>
        <a:p>
          <a:endParaRPr lang="ru-RU"/>
        </a:p>
      </dgm:t>
    </dgm:pt>
    <dgm:pt modelId="{44C7B753-303D-4BB2-AEE0-E5C6D767A122}" type="pres">
      <dgm:prSet presAssocID="{A0E3F9AA-405B-46B6-AC38-576A61554A42}" presName="sp" presStyleCnt="0"/>
      <dgm:spPr/>
    </dgm:pt>
    <dgm:pt modelId="{EA90DA78-A017-46FF-BF00-1DC836BE694F}" type="pres">
      <dgm:prSet presAssocID="{0F580189-6DB5-4EB7-84F2-4A30A6450D4E}" presName="arrowAndChildren" presStyleCnt="0"/>
      <dgm:spPr/>
    </dgm:pt>
    <dgm:pt modelId="{9665201F-4D3A-42CC-ADAF-298756CC6DC4}" type="pres">
      <dgm:prSet presAssocID="{0F580189-6DB5-4EB7-84F2-4A30A6450D4E}" presName="parentTextArrow" presStyleLbl="node1" presStyleIdx="2" presStyleCnt="3"/>
      <dgm:spPr/>
      <dgm:t>
        <a:bodyPr/>
        <a:lstStyle/>
        <a:p>
          <a:endParaRPr lang="ru-RU"/>
        </a:p>
      </dgm:t>
    </dgm:pt>
  </dgm:ptLst>
  <dgm:cxnLst>
    <dgm:cxn modelId="{1A5DB8BA-59C7-4364-80FD-4AA2987E04D1}" type="presOf" srcId="{F648D8C4-DCFE-4283-A4EF-8B4CD7A2EB93}" destId="{6BA3C286-3938-482F-957F-92D8658A66E0}" srcOrd="0" destOrd="0" presId="urn:microsoft.com/office/officeart/2005/8/layout/process4"/>
    <dgm:cxn modelId="{F2D1B6C4-6B96-4D7C-90E5-C0F7C0A8435A}" srcId="{F648D8C4-DCFE-4283-A4EF-8B4CD7A2EB93}" destId="{D4D04A55-76F1-4B88-9F41-AB248DF5B245}" srcOrd="2" destOrd="0" parTransId="{F8D32D78-8B0A-466D-BEAD-4BF70C6DAC12}" sibTransId="{74324120-F132-455A-ADA5-7A730436224A}"/>
    <dgm:cxn modelId="{D8DB7E50-7993-4FD7-8ABA-35DF9F250E0A}" type="presOf" srcId="{D048F22B-40E4-4811-81CD-568D7FC08A99}" destId="{99A7594E-59D9-4CDE-86A0-134082158749}" srcOrd="0" destOrd="0" presId="urn:microsoft.com/office/officeart/2005/8/layout/process4"/>
    <dgm:cxn modelId="{7B66A2E2-E3BC-4258-BB8D-FD3C66DB8E0C}" type="presOf" srcId="{0F580189-6DB5-4EB7-84F2-4A30A6450D4E}" destId="{9665201F-4D3A-42CC-ADAF-298756CC6DC4}" srcOrd="0" destOrd="0" presId="urn:microsoft.com/office/officeart/2005/8/layout/process4"/>
    <dgm:cxn modelId="{C60C13B9-FD10-4778-BB76-6FBE2A3A7F2B}" type="presOf" srcId="{D4D04A55-76F1-4B88-9F41-AB248DF5B245}" destId="{E29D4D8F-7377-42BC-9E2C-EDB2DDD3E834}" srcOrd="0" destOrd="0" presId="urn:microsoft.com/office/officeart/2005/8/layout/process4"/>
    <dgm:cxn modelId="{E8FA8059-414E-40B6-B01E-8D987B383D03}" srcId="{F648D8C4-DCFE-4283-A4EF-8B4CD7A2EB93}" destId="{0F580189-6DB5-4EB7-84F2-4A30A6450D4E}" srcOrd="0" destOrd="0" parTransId="{B2C6C497-BE45-4812-A45D-C59D2A6322C2}" sibTransId="{A0E3F9AA-405B-46B6-AC38-576A61554A42}"/>
    <dgm:cxn modelId="{4C375BA5-0B62-4977-B27F-F68DA5521799}" srcId="{F648D8C4-DCFE-4283-A4EF-8B4CD7A2EB93}" destId="{D048F22B-40E4-4811-81CD-568D7FC08A99}" srcOrd="1" destOrd="0" parTransId="{DDF71BF5-52A1-4F31-90B9-0E63FEC4FA4B}" sibTransId="{D6995002-7618-4CB9-A90E-B1D297D13712}"/>
    <dgm:cxn modelId="{C99FD132-A2C1-4304-932C-F02ACC69E85B}" type="presParOf" srcId="{6BA3C286-3938-482F-957F-92D8658A66E0}" destId="{2D93EF3D-C7DC-45C1-8372-03E622706583}" srcOrd="0" destOrd="0" presId="urn:microsoft.com/office/officeart/2005/8/layout/process4"/>
    <dgm:cxn modelId="{9F866848-D10A-46D3-9090-F0D58A6AE7EC}" type="presParOf" srcId="{2D93EF3D-C7DC-45C1-8372-03E622706583}" destId="{E29D4D8F-7377-42BC-9E2C-EDB2DDD3E834}" srcOrd="0" destOrd="0" presId="urn:microsoft.com/office/officeart/2005/8/layout/process4"/>
    <dgm:cxn modelId="{87A58171-0A95-4CF5-B71E-E6BD0C5D6614}" type="presParOf" srcId="{6BA3C286-3938-482F-957F-92D8658A66E0}" destId="{83CC37B0-10F5-4DA4-B812-6E58A72EA326}" srcOrd="1" destOrd="0" presId="urn:microsoft.com/office/officeart/2005/8/layout/process4"/>
    <dgm:cxn modelId="{6254CB86-0D54-47EC-8241-85A7F840DC10}" type="presParOf" srcId="{6BA3C286-3938-482F-957F-92D8658A66E0}" destId="{66934F0A-353D-41D6-A5B7-607BD1C0E0D9}" srcOrd="2" destOrd="0" presId="urn:microsoft.com/office/officeart/2005/8/layout/process4"/>
    <dgm:cxn modelId="{6913D160-7D52-42DB-AC0E-975929C24193}" type="presParOf" srcId="{66934F0A-353D-41D6-A5B7-607BD1C0E0D9}" destId="{99A7594E-59D9-4CDE-86A0-134082158749}" srcOrd="0" destOrd="0" presId="urn:microsoft.com/office/officeart/2005/8/layout/process4"/>
    <dgm:cxn modelId="{2B11F4DB-62F0-4BCA-948D-2B1A072D05EA}" type="presParOf" srcId="{6BA3C286-3938-482F-957F-92D8658A66E0}" destId="{44C7B753-303D-4BB2-AEE0-E5C6D767A122}" srcOrd="3" destOrd="0" presId="urn:microsoft.com/office/officeart/2005/8/layout/process4"/>
    <dgm:cxn modelId="{E7CCED4A-572F-41FA-B93D-8B9AE99A357B}" type="presParOf" srcId="{6BA3C286-3938-482F-957F-92D8658A66E0}" destId="{EA90DA78-A017-46FF-BF00-1DC836BE694F}" srcOrd="4" destOrd="0" presId="urn:microsoft.com/office/officeart/2005/8/layout/process4"/>
    <dgm:cxn modelId="{44B3C14F-F27D-47A3-B8DB-C09C3E7477F9}" type="presParOf" srcId="{EA90DA78-A017-46FF-BF00-1DC836BE694F}" destId="{9665201F-4D3A-42CC-ADAF-298756CC6DC4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40B5CA1-769E-41DD-86B5-B3DBFDC73B7A}" type="doc">
      <dgm:prSet loTypeId="urn:microsoft.com/office/officeart/2005/8/layout/matrix1" loCatId="matrix" qsTypeId="urn:microsoft.com/office/officeart/2005/8/quickstyle/simple2" qsCatId="simple" csTypeId="urn:microsoft.com/office/officeart/2005/8/colors/colorful1#1" csCatId="colorful" phldr="1"/>
      <dgm:spPr/>
      <dgm:t>
        <a:bodyPr/>
        <a:lstStyle/>
        <a:p>
          <a:endParaRPr lang="ru-RU"/>
        </a:p>
      </dgm:t>
    </dgm:pt>
    <dgm:pt modelId="{A036BE76-3A80-4DC6-830B-36EFBD4D911A}">
      <dgm:prSet phldrT="[Текст]"/>
      <dgm:spPr>
        <a:solidFill>
          <a:srgbClr val="FF0000"/>
        </a:solidFill>
      </dgm:spPr>
      <dgm:t>
        <a:bodyPr/>
        <a:lstStyle/>
        <a:p>
          <a:r>
            <a:rPr lang="ru-RU" b="1" dirty="0"/>
            <a:t>ДЕБИТОРКА</a:t>
          </a:r>
        </a:p>
      </dgm:t>
    </dgm:pt>
    <dgm:pt modelId="{BE90B574-51E8-4585-932A-99645D1452E4}" type="parTrans" cxnId="{C13DF3FE-5D0D-467C-BEB3-A0917A9E5647}">
      <dgm:prSet/>
      <dgm:spPr/>
      <dgm:t>
        <a:bodyPr/>
        <a:lstStyle/>
        <a:p>
          <a:endParaRPr lang="ru-RU"/>
        </a:p>
      </dgm:t>
    </dgm:pt>
    <dgm:pt modelId="{FCF4F002-066A-403B-93D0-17289A7D9A16}" type="sibTrans" cxnId="{C13DF3FE-5D0D-467C-BEB3-A0917A9E5647}">
      <dgm:prSet/>
      <dgm:spPr/>
      <dgm:t>
        <a:bodyPr/>
        <a:lstStyle/>
        <a:p>
          <a:endParaRPr lang="ru-RU"/>
        </a:p>
      </dgm:t>
    </dgm:pt>
    <dgm:pt modelId="{35BA0F03-4EAF-4C81-9B97-3E7CBD70C26D}">
      <dgm:prSet phldrT="[Текст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ru-RU" dirty="0"/>
            <a:t>Коммерческая служба</a:t>
          </a:r>
        </a:p>
      </dgm:t>
    </dgm:pt>
    <dgm:pt modelId="{E89AB35B-A24C-440C-BF17-8AEF6602BFE2}" type="parTrans" cxnId="{68004BFC-95EF-4713-BBD2-5BF0F55BB5DC}">
      <dgm:prSet/>
      <dgm:spPr/>
      <dgm:t>
        <a:bodyPr/>
        <a:lstStyle/>
        <a:p>
          <a:endParaRPr lang="ru-RU"/>
        </a:p>
      </dgm:t>
    </dgm:pt>
    <dgm:pt modelId="{9D5A16FF-7BD0-41D0-B516-DC99371A8335}" type="sibTrans" cxnId="{68004BFC-95EF-4713-BBD2-5BF0F55BB5DC}">
      <dgm:prSet/>
      <dgm:spPr/>
      <dgm:t>
        <a:bodyPr/>
        <a:lstStyle/>
        <a:p>
          <a:endParaRPr lang="ru-RU"/>
        </a:p>
      </dgm:t>
    </dgm:pt>
    <dgm:pt modelId="{94DE8751-011D-4AC6-B437-398BFAD5BB61}">
      <dgm:prSet phldrT="[Текст]"/>
      <dgm:spPr/>
      <dgm:t>
        <a:bodyPr/>
        <a:lstStyle/>
        <a:p>
          <a:r>
            <a:rPr lang="ru-RU" dirty="0"/>
            <a:t>Служба безопасности</a:t>
          </a:r>
        </a:p>
      </dgm:t>
    </dgm:pt>
    <dgm:pt modelId="{69718917-659B-460E-AC4E-C4C36E74DAC6}" type="parTrans" cxnId="{235ACA6A-2B35-493A-8CC0-94AF28B7623F}">
      <dgm:prSet/>
      <dgm:spPr/>
      <dgm:t>
        <a:bodyPr/>
        <a:lstStyle/>
        <a:p>
          <a:endParaRPr lang="ru-RU"/>
        </a:p>
      </dgm:t>
    </dgm:pt>
    <dgm:pt modelId="{410AFA4A-B6BB-4209-8160-E003402B5446}" type="sibTrans" cxnId="{235ACA6A-2B35-493A-8CC0-94AF28B7623F}">
      <dgm:prSet/>
      <dgm:spPr/>
      <dgm:t>
        <a:bodyPr/>
        <a:lstStyle/>
        <a:p>
          <a:endParaRPr lang="ru-RU"/>
        </a:p>
      </dgm:t>
    </dgm:pt>
    <dgm:pt modelId="{EB460D23-B33D-4D5C-8619-3F5E73DE6405}">
      <dgm:prSet phldrT="[Текст]"/>
      <dgm:spPr/>
      <dgm:t>
        <a:bodyPr/>
        <a:lstStyle/>
        <a:p>
          <a:r>
            <a:rPr lang="ru-RU" dirty="0"/>
            <a:t>Финансовая служба</a:t>
          </a:r>
        </a:p>
      </dgm:t>
    </dgm:pt>
    <dgm:pt modelId="{D5FB2636-C354-43A8-BBA7-98225A77016A}" type="parTrans" cxnId="{B75087D3-D7AC-47DF-8F6D-557FBD8404CC}">
      <dgm:prSet/>
      <dgm:spPr/>
      <dgm:t>
        <a:bodyPr/>
        <a:lstStyle/>
        <a:p>
          <a:endParaRPr lang="ru-RU"/>
        </a:p>
      </dgm:t>
    </dgm:pt>
    <dgm:pt modelId="{E033D153-75EB-488A-A43A-EC51E5F155EF}" type="sibTrans" cxnId="{B75087D3-D7AC-47DF-8F6D-557FBD8404CC}">
      <dgm:prSet/>
      <dgm:spPr/>
      <dgm:t>
        <a:bodyPr/>
        <a:lstStyle/>
        <a:p>
          <a:endParaRPr lang="ru-RU"/>
        </a:p>
      </dgm:t>
    </dgm:pt>
    <dgm:pt modelId="{FE61502B-793F-463B-8A0D-77914A61AE69}">
      <dgm:prSet phldrT="[Текст]"/>
      <dgm:spPr/>
      <dgm:t>
        <a:bodyPr/>
        <a:lstStyle/>
        <a:p>
          <a:r>
            <a:rPr lang="ru-RU" dirty="0"/>
            <a:t>Юридический департамент </a:t>
          </a:r>
        </a:p>
      </dgm:t>
    </dgm:pt>
    <dgm:pt modelId="{3326E62C-5131-4B70-803F-93B6C103E3C6}" type="parTrans" cxnId="{E2A8ED3C-AC08-4006-88DE-1FC3664CAA97}">
      <dgm:prSet/>
      <dgm:spPr/>
      <dgm:t>
        <a:bodyPr/>
        <a:lstStyle/>
        <a:p>
          <a:endParaRPr lang="ru-RU"/>
        </a:p>
      </dgm:t>
    </dgm:pt>
    <dgm:pt modelId="{6EA7600B-AD76-4D58-B148-24BC8FC2989A}" type="sibTrans" cxnId="{E2A8ED3C-AC08-4006-88DE-1FC3664CAA97}">
      <dgm:prSet/>
      <dgm:spPr/>
      <dgm:t>
        <a:bodyPr/>
        <a:lstStyle/>
        <a:p>
          <a:endParaRPr lang="ru-RU"/>
        </a:p>
      </dgm:t>
    </dgm:pt>
    <dgm:pt modelId="{8F99247C-DC00-423C-9EB8-BEC915E12057}" type="pres">
      <dgm:prSet presAssocID="{040B5CA1-769E-41DD-86B5-B3DBFDC73B7A}" presName="diagram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B70B7108-244A-45C1-900C-0B8ED48ACA80}" type="pres">
      <dgm:prSet presAssocID="{040B5CA1-769E-41DD-86B5-B3DBFDC73B7A}" presName="matrix" presStyleCnt="0"/>
      <dgm:spPr/>
    </dgm:pt>
    <dgm:pt modelId="{C21EFFB2-EDC5-4067-ADA0-957C4A7151B9}" type="pres">
      <dgm:prSet presAssocID="{040B5CA1-769E-41DD-86B5-B3DBFDC73B7A}" presName="tile1" presStyleLbl="node1" presStyleIdx="0" presStyleCnt="4"/>
      <dgm:spPr/>
      <dgm:t>
        <a:bodyPr/>
        <a:lstStyle/>
        <a:p>
          <a:endParaRPr lang="ru-RU"/>
        </a:p>
      </dgm:t>
    </dgm:pt>
    <dgm:pt modelId="{F40A1C89-9DAD-4EE1-BFD5-F9EEA3B23739}" type="pres">
      <dgm:prSet presAssocID="{040B5CA1-769E-41DD-86B5-B3DBFDC73B7A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4F35AA7-3290-498C-AD4D-79137005FDC3}" type="pres">
      <dgm:prSet presAssocID="{040B5CA1-769E-41DD-86B5-B3DBFDC73B7A}" presName="tile2" presStyleLbl="node1" presStyleIdx="1" presStyleCnt="4"/>
      <dgm:spPr/>
      <dgm:t>
        <a:bodyPr/>
        <a:lstStyle/>
        <a:p>
          <a:endParaRPr lang="ru-RU"/>
        </a:p>
      </dgm:t>
    </dgm:pt>
    <dgm:pt modelId="{99E85347-1D43-4FA1-A4EA-DC0AE3128219}" type="pres">
      <dgm:prSet presAssocID="{040B5CA1-769E-41DD-86B5-B3DBFDC73B7A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41008BD-DCB9-494F-9EC3-31B6A608C054}" type="pres">
      <dgm:prSet presAssocID="{040B5CA1-769E-41DD-86B5-B3DBFDC73B7A}" presName="tile3" presStyleLbl="node1" presStyleIdx="2" presStyleCnt="4"/>
      <dgm:spPr/>
      <dgm:t>
        <a:bodyPr/>
        <a:lstStyle/>
        <a:p>
          <a:endParaRPr lang="ru-RU"/>
        </a:p>
      </dgm:t>
    </dgm:pt>
    <dgm:pt modelId="{322D720D-3153-483D-8E30-03AE24218ADF}" type="pres">
      <dgm:prSet presAssocID="{040B5CA1-769E-41DD-86B5-B3DBFDC73B7A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B1A51D4-5962-435E-B8AF-5396AA185F33}" type="pres">
      <dgm:prSet presAssocID="{040B5CA1-769E-41DD-86B5-B3DBFDC73B7A}" presName="tile4" presStyleLbl="node1" presStyleIdx="3" presStyleCnt="4" custLinFactNeighborX="-776" custLinFactNeighborY="-776"/>
      <dgm:spPr/>
      <dgm:t>
        <a:bodyPr/>
        <a:lstStyle/>
        <a:p>
          <a:endParaRPr lang="ru-RU"/>
        </a:p>
      </dgm:t>
    </dgm:pt>
    <dgm:pt modelId="{4F123FF1-4F46-4483-ABB5-21CC8B230C3B}" type="pres">
      <dgm:prSet presAssocID="{040B5CA1-769E-41DD-86B5-B3DBFDC73B7A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193E707-2B8F-40C5-B358-767BFE7C71A7}" type="pres">
      <dgm:prSet presAssocID="{040B5CA1-769E-41DD-86B5-B3DBFDC73B7A}" presName="centerTile" presStyleLbl="fgShp" presStyleIdx="0" presStyleCnt="1" custScaleX="160086" custScaleY="138643">
        <dgm:presLayoutVars>
          <dgm:chMax val="0"/>
          <dgm:chPref val="0"/>
        </dgm:presLayoutVars>
      </dgm:prSet>
      <dgm:spPr/>
      <dgm:t>
        <a:bodyPr/>
        <a:lstStyle/>
        <a:p>
          <a:endParaRPr lang="ru-RU"/>
        </a:p>
      </dgm:t>
    </dgm:pt>
  </dgm:ptLst>
  <dgm:cxnLst>
    <dgm:cxn modelId="{71797F68-E1E5-46E5-84B7-D4BEE56B299D}" type="presOf" srcId="{EB460D23-B33D-4D5C-8619-3F5E73DE6405}" destId="{D41008BD-DCB9-494F-9EC3-31B6A608C054}" srcOrd="0" destOrd="0" presId="urn:microsoft.com/office/officeart/2005/8/layout/matrix1"/>
    <dgm:cxn modelId="{C13DF3FE-5D0D-467C-BEB3-A0917A9E5647}" srcId="{040B5CA1-769E-41DD-86B5-B3DBFDC73B7A}" destId="{A036BE76-3A80-4DC6-830B-36EFBD4D911A}" srcOrd="0" destOrd="0" parTransId="{BE90B574-51E8-4585-932A-99645D1452E4}" sibTransId="{FCF4F002-066A-403B-93D0-17289A7D9A16}"/>
    <dgm:cxn modelId="{235ACA6A-2B35-493A-8CC0-94AF28B7623F}" srcId="{A036BE76-3A80-4DC6-830B-36EFBD4D911A}" destId="{94DE8751-011D-4AC6-B437-398BFAD5BB61}" srcOrd="1" destOrd="0" parTransId="{69718917-659B-460E-AC4E-C4C36E74DAC6}" sibTransId="{410AFA4A-B6BB-4209-8160-E003402B5446}"/>
    <dgm:cxn modelId="{53C92A57-A586-475F-B302-EABA715C1399}" type="presOf" srcId="{EB460D23-B33D-4D5C-8619-3F5E73DE6405}" destId="{322D720D-3153-483D-8E30-03AE24218ADF}" srcOrd="1" destOrd="0" presId="urn:microsoft.com/office/officeart/2005/8/layout/matrix1"/>
    <dgm:cxn modelId="{A2DF915D-5A82-49DE-A51A-18C8A144ED87}" type="presOf" srcId="{94DE8751-011D-4AC6-B437-398BFAD5BB61}" destId="{99E85347-1D43-4FA1-A4EA-DC0AE3128219}" srcOrd="1" destOrd="0" presId="urn:microsoft.com/office/officeart/2005/8/layout/matrix1"/>
    <dgm:cxn modelId="{7E91E120-65F5-476F-9541-40AE98E62487}" type="presOf" srcId="{35BA0F03-4EAF-4C81-9B97-3E7CBD70C26D}" destId="{F40A1C89-9DAD-4EE1-BFD5-F9EEA3B23739}" srcOrd="1" destOrd="0" presId="urn:microsoft.com/office/officeart/2005/8/layout/matrix1"/>
    <dgm:cxn modelId="{3E8A9562-52BA-478E-B4C9-BF7967001266}" type="presOf" srcId="{040B5CA1-769E-41DD-86B5-B3DBFDC73B7A}" destId="{8F99247C-DC00-423C-9EB8-BEC915E12057}" srcOrd="0" destOrd="0" presId="urn:microsoft.com/office/officeart/2005/8/layout/matrix1"/>
    <dgm:cxn modelId="{E2A8ED3C-AC08-4006-88DE-1FC3664CAA97}" srcId="{A036BE76-3A80-4DC6-830B-36EFBD4D911A}" destId="{FE61502B-793F-463B-8A0D-77914A61AE69}" srcOrd="3" destOrd="0" parTransId="{3326E62C-5131-4B70-803F-93B6C103E3C6}" sibTransId="{6EA7600B-AD76-4D58-B148-24BC8FC2989A}"/>
    <dgm:cxn modelId="{90682C79-9900-48AF-8D37-F848D1C1130C}" type="presOf" srcId="{FE61502B-793F-463B-8A0D-77914A61AE69}" destId="{6B1A51D4-5962-435E-B8AF-5396AA185F33}" srcOrd="0" destOrd="0" presId="urn:microsoft.com/office/officeart/2005/8/layout/matrix1"/>
    <dgm:cxn modelId="{69812B22-E38E-46BC-B59D-0A037F405497}" type="presOf" srcId="{35BA0F03-4EAF-4C81-9B97-3E7CBD70C26D}" destId="{C21EFFB2-EDC5-4067-ADA0-957C4A7151B9}" srcOrd="0" destOrd="0" presId="urn:microsoft.com/office/officeart/2005/8/layout/matrix1"/>
    <dgm:cxn modelId="{0B1AC7E1-0F96-45F5-B94A-7C6FEB795DE0}" type="presOf" srcId="{FE61502B-793F-463B-8A0D-77914A61AE69}" destId="{4F123FF1-4F46-4483-ABB5-21CC8B230C3B}" srcOrd="1" destOrd="0" presId="urn:microsoft.com/office/officeart/2005/8/layout/matrix1"/>
    <dgm:cxn modelId="{68004BFC-95EF-4713-BBD2-5BF0F55BB5DC}" srcId="{A036BE76-3A80-4DC6-830B-36EFBD4D911A}" destId="{35BA0F03-4EAF-4C81-9B97-3E7CBD70C26D}" srcOrd="0" destOrd="0" parTransId="{E89AB35B-A24C-440C-BF17-8AEF6602BFE2}" sibTransId="{9D5A16FF-7BD0-41D0-B516-DC99371A8335}"/>
    <dgm:cxn modelId="{B75087D3-D7AC-47DF-8F6D-557FBD8404CC}" srcId="{A036BE76-3A80-4DC6-830B-36EFBD4D911A}" destId="{EB460D23-B33D-4D5C-8619-3F5E73DE6405}" srcOrd="2" destOrd="0" parTransId="{D5FB2636-C354-43A8-BBA7-98225A77016A}" sibTransId="{E033D153-75EB-488A-A43A-EC51E5F155EF}"/>
    <dgm:cxn modelId="{A18887D2-C16C-4C74-B863-383C6A3AEEA1}" type="presOf" srcId="{A036BE76-3A80-4DC6-830B-36EFBD4D911A}" destId="{2193E707-2B8F-40C5-B358-767BFE7C71A7}" srcOrd="0" destOrd="0" presId="urn:microsoft.com/office/officeart/2005/8/layout/matrix1"/>
    <dgm:cxn modelId="{CE671FF8-7CBE-46F6-BFAD-8F284F1F7891}" type="presOf" srcId="{94DE8751-011D-4AC6-B437-398BFAD5BB61}" destId="{24F35AA7-3290-498C-AD4D-79137005FDC3}" srcOrd="0" destOrd="0" presId="urn:microsoft.com/office/officeart/2005/8/layout/matrix1"/>
    <dgm:cxn modelId="{676ECD10-F862-458F-A20F-D5A7C074E97E}" type="presParOf" srcId="{8F99247C-DC00-423C-9EB8-BEC915E12057}" destId="{B70B7108-244A-45C1-900C-0B8ED48ACA80}" srcOrd="0" destOrd="0" presId="urn:microsoft.com/office/officeart/2005/8/layout/matrix1"/>
    <dgm:cxn modelId="{B1423024-9B8F-496B-8BC3-5F30E92059F9}" type="presParOf" srcId="{B70B7108-244A-45C1-900C-0B8ED48ACA80}" destId="{C21EFFB2-EDC5-4067-ADA0-957C4A7151B9}" srcOrd="0" destOrd="0" presId="urn:microsoft.com/office/officeart/2005/8/layout/matrix1"/>
    <dgm:cxn modelId="{CEA7BDCC-9CF6-4C5F-A7C7-84914C9E07EF}" type="presParOf" srcId="{B70B7108-244A-45C1-900C-0B8ED48ACA80}" destId="{F40A1C89-9DAD-4EE1-BFD5-F9EEA3B23739}" srcOrd="1" destOrd="0" presId="urn:microsoft.com/office/officeart/2005/8/layout/matrix1"/>
    <dgm:cxn modelId="{D0795761-6384-47F5-9E36-FE4343E82145}" type="presParOf" srcId="{B70B7108-244A-45C1-900C-0B8ED48ACA80}" destId="{24F35AA7-3290-498C-AD4D-79137005FDC3}" srcOrd="2" destOrd="0" presId="urn:microsoft.com/office/officeart/2005/8/layout/matrix1"/>
    <dgm:cxn modelId="{B6269EDE-7739-4F8E-83A4-7FAF2A5A7371}" type="presParOf" srcId="{B70B7108-244A-45C1-900C-0B8ED48ACA80}" destId="{99E85347-1D43-4FA1-A4EA-DC0AE3128219}" srcOrd="3" destOrd="0" presId="urn:microsoft.com/office/officeart/2005/8/layout/matrix1"/>
    <dgm:cxn modelId="{3962C7A9-4F11-43F5-9E08-5CCB2949649A}" type="presParOf" srcId="{B70B7108-244A-45C1-900C-0B8ED48ACA80}" destId="{D41008BD-DCB9-494F-9EC3-31B6A608C054}" srcOrd="4" destOrd="0" presId="urn:microsoft.com/office/officeart/2005/8/layout/matrix1"/>
    <dgm:cxn modelId="{5ED156DB-D23F-4799-B012-2E07805F440A}" type="presParOf" srcId="{B70B7108-244A-45C1-900C-0B8ED48ACA80}" destId="{322D720D-3153-483D-8E30-03AE24218ADF}" srcOrd="5" destOrd="0" presId="urn:microsoft.com/office/officeart/2005/8/layout/matrix1"/>
    <dgm:cxn modelId="{9548F619-1EEC-4E51-B594-ADFD96E06D08}" type="presParOf" srcId="{B70B7108-244A-45C1-900C-0B8ED48ACA80}" destId="{6B1A51D4-5962-435E-B8AF-5396AA185F33}" srcOrd="6" destOrd="0" presId="urn:microsoft.com/office/officeart/2005/8/layout/matrix1"/>
    <dgm:cxn modelId="{3002B68D-1EEF-4B41-A677-ED6DE04BCFA0}" type="presParOf" srcId="{B70B7108-244A-45C1-900C-0B8ED48ACA80}" destId="{4F123FF1-4F46-4483-ABB5-21CC8B230C3B}" srcOrd="7" destOrd="0" presId="urn:microsoft.com/office/officeart/2005/8/layout/matrix1"/>
    <dgm:cxn modelId="{5B8495FA-A7EB-4BE4-B9FD-953D04C7404B}" type="presParOf" srcId="{8F99247C-DC00-423C-9EB8-BEC915E12057}" destId="{2193E707-2B8F-40C5-B358-767BFE7C71A7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91D2962-336E-4DB6-ABE2-0B9B52646D4F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511F8C9F-BEA9-4B00-8CC5-B4B70D17B587}">
      <dgm:prSet/>
      <dgm:spPr/>
      <dgm:t>
        <a:bodyPr/>
        <a:lstStyle/>
        <a:p>
          <a:pPr algn="ctr" rtl="0"/>
          <a:r>
            <a:rPr lang="ru-RU" dirty="0"/>
            <a:t>Переговоры</a:t>
          </a:r>
        </a:p>
      </dgm:t>
    </dgm:pt>
    <dgm:pt modelId="{6737468C-3BC6-40DC-8D40-637313A14A94}" type="parTrans" cxnId="{DEDDDC00-C110-4FC7-A6D6-DD1EB1464AD9}">
      <dgm:prSet/>
      <dgm:spPr/>
      <dgm:t>
        <a:bodyPr/>
        <a:lstStyle/>
        <a:p>
          <a:pPr algn="ctr"/>
          <a:endParaRPr lang="ru-RU"/>
        </a:p>
      </dgm:t>
    </dgm:pt>
    <dgm:pt modelId="{39C3084A-97CD-4EB6-8562-F3D71E811FE2}" type="sibTrans" cxnId="{DEDDDC00-C110-4FC7-A6D6-DD1EB1464AD9}">
      <dgm:prSet/>
      <dgm:spPr/>
      <dgm:t>
        <a:bodyPr/>
        <a:lstStyle/>
        <a:p>
          <a:pPr algn="ctr"/>
          <a:endParaRPr lang="ru-RU"/>
        </a:p>
      </dgm:t>
    </dgm:pt>
    <dgm:pt modelId="{3FCE90F5-4830-4185-955C-AD23D0863A15}">
      <dgm:prSet/>
      <dgm:spPr/>
      <dgm:t>
        <a:bodyPr/>
        <a:lstStyle/>
        <a:p>
          <a:pPr algn="ctr" rtl="0"/>
          <a:r>
            <a:rPr lang="ru-RU" dirty="0"/>
            <a:t>Претензионная работа</a:t>
          </a:r>
        </a:p>
      </dgm:t>
    </dgm:pt>
    <dgm:pt modelId="{FC736BAF-7D7A-4633-9FE0-EB2FAD836ED7}" type="parTrans" cxnId="{FC106929-17D0-4E28-816A-B1CBF719A87A}">
      <dgm:prSet/>
      <dgm:spPr/>
      <dgm:t>
        <a:bodyPr/>
        <a:lstStyle/>
        <a:p>
          <a:pPr algn="ctr"/>
          <a:endParaRPr lang="ru-RU"/>
        </a:p>
      </dgm:t>
    </dgm:pt>
    <dgm:pt modelId="{58B022F6-E83A-4276-8886-74093D3CC8EC}" type="sibTrans" cxnId="{FC106929-17D0-4E28-816A-B1CBF719A87A}">
      <dgm:prSet/>
      <dgm:spPr/>
      <dgm:t>
        <a:bodyPr/>
        <a:lstStyle/>
        <a:p>
          <a:pPr algn="ctr"/>
          <a:endParaRPr lang="ru-RU"/>
        </a:p>
      </dgm:t>
    </dgm:pt>
    <dgm:pt modelId="{AF0CC477-05E1-4A4C-92A3-1D668BC26BD8}">
      <dgm:prSet/>
      <dgm:spPr/>
      <dgm:t>
        <a:bodyPr/>
        <a:lstStyle/>
        <a:p>
          <a:pPr algn="ctr" rtl="0"/>
          <a:r>
            <a:rPr lang="ru-RU"/>
            <a:t>Суд</a:t>
          </a:r>
        </a:p>
      </dgm:t>
    </dgm:pt>
    <dgm:pt modelId="{D104E4C4-FF6D-4C6E-9ABE-56AF4A853660}" type="parTrans" cxnId="{5652D382-2D9B-4DB5-8617-66BC9C38BB27}">
      <dgm:prSet/>
      <dgm:spPr/>
      <dgm:t>
        <a:bodyPr/>
        <a:lstStyle/>
        <a:p>
          <a:pPr algn="ctr"/>
          <a:endParaRPr lang="ru-RU"/>
        </a:p>
      </dgm:t>
    </dgm:pt>
    <dgm:pt modelId="{0C189455-68A9-4F5E-A002-EBF8551158EE}" type="sibTrans" cxnId="{5652D382-2D9B-4DB5-8617-66BC9C38BB27}">
      <dgm:prSet/>
      <dgm:spPr/>
      <dgm:t>
        <a:bodyPr/>
        <a:lstStyle/>
        <a:p>
          <a:pPr algn="ctr"/>
          <a:endParaRPr lang="ru-RU"/>
        </a:p>
      </dgm:t>
    </dgm:pt>
    <dgm:pt modelId="{03DFAE54-1E34-4846-AF62-EFB78BB43D33}">
      <dgm:prSet/>
      <dgm:spPr/>
      <dgm:t>
        <a:bodyPr/>
        <a:lstStyle/>
        <a:p>
          <a:pPr algn="ctr" rtl="0"/>
          <a:r>
            <a:rPr lang="ru-RU"/>
            <a:t>ФССП</a:t>
          </a:r>
        </a:p>
      </dgm:t>
    </dgm:pt>
    <dgm:pt modelId="{4D58BB45-C255-4D72-AEE3-9DF6BC924F82}" type="parTrans" cxnId="{A52D8655-9254-4DD3-A131-65314BD2D0C0}">
      <dgm:prSet/>
      <dgm:spPr/>
      <dgm:t>
        <a:bodyPr/>
        <a:lstStyle/>
        <a:p>
          <a:pPr algn="ctr"/>
          <a:endParaRPr lang="ru-RU"/>
        </a:p>
      </dgm:t>
    </dgm:pt>
    <dgm:pt modelId="{B0CBDE14-052B-4F1D-A96B-39E506CB3EF6}" type="sibTrans" cxnId="{A52D8655-9254-4DD3-A131-65314BD2D0C0}">
      <dgm:prSet/>
      <dgm:spPr/>
      <dgm:t>
        <a:bodyPr/>
        <a:lstStyle/>
        <a:p>
          <a:pPr algn="ctr"/>
          <a:endParaRPr lang="ru-RU"/>
        </a:p>
      </dgm:t>
    </dgm:pt>
    <dgm:pt modelId="{8B31C5C5-4324-4D45-BF9F-3CFA36F172F9}">
      <dgm:prSet/>
      <dgm:spPr/>
      <dgm:t>
        <a:bodyPr/>
        <a:lstStyle/>
        <a:p>
          <a:pPr algn="ctr" rtl="0"/>
          <a:r>
            <a:rPr lang="ru-RU" dirty="0"/>
            <a:t>Банкротство</a:t>
          </a:r>
        </a:p>
      </dgm:t>
    </dgm:pt>
    <dgm:pt modelId="{CC083A47-1357-4A74-AA00-F7EA91C03A4E}" type="parTrans" cxnId="{EA08BCE4-7FAD-46C2-904C-C94204462C44}">
      <dgm:prSet/>
      <dgm:spPr/>
      <dgm:t>
        <a:bodyPr/>
        <a:lstStyle/>
        <a:p>
          <a:pPr algn="ctr"/>
          <a:endParaRPr lang="ru-RU"/>
        </a:p>
      </dgm:t>
    </dgm:pt>
    <dgm:pt modelId="{C46BCC52-472D-4118-864E-8EF3861AA1A9}" type="sibTrans" cxnId="{EA08BCE4-7FAD-46C2-904C-C94204462C44}">
      <dgm:prSet/>
      <dgm:spPr/>
      <dgm:t>
        <a:bodyPr/>
        <a:lstStyle/>
        <a:p>
          <a:pPr algn="ctr"/>
          <a:endParaRPr lang="ru-RU"/>
        </a:p>
      </dgm:t>
    </dgm:pt>
    <dgm:pt modelId="{04F85164-99DF-4435-9ED9-EB07A6B8B2AA}" type="pres">
      <dgm:prSet presAssocID="{991D2962-336E-4DB6-ABE2-0B9B52646D4F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CF62D5A-B648-4336-88E2-F1285F6BBD31}" type="pres">
      <dgm:prSet presAssocID="{8B31C5C5-4324-4D45-BF9F-3CFA36F172F9}" presName="boxAndChildren" presStyleCnt="0"/>
      <dgm:spPr/>
    </dgm:pt>
    <dgm:pt modelId="{7C5AA224-43B2-4E5B-922E-F6B18A62B97B}" type="pres">
      <dgm:prSet presAssocID="{8B31C5C5-4324-4D45-BF9F-3CFA36F172F9}" presName="parentTextBox" presStyleLbl="node1" presStyleIdx="0" presStyleCnt="5" custLinFactNeighborY="50339"/>
      <dgm:spPr/>
      <dgm:t>
        <a:bodyPr/>
        <a:lstStyle/>
        <a:p>
          <a:endParaRPr lang="ru-RU"/>
        </a:p>
      </dgm:t>
    </dgm:pt>
    <dgm:pt modelId="{31ED3FB1-0899-49A0-968F-4AA1A25F33C8}" type="pres">
      <dgm:prSet presAssocID="{B0CBDE14-052B-4F1D-A96B-39E506CB3EF6}" presName="sp" presStyleCnt="0"/>
      <dgm:spPr/>
    </dgm:pt>
    <dgm:pt modelId="{F59E6A61-4C8A-4CE3-B63C-26C43691F367}" type="pres">
      <dgm:prSet presAssocID="{03DFAE54-1E34-4846-AF62-EFB78BB43D33}" presName="arrowAndChildren" presStyleCnt="0"/>
      <dgm:spPr/>
    </dgm:pt>
    <dgm:pt modelId="{E2D549FA-79B1-4910-90D5-C5F5E69D6D28}" type="pres">
      <dgm:prSet presAssocID="{03DFAE54-1E34-4846-AF62-EFB78BB43D33}" presName="parentTextArrow" presStyleLbl="node1" presStyleIdx="1" presStyleCnt="5" custLinFactNeighborX="56477" custLinFactNeighborY="23705"/>
      <dgm:spPr/>
      <dgm:t>
        <a:bodyPr/>
        <a:lstStyle/>
        <a:p>
          <a:endParaRPr lang="ru-RU"/>
        </a:p>
      </dgm:t>
    </dgm:pt>
    <dgm:pt modelId="{4B403D03-7736-46C2-8CB4-872E5D9000C0}" type="pres">
      <dgm:prSet presAssocID="{0C189455-68A9-4F5E-A002-EBF8551158EE}" presName="sp" presStyleCnt="0"/>
      <dgm:spPr/>
    </dgm:pt>
    <dgm:pt modelId="{EA7BEC21-8057-46FA-A0F8-513938D09D77}" type="pres">
      <dgm:prSet presAssocID="{AF0CC477-05E1-4A4C-92A3-1D668BC26BD8}" presName="arrowAndChildren" presStyleCnt="0"/>
      <dgm:spPr/>
    </dgm:pt>
    <dgm:pt modelId="{2500BD8E-611F-482D-B54A-EEF68166B9C4}" type="pres">
      <dgm:prSet presAssocID="{AF0CC477-05E1-4A4C-92A3-1D668BC26BD8}" presName="parentTextArrow" presStyleLbl="node1" presStyleIdx="2" presStyleCnt="5" custLinFactNeighborX="56477" custLinFactNeighborY="23705"/>
      <dgm:spPr/>
      <dgm:t>
        <a:bodyPr/>
        <a:lstStyle/>
        <a:p>
          <a:endParaRPr lang="ru-RU"/>
        </a:p>
      </dgm:t>
    </dgm:pt>
    <dgm:pt modelId="{B3721593-ACB4-4524-B124-E2BC721C1671}" type="pres">
      <dgm:prSet presAssocID="{58B022F6-E83A-4276-8886-74093D3CC8EC}" presName="sp" presStyleCnt="0"/>
      <dgm:spPr/>
    </dgm:pt>
    <dgm:pt modelId="{CF766955-1CCE-437C-B9F1-7E25654BC356}" type="pres">
      <dgm:prSet presAssocID="{3FCE90F5-4830-4185-955C-AD23D0863A15}" presName="arrowAndChildren" presStyleCnt="0"/>
      <dgm:spPr/>
    </dgm:pt>
    <dgm:pt modelId="{E8C92A76-F903-48C7-A8C5-E60AD8ACD2EF}" type="pres">
      <dgm:prSet presAssocID="{3FCE90F5-4830-4185-955C-AD23D0863A15}" presName="parentTextArrow" presStyleLbl="node1" presStyleIdx="3" presStyleCnt="5" custLinFactNeighborX="9067" custLinFactNeighborY="23705"/>
      <dgm:spPr/>
      <dgm:t>
        <a:bodyPr/>
        <a:lstStyle/>
        <a:p>
          <a:endParaRPr lang="ru-RU"/>
        </a:p>
      </dgm:t>
    </dgm:pt>
    <dgm:pt modelId="{A41EDFAD-18F1-4D50-874B-278AF0F8568E}" type="pres">
      <dgm:prSet presAssocID="{39C3084A-97CD-4EB6-8562-F3D71E811FE2}" presName="sp" presStyleCnt="0"/>
      <dgm:spPr/>
    </dgm:pt>
    <dgm:pt modelId="{AACE0EA4-0989-4000-A555-ED113A969D4E}" type="pres">
      <dgm:prSet presAssocID="{511F8C9F-BEA9-4B00-8CC5-B4B70D17B587}" presName="arrowAndChildren" presStyleCnt="0"/>
      <dgm:spPr/>
    </dgm:pt>
    <dgm:pt modelId="{BD63CF7F-1970-4E8A-AB67-241CEAA5B5BA}" type="pres">
      <dgm:prSet presAssocID="{511F8C9F-BEA9-4B00-8CC5-B4B70D17B587}" presName="parentTextArrow" presStyleLbl="node1" presStyleIdx="4" presStyleCnt="5" custLinFactNeighborX="56477" custLinFactNeighborY="23705"/>
      <dgm:spPr/>
      <dgm:t>
        <a:bodyPr/>
        <a:lstStyle/>
        <a:p>
          <a:endParaRPr lang="ru-RU"/>
        </a:p>
      </dgm:t>
    </dgm:pt>
  </dgm:ptLst>
  <dgm:cxnLst>
    <dgm:cxn modelId="{A51B0CD3-AD61-4C66-9814-11A7E8102369}" type="presOf" srcId="{3FCE90F5-4830-4185-955C-AD23D0863A15}" destId="{E8C92A76-F903-48C7-A8C5-E60AD8ACD2EF}" srcOrd="0" destOrd="0" presId="urn:microsoft.com/office/officeart/2005/8/layout/process4"/>
    <dgm:cxn modelId="{CDDB7078-D875-435C-9F10-18B70181BAB0}" type="presOf" srcId="{8B31C5C5-4324-4D45-BF9F-3CFA36F172F9}" destId="{7C5AA224-43B2-4E5B-922E-F6B18A62B97B}" srcOrd="0" destOrd="0" presId="urn:microsoft.com/office/officeart/2005/8/layout/process4"/>
    <dgm:cxn modelId="{5652D382-2D9B-4DB5-8617-66BC9C38BB27}" srcId="{991D2962-336E-4DB6-ABE2-0B9B52646D4F}" destId="{AF0CC477-05E1-4A4C-92A3-1D668BC26BD8}" srcOrd="2" destOrd="0" parTransId="{D104E4C4-FF6D-4C6E-9ABE-56AF4A853660}" sibTransId="{0C189455-68A9-4F5E-A002-EBF8551158EE}"/>
    <dgm:cxn modelId="{EA08BCE4-7FAD-46C2-904C-C94204462C44}" srcId="{991D2962-336E-4DB6-ABE2-0B9B52646D4F}" destId="{8B31C5C5-4324-4D45-BF9F-3CFA36F172F9}" srcOrd="4" destOrd="0" parTransId="{CC083A47-1357-4A74-AA00-F7EA91C03A4E}" sibTransId="{C46BCC52-472D-4118-864E-8EF3861AA1A9}"/>
    <dgm:cxn modelId="{A52D8655-9254-4DD3-A131-65314BD2D0C0}" srcId="{991D2962-336E-4DB6-ABE2-0B9B52646D4F}" destId="{03DFAE54-1E34-4846-AF62-EFB78BB43D33}" srcOrd="3" destOrd="0" parTransId="{4D58BB45-C255-4D72-AEE3-9DF6BC924F82}" sibTransId="{B0CBDE14-052B-4F1D-A96B-39E506CB3EF6}"/>
    <dgm:cxn modelId="{9163BBEA-E422-4CBB-9CEA-81C2A8086DC0}" type="presOf" srcId="{991D2962-336E-4DB6-ABE2-0B9B52646D4F}" destId="{04F85164-99DF-4435-9ED9-EB07A6B8B2AA}" srcOrd="0" destOrd="0" presId="urn:microsoft.com/office/officeart/2005/8/layout/process4"/>
    <dgm:cxn modelId="{FC106929-17D0-4E28-816A-B1CBF719A87A}" srcId="{991D2962-336E-4DB6-ABE2-0B9B52646D4F}" destId="{3FCE90F5-4830-4185-955C-AD23D0863A15}" srcOrd="1" destOrd="0" parTransId="{FC736BAF-7D7A-4633-9FE0-EB2FAD836ED7}" sibTransId="{58B022F6-E83A-4276-8886-74093D3CC8EC}"/>
    <dgm:cxn modelId="{025354CA-6284-4D2A-AAB0-879545D9506B}" type="presOf" srcId="{511F8C9F-BEA9-4B00-8CC5-B4B70D17B587}" destId="{BD63CF7F-1970-4E8A-AB67-241CEAA5B5BA}" srcOrd="0" destOrd="0" presId="urn:microsoft.com/office/officeart/2005/8/layout/process4"/>
    <dgm:cxn modelId="{BA624B31-A981-45B6-8559-CB53B5EEA636}" type="presOf" srcId="{03DFAE54-1E34-4846-AF62-EFB78BB43D33}" destId="{E2D549FA-79B1-4910-90D5-C5F5E69D6D28}" srcOrd="0" destOrd="0" presId="urn:microsoft.com/office/officeart/2005/8/layout/process4"/>
    <dgm:cxn modelId="{DEDDDC00-C110-4FC7-A6D6-DD1EB1464AD9}" srcId="{991D2962-336E-4DB6-ABE2-0B9B52646D4F}" destId="{511F8C9F-BEA9-4B00-8CC5-B4B70D17B587}" srcOrd="0" destOrd="0" parTransId="{6737468C-3BC6-40DC-8D40-637313A14A94}" sibTransId="{39C3084A-97CD-4EB6-8562-F3D71E811FE2}"/>
    <dgm:cxn modelId="{C653C51C-85D4-498A-AB19-9F3C02E988B1}" type="presOf" srcId="{AF0CC477-05E1-4A4C-92A3-1D668BC26BD8}" destId="{2500BD8E-611F-482D-B54A-EEF68166B9C4}" srcOrd="0" destOrd="0" presId="urn:microsoft.com/office/officeart/2005/8/layout/process4"/>
    <dgm:cxn modelId="{99541495-0AA3-4B86-90DF-665DF1196A22}" type="presParOf" srcId="{04F85164-99DF-4435-9ED9-EB07A6B8B2AA}" destId="{ECF62D5A-B648-4336-88E2-F1285F6BBD31}" srcOrd="0" destOrd="0" presId="urn:microsoft.com/office/officeart/2005/8/layout/process4"/>
    <dgm:cxn modelId="{38D0F3DF-2C5A-4BFA-96C3-9D98579C91B7}" type="presParOf" srcId="{ECF62D5A-B648-4336-88E2-F1285F6BBD31}" destId="{7C5AA224-43B2-4E5B-922E-F6B18A62B97B}" srcOrd="0" destOrd="0" presId="urn:microsoft.com/office/officeart/2005/8/layout/process4"/>
    <dgm:cxn modelId="{E8C6F66F-D3A5-4437-8773-22C983E5A8AD}" type="presParOf" srcId="{04F85164-99DF-4435-9ED9-EB07A6B8B2AA}" destId="{31ED3FB1-0899-49A0-968F-4AA1A25F33C8}" srcOrd="1" destOrd="0" presId="urn:microsoft.com/office/officeart/2005/8/layout/process4"/>
    <dgm:cxn modelId="{E16A0D5F-05B0-4AF6-B0C6-9BABC5102DB3}" type="presParOf" srcId="{04F85164-99DF-4435-9ED9-EB07A6B8B2AA}" destId="{F59E6A61-4C8A-4CE3-B63C-26C43691F367}" srcOrd="2" destOrd="0" presId="urn:microsoft.com/office/officeart/2005/8/layout/process4"/>
    <dgm:cxn modelId="{B2F05FB1-AFEE-47C0-AA54-C857E1558CFF}" type="presParOf" srcId="{F59E6A61-4C8A-4CE3-B63C-26C43691F367}" destId="{E2D549FA-79B1-4910-90D5-C5F5E69D6D28}" srcOrd="0" destOrd="0" presId="urn:microsoft.com/office/officeart/2005/8/layout/process4"/>
    <dgm:cxn modelId="{093058C5-6424-4092-A5D6-D5B4A341C507}" type="presParOf" srcId="{04F85164-99DF-4435-9ED9-EB07A6B8B2AA}" destId="{4B403D03-7736-46C2-8CB4-872E5D9000C0}" srcOrd="3" destOrd="0" presId="urn:microsoft.com/office/officeart/2005/8/layout/process4"/>
    <dgm:cxn modelId="{AB1CDB7D-687D-4998-928D-E706FE7B0B59}" type="presParOf" srcId="{04F85164-99DF-4435-9ED9-EB07A6B8B2AA}" destId="{EA7BEC21-8057-46FA-A0F8-513938D09D77}" srcOrd="4" destOrd="0" presId="urn:microsoft.com/office/officeart/2005/8/layout/process4"/>
    <dgm:cxn modelId="{4C8AE769-3878-4270-A3B9-FFE9E5E77F57}" type="presParOf" srcId="{EA7BEC21-8057-46FA-A0F8-513938D09D77}" destId="{2500BD8E-611F-482D-B54A-EEF68166B9C4}" srcOrd="0" destOrd="0" presId="urn:microsoft.com/office/officeart/2005/8/layout/process4"/>
    <dgm:cxn modelId="{F2040A27-18F5-4322-8C82-5B009D687210}" type="presParOf" srcId="{04F85164-99DF-4435-9ED9-EB07A6B8B2AA}" destId="{B3721593-ACB4-4524-B124-E2BC721C1671}" srcOrd="5" destOrd="0" presId="urn:microsoft.com/office/officeart/2005/8/layout/process4"/>
    <dgm:cxn modelId="{1C4EDC06-6AC9-42C9-BB70-4DAC5A2FE2D1}" type="presParOf" srcId="{04F85164-99DF-4435-9ED9-EB07A6B8B2AA}" destId="{CF766955-1CCE-437C-B9F1-7E25654BC356}" srcOrd="6" destOrd="0" presId="urn:microsoft.com/office/officeart/2005/8/layout/process4"/>
    <dgm:cxn modelId="{25BF41D5-78AA-48A6-8200-E86C6A185E33}" type="presParOf" srcId="{CF766955-1CCE-437C-B9F1-7E25654BC356}" destId="{E8C92A76-F903-48C7-A8C5-E60AD8ACD2EF}" srcOrd="0" destOrd="0" presId="urn:microsoft.com/office/officeart/2005/8/layout/process4"/>
    <dgm:cxn modelId="{66B43F30-72F4-4D64-9C0A-31B77211F362}" type="presParOf" srcId="{04F85164-99DF-4435-9ED9-EB07A6B8B2AA}" destId="{A41EDFAD-18F1-4D50-874B-278AF0F8568E}" srcOrd="7" destOrd="0" presId="urn:microsoft.com/office/officeart/2005/8/layout/process4"/>
    <dgm:cxn modelId="{4B942B5E-4E1B-4894-BC84-A6645A12667B}" type="presParOf" srcId="{04F85164-99DF-4435-9ED9-EB07A6B8B2AA}" destId="{AACE0EA4-0989-4000-A555-ED113A969D4E}" srcOrd="8" destOrd="0" presId="urn:microsoft.com/office/officeart/2005/8/layout/process4"/>
    <dgm:cxn modelId="{42EB37CA-5112-4FD3-ADFC-3E80681DAFFC}" type="presParOf" srcId="{AACE0EA4-0989-4000-A555-ED113A969D4E}" destId="{BD63CF7F-1970-4E8A-AB67-241CEAA5B5BA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9D4D8F-7377-42BC-9E2C-EDB2DDD3E834}">
      <dsp:nvSpPr>
        <dsp:cNvPr id="0" name=""/>
        <dsp:cNvSpPr/>
      </dsp:nvSpPr>
      <dsp:spPr>
        <a:xfrm>
          <a:off x="0" y="1610062"/>
          <a:ext cx="3076831" cy="52845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 dirty="0"/>
            <a:t>Возврат долга</a:t>
          </a:r>
        </a:p>
      </dsp:txBody>
      <dsp:txXfrm>
        <a:off x="0" y="1610062"/>
        <a:ext cx="3076831" cy="528458"/>
      </dsp:txXfrm>
    </dsp:sp>
    <dsp:sp modelId="{99A7594E-59D9-4CDE-86A0-134082158749}">
      <dsp:nvSpPr>
        <dsp:cNvPr id="0" name=""/>
        <dsp:cNvSpPr/>
      </dsp:nvSpPr>
      <dsp:spPr>
        <a:xfrm rot="10800000">
          <a:off x="0" y="795857"/>
          <a:ext cx="3076831" cy="812769"/>
        </a:xfrm>
        <a:prstGeom prst="upArrowCallou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 dirty="0"/>
            <a:t>Работа в рамках согласованной отсрочки</a:t>
          </a:r>
        </a:p>
      </dsp:txBody>
      <dsp:txXfrm rot="10800000">
        <a:off x="0" y="795857"/>
        <a:ext cx="3076831" cy="528113"/>
      </dsp:txXfrm>
    </dsp:sp>
    <dsp:sp modelId="{9665201F-4D3A-42CC-ADAF-298756CC6DC4}">
      <dsp:nvSpPr>
        <dsp:cNvPr id="0" name=""/>
        <dsp:cNvSpPr/>
      </dsp:nvSpPr>
      <dsp:spPr>
        <a:xfrm rot="10800000">
          <a:off x="0" y="378"/>
          <a:ext cx="3076831" cy="812769"/>
        </a:xfrm>
        <a:prstGeom prst="upArrowCallou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 dirty="0"/>
            <a:t>Проверка Клиента</a:t>
          </a:r>
        </a:p>
      </dsp:txBody>
      <dsp:txXfrm rot="10800000">
        <a:off x="0" y="378"/>
        <a:ext cx="3076831" cy="5281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1EFFB2-EDC5-4067-ADA0-957C4A7151B9}">
      <dsp:nvSpPr>
        <dsp:cNvPr id="0" name=""/>
        <dsp:cNvSpPr/>
      </dsp:nvSpPr>
      <dsp:spPr>
        <a:xfrm rot="16200000">
          <a:off x="148066" y="-148066"/>
          <a:ext cx="1313417" cy="1609550"/>
        </a:xfrm>
        <a:prstGeom prst="round1Rect">
          <a:avLst/>
        </a:prstGeom>
        <a:solidFill>
          <a:schemeClr val="accent6">
            <a:lumMod val="75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/>
            <a:t>Коммерческая служба</a:t>
          </a:r>
        </a:p>
      </dsp:txBody>
      <dsp:txXfrm rot="5400000">
        <a:off x="0" y="0"/>
        <a:ext cx="1609550" cy="985063"/>
      </dsp:txXfrm>
    </dsp:sp>
    <dsp:sp modelId="{24F35AA7-3290-498C-AD4D-79137005FDC3}">
      <dsp:nvSpPr>
        <dsp:cNvPr id="0" name=""/>
        <dsp:cNvSpPr/>
      </dsp:nvSpPr>
      <dsp:spPr>
        <a:xfrm>
          <a:off x="1609550" y="0"/>
          <a:ext cx="1609550" cy="1313417"/>
        </a:xfrm>
        <a:prstGeom prst="round1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/>
            <a:t>Служба безопасности</a:t>
          </a:r>
        </a:p>
      </dsp:txBody>
      <dsp:txXfrm>
        <a:off x="1609550" y="0"/>
        <a:ext cx="1609550" cy="985063"/>
      </dsp:txXfrm>
    </dsp:sp>
    <dsp:sp modelId="{D41008BD-DCB9-494F-9EC3-31B6A608C054}">
      <dsp:nvSpPr>
        <dsp:cNvPr id="0" name=""/>
        <dsp:cNvSpPr/>
      </dsp:nvSpPr>
      <dsp:spPr>
        <a:xfrm rot="10800000">
          <a:off x="0" y="1313417"/>
          <a:ext cx="1609550" cy="1313417"/>
        </a:xfrm>
        <a:prstGeom prst="round1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/>
            <a:t>Финансовая служба</a:t>
          </a:r>
        </a:p>
      </dsp:txBody>
      <dsp:txXfrm rot="10800000">
        <a:off x="0" y="1641771"/>
        <a:ext cx="1609550" cy="985063"/>
      </dsp:txXfrm>
    </dsp:sp>
    <dsp:sp modelId="{6B1A51D4-5962-435E-B8AF-5396AA185F33}">
      <dsp:nvSpPr>
        <dsp:cNvPr id="0" name=""/>
        <dsp:cNvSpPr/>
      </dsp:nvSpPr>
      <dsp:spPr>
        <a:xfrm rot="5400000">
          <a:off x="1745126" y="1155159"/>
          <a:ext cx="1313417" cy="1609550"/>
        </a:xfrm>
        <a:prstGeom prst="round1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/>
            <a:t>Юридический департамент </a:t>
          </a:r>
        </a:p>
      </dsp:txBody>
      <dsp:txXfrm rot="-5400000">
        <a:off x="1597060" y="1631579"/>
        <a:ext cx="1609550" cy="985063"/>
      </dsp:txXfrm>
    </dsp:sp>
    <dsp:sp modelId="{2193E707-2B8F-40C5-B358-767BFE7C71A7}">
      <dsp:nvSpPr>
        <dsp:cNvPr id="0" name=""/>
        <dsp:cNvSpPr/>
      </dsp:nvSpPr>
      <dsp:spPr>
        <a:xfrm>
          <a:off x="836550" y="858177"/>
          <a:ext cx="1545998" cy="910480"/>
        </a:xfrm>
        <a:prstGeom prst="roundRect">
          <a:avLst/>
        </a:prstGeom>
        <a:solidFill>
          <a:srgbClr val="FF0000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kern="1200" dirty="0"/>
            <a:t>ДЕБИТОРКА</a:t>
          </a:r>
        </a:p>
      </dsp:txBody>
      <dsp:txXfrm>
        <a:off x="880996" y="902623"/>
        <a:ext cx="1457106" cy="8215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5AA224-43B2-4E5B-922E-F6B18A62B97B}">
      <dsp:nvSpPr>
        <dsp:cNvPr id="0" name=""/>
        <dsp:cNvSpPr/>
      </dsp:nvSpPr>
      <dsp:spPr>
        <a:xfrm>
          <a:off x="0" y="2361860"/>
          <a:ext cx="2612961" cy="3872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 dirty="0"/>
            <a:t>Банкротство</a:t>
          </a:r>
        </a:p>
      </dsp:txBody>
      <dsp:txXfrm>
        <a:off x="0" y="2361860"/>
        <a:ext cx="2612961" cy="387267"/>
      </dsp:txXfrm>
    </dsp:sp>
    <dsp:sp modelId="{E2D549FA-79B1-4910-90D5-C5F5E69D6D28}">
      <dsp:nvSpPr>
        <dsp:cNvPr id="0" name=""/>
        <dsp:cNvSpPr/>
      </dsp:nvSpPr>
      <dsp:spPr>
        <a:xfrm rot="10800000">
          <a:off x="0" y="1911929"/>
          <a:ext cx="2612961" cy="595617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/>
            <a:t>ФССП</a:t>
          </a:r>
        </a:p>
      </dsp:txBody>
      <dsp:txXfrm rot="10800000">
        <a:off x="0" y="1911929"/>
        <a:ext cx="2612961" cy="387014"/>
      </dsp:txXfrm>
    </dsp:sp>
    <dsp:sp modelId="{2500BD8E-611F-482D-B54A-EEF68166B9C4}">
      <dsp:nvSpPr>
        <dsp:cNvPr id="0" name=""/>
        <dsp:cNvSpPr/>
      </dsp:nvSpPr>
      <dsp:spPr>
        <a:xfrm rot="10800000">
          <a:off x="0" y="1322121"/>
          <a:ext cx="2612961" cy="595617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/>
            <a:t>Суд</a:t>
          </a:r>
        </a:p>
      </dsp:txBody>
      <dsp:txXfrm rot="10800000">
        <a:off x="0" y="1322121"/>
        <a:ext cx="2612961" cy="387014"/>
      </dsp:txXfrm>
    </dsp:sp>
    <dsp:sp modelId="{E8C92A76-F903-48C7-A8C5-E60AD8ACD2EF}">
      <dsp:nvSpPr>
        <dsp:cNvPr id="0" name=""/>
        <dsp:cNvSpPr/>
      </dsp:nvSpPr>
      <dsp:spPr>
        <a:xfrm rot="10800000">
          <a:off x="0" y="732313"/>
          <a:ext cx="2612961" cy="595617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 dirty="0"/>
            <a:t>Претензионная работа</a:t>
          </a:r>
        </a:p>
      </dsp:txBody>
      <dsp:txXfrm rot="10800000">
        <a:off x="0" y="732313"/>
        <a:ext cx="2612961" cy="387014"/>
      </dsp:txXfrm>
    </dsp:sp>
    <dsp:sp modelId="{BD63CF7F-1970-4E8A-AB67-241CEAA5B5BA}">
      <dsp:nvSpPr>
        <dsp:cNvPr id="0" name=""/>
        <dsp:cNvSpPr/>
      </dsp:nvSpPr>
      <dsp:spPr>
        <a:xfrm rot="10800000">
          <a:off x="0" y="142505"/>
          <a:ext cx="2612961" cy="595617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 dirty="0"/>
            <a:t>Переговоры</a:t>
          </a:r>
        </a:p>
      </dsp:txBody>
      <dsp:txXfrm rot="10800000">
        <a:off x="0" y="142505"/>
        <a:ext cx="2612961" cy="3870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56AD17-C8BE-0042-A047-B264E547F3F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10AB3A-EF41-3C43-86EF-13128BED826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71144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10711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224604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87124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10831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21566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68230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75818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72603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11887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6502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41329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852093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957128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35322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859516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75848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491595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75622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270534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2175731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644026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074368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107118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2246043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871247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108314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215663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6823069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758181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726034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118875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650244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4132946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852093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957128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353228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859516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758488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4915954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75622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270534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21757317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6440269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07436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18691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7748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18691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7748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3566EB60-5257-494F-9E72-845827F2B1F6}"/>
              </a:ext>
            </a:extLst>
          </p:cNvPr>
          <p:cNvSpPr txBox="1"/>
          <p:nvPr/>
        </p:nvSpPr>
        <p:spPr>
          <a:xfrm>
            <a:off x="1826919" y="4016929"/>
            <a:ext cx="49685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Евгений Соловьев</a:t>
            </a:r>
            <a:r>
              <a:rPr lang="en-US" b="1" dirty="0"/>
              <a:t/>
            </a:r>
            <a:br>
              <a:rPr lang="en-US" b="1" dirty="0"/>
            </a:br>
            <a:r>
              <a:rPr lang="ru-RU" sz="1400" dirty="0"/>
              <a:t>руководитель направления аналитики ЭЛКOM-ЭЛEКТРО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="" xmlns:a16="http://schemas.microsoft.com/office/drawing/2014/main" id="{64823E2A-C44A-42E2-B622-4E22EC2080D9}"/>
              </a:ext>
            </a:extLst>
          </p:cNvPr>
          <p:cNvSpPr/>
          <p:nvPr/>
        </p:nvSpPr>
        <p:spPr>
          <a:xfrm>
            <a:off x="7097802" y="523777"/>
            <a:ext cx="13921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CE1325"/>
                </a:solidFill>
              </a:rPr>
              <a:t>school.gd.ru</a:t>
            </a:r>
            <a:r>
              <a:rPr lang="ru-RU" dirty="0" smtClean="0">
                <a:solidFill>
                  <a:srgbClr val="CE1325"/>
                </a:solidFill>
              </a:rPr>
              <a:t> </a:t>
            </a:r>
            <a:endParaRPr lang="ru-RU" dirty="0">
              <a:solidFill>
                <a:srgbClr val="CE1325"/>
              </a:solidFill>
            </a:endParaRPr>
          </a:p>
        </p:txBody>
      </p:sp>
      <p:pic>
        <p:nvPicPr>
          <p:cNvPr id="10" name="Изображение 2">
            <a:extLst>
              <a:ext uri="{FF2B5EF4-FFF2-40B4-BE49-F238E27FC236}">
                <a16:creationId xmlns="" xmlns:a16="http://schemas.microsoft.com/office/drawing/2014/main" id="{3C266811-C323-46A5-8586-C0A0BD782B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66608" y="3451939"/>
            <a:ext cx="1060310" cy="1092935"/>
          </a:xfrm>
          <a:prstGeom prst="rect">
            <a:avLst/>
          </a:prstGeom>
        </p:spPr>
      </p:pic>
      <p:sp>
        <p:nvSpPr>
          <p:cNvPr id="11" name="Название 1">
            <a:extLst>
              <a:ext uri="{FF2B5EF4-FFF2-40B4-BE49-F238E27FC236}">
                <a16:creationId xmlns="" xmlns:a16="http://schemas.microsoft.com/office/drawing/2014/main" id="{83B216AE-E002-4B69-8586-A1804C935C1E}"/>
              </a:ext>
            </a:extLst>
          </p:cNvPr>
          <p:cNvSpPr txBox="1">
            <a:spLocks/>
          </p:cNvSpPr>
          <p:nvPr/>
        </p:nvSpPr>
        <p:spPr>
          <a:xfrm>
            <a:off x="535923" y="1629707"/>
            <a:ext cx="7772400" cy="182595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91000"/>
              </a:lnSpc>
            </a:pPr>
            <a:r>
              <a:rPr lang="ru-RU" sz="3600" b="1" dirty="0"/>
              <a:t>Распределение ответственности и оперативная работа по возврату долгов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xmlns="" val="803805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11" name="Название 1">
            <a:extLst>
              <a:ext uri="{FF2B5EF4-FFF2-40B4-BE49-F238E27FC236}">
                <a16:creationId xmlns="" xmlns:a16="http://schemas.microsoft.com/office/drawing/2014/main" id="{83B216AE-E002-4B69-8586-A1804C935C1E}"/>
              </a:ext>
            </a:extLst>
          </p:cNvPr>
          <p:cNvSpPr txBox="1">
            <a:spLocks/>
          </p:cNvSpPr>
          <p:nvPr/>
        </p:nvSpPr>
        <p:spPr>
          <a:xfrm>
            <a:off x="604992" y="2042932"/>
            <a:ext cx="7772400" cy="182595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91000"/>
              </a:lnSpc>
            </a:pPr>
            <a:r>
              <a:rPr lang="ru-RU" sz="3600" b="1" dirty="0"/>
              <a:t>Как регламентировать управление дебиторской задолженностью</a:t>
            </a:r>
            <a:endParaRPr lang="ru-RU" sz="36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C05AD5CA-9A55-4C48-8381-BC6B17EBB4C6}"/>
              </a:ext>
            </a:extLst>
          </p:cNvPr>
          <p:cNvSpPr/>
          <p:nvPr/>
        </p:nvSpPr>
        <p:spPr>
          <a:xfrm>
            <a:off x="583482" y="4294939"/>
            <a:ext cx="5714371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Распределение ответственности и оперативная работа по возврату долгов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8072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04992" y="2563871"/>
            <a:ext cx="3642871" cy="1624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Название 1"/>
          <p:cNvSpPr txBox="1">
            <a:spLocks/>
          </p:cNvSpPr>
          <p:nvPr/>
        </p:nvSpPr>
        <p:spPr>
          <a:xfrm>
            <a:off x="604992" y="1712550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11" name="Название 1">
            <a:extLst>
              <a:ext uri="{FF2B5EF4-FFF2-40B4-BE49-F238E27FC236}">
                <a16:creationId xmlns="" xmlns:a16="http://schemas.microsoft.com/office/drawing/2014/main" id="{83B216AE-E002-4B69-8586-A1804C935C1E}"/>
              </a:ext>
            </a:extLst>
          </p:cNvPr>
          <p:cNvSpPr txBox="1">
            <a:spLocks/>
          </p:cNvSpPr>
          <p:nvPr/>
        </p:nvSpPr>
        <p:spPr>
          <a:xfrm>
            <a:off x="539449" y="1236340"/>
            <a:ext cx="4036965" cy="421709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800" b="1" dirty="0"/>
              <a:t>Дебиторская задолженность в торговой компании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C05AD5CA-9A55-4C48-8381-BC6B17EBB4C6}"/>
              </a:ext>
            </a:extLst>
          </p:cNvPr>
          <p:cNvSpPr/>
          <p:nvPr/>
        </p:nvSpPr>
        <p:spPr>
          <a:xfrm>
            <a:off x="583482" y="4294939"/>
            <a:ext cx="5714371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Распределение ответственности и оперативная работа по возврату долгов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16532" y="1981479"/>
            <a:ext cx="3882800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indent="-180000">
              <a:spcBef>
                <a:spcPts val="600"/>
              </a:spcBef>
              <a:buFont typeface="Arial" pitchFamily="34" charset="0"/>
              <a:buChar char="•"/>
            </a:pPr>
            <a:r>
              <a:rPr lang="ru-RU" sz="1200" dirty="0" err="1"/>
              <a:t>Дебиторка</a:t>
            </a:r>
            <a:r>
              <a:rPr lang="ru-RU" sz="1200" dirty="0"/>
              <a:t> покупателей (отсрочка платежа при отгрузке товара без предоплаты).</a:t>
            </a:r>
          </a:p>
          <a:p>
            <a:pPr marL="180000" indent="-180000">
              <a:spcBef>
                <a:spcPts val="600"/>
              </a:spcBef>
              <a:buFont typeface="Arial" pitchFamily="34" charset="0"/>
              <a:buChar char="•"/>
            </a:pPr>
            <a:r>
              <a:rPr lang="ru-RU" sz="1200" dirty="0" err="1"/>
              <a:t>Дебиторка</a:t>
            </a:r>
            <a:r>
              <a:rPr lang="ru-RU" sz="1200" dirty="0"/>
              <a:t> поставщиков/подрядчиков (предоплата).</a:t>
            </a:r>
          </a:p>
          <a:p>
            <a:pPr marL="285750" indent="-285750">
              <a:buFont typeface="Arial" pitchFamily="34" charset="0"/>
              <a:buChar char="•"/>
            </a:pPr>
            <a:endParaRPr lang="ru-RU" sz="2400" dirty="0"/>
          </a:p>
        </p:txBody>
      </p:sp>
      <p:sp>
        <p:nvSpPr>
          <p:cNvPr id="8" name="Прямоугольник: скругленные углы 1">
            <a:extLst>
              <a:ext uri="{FF2B5EF4-FFF2-40B4-BE49-F238E27FC236}">
                <a16:creationId xmlns="" xmlns:a16="http://schemas.microsoft.com/office/drawing/2014/main" id="{5E6955CC-2921-4063-A72A-2F71B6491FEC}"/>
              </a:ext>
            </a:extLst>
          </p:cNvPr>
          <p:cNvSpPr/>
          <p:nvPr/>
        </p:nvSpPr>
        <p:spPr>
          <a:xfrm>
            <a:off x="547806" y="1981479"/>
            <a:ext cx="4071259" cy="428297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65609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604992" y="1712550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11" name="Название 1">
            <a:extLst>
              <a:ext uri="{FF2B5EF4-FFF2-40B4-BE49-F238E27FC236}">
                <a16:creationId xmlns="" xmlns:a16="http://schemas.microsoft.com/office/drawing/2014/main" id="{83B216AE-E002-4B69-8586-A1804C935C1E}"/>
              </a:ext>
            </a:extLst>
          </p:cNvPr>
          <p:cNvSpPr txBox="1">
            <a:spLocks/>
          </p:cNvSpPr>
          <p:nvPr/>
        </p:nvSpPr>
        <p:spPr>
          <a:xfrm>
            <a:off x="541092" y="1290841"/>
            <a:ext cx="4648582" cy="421709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91000"/>
              </a:lnSpc>
            </a:pPr>
            <a:r>
              <a:rPr lang="ru-RU" sz="1800" b="1" dirty="0"/>
              <a:t>Этапы работы с </a:t>
            </a:r>
            <a:r>
              <a:rPr lang="ru-RU" sz="1800" b="1" dirty="0" err="1"/>
              <a:t>дебиторкой</a:t>
            </a:r>
            <a:r>
              <a:rPr lang="ru-RU" sz="1800" b="1" dirty="0"/>
              <a:t> при предоставлении отсрочки платежа</a:t>
            </a:r>
            <a:br>
              <a:rPr lang="ru-RU" sz="1800" b="1" dirty="0"/>
            </a:br>
            <a:endParaRPr lang="ru-RU" sz="1800" b="1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C05AD5CA-9A55-4C48-8381-BC6B17EBB4C6}"/>
              </a:ext>
            </a:extLst>
          </p:cNvPr>
          <p:cNvSpPr/>
          <p:nvPr/>
        </p:nvSpPr>
        <p:spPr>
          <a:xfrm>
            <a:off x="583482" y="4294939"/>
            <a:ext cx="5714371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Распределение ответственности и оперативная работа по возврату долгов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xmlns="" val="977900557"/>
              </p:ext>
            </p:extLst>
          </p:nvPr>
        </p:nvGraphicFramePr>
        <p:xfrm>
          <a:off x="604991" y="1997095"/>
          <a:ext cx="3076832" cy="21388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4204403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604992" y="1712550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C05AD5CA-9A55-4C48-8381-BC6B17EBB4C6}"/>
              </a:ext>
            </a:extLst>
          </p:cNvPr>
          <p:cNvSpPr/>
          <p:nvPr/>
        </p:nvSpPr>
        <p:spPr>
          <a:xfrm>
            <a:off x="583482" y="4294939"/>
            <a:ext cx="5714371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Распределение ответственности и оперативная работа по возврату долгов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graphicFrame>
        <p:nvGraphicFramePr>
          <p:cNvPr id="6" name="Схема 5">
            <a:extLst>
              <a:ext uri="{FF2B5EF4-FFF2-40B4-BE49-F238E27FC236}">
                <a16:creationId xmlns="" xmlns:a16="http://schemas.microsoft.com/office/drawing/2014/main" id="{02F4C669-5BF3-4694-B53F-C0D7B5607E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214305211"/>
              </p:ext>
            </p:extLst>
          </p:nvPr>
        </p:nvGraphicFramePr>
        <p:xfrm>
          <a:off x="674670" y="1472825"/>
          <a:ext cx="3219100" cy="26268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3982216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193E707-2B8F-40C5-B358-767BFE7C71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21EFFB2-EDC5-4067-ADA0-957C4A7151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4F35AA7-3290-498C-AD4D-79137005FD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41008BD-DCB9-494F-9EC3-31B6A608C0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B1A51D4-5962-435E-B8AF-5396AA185F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604992" y="1712550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11" name="Название 1">
            <a:extLst>
              <a:ext uri="{FF2B5EF4-FFF2-40B4-BE49-F238E27FC236}">
                <a16:creationId xmlns="" xmlns:a16="http://schemas.microsoft.com/office/drawing/2014/main" id="{83B216AE-E002-4B69-8586-A1804C935C1E}"/>
              </a:ext>
            </a:extLst>
          </p:cNvPr>
          <p:cNvSpPr txBox="1">
            <a:spLocks/>
          </p:cNvSpPr>
          <p:nvPr/>
        </p:nvSpPr>
        <p:spPr>
          <a:xfrm>
            <a:off x="541091" y="1290841"/>
            <a:ext cx="4230745" cy="421709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800" b="1" dirty="0"/>
              <a:t>Самые распространенные ошибки при работе с дебиторской задолженностью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C05AD5CA-9A55-4C48-8381-BC6B17EBB4C6}"/>
              </a:ext>
            </a:extLst>
          </p:cNvPr>
          <p:cNvSpPr/>
          <p:nvPr/>
        </p:nvSpPr>
        <p:spPr>
          <a:xfrm>
            <a:off x="583482" y="4294939"/>
            <a:ext cx="5714371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Распределение ответственности и оперативная работа по возврату долгов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41091" y="2093477"/>
            <a:ext cx="3963226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indent="-180000">
              <a:spcBef>
                <a:spcPts val="600"/>
              </a:spcBef>
              <a:buFont typeface="Arial" pitchFamily="34" charset="0"/>
              <a:buChar char="•"/>
            </a:pPr>
            <a:r>
              <a:rPr lang="ru-RU" sz="1400" dirty="0"/>
              <a:t>Неправильная оценка рисков.</a:t>
            </a:r>
          </a:p>
          <a:p>
            <a:pPr marL="180000" indent="-180000">
              <a:spcBef>
                <a:spcPts val="600"/>
              </a:spcBef>
              <a:buFont typeface="Arial" pitchFamily="34" charset="0"/>
              <a:buChar char="•"/>
            </a:pPr>
            <a:r>
              <a:rPr lang="ru-RU" sz="1400" dirty="0"/>
              <a:t>Ошибки при документальном оформлении сделки.</a:t>
            </a:r>
          </a:p>
          <a:p>
            <a:pPr marL="180000" indent="-180000">
              <a:spcBef>
                <a:spcPts val="600"/>
              </a:spcBef>
              <a:buFont typeface="Arial" pitchFamily="34" charset="0"/>
              <a:buChar char="•"/>
            </a:pPr>
            <a:r>
              <a:rPr lang="ru-RU" sz="1400" dirty="0"/>
              <a:t>Запаздывание активных действий по возврату просроченной задолженности.</a:t>
            </a:r>
          </a:p>
          <a:p>
            <a:pPr marL="180000" indent="-180000">
              <a:spcBef>
                <a:spcPts val="600"/>
              </a:spcBef>
              <a:buFont typeface="Arial" pitchFamily="34" charset="0"/>
              <a:buChar char="•"/>
            </a:pPr>
            <a:r>
              <a:rPr lang="ru-RU" sz="1400" dirty="0"/>
              <a:t>Отсутствие алгоритма возврата долга.</a:t>
            </a:r>
          </a:p>
          <a:p>
            <a:pPr marL="180000" indent="-180000">
              <a:spcBef>
                <a:spcPts val="600"/>
              </a:spcBef>
              <a:buFont typeface="Arial" pitchFamily="34" charset="0"/>
              <a:buChar char="•"/>
            </a:pPr>
            <a:r>
              <a:rPr lang="ru-RU" sz="1400" b="1" dirty="0">
                <a:solidFill>
                  <a:srgbClr val="FF0000"/>
                </a:solidFill>
              </a:rPr>
              <a:t>Размытая ответственность: кто за что отвечает?</a:t>
            </a:r>
            <a:r>
              <a:rPr lang="ru-RU" sz="1400" dirty="0"/>
              <a:t/>
            </a:r>
            <a:br>
              <a:rPr lang="ru-RU" sz="1400" dirty="0"/>
            </a:b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xmlns="" val="1391746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604992" y="1712550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11" name="Название 1">
            <a:extLst>
              <a:ext uri="{FF2B5EF4-FFF2-40B4-BE49-F238E27FC236}">
                <a16:creationId xmlns="" xmlns:a16="http://schemas.microsoft.com/office/drawing/2014/main" id="{83B216AE-E002-4B69-8586-A1804C935C1E}"/>
              </a:ext>
            </a:extLst>
          </p:cNvPr>
          <p:cNvSpPr txBox="1">
            <a:spLocks/>
          </p:cNvSpPr>
          <p:nvPr/>
        </p:nvSpPr>
        <p:spPr>
          <a:xfrm>
            <a:off x="541091" y="1290841"/>
            <a:ext cx="4600138" cy="421709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800" b="1" dirty="0"/>
              <a:t>Сколько «стоит» отсутствие комплексного подхода к вопросу управления </a:t>
            </a:r>
            <a:r>
              <a:rPr lang="ru-RU" sz="1800" b="1" dirty="0" err="1"/>
              <a:t>дебиторкой</a:t>
            </a:r>
            <a:r>
              <a:rPr lang="ru-RU" sz="1800" b="1" dirty="0"/>
              <a:t> 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C05AD5CA-9A55-4C48-8381-BC6B17EBB4C6}"/>
              </a:ext>
            </a:extLst>
          </p:cNvPr>
          <p:cNvSpPr/>
          <p:nvPr/>
        </p:nvSpPr>
        <p:spPr>
          <a:xfrm>
            <a:off x="583482" y="4294939"/>
            <a:ext cx="5714371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Распределение ответственности и оперативная работа по возврату долгов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41091" y="2093477"/>
            <a:ext cx="3963226" cy="20159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При банковской ставке кредита 12% годовых:</a:t>
            </a:r>
          </a:p>
          <a:p>
            <a:endParaRPr lang="ru-RU" sz="1400" dirty="0"/>
          </a:p>
          <a:p>
            <a:pPr marL="180000" indent="-180000">
              <a:spcBef>
                <a:spcPts val="600"/>
              </a:spcBef>
              <a:buFont typeface="Arial" pitchFamily="34" charset="0"/>
              <a:buChar char="•"/>
            </a:pPr>
            <a:r>
              <a:rPr lang="ru-RU" sz="1400" dirty="0"/>
              <a:t>1 млн рублей*0,12/12  = 10 тыс. рублей/мес.</a:t>
            </a:r>
          </a:p>
          <a:p>
            <a:pPr marL="180000" indent="-180000">
              <a:spcBef>
                <a:spcPts val="600"/>
              </a:spcBef>
              <a:buFont typeface="Arial" pitchFamily="34" charset="0"/>
              <a:buChar char="•"/>
            </a:pPr>
            <a:r>
              <a:rPr lang="ru-RU" sz="1400" dirty="0"/>
              <a:t>10 млн рублей*0,12/12 = 100 тыс. рублей/мес.</a:t>
            </a:r>
          </a:p>
          <a:p>
            <a:pPr marL="180000" indent="-180000">
              <a:spcBef>
                <a:spcPts val="600"/>
              </a:spcBef>
              <a:buFont typeface="Arial" pitchFamily="34" charset="0"/>
              <a:buChar char="•"/>
            </a:pPr>
            <a:r>
              <a:rPr lang="ru-RU" sz="1400" dirty="0"/>
              <a:t>100 млн рублей*0,12/12 = 1 млн рублей/мес.</a:t>
            </a:r>
          </a:p>
          <a:p>
            <a:r>
              <a:rPr lang="ru-RU" sz="800" dirty="0"/>
              <a:t> </a:t>
            </a:r>
          </a:p>
          <a:p>
            <a:endParaRPr lang="ru-RU" sz="1600" b="1" dirty="0">
              <a:solidFill>
                <a:srgbClr val="FF0000"/>
              </a:solidFill>
            </a:endParaRPr>
          </a:p>
          <a:p>
            <a:r>
              <a:rPr lang="ru-RU" sz="1600" b="1" dirty="0">
                <a:solidFill>
                  <a:srgbClr val="FF0000"/>
                </a:solidFill>
              </a:rPr>
              <a:t>+ РИСК НЕВОЗВРАТА ВСЕЙ СУММЫ</a:t>
            </a:r>
          </a:p>
        </p:txBody>
      </p:sp>
    </p:spTree>
    <p:extLst>
      <p:ext uri="{BB962C8B-B14F-4D97-AF65-F5344CB8AC3E}">
        <p14:creationId xmlns:p14="http://schemas.microsoft.com/office/powerpoint/2010/main" xmlns="" val="3677998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604992" y="1712550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11" name="Название 1">
            <a:extLst>
              <a:ext uri="{FF2B5EF4-FFF2-40B4-BE49-F238E27FC236}">
                <a16:creationId xmlns="" xmlns:a16="http://schemas.microsoft.com/office/drawing/2014/main" id="{83B216AE-E002-4B69-8586-A1804C935C1E}"/>
              </a:ext>
            </a:extLst>
          </p:cNvPr>
          <p:cNvSpPr txBox="1">
            <a:spLocks/>
          </p:cNvSpPr>
          <p:nvPr/>
        </p:nvSpPr>
        <p:spPr>
          <a:xfrm>
            <a:off x="541092" y="1290841"/>
            <a:ext cx="3855296" cy="421709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800" b="1" dirty="0"/>
              <a:t>Выделяем управление </a:t>
            </a:r>
            <a:r>
              <a:rPr lang="ru-RU" sz="1800" b="1" dirty="0" err="1"/>
              <a:t>дебиторкой</a:t>
            </a:r>
            <a:r>
              <a:rPr lang="ru-RU" sz="1800" b="1" dirty="0"/>
              <a:t> в отдельный бизнес-процесс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C05AD5CA-9A55-4C48-8381-BC6B17EBB4C6}"/>
              </a:ext>
            </a:extLst>
          </p:cNvPr>
          <p:cNvSpPr/>
          <p:nvPr/>
        </p:nvSpPr>
        <p:spPr>
          <a:xfrm>
            <a:off x="583482" y="4294939"/>
            <a:ext cx="5714371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Распределение ответственности и оперативная работа по возврату долгов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41091" y="2093477"/>
            <a:ext cx="4103578" cy="18312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Задача №1 – создаем регламент, описывающий работу с дебиторской задолженностью на следующих этапах:</a:t>
            </a:r>
          </a:p>
          <a:p>
            <a:pPr marL="180000" indent="-180000">
              <a:spcBef>
                <a:spcPts val="600"/>
              </a:spcBef>
              <a:buFont typeface="Arial" pitchFamily="34" charset="0"/>
              <a:buChar char="•"/>
            </a:pPr>
            <a:r>
              <a:rPr lang="ru-RU" sz="1400" dirty="0"/>
              <a:t>Проверка Клиента и заключение договора.</a:t>
            </a:r>
          </a:p>
          <a:p>
            <a:pPr marL="180000" indent="-180000">
              <a:spcBef>
                <a:spcPts val="600"/>
              </a:spcBef>
              <a:buFont typeface="Arial" pitchFamily="34" charset="0"/>
              <a:buChar char="•"/>
            </a:pPr>
            <a:r>
              <a:rPr lang="ru-RU" sz="1400" dirty="0"/>
              <a:t>Работа в рамках отсрочки (мониторинг, пролонгация, изменение условий договора).</a:t>
            </a:r>
          </a:p>
          <a:p>
            <a:pPr marL="180000" indent="-180000">
              <a:spcBef>
                <a:spcPts val="600"/>
              </a:spcBef>
              <a:buFont typeface="Arial" pitchFamily="34" charset="0"/>
              <a:buChar char="•"/>
            </a:pPr>
            <a:r>
              <a:rPr lang="ru-RU" sz="1400" dirty="0"/>
              <a:t>Возврат долга.</a:t>
            </a:r>
          </a:p>
        </p:txBody>
      </p:sp>
    </p:spTree>
    <p:extLst>
      <p:ext uri="{BB962C8B-B14F-4D97-AF65-F5344CB8AC3E}">
        <p14:creationId xmlns:p14="http://schemas.microsoft.com/office/powerpoint/2010/main" xmlns="" val="3345142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604992" y="1712550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C05AD5CA-9A55-4C48-8381-BC6B17EBB4C6}"/>
              </a:ext>
            </a:extLst>
          </p:cNvPr>
          <p:cNvSpPr/>
          <p:nvPr/>
        </p:nvSpPr>
        <p:spPr>
          <a:xfrm>
            <a:off x="583482" y="4294939"/>
            <a:ext cx="5714371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Распределение ответственности и оперативная работа по возврату долгов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83482" y="1290771"/>
            <a:ext cx="4572000" cy="276998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b="1" dirty="0"/>
              <a:t>Требования к регламентации бизнес-процесса:</a:t>
            </a:r>
          </a:p>
          <a:p>
            <a:pPr marL="180000" indent="-180000">
              <a:spcBef>
                <a:spcPts val="600"/>
              </a:spcBef>
              <a:buFont typeface="Arial" pitchFamily="34" charset="0"/>
              <a:buChar char="•"/>
            </a:pPr>
            <a:r>
              <a:rPr lang="ru-RU" sz="1200" dirty="0"/>
              <a:t>Ответственный на каждом из этапов.</a:t>
            </a:r>
          </a:p>
          <a:p>
            <a:pPr marL="180000" indent="-180000">
              <a:spcBef>
                <a:spcPts val="600"/>
              </a:spcBef>
              <a:buFont typeface="Arial" pitchFamily="34" charset="0"/>
              <a:buChar char="•"/>
            </a:pPr>
            <a:r>
              <a:rPr lang="ru-RU" sz="1200" dirty="0"/>
              <a:t>Сроки.</a:t>
            </a:r>
          </a:p>
          <a:p>
            <a:pPr marL="180000" indent="-180000">
              <a:spcBef>
                <a:spcPts val="600"/>
              </a:spcBef>
              <a:buFont typeface="Arial" pitchFamily="34" charset="0"/>
              <a:buChar char="•"/>
            </a:pPr>
            <a:r>
              <a:rPr lang="ru-RU" sz="1200" dirty="0"/>
              <a:t>Правила взаимодействия.</a:t>
            </a:r>
          </a:p>
          <a:p>
            <a:pPr marL="180000" indent="-180000">
              <a:spcBef>
                <a:spcPts val="600"/>
              </a:spcBef>
              <a:buFont typeface="Arial" pitchFamily="34" charset="0"/>
              <a:buChar char="•"/>
            </a:pPr>
            <a:r>
              <a:rPr lang="ru-RU" sz="1200" dirty="0"/>
              <a:t>Входящая/исходящая информация.</a:t>
            </a:r>
          </a:p>
          <a:p>
            <a:endParaRPr lang="ru-RU" sz="1200" b="1" dirty="0"/>
          </a:p>
          <a:p>
            <a:r>
              <a:rPr lang="ru-RU" sz="1200" b="1" dirty="0"/>
              <a:t>Чем дополнить регламент:</a:t>
            </a:r>
          </a:p>
          <a:p>
            <a:pPr marL="180000" indent="-180000">
              <a:spcBef>
                <a:spcPts val="600"/>
              </a:spcBef>
              <a:buFont typeface="Arial" pitchFamily="34" charset="0"/>
              <a:buChar char="•"/>
            </a:pPr>
            <a:r>
              <a:rPr lang="ru-RU" sz="1200" dirty="0"/>
              <a:t>Шаблоны документов (анкеты, заявки, формы писем и договоров, претензии).</a:t>
            </a:r>
          </a:p>
          <a:p>
            <a:pPr marL="180000" indent="-180000">
              <a:spcBef>
                <a:spcPts val="600"/>
              </a:spcBef>
              <a:buFont typeface="Arial" pitchFamily="34" charset="0"/>
              <a:buChar char="•"/>
            </a:pPr>
            <a:r>
              <a:rPr lang="ru-RU" sz="1200" dirty="0"/>
              <a:t>Скрипты переговоров.</a:t>
            </a:r>
          </a:p>
          <a:p>
            <a:endParaRPr lang="ru-RU" sz="1200" dirty="0"/>
          </a:p>
          <a:p>
            <a:r>
              <a:rPr lang="ru-RU" sz="1200" b="1" dirty="0"/>
              <a:t>Задача №2 – назначаем контроллера</a:t>
            </a:r>
          </a:p>
        </p:txBody>
      </p:sp>
    </p:spTree>
    <p:extLst>
      <p:ext uri="{BB962C8B-B14F-4D97-AF65-F5344CB8AC3E}">
        <p14:creationId xmlns:p14="http://schemas.microsoft.com/office/powerpoint/2010/main" xmlns="" val="2584218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11" name="Название 1">
            <a:extLst>
              <a:ext uri="{FF2B5EF4-FFF2-40B4-BE49-F238E27FC236}">
                <a16:creationId xmlns="" xmlns:a16="http://schemas.microsoft.com/office/drawing/2014/main" id="{83B216AE-E002-4B69-8586-A1804C935C1E}"/>
              </a:ext>
            </a:extLst>
          </p:cNvPr>
          <p:cNvSpPr txBox="1">
            <a:spLocks/>
          </p:cNvSpPr>
          <p:nvPr/>
        </p:nvSpPr>
        <p:spPr>
          <a:xfrm>
            <a:off x="604992" y="2042932"/>
            <a:ext cx="7772400" cy="182595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91000"/>
              </a:lnSpc>
            </a:pPr>
            <a:r>
              <a:rPr lang="ru-RU" sz="3600" b="1" dirty="0"/>
              <a:t>Как контролировать </a:t>
            </a:r>
            <a:r>
              <a:rPr lang="ru-RU" sz="3600" b="1" dirty="0" err="1"/>
              <a:t>дебиторку</a:t>
            </a:r>
            <a:r>
              <a:rPr lang="ru-RU" sz="3600" b="1" dirty="0"/>
              <a:t> при отсрочках платежа</a:t>
            </a:r>
            <a:r>
              <a:rPr lang="ru-RU" sz="3600" dirty="0"/>
              <a:t/>
            </a:r>
            <a:br>
              <a:rPr lang="ru-RU" sz="3600" dirty="0"/>
            </a:br>
            <a:endParaRPr lang="ru-RU" sz="36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C05AD5CA-9A55-4C48-8381-BC6B17EBB4C6}"/>
              </a:ext>
            </a:extLst>
          </p:cNvPr>
          <p:cNvSpPr/>
          <p:nvPr/>
        </p:nvSpPr>
        <p:spPr>
          <a:xfrm>
            <a:off x="583482" y="4294939"/>
            <a:ext cx="5714371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Распределение ответственности и оперативная работа по возврату долгов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85912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604992" y="1712550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C05AD5CA-9A55-4C48-8381-BC6B17EBB4C6}"/>
              </a:ext>
            </a:extLst>
          </p:cNvPr>
          <p:cNvSpPr/>
          <p:nvPr/>
        </p:nvSpPr>
        <p:spPr>
          <a:xfrm>
            <a:off x="583482" y="4294939"/>
            <a:ext cx="5714371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Распределение ответственности и оперативная работа по возврату долгов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35037" y="2001770"/>
            <a:ext cx="3891627" cy="17697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Получение комплекта документов от Заемщика.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Заявка с историей сотрудничества на проверку в службу безопасности.</a:t>
            </a:r>
            <a:endParaRPr lang="en-US" sz="1200" dirty="0"/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Предварительное заключение.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Выезд.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Окончательное заключение.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Принятие решения.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535037" y="1258439"/>
            <a:ext cx="47316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Основные задачи на этапе проверки контрагента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355464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604992" y="1712550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C05AD5CA-9A55-4C48-8381-BC6B17EBB4C6}"/>
              </a:ext>
            </a:extLst>
          </p:cNvPr>
          <p:cNvSpPr/>
          <p:nvPr/>
        </p:nvSpPr>
        <p:spPr>
          <a:xfrm>
            <a:off x="583482" y="4294939"/>
            <a:ext cx="5714371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Распределение ответственности и оперативная работа по возврату долгов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35037" y="1729524"/>
            <a:ext cx="3891627" cy="22852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1. Отправляет Клиенту:</a:t>
            </a:r>
          </a:p>
          <a:p>
            <a:pPr marL="540000" indent="-1800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письмо с перечнем документов;</a:t>
            </a:r>
          </a:p>
          <a:p>
            <a:pPr marL="540000" indent="-1800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анкету заемщика ;</a:t>
            </a:r>
          </a:p>
          <a:p>
            <a:pPr marL="540000" indent="-1800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согласие на запрос в БКИ. </a:t>
            </a:r>
          </a:p>
          <a:p>
            <a:pPr>
              <a:spcBef>
                <a:spcPts val="600"/>
              </a:spcBef>
            </a:pPr>
            <a:r>
              <a:rPr lang="ru-RU" sz="1200" dirty="0"/>
              <a:t>2. Узнает, кто будет подписывать договор. Получает доверенность.</a:t>
            </a:r>
          </a:p>
          <a:p>
            <a:pPr>
              <a:spcBef>
                <a:spcPts val="600"/>
              </a:spcBef>
            </a:pPr>
            <a:r>
              <a:rPr lang="ru-RU" sz="1200" dirty="0"/>
              <a:t>3. Получает документы, контролирует наличие необходимых по списку и правильность их заполнения. </a:t>
            </a:r>
          </a:p>
          <a:p>
            <a:pPr>
              <a:spcBef>
                <a:spcPts val="600"/>
              </a:spcBef>
            </a:pPr>
            <a:r>
              <a:rPr lang="ru-RU" sz="1200" dirty="0"/>
              <a:t>4. Заполняет Заявку на кредитование, акцептует у руководителя, отправляет в службу безопасности.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535037" y="1258439"/>
            <a:ext cx="23516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Действия менеджера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275333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604992" y="1712550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C05AD5CA-9A55-4C48-8381-BC6B17EBB4C6}"/>
              </a:ext>
            </a:extLst>
          </p:cNvPr>
          <p:cNvSpPr/>
          <p:nvPr/>
        </p:nvSpPr>
        <p:spPr>
          <a:xfrm>
            <a:off x="583482" y="4294939"/>
            <a:ext cx="5714371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Распределение ответственности и оперативная работа по возврату долгов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35036" y="1702594"/>
            <a:ext cx="3891627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Проверка по перечню контрольных точек.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Подготовка предварительного отчета, направление его руководителю отдела продаж.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Выявление потребности в поручительстве.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Встреча с Клиентом на его территории.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535037" y="1258439"/>
            <a:ext cx="33747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Действия службы безопасности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535036" y="3079458"/>
            <a:ext cx="32529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Действия финансовой службы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35037" y="3538435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Финансовый анализ бухгалтерской отчетности заемщика.</a:t>
            </a:r>
          </a:p>
        </p:txBody>
      </p:sp>
    </p:spTree>
    <p:extLst>
      <p:ext uri="{BB962C8B-B14F-4D97-AF65-F5344CB8AC3E}">
        <p14:creationId xmlns:p14="http://schemas.microsoft.com/office/powerpoint/2010/main" xmlns="" val="429517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604992" y="1712550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C05AD5CA-9A55-4C48-8381-BC6B17EBB4C6}"/>
              </a:ext>
            </a:extLst>
          </p:cNvPr>
          <p:cNvSpPr/>
          <p:nvPr/>
        </p:nvSpPr>
        <p:spPr>
          <a:xfrm>
            <a:off x="583482" y="4294939"/>
            <a:ext cx="5714371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Распределение ответственности и оперативная работа по возврату долгов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35037" y="1729524"/>
            <a:ext cx="3891627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Оцениваем клиента.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Получаем ответы на все имеющиеся у нас вопросы и уточняем все неточности.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Получаем максимум контактов и дополнительной информации.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Информируем о последствиях неплатежа </a:t>
            </a:r>
            <a:r>
              <a:rPr lang="en-US" sz="1200" dirty="0"/>
              <a:t>(</a:t>
            </a:r>
            <a:r>
              <a:rPr lang="ru-RU" sz="1200" dirty="0"/>
              <a:t>закрепляем моральную ответственность</a:t>
            </a:r>
            <a:r>
              <a:rPr lang="en-US" sz="1200" dirty="0"/>
              <a:t>)</a:t>
            </a:r>
            <a:r>
              <a:rPr lang="ru-RU" sz="1200" dirty="0"/>
              <a:t>.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535037" y="1258439"/>
            <a:ext cx="27295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Цели встречи с клиентом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080114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604992" y="1712550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C05AD5CA-9A55-4C48-8381-BC6B17EBB4C6}"/>
              </a:ext>
            </a:extLst>
          </p:cNvPr>
          <p:cNvSpPr/>
          <p:nvPr/>
        </p:nvSpPr>
        <p:spPr>
          <a:xfrm>
            <a:off x="583482" y="4294939"/>
            <a:ext cx="5714371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Распределение ответственности и оперативная работа по возврату долгов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35036" y="1834683"/>
            <a:ext cx="4497192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Служба безопасности дополняет отчет</a:t>
            </a:r>
            <a:r>
              <a:rPr lang="en-US" sz="1000" dirty="0"/>
              <a:t> </a:t>
            </a:r>
            <a:r>
              <a:rPr lang="ru-RU" sz="1000" dirty="0"/>
              <a:t>и принимает решение.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Руководитель отдела продаж принимает решение, пишет обоснование.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Коммерческий директор акцептует решение руководителя продаж.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Большие суммы акцептует Кредитный комитет (финансовый директор, коммерческий директор, руководитель службы безопасности).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Менеджер организует подписание договора, оправляет скан юристу.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Юрист проверяет договор и проставляет галочку «Договор проверен»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Служба безопасности ставит клиента на мониторинг.</a:t>
            </a:r>
          </a:p>
          <a:p>
            <a:endParaRPr lang="ru-RU" sz="1000" dirty="0"/>
          </a:p>
          <a:p>
            <a:r>
              <a:rPr lang="ru-RU" sz="1000" dirty="0">
                <a:solidFill>
                  <a:srgbClr val="CE1325"/>
                </a:solidFill>
              </a:rPr>
              <a:t>Только после этого возможна отгрузка в кредит!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535037" y="1269418"/>
            <a:ext cx="37752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Действия после встречи с клиентом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0263743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604992" y="1712550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C05AD5CA-9A55-4C48-8381-BC6B17EBB4C6}"/>
              </a:ext>
            </a:extLst>
          </p:cNvPr>
          <p:cNvSpPr/>
          <p:nvPr/>
        </p:nvSpPr>
        <p:spPr>
          <a:xfrm>
            <a:off x="583482" y="4294939"/>
            <a:ext cx="5714371" cy="327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800" dirty="0"/>
              <a:t>Распределение ответственности и оперативная работа по возврату долгов</a:t>
            </a:r>
          </a:p>
          <a:p>
            <a:r>
              <a:rPr lang="en-US" sz="800" dirty="0" smtClean="0">
                <a:solidFill>
                  <a:srgbClr val="CE1325"/>
                </a:solidFill>
              </a:rPr>
              <a:t>school.gd.ru</a:t>
            </a:r>
            <a:endParaRPr lang="ru-RU" sz="800" dirty="0">
              <a:solidFill>
                <a:srgbClr val="CE1325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83482" y="1597484"/>
            <a:ext cx="4430579" cy="2600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b="1" dirty="0"/>
              <a:t>Негатив, требующий немедленной реакции: </a:t>
            </a:r>
          </a:p>
          <a:p>
            <a:pPr marL="180000" indent="-1800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1100" dirty="0"/>
              <a:t>Заявление о банкротстве. </a:t>
            </a:r>
          </a:p>
          <a:p>
            <a:pPr marL="180000" indent="-1800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1100" dirty="0"/>
              <a:t>Блокировка расчетного счета. </a:t>
            </a:r>
          </a:p>
          <a:p>
            <a:pPr marL="180000" indent="-1800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1100" dirty="0"/>
              <a:t>Смена генерального директора/учредителей на «массовых».</a:t>
            </a:r>
          </a:p>
          <a:p>
            <a:pPr marL="180000" indent="-1800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1100" dirty="0"/>
              <a:t>Появление за последние 2 месяца 3-х и более судов на общую сумму более 10 млн рублей (о неисполнении обязательств по договорам поставки). </a:t>
            </a:r>
          </a:p>
          <a:p>
            <a:endParaRPr lang="ru-RU" sz="1100" dirty="0"/>
          </a:p>
          <a:p>
            <a:r>
              <a:rPr lang="ru-RU" sz="1100" b="1" dirty="0"/>
              <a:t>Действия:</a:t>
            </a:r>
          </a:p>
          <a:p>
            <a:pPr marL="180000" indent="-1800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1100" dirty="0"/>
              <a:t>Приостановка отгрузки.</a:t>
            </a:r>
          </a:p>
          <a:p>
            <a:pPr marL="180000" indent="-1800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1100" dirty="0"/>
              <a:t>Получение дополнительной информации у клиента.</a:t>
            </a:r>
          </a:p>
          <a:p>
            <a:pPr marL="180000" indent="-1800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1100" dirty="0"/>
              <a:t>Получение дополнительной информации у истцов.</a:t>
            </a:r>
          </a:p>
          <a:p>
            <a:pPr marL="180000" indent="-1800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1100" dirty="0"/>
              <a:t>Принятие решения </a:t>
            </a:r>
            <a:r>
              <a:rPr lang="ru-RU" sz="1100" dirty="0" smtClean="0"/>
              <a:t>об </a:t>
            </a:r>
            <a:r>
              <a:rPr lang="ru-RU" sz="1100" dirty="0"/>
              <a:t>условиях дальнейшего сотрудничества.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535036" y="1219842"/>
            <a:ext cx="26852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Результаты мониторинга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5627601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604992" y="1712550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C05AD5CA-9A55-4C48-8381-BC6B17EBB4C6}"/>
              </a:ext>
            </a:extLst>
          </p:cNvPr>
          <p:cNvSpPr/>
          <p:nvPr/>
        </p:nvSpPr>
        <p:spPr>
          <a:xfrm>
            <a:off x="583482" y="4294939"/>
            <a:ext cx="5714371" cy="327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800" dirty="0"/>
              <a:t>Распределение ответственности и оперативная работа по возврату долгов</a:t>
            </a:r>
          </a:p>
          <a:p>
            <a:r>
              <a:rPr lang="en-US" sz="800" dirty="0" smtClean="0">
                <a:solidFill>
                  <a:srgbClr val="CE1325"/>
                </a:solidFill>
              </a:rPr>
              <a:t>school.gd.ru</a:t>
            </a:r>
            <a:endParaRPr lang="ru-RU" sz="800" dirty="0">
              <a:solidFill>
                <a:srgbClr val="CE1325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35036" y="1322788"/>
            <a:ext cx="37142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Пролонгация на прежних условиях</a:t>
            </a:r>
            <a:br>
              <a:rPr lang="ru-RU" b="1" dirty="0"/>
            </a:br>
            <a:r>
              <a:rPr lang="ru-RU" b="1" dirty="0"/>
              <a:t>и изменение условий договора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35036" y="2253860"/>
            <a:ext cx="33361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Через 3-7 дней после поставки: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535036" y="2692205"/>
            <a:ext cx="4572000" cy="815608"/>
          </a:xfrm>
          <a:prstGeom prst="rect">
            <a:avLst/>
          </a:prstGeom>
        </p:spPr>
        <p:txBody>
          <a:bodyPr>
            <a:spAutoFit/>
          </a:bodyPr>
          <a:lstStyle/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400" dirty="0"/>
              <a:t>Получаем обратную связь об удовлетворенности клиента поставкой.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400" dirty="0"/>
              <a:t>Убеждаемся в отсутствии долгов по документам.</a:t>
            </a:r>
          </a:p>
        </p:txBody>
      </p:sp>
    </p:spTree>
    <p:extLst>
      <p:ext uri="{BB962C8B-B14F-4D97-AF65-F5344CB8AC3E}">
        <p14:creationId xmlns:p14="http://schemas.microsoft.com/office/powerpoint/2010/main" xmlns="" val="27932383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604992" y="1712550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C05AD5CA-9A55-4C48-8381-BC6B17EBB4C6}"/>
              </a:ext>
            </a:extLst>
          </p:cNvPr>
          <p:cNvSpPr/>
          <p:nvPr/>
        </p:nvSpPr>
        <p:spPr>
          <a:xfrm>
            <a:off x="583482" y="4294939"/>
            <a:ext cx="5714371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Распределение ответственности и оперативная работа по возврату долгов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35036" y="1322788"/>
            <a:ext cx="35797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Звонок клиенту с напоминанием 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535036" y="2056364"/>
            <a:ext cx="445480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За 2 дня до срока оплаты отправляем напоминание на электронную почту и делаем звонок контактному лицу.</a:t>
            </a:r>
          </a:p>
          <a:p>
            <a:endParaRPr lang="ru-RU" sz="1400" dirty="0"/>
          </a:p>
          <a:p>
            <a:endParaRPr lang="ru-RU" sz="1400" dirty="0"/>
          </a:p>
          <a:p>
            <a:r>
              <a:rPr lang="ru-RU" sz="1400" b="1" dirty="0"/>
              <a:t>Цель: </a:t>
            </a:r>
            <a:r>
              <a:rPr lang="ru-RU" sz="1400" dirty="0"/>
              <a:t>напомнить об оплате и получить подтверждение.</a:t>
            </a:r>
          </a:p>
        </p:txBody>
      </p:sp>
    </p:spTree>
    <p:extLst>
      <p:ext uri="{BB962C8B-B14F-4D97-AF65-F5344CB8AC3E}">
        <p14:creationId xmlns:p14="http://schemas.microsoft.com/office/powerpoint/2010/main" xmlns="" val="26765529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11" name="Название 1">
            <a:extLst>
              <a:ext uri="{FF2B5EF4-FFF2-40B4-BE49-F238E27FC236}">
                <a16:creationId xmlns="" xmlns:a16="http://schemas.microsoft.com/office/drawing/2014/main" id="{83B216AE-E002-4B69-8586-A1804C935C1E}"/>
              </a:ext>
            </a:extLst>
          </p:cNvPr>
          <p:cNvSpPr txBox="1">
            <a:spLocks/>
          </p:cNvSpPr>
          <p:nvPr/>
        </p:nvSpPr>
        <p:spPr>
          <a:xfrm>
            <a:off x="535923" y="1901574"/>
            <a:ext cx="7772400" cy="182595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91000"/>
              </a:lnSpc>
            </a:pPr>
            <a:r>
              <a:rPr lang="ru-RU" sz="4000" b="1" dirty="0"/>
              <a:t>Как построить работу по возврату долгов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C05AD5CA-9A55-4C48-8381-BC6B17EBB4C6}"/>
              </a:ext>
            </a:extLst>
          </p:cNvPr>
          <p:cNvSpPr/>
          <p:nvPr/>
        </p:nvSpPr>
        <p:spPr>
          <a:xfrm>
            <a:off x="583482" y="4294939"/>
            <a:ext cx="5714371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Распределение ответственности и оперативная работа по возврату долгов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383074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604992" y="1712550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5036" y="1250120"/>
            <a:ext cx="15969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Возврат долга</a:t>
            </a:r>
            <a:endParaRPr lang="ru-RU" dirty="0"/>
          </a:p>
        </p:txBody>
      </p:sp>
      <p:graphicFrame>
        <p:nvGraphicFramePr>
          <p:cNvPr id="8" name="Объект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3656397209"/>
              </p:ext>
            </p:extLst>
          </p:nvPr>
        </p:nvGraphicFramePr>
        <p:xfrm>
          <a:off x="577426" y="1709542"/>
          <a:ext cx="2612961" cy="2749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30313905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604992" y="1712550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5036" y="1250120"/>
            <a:ext cx="23516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Действия менеджера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83482" y="1843428"/>
            <a:ext cx="3582791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Звонок клиенту, предупреждение о дальнейших последствиях</a:t>
            </a:r>
            <a:r>
              <a:rPr lang="en-US" sz="1200" dirty="0"/>
              <a:t> (</a:t>
            </a:r>
            <a:r>
              <a:rPr lang="ru-RU" sz="1200" dirty="0"/>
              <a:t>скрипт).</a:t>
            </a:r>
            <a:endParaRPr lang="ru-RU" sz="1200" i="1" dirty="0"/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Проверка </a:t>
            </a:r>
            <a:r>
              <a:rPr lang="ru-RU" sz="1200" dirty="0" err="1"/>
              <a:t>первички</a:t>
            </a:r>
            <a:r>
              <a:rPr lang="ru-RU" sz="1200" dirty="0"/>
              <a:t>, запрос акта сверки.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Подготовка заявки на Претензионную работу, отправка готовой Претензии.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C05AD5CA-9A55-4C48-8381-BC6B17EBB4C6}"/>
              </a:ext>
            </a:extLst>
          </p:cNvPr>
          <p:cNvSpPr/>
          <p:nvPr/>
        </p:nvSpPr>
        <p:spPr>
          <a:xfrm>
            <a:off x="583482" y="4294939"/>
            <a:ext cx="5714371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Распределение ответственности и оперативная работа по возврату долгов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300310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604992" y="1712550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5036" y="1250120"/>
            <a:ext cx="37957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Надо правильно оценить должника</a:t>
            </a:r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C05AD5CA-9A55-4C48-8381-BC6B17EBB4C6}"/>
              </a:ext>
            </a:extLst>
          </p:cNvPr>
          <p:cNvSpPr/>
          <p:nvPr/>
        </p:nvSpPr>
        <p:spPr>
          <a:xfrm>
            <a:off x="583482" y="4294939"/>
            <a:ext cx="5714371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Распределение ответственности и оперативная работа по возврату долгов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graphicFrame>
        <p:nvGraphicFramePr>
          <p:cNvPr id="7" name="Объект 3">
            <a:extLst>
              <a:ext uri="{FF2B5EF4-FFF2-40B4-BE49-F238E27FC236}">
                <a16:creationId xmlns="" xmlns:a16="http://schemas.microsoft.com/office/drawing/2014/main" id="{D1F11E75-861E-4B27-8ACB-C14C289066D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3305677443"/>
              </p:ext>
            </p:extLst>
          </p:nvPr>
        </p:nvGraphicFramePr>
        <p:xfrm>
          <a:off x="604992" y="1715721"/>
          <a:ext cx="4208930" cy="2336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4465">
                  <a:extLst>
                    <a:ext uri="{9D8B030D-6E8A-4147-A177-3AD203B41FA5}">
                      <a16:colId xmlns="" xmlns:a16="http://schemas.microsoft.com/office/drawing/2014/main" val="103285027"/>
                    </a:ext>
                  </a:extLst>
                </a:gridCol>
                <a:gridCol w="2104465">
                  <a:extLst>
                    <a:ext uri="{9D8B030D-6E8A-4147-A177-3AD203B41FA5}">
                      <a16:colId xmlns="" xmlns:a16="http://schemas.microsoft.com/office/drawing/2014/main" val="2967065005"/>
                    </a:ext>
                  </a:extLst>
                </a:gridCol>
              </a:tblGrid>
              <a:tr h="305533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Должник-партнер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Должник-уклонист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606159908"/>
                  </a:ext>
                </a:extLst>
              </a:tr>
              <a:tr h="808763">
                <a:tc>
                  <a:txBody>
                    <a:bodyPr/>
                    <a:lstStyle/>
                    <a:p>
                      <a:r>
                        <a:rPr lang="ru-RU" sz="1200" dirty="0"/>
                        <a:t>На решение  (активная позиция)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На уход/затягивание, не дает четких ответов (пассивная позиция)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="" xmlns:a16="http://schemas.microsoft.com/office/drawing/2014/main" val="500723204"/>
                  </a:ext>
                </a:extLst>
              </a:tr>
              <a:tr h="305533">
                <a:tc>
                  <a:txBody>
                    <a:bodyPr/>
                    <a:lstStyle/>
                    <a:p>
                      <a:r>
                        <a:rPr lang="ru-RU" sz="1200" dirty="0"/>
                        <a:t>На процедуру/схему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На возможности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="" xmlns:a16="http://schemas.microsoft.com/office/drawing/2014/main" val="333568555"/>
                  </a:ext>
                </a:extLst>
              </a:tr>
              <a:tr h="305533">
                <a:tc>
                  <a:txBody>
                    <a:bodyPr/>
                    <a:lstStyle/>
                    <a:p>
                      <a:r>
                        <a:rPr lang="ru-RU" sz="1200" dirty="0"/>
                        <a:t>В будущее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В прошлое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="" xmlns:a16="http://schemas.microsoft.com/office/drawing/2014/main" val="4003881186"/>
                  </a:ext>
                </a:extLst>
              </a:tr>
              <a:tr h="305533">
                <a:tc>
                  <a:txBody>
                    <a:bodyPr/>
                    <a:lstStyle/>
                    <a:p>
                      <a:r>
                        <a:rPr lang="ru-RU" sz="1200" dirty="0"/>
                        <a:t>На внутренние ресурсы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На внешние ресурсы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="" xmlns:a16="http://schemas.microsoft.com/office/drawing/2014/main" val="3787910545"/>
                  </a:ext>
                </a:extLst>
              </a:tr>
              <a:tr h="305533">
                <a:tc>
                  <a:txBody>
                    <a:bodyPr/>
                    <a:lstStyle/>
                    <a:p>
                      <a:r>
                        <a:rPr lang="ru-RU" sz="1200" dirty="0"/>
                        <a:t>На общее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На мелочи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="" xmlns:a16="http://schemas.microsoft.com/office/drawing/2014/main" val="1736892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5748069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604992" y="1712550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5036" y="1250120"/>
            <a:ext cx="16706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Правило весов</a:t>
            </a:r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C05AD5CA-9A55-4C48-8381-BC6B17EBB4C6}"/>
              </a:ext>
            </a:extLst>
          </p:cNvPr>
          <p:cNvSpPr/>
          <p:nvPr/>
        </p:nvSpPr>
        <p:spPr>
          <a:xfrm>
            <a:off x="583482" y="4294939"/>
            <a:ext cx="5714371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Распределение ответственности и оперативная работа по возврату долгов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35036" y="1712550"/>
            <a:ext cx="4572000" cy="140038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</a:pPr>
            <a:r>
              <a:rPr lang="ru-RU" sz="1400" dirty="0"/>
              <a:t>Меняемся дополнительной отсрочкой на дополнительную выгоду для нас: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400" dirty="0"/>
              <a:t>Акт сверки, долги по документам.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400" dirty="0"/>
              <a:t>«В следующем месяце берете только у нас».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400" dirty="0"/>
              <a:t>Дополнительное поручительство.</a:t>
            </a:r>
          </a:p>
        </p:txBody>
      </p:sp>
    </p:spTree>
    <p:extLst>
      <p:ext uri="{BB962C8B-B14F-4D97-AF65-F5344CB8AC3E}">
        <p14:creationId xmlns:p14="http://schemas.microsoft.com/office/powerpoint/2010/main" xmlns="" val="17232353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604992" y="1712550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5036" y="1250120"/>
            <a:ext cx="3321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При возникновении просрочки</a:t>
            </a:r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C05AD5CA-9A55-4C48-8381-BC6B17EBB4C6}"/>
              </a:ext>
            </a:extLst>
          </p:cNvPr>
          <p:cNvSpPr/>
          <p:nvPr/>
        </p:nvSpPr>
        <p:spPr>
          <a:xfrm>
            <a:off x="583482" y="4294939"/>
            <a:ext cx="5714371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Распределение ответственности и оперативная работа по возврату долгов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35036" y="1712550"/>
            <a:ext cx="4572000" cy="2292935"/>
          </a:xfrm>
          <a:prstGeom prst="rect">
            <a:avLst/>
          </a:prstGeom>
        </p:spPr>
        <p:txBody>
          <a:bodyPr>
            <a:spAutoFit/>
          </a:bodyPr>
          <a:lstStyle/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Блокировка на уровне руководителя отдела продаж – 1-й день.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Звонок клиенту (ответственный менеджер) – 1-й день.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Полная блокировка отгрузок – </a:t>
            </a:r>
            <a:r>
              <a:rPr lang="en-US" sz="1200" dirty="0"/>
              <a:t>max </a:t>
            </a:r>
            <a:r>
              <a:rPr lang="ru-RU" sz="1200" dirty="0"/>
              <a:t>на 10-й день.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Информирование – служба безопасности (заявка на Претензионную работу) 3-10 день.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Отправка претензии -  4-11 день.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Договоренность о встрече – 5-12 день.</a:t>
            </a:r>
            <a:r>
              <a:rPr lang="en-US" sz="1200" dirty="0"/>
              <a:t> 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Встреча с Клиентом - 10-14 день.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Подача документов в суд – 20-30 день.</a:t>
            </a:r>
          </a:p>
        </p:txBody>
      </p:sp>
    </p:spTree>
    <p:extLst>
      <p:ext uri="{BB962C8B-B14F-4D97-AF65-F5344CB8AC3E}">
        <p14:creationId xmlns:p14="http://schemas.microsoft.com/office/powerpoint/2010/main" xmlns="" val="9114158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604992" y="1712550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5036" y="1250120"/>
            <a:ext cx="33747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Действия службы безопасности</a:t>
            </a:r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C05AD5CA-9A55-4C48-8381-BC6B17EBB4C6}"/>
              </a:ext>
            </a:extLst>
          </p:cNvPr>
          <p:cNvSpPr/>
          <p:nvPr/>
        </p:nvSpPr>
        <p:spPr>
          <a:xfrm>
            <a:off x="583482" y="4294939"/>
            <a:ext cx="5714371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Распределение ответственности и оперативная работа по возврату долгов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35036" y="1712550"/>
            <a:ext cx="4006686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Актуализация всей информации по клиенту.</a:t>
            </a:r>
            <a:endParaRPr lang="ru-RU" sz="1200" i="1" dirty="0"/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Участие в переговорах с должником.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«Черный список».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Взаимодействие с ФССП, помощь в розыске и аресте имущества.</a:t>
            </a:r>
            <a:endParaRPr lang="en-US" sz="1200" dirty="0"/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Координация действий участников.</a:t>
            </a:r>
          </a:p>
        </p:txBody>
      </p:sp>
    </p:spTree>
    <p:extLst>
      <p:ext uri="{BB962C8B-B14F-4D97-AF65-F5344CB8AC3E}">
        <p14:creationId xmlns:p14="http://schemas.microsoft.com/office/powerpoint/2010/main" xmlns="" val="22617684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604992" y="1712550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5036" y="1250120"/>
            <a:ext cx="27268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Действия юрисконсульта</a:t>
            </a:r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C05AD5CA-9A55-4C48-8381-BC6B17EBB4C6}"/>
              </a:ext>
            </a:extLst>
          </p:cNvPr>
          <p:cNvSpPr/>
          <p:nvPr/>
        </p:nvSpPr>
        <p:spPr>
          <a:xfrm>
            <a:off x="583482" y="4294939"/>
            <a:ext cx="5714371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Распределение ответственности и оперативная работа по возврату долгов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35036" y="1712550"/>
            <a:ext cx="4006686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Подготовка претензии.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Отправка претензии заказным письмом.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Подготовка документов для суда.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Участие в суде.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Получение исполнительного листа.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Подготовка документов для возбуждения исполнительного производства.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Подготовка и подача документов на банкротство, сопровождение процедуры.</a:t>
            </a:r>
          </a:p>
        </p:txBody>
      </p:sp>
    </p:spTree>
    <p:extLst>
      <p:ext uri="{BB962C8B-B14F-4D97-AF65-F5344CB8AC3E}">
        <p14:creationId xmlns:p14="http://schemas.microsoft.com/office/powerpoint/2010/main" xmlns="" val="3569165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604992" y="1712550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5036" y="1250120"/>
            <a:ext cx="37079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Если клиент готов к возврату долга</a:t>
            </a:r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C05AD5CA-9A55-4C48-8381-BC6B17EBB4C6}"/>
              </a:ext>
            </a:extLst>
          </p:cNvPr>
          <p:cNvSpPr/>
          <p:nvPr/>
        </p:nvSpPr>
        <p:spPr>
          <a:xfrm>
            <a:off x="583482" y="4294939"/>
            <a:ext cx="5714371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Распределение ответственности и оперативная работа по возврату долгов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35036" y="1712550"/>
            <a:ext cx="4006686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Закрепляем достигнутые договоренности (доп. соглашение, мировое, расписки, личное поручительство и т.д.).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Общение с ЛПР по телефону и встреча на их территории.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Прием активов.</a:t>
            </a:r>
          </a:p>
        </p:txBody>
      </p:sp>
    </p:spTree>
    <p:extLst>
      <p:ext uri="{BB962C8B-B14F-4D97-AF65-F5344CB8AC3E}">
        <p14:creationId xmlns:p14="http://schemas.microsoft.com/office/powerpoint/2010/main" xmlns="" val="12654515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604992" y="1712550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5036" y="1250120"/>
            <a:ext cx="33218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Действия после возврата долга</a:t>
            </a:r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C05AD5CA-9A55-4C48-8381-BC6B17EBB4C6}"/>
              </a:ext>
            </a:extLst>
          </p:cNvPr>
          <p:cNvSpPr/>
          <p:nvPr/>
        </p:nvSpPr>
        <p:spPr>
          <a:xfrm>
            <a:off x="583482" y="4294939"/>
            <a:ext cx="5714371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Распределение ответственности и оперативная работа по возврату долгов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35036" y="1712550"/>
            <a:ext cx="4006686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Принятие и акцепт решения о дальнейших условиях сотрудничества. 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Оценка стоимости возврата долга.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Внесение информации в </a:t>
            </a:r>
            <a:r>
              <a:rPr lang="en-US" sz="1200" dirty="0"/>
              <a:t>ERP</a:t>
            </a:r>
            <a:r>
              <a:rPr lang="ru-RU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38720938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604992" y="1712550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5036" y="1250120"/>
            <a:ext cx="1266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Статистика</a:t>
            </a:r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C05AD5CA-9A55-4C48-8381-BC6B17EBB4C6}"/>
              </a:ext>
            </a:extLst>
          </p:cNvPr>
          <p:cNvSpPr/>
          <p:nvPr/>
        </p:nvSpPr>
        <p:spPr>
          <a:xfrm>
            <a:off x="583482" y="4294939"/>
            <a:ext cx="5714371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Распределение ответственности и оперативная работа по возврату долгов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35036" y="1712550"/>
            <a:ext cx="4006686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lvl="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Основную часть возвращенной дебиторской задолженности удается вернуть в течение 1-2 месяцев после ее возникновения. </a:t>
            </a:r>
          </a:p>
          <a:p>
            <a:pPr marL="180000" lvl="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Более 8</a:t>
            </a:r>
            <a:r>
              <a:rPr lang="en-US" sz="1200" dirty="0"/>
              <a:t>0</a:t>
            </a:r>
            <a:r>
              <a:rPr lang="ru-RU" sz="1200" dirty="0"/>
              <a:t>% возвращается в досудебном порядке (после начала претензионной работы, подачи документов в суд  и переговоров с должником).</a:t>
            </a:r>
          </a:p>
        </p:txBody>
      </p:sp>
    </p:spTree>
    <p:extLst>
      <p:ext uri="{BB962C8B-B14F-4D97-AF65-F5344CB8AC3E}">
        <p14:creationId xmlns:p14="http://schemas.microsoft.com/office/powerpoint/2010/main" xmlns="" val="14075423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11" name="Название 1">
            <a:extLst>
              <a:ext uri="{FF2B5EF4-FFF2-40B4-BE49-F238E27FC236}">
                <a16:creationId xmlns="" xmlns:a16="http://schemas.microsoft.com/office/drawing/2014/main" id="{83B216AE-E002-4B69-8586-A1804C935C1E}"/>
              </a:ext>
            </a:extLst>
          </p:cNvPr>
          <p:cNvSpPr txBox="1">
            <a:spLocks/>
          </p:cNvSpPr>
          <p:nvPr/>
        </p:nvSpPr>
        <p:spPr>
          <a:xfrm>
            <a:off x="535923" y="1724662"/>
            <a:ext cx="7772400" cy="182595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91000"/>
              </a:lnSpc>
            </a:pPr>
            <a:r>
              <a:rPr lang="ru-RU" sz="4000" b="1" dirty="0"/>
              <a:t>Как построить эффективную систему управления </a:t>
            </a:r>
            <a:r>
              <a:rPr lang="ru-RU" sz="4000" b="1" dirty="0" err="1"/>
              <a:t>дебиторкой</a:t>
            </a:r>
            <a:r>
              <a:rPr lang="ru-RU" sz="4000" b="1" dirty="0"/>
              <a:t> и мотивировать персонал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C05AD5CA-9A55-4C48-8381-BC6B17EBB4C6}"/>
              </a:ext>
            </a:extLst>
          </p:cNvPr>
          <p:cNvSpPr/>
          <p:nvPr/>
        </p:nvSpPr>
        <p:spPr>
          <a:xfrm>
            <a:off x="583482" y="4294939"/>
            <a:ext cx="5714371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Распределение ответственности и оперативная работа по возврату долгов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801565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604992" y="1712550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5037" y="1250120"/>
            <a:ext cx="41096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Что такое система управления дебиторской задолженностью</a:t>
            </a:r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C05AD5CA-9A55-4C48-8381-BC6B17EBB4C6}"/>
              </a:ext>
            </a:extLst>
          </p:cNvPr>
          <p:cNvSpPr/>
          <p:nvPr/>
        </p:nvSpPr>
        <p:spPr>
          <a:xfrm>
            <a:off x="583482" y="4294939"/>
            <a:ext cx="5714371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Распределение ответственности и оперативная работа по возврату долгов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35036" y="2112222"/>
            <a:ext cx="4006686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Бизнес-процесс (закрепленный регламентом).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Обучение персонала и изменение его мотивации.</a:t>
            </a:r>
          </a:p>
          <a:p>
            <a:pPr marL="180000" lvl="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Автоматизация в </a:t>
            </a:r>
            <a:r>
              <a:rPr lang="en-US" sz="1200" dirty="0"/>
              <a:t>ERP/CRM </a:t>
            </a:r>
            <a:r>
              <a:rPr lang="ru-RU" sz="1200" dirty="0"/>
              <a:t>системе, эффективные инструменты.</a:t>
            </a:r>
          </a:p>
          <a:p>
            <a:pPr marL="180000" lvl="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Регулярный анализ ключевых показателей.</a:t>
            </a:r>
          </a:p>
        </p:txBody>
      </p:sp>
    </p:spTree>
    <p:extLst>
      <p:ext uri="{BB962C8B-B14F-4D97-AF65-F5344CB8AC3E}">
        <p14:creationId xmlns:p14="http://schemas.microsoft.com/office/powerpoint/2010/main" xmlns="" val="6057607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604992" y="1712550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5037" y="1250120"/>
            <a:ext cx="41096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Обучение сотрудников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C05AD5CA-9A55-4C48-8381-BC6B17EBB4C6}"/>
              </a:ext>
            </a:extLst>
          </p:cNvPr>
          <p:cNvSpPr/>
          <p:nvPr/>
        </p:nvSpPr>
        <p:spPr>
          <a:xfrm>
            <a:off x="583482" y="4294939"/>
            <a:ext cx="5714371" cy="327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800" dirty="0"/>
              <a:t>Распределение ответственности и оперативная работа по возврату долгов</a:t>
            </a:r>
          </a:p>
          <a:p>
            <a:r>
              <a:rPr lang="en-US" sz="800" dirty="0" smtClean="0">
                <a:solidFill>
                  <a:srgbClr val="CE1325"/>
                </a:solidFill>
              </a:rPr>
              <a:t>school.gd.ru</a:t>
            </a:r>
            <a:endParaRPr lang="ru-RU" sz="800" dirty="0">
              <a:solidFill>
                <a:srgbClr val="CE1325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04992" y="1630372"/>
            <a:ext cx="400668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1" dirty="0"/>
              <a:t>Чему учим:</a:t>
            </a:r>
          </a:p>
          <a:p>
            <a:pPr marL="177800" indent="-177800">
              <a:buFont typeface="Arial" pitchFamily="34" charset="0"/>
              <a:buChar char="•"/>
              <a:tabLst>
                <a:tab pos="177800" algn="l"/>
              </a:tabLst>
            </a:pPr>
            <a:r>
              <a:rPr lang="ru-RU" sz="1200" dirty="0"/>
              <a:t>Знанию регламентов по работе с </a:t>
            </a:r>
            <a:r>
              <a:rPr lang="ru-RU" sz="1200" dirty="0" err="1"/>
              <a:t>дебиторкой</a:t>
            </a:r>
            <a:r>
              <a:rPr lang="ru-RU" sz="1200" dirty="0"/>
              <a:t>.</a:t>
            </a:r>
          </a:p>
          <a:p>
            <a:pPr marL="177800" indent="-177800">
              <a:buFont typeface="Arial" pitchFamily="34" charset="0"/>
              <a:buChar char="•"/>
              <a:tabLst>
                <a:tab pos="177800" algn="l"/>
              </a:tabLst>
            </a:pPr>
            <a:r>
              <a:rPr lang="ru-RU" sz="1200" dirty="0"/>
              <a:t>Технике переговоров с должником.</a:t>
            </a:r>
          </a:p>
          <a:p>
            <a:pPr marL="177800" indent="-177800">
              <a:buFont typeface="Arial" pitchFamily="34" charset="0"/>
              <a:buChar char="•"/>
              <a:tabLst>
                <a:tab pos="177800" algn="l"/>
              </a:tabLst>
            </a:pPr>
            <a:r>
              <a:rPr lang="ru-RU" sz="1200" dirty="0"/>
              <a:t>Приемам экспресс-проверки контрагентов.</a:t>
            </a:r>
          </a:p>
          <a:p>
            <a:pPr marL="177800" indent="-177800">
              <a:buFont typeface="Arial" pitchFamily="34" charset="0"/>
              <a:buChar char="•"/>
              <a:tabLst>
                <a:tab pos="177800" algn="l"/>
              </a:tabLst>
            </a:pPr>
            <a:r>
              <a:rPr lang="ru-RU" sz="1200" dirty="0"/>
              <a:t>Правильно позиционировать отсрочку.</a:t>
            </a:r>
          </a:p>
          <a:p>
            <a:endParaRPr lang="ru-RU" sz="1200" b="1" dirty="0"/>
          </a:p>
          <a:p>
            <a:r>
              <a:rPr lang="ru-RU" sz="1200" b="1" dirty="0"/>
              <a:t>Как учим: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ru-RU" sz="1200" dirty="0"/>
              <a:t>Внутренние и внешние тренинги.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ru-RU" sz="1200" dirty="0"/>
              <a:t>«Ролевые» игры.</a:t>
            </a:r>
          </a:p>
          <a:p>
            <a:endParaRPr lang="ru-RU" sz="1200" b="1" dirty="0"/>
          </a:p>
          <a:p>
            <a:r>
              <a:rPr lang="ru-RU" sz="1200" b="1" dirty="0"/>
              <a:t>Как контролируем: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ru-RU" sz="1200" dirty="0"/>
              <a:t>Тестирование.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ru-RU" sz="1200" dirty="0"/>
              <a:t>Анализ при возникновении проблем.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ru-RU" sz="1200" dirty="0" err="1"/>
              <a:t>Аудиофиксация</a:t>
            </a:r>
            <a:r>
              <a:rPr lang="ru-RU" sz="1200" dirty="0"/>
              <a:t> и последующий  анализ переговоров.</a:t>
            </a:r>
          </a:p>
        </p:txBody>
      </p:sp>
    </p:spTree>
    <p:extLst>
      <p:ext uri="{BB962C8B-B14F-4D97-AF65-F5344CB8AC3E}">
        <p14:creationId xmlns:p14="http://schemas.microsoft.com/office/powerpoint/2010/main" xmlns="" val="34666175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604992" y="1712550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5037" y="1250120"/>
            <a:ext cx="41096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Мотивация менеджеров</a:t>
            </a:r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C05AD5CA-9A55-4C48-8381-BC6B17EBB4C6}"/>
              </a:ext>
            </a:extLst>
          </p:cNvPr>
          <p:cNvSpPr/>
          <p:nvPr/>
        </p:nvSpPr>
        <p:spPr>
          <a:xfrm>
            <a:off x="583482" y="4294939"/>
            <a:ext cx="5714371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Распределение ответственности и оперативная работа по возврату долгов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35036" y="1767051"/>
            <a:ext cx="4006686" cy="23237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Процент от сделки только после поступления денежных средств.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Работа с отсрочкой менее выгодна чем предоплата (учитываем стоимость </a:t>
            </a:r>
            <a:r>
              <a:rPr lang="ru-RU" sz="1200" dirty="0" err="1"/>
              <a:t>дебиторки</a:t>
            </a:r>
            <a:r>
              <a:rPr lang="ru-RU" sz="1200" dirty="0"/>
              <a:t>).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«Нелегальное» кредитование стоит очень дорого.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Штрафные санкции при наличии долгов по первичным документам. 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Штрафные санкции при возникновение просрочки (после определенной даты, например, через 30 дней).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Полная сумма долга при грубом нарушении правил.</a:t>
            </a:r>
          </a:p>
        </p:txBody>
      </p:sp>
    </p:spTree>
    <p:extLst>
      <p:ext uri="{BB962C8B-B14F-4D97-AF65-F5344CB8AC3E}">
        <p14:creationId xmlns:p14="http://schemas.microsoft.com/office/powerpoint/2010/main" xmlns="" val="22988575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604992" y="1712550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5037" y="1250120"/>
            <a:ext cx="41096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Мотивация менеджеров</a:t>
            </a:r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C05AD5CA-9A55-4C48-8381-BC6B17EBB4C6}"/>
              </a:ext>
            </a:extLst>
          </p:cNvPr>
          <p:cNvSpPr/>
          <p:nvPr/>
        </p:nvSpPr>
        <p:spPr>
          <a:xfrm>
            <a:off x="583482" y="4294939"/>
            <a:ext cx="5714371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Распределение ответственности и оперативная работа по возврату долгов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35036" y="1767051"/>
            <a:ext cx="4006686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Варианты изменения переменной части (% от прибыли):</a:t>
            </a:r>
          </a:p>
          <a:p>
            <a:endParaRPr lang="ru-RU" sz="1200" dirty="0"/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От глубины кредита.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От даты фактической оплаты.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От соотношения ПДЗ/ДЗ или ПДЗ/Оборот.</a:t>
            </a:r>
          </a:p>
        </p:txBody>
      </p:sp>
    </p:spTree>
    <p:extLst>
      <p:ext uri="{BB962C8B-B14F-4D97-AF65-F5344CB8AC3E}">
        <p14:creationId xmlns:p14="http://schemas.microsoft.com/office/powerpoint/2010/main" xmlns="" val="4145177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604992" y="1712550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5037" y="1250120"/>
            <a:ext cx="41096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Регулярно анализируем показатели и возникшие  проблемы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C05AD5CA-9A55-4C48-8381-BC6B17EBB4C6}"/>
              </a:ext>
            </a:extLst>
          </p:cNvPr>
          <p:cNvSpPr/>
          <p:nvPr/>
        </p:nvSpPr>
        <p:spPr>
          <a:xfrm>
            <a:off x="583482" y="4294939"/>
            <a:ext cx="5714371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Распределение ответственности и оперативная работа по возврату долгов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35036" y="2009277"/>
            <a:ext cx="4006686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419350" algn="l"/>
                <a:tab pos="3136900" algn="l"/>
                <a:tab pos="3321050" algn="l"/>
              </a:tabLst>
            </a:pPr>
            <a:r>
              <a:rPr lang="ru-RU" sz="1200" b="1" dirty="0"/>
              <a:t>1. Ключевые показатели эффективности: </a:t>
            </a:r>
          </a:p>
          <a:p>
            <a:pPr marL="360000" indent="-18000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265113" algn="l"/>
                <a:tab pos="2419350" algn="l"/>
                <a:tab pos="3136900" algn="l"/>
                <a:tab pos="3321050" algn="l"/>
              </a:tabLst>
            </a:pPr>
            <a:r>
              <a:rPr lang="ru-RU" sz="1200" dirty="0"/>
              <a:t>Соотношение оборота</a:t>
            </a:r>
            <a:r>
              <a:rPr lang="en-US" sz="1200" dirty="0"/>
              <a:t> </a:t>
            </a:r>
            <a:r>
              <a:rPr lang="ru-RU" sz="1200" dirty="0"/>
              <a:t>к  ДЗ, ПДЗ, сумме ущерба.</a:t>
            </a:r>
          </a:p>
          <a:p>
            <a:pPr marL="360000" indent="-18000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265113" algn="l"/>
                <a:tab pos="2419350" algn="l"/>
                <a:tab pos="3136900" algn="l"/>
                <a:tab pos="3321050" algn="l"/>
              </a:tabLst>
            </a:pPr>
            <a:r>
              <a:rPr lang="ru-RU" sz="1200" dirty="0"/>
              <a:t>Время успешного возврата ДЗ.</a:t>
            </a:r>
          </a:p>
          <a:p>
            <a:pPr marL="360000" indent="-18000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265113" algn="l"/>
                <a:tab pos="2419350" algn="l"/>
                <a:tab pos="3136900" algn="l"/>
                <a:tab pos="3321050" algn="l"/>
              </a:tabLst>
            </a:pPr>
            <a:r>
              <a:rPr lang="ru-RU" sz="1200" dirty="0"/>
              <a:t>Затраты на возврат ДЗ. </a:t>
            </a:r>
          </a:p>
          <a:p>
            <a:pPr marL="360000" indent="-18000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265113" algn="l"/>
                <a:tab pos="2419350" algn="l"/>
                <a:tab pos="3136900" algn="l"/>
                <a:tab pos="3321050" algn="l"/>
              </a:tabLst>
            </a:pPr>
            <a:r>
              <a:rPr lang="ru-RU" sz="1200" dirty="0"/>
              <a:t>Стоимость «подвисших» денег. </a:t>
            </a:r>
          </a:p>
          <a:p>
            <a:pPr>
              <a:tabLst>
                <a:tab pos="2419350" algn="l"/>
                <a:tab pos="3136900" algn="l"/>
                <a:tab pos="3321050" algn="l"/>
              </a:tabLst>
            </a:pPr>
            <a:endParaRPr lang="ru-RU" sz="1200" b="1" dirty="0"/>
          </a:p>
          <a:p>
            <a:pPr>
              <a:tabLst>
                <a:tab pos="2419350" algn="l"/>
                <a:tab pos="3136900" algn="l"/>
                <a:tab pos="3321050" algn="l"/>
              </a:tabLst>
            </a:pPr>
            <a:r>
              <a:rPr lang="ru-RU" sz="1200" b="1" dirty="0"/>
              <a:t>2. Причины возникновения проблемных долгов.</a:t>
            </a:r>
          </a:p>
          <a:p>
            <a:pPr>
              <a:tabLst>
                <a:tab pos="2419350" algn="l"/>
                <a:tab pos="3136900" algn="l"/>
                <a:tab pos="3321050" algn="l"/>
              </a:tabLst>
            </a:pPr>
            <a:endParaRPr lang="ru-RU" sz="1200" b="1" dirty="0"/>
          </a:p>
          <a:p>
            <a:pPr>
              <a:tabLst>
                <a:tab pos="2419350" algn="l"/>
                <a:tab pos="3136900" algn="l"/>
                <a:tab pos="3321050" algn="l"/>
              </a:tabLst>
            </a:pPr>
            <a:r>
              <a:rPr lang="ru-RU" sz="1200" b="1" dirty="0"/>
              <a:t>3. Анализ текущих долгов, расстановка приоритетов.</a:t>
            </a:r>
          </a:p>
        </p:txBody>
      </p:sp>
    </p:spTree>
    <p:extLst>
      <p:ext uri="{BB962C8B-B14F-4D97-AF65-F5344CB8AC3E}">
        <p14:creationId xmlns:p14="http://schemas.microsoft.com/office/powerpoint/2010/main" xmlns="" val="29663249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604992" y="1712550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5037" y="1250120"/>
            <a:ext cx="45093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Анализ при возникновении проблемных долгов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C05AD5CA-9A55-4C48-8381-BC6B17EBB4C6}"/>
              </a:ext>
            </a:extLst>
          </p:cNvPr>
          <p:cNvSpPr/>
          <p:nvPr/>
        </p:nvSpPr>
        <p:spPr>
          <a:xfrm>
            <a:off x="583482" y="4294939"/>
            <a:ext cx="5714371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Распределение ответственности и оперативная работа по возврату долгов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35036" y="2009277"/>
            <a:ext cx="4006686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lvl="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На каком этапе произошел сбой? Кто и что сделал не так?</a:t>
            </a:r>
          </a:p>
          <a:p>
            <a:pPr marL="180000" lvl="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Что надо изменить, что бы не допустить повторения в будущем?</a:t>
            </a:r>
          </a:p>
          <a:p>
            <a:pPr lvl="0"/>
            <a:endParaRPr lang="ru-RU" sz="1200" dirty="0"/>
          </a:p>
          <a:p>
            <a:pPr lvl="0"/>
            <a:r>
              <a:rPr lang="ru-RU" sz="1200" b="1" dirty="0"/>
              <a:t>По результатам анализа показателей </a:t>
            </a:r>
            <a:r>
              <a:rPr lang="ru-RU" sz="1200" dirty="0"/>
              <a:t>– выводы и принятие управленческих решений: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Корректировка бизнес-процессов.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Изменение условий отсрочки у конкретных дебиторов.</a:t>
            </a:r>
          </a:p>
        </p:txBody>
      </p:sp>
    </p:spTree>
    <p:extLst>
      <p:ext uri="{BB962C8B-B14F-4D97-AF65-F5344CB8AC3E}">
        <p14:creationId xmlns:p14="http://schemas.microsoft.com/office/powerpoint/2010/main" xmlns="" val="12110664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604992" y="1712550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5037" y="1250120"/>
            <a:ext cx="45093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Из чего складывается стоимость </a:t>
            </a:r>
            <a:r>
              <a:rPr lang="ru-RU" b="1" dirty="0" err="1"/>
              <a:t>дебиторки</a:t>
            </a:r>
            <a:endParaRPr lang="ru-RU" b="1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C05AD5CA-9A55-4C48-8381-BC6B17EBB4C6}"/>
              </a:ext>
            </a:extLst>
          </p:cNvPr>
          <p:cNvSpPr/>
          <p:nvPr/>
        </p:nvSpPr>
        <p:spPr>
          <a:xfrm>
            <a:off x="583482" y="4294939"/>
            <a:ext cx="5714371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Распределение ответственности и оперативная работа по возврату долгов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35036" y="2009277"/>
            <a:ext cx="4006686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«Стоимость» денег.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Зарплата сотрудников, участвующих в бизнес-процессе.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Затраты на возврат (госпошлины, командировочные расходы, представительские расходы).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Потери на невозвратной ПДЗ.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Упущенная выгода….</a:t>
            </a:r>
          </a:p>
        </p:txBody>
      </p:sp>
    </p:spTree>
    <p:extLst>
      <p:ext uri="{BB962C8B-B14F-4D97-AF65-F5344CB8AC3E}">
        <p14:creationId xmlns:p14="http://schemas.microsoft.com/office/powerpoint/2010/main" xmlns="" val="13280442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604992" y="1712550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5037" y="1250120"/>
            <a:ext cx="45093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Автоматизация работы с </a:t>
            </a:r>
            <a:r>
              <a:rPr lang="ru-RU" b="1" dirty="0" err="1"/>
              <a:t>дебиторкой</a:t>
            </a:r>
            <a:r>
              <a:rPr lang="ru-RU" b="1" dirty="0"/>
              <a:t> на уровне </a:t>
            </a:r>
            <a:r>
              <a:rPr lang="en-US" b="1" dirty="0"/>
              <a:t>ERP/CRM</a:t>
            </a:r>
            <a:endParaRPr lang="ru-RU" b="1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C05AD5CA-9A55-4C48-8381-BC6B17EBB4C6}"/>
              </a:ext>
            </a:extLst>
          </p:cNvPr>
          <p:cNvSpPr/>
          <p:nvPr/>
        </p:nvSpPr>
        <p:spPr>
          <a:xfrm>
            <a:off x="583482" y="4294939"/>
            <a:ext cx="5714371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Распределение ответственности и оперативная работа по возврату долгов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35036" y="2009277"/>
            <a:ext cx="4006686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1" dirty="0"/>
              <a:t>Цель автоматизации: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Уменьшить издержки, повысить эффективность.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Минимизировать влияние человеческого фактора.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Сделать невозможным нарушение установленных правил.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Создать инструмент контроля.</a:t>
            </a:r>
          </a:p>
        </p:txBody>
      </p:sp>
    </p:spTree>
    <p:extLst>
      <p:ext uri="{BB962C8B-B14F-4D97-AF65-F5344CB8AC3E}">
        <p14:creationId xmlns:p14="http://schemas.microsoft.com/office/powerpoint/2010/main" xmlns="" val="2670479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604992" y="1712550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5037" y="1250120"/>
            <a:ext cx="45093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Что должно быть автоматизировано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35037" y="1642481"/>
            <a:ext cx="400668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Автоматизированные бизнес-процессы (алгоритм) принятия и акцептования решения.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Ограничение и автоматический контроль суммы/глубины просрочки.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Техническая невозможность отгрузки в минус без</a:t>
            </a:r>
            <a:r>
              <a:rPr lang="en-US" sz="1000" dirty="0"/>
              <a:t>:</a:t>
            </a:r>
          </a:p>
          <a:p>
            <a:pPr marL="360000" lvl="1" indent="-180000">
              <a:spcBef>
                <a:spcPts val="300"/>
              </a:spcBef>
              <a:buFont typeface="Calibri" panose="020F0502020204030204" pitchFamily="34" charset="0"/>
              <a:buChar char="–"/>
            </a:pPr>
            <a:r>
              <a:rPr lang="ru-RU" sz="1000" dirty="0"/>
              <a:t>акцепта отсрочки;</a:t>
            </a:r>
          </a:p>
          <a:p>
            <a:pPr marL="360000" lvl="1" indent="-180000">
              <a:spcBef>
                <a:spcPts val="300"/>
              </a:spcBef>
              <a:buFont typeface="Calibri" panose="020F0502020204030204" pitchFamily="34" charset="0"/>
              <a:buChar char="–"/>
            </a:pPr>
            <a:r>
              <a:rPr lang="ru-RU" sz="1000" dirty="0"/>
              <a:t>наличия действующего, подписанного и проверенного договора.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Автоматические напоминания менеджеру и клиенту о приближении даты оплаты.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Информирование менеджера/руководителя отдела продаж/СБ о просрочке оплаты (на разных сроках).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Постановка задач менеджеру по возврату долга.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Автоматическая «стоп-отгрузка».</a:t>
            </a:r>
          </a:p>
        </p:txBody>
      </p:sp>
    </p:spTree>
    <p:extLst>
      <p:ext uri="{BB962C8B-B14F-4D97-AF65-F5344CB8AC3E}">
        <p14:creationId xmlns:p14="http://schemas.microsoft.com/office/powerpoint/2010/main" xmlns="" val="22939527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604992" y="1712550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5037" y="1250120"/>
            <a:ext cx="45093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Что должно быть автоматизировано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35037" y="1642481"/>
            <a:ext cx="4006686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Расчет «стоимости» кредита при начислении переменной части заработной платы.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Аналитические отчеты (общая ДЗ, просроченная ДЗ, по отделам, по менеджерам, реестр старения ДЗ).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История взаимодействия с клиентом.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Ситуационный центр (Экран руководителя).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="" xmlns:a16="http://schemas.microsoft.com/office/drawing/2014/main" id="{C05AD5CA-9A55-4C48-8381-BC6B17EBB4C6}"/>
              </a:ext>
            </a:extLst>
          </p:cNvPr>
          <p:cNvSpPr/>
          <p:nvPr/>
        </p:nvSpPr>
        <p:spPr>
          <a:xfrm>
            <a:off x="583482" y="4294939"/>
            <a:ext cx="5714371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Распределение ответственности и оперативная работа по возврату долгов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124837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604992" y="1712550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5037" y="1250120"/>
            <a:ext cx="45093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Разработка кредитной политики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35037" y="1642481"/>
            <a:ext cx="400668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Кого и на каких условиях кредитовать.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000" dirty="0"/>
              <a:t>Min/Max </a:t>
            </a:r>
            <a:r>
              <a:rPr lang="ru-RU" sz="1000" dirty="0"/>
              <a:t>сумма отсрочки и глубина кредита.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% увеличение стоимости товара в кредит.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Допустимый размер ДЗ (</a:t>
            </a:r>
            <a:r>
              <a:rPr lang="en-US" sz="1000" dirty="0"/>
              <a:t>% </a:t>
            </a:r>
            <a:r>
              <a:rPr lang="ru-RU" sz="1000" dirty="0"/>
              <a:t>от оборота, сумма). 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Использование факторинга.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Подход к разовой «технической» отсрочке.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А как у конкурентов?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="" xmlns:a16="http://schemas.microsoft.com/office/drawing/2014/main" id="{C05AD5CA-9A55-4C48-8381-BC6B17EBB4C6}"/>
              </a:ext>
            </a:extLst>
          </p:cNvPr>
          <p:cNvSpPr/>
          <p:nvPr/>
        </p:nvSpPr>
        <p:spPr>
          <a:xfrm>
            <a:off x="583482" y="4294939"/>
            <a:ext cx="5714371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Распределение ответственности и оперативная работа по возврату долгов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21107698"/>
      </p:ext>
    </p:extLst>
  </p:cSld>
  <p:clrMapOvr>
    <a:masterClrMapping/>
  </p:clrMapOvr>
</p:sld>
</file>

<file path=ppt/theme/theme1.xml><?xml version="1.0" encoding="utf-8"?>
<a:theme xmlns:a="http://schemas.openxmlformats.org/drawingml/2006/main" name="shfd_videolessons_23 01 18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Специальное оформление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shfd_videolessons_23 01 18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1_Специальное оформление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shfd_videolessons_23 01 18.thmx</Template>
  <TotalTime>3763</TotalTime>
  <Words>1854</Words>
  <Application>Microsoft Office PowerPoint</Application>
  <PresentationFormat>Экран (16:9)</PresentationFormat>
  <Paragraphs>331</Paragraphs>
  <Slides>41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4</vt:i4>
      </vt:variant>
      <vt:variant>
        <vt:lpstr>Заголовки слайдов</vt:lpstr>
      </vt:variant>
      <vt:variant>
        <vt:i4>41</vt:i4>
      </vt:variant>
    </vt:vector>
  </HeadingPairs>
  <TitlesOfParts>
    <vt:vector size="45" baseType="lpstr">
      <vt:lpstr>shfd_videolessons_23 01 18</vt:lpstr>
      <vt:lpstr>Специальное оформление</vt:lpstr>
      <vt:lpstr>1_shfd_videolessons_23 01 18</vt:lpstr>
      <vt:lpstr>1_Специальное оформление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  <vt:lpstr>Слайд 22</vt:lpstr>
      <vt:lpstr>Слайд 23</vt:lpstr>
      <vt:lpstr>Слайд 24</vt:lpstr>
      <vt:lpstr>Слайд 25</vt:lpstr>
      <vt:lpstr>Слайд 26</vt:lpstr>
      <vt:lpstr>Слайд 27</vt:lpstr>
      <vt:lpstr>Слайд 28</vt:lpstr>
      <vt:lpstr>Слайд 29</vt:lpstr>
      <vt:lpstr>Слайд 30</vt:lpstr>
      <vt:lpstr>Слайд 31</vt:lpstr>
      <vt:lpstr>Слайд 32</vt:lpstr>
      <vt:lpstr>Слайд 33</vt:lpstr>
      <vt:lpstr>Слайд 34</vt:lpstr>
      <vt:lpstr>Слайд 35</vt:lpstr>
      <vt:lpstr>Слайд 36</vt:lpstr>
      <vt:lpstr>Слайд 37</vt:lpstr>
      <vt:lpstr>Слайд 38</vt:lpstr>
      <vt:lpstr>Слайд 39</vt:lpstr>
      <vt:lpstr>Слайд 40</vt:lpstr>
      <vt:lpstr>Слайд 41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Эксклюзив от ФНС:  как заполнять счета-фактуры  и регистры учета после 1 октября</dc:title>
  <dc:creator>User</dc:creator>
  <cp:lastModifiedBy>Натали</cp:lastModifiedBy>
  <cp:revision>138</cp:revision>
  <dcterms:created xsi:type="dcterms:W3CDTF">2018-01-12T10:39:47Z</dcterms:created>
  <dcterms:modified xsi:type="dcterms:W3CDTF">2018-12-19T07:12:16Z</dcterms:modified>
</cp:coreProperties>
</file>