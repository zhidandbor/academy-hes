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4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0.xml" ContentType="application/vnd.openxmlformats-officedocument.presentationml.slideLayout+xml"/>
  <Override PartName="/ppt/changesInfos/changesInfo1.xml" ContentType="application/vnd.ms-powerpoint.changesinfo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Default Extension="jpeg" ContentType="image/jpeg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684" r:id="rId2"/>
    <p:sldMasterId id="2147483696" r:id="rId3"/>
    <p:sldMasterId id="2147483708" r:id="rId4"/>
  </p:sldMasterIdLst>
  <p:notesMasterIdLst>
    <p:notesMasterId r:id="rId26"/>
  </p:notesMasterIdLst>
  <p:sldIdLst>
    <p:sldId id="256" r:id="rId5"/>
    <p:sldId id="259" r:id="rId6"/>
    <p:sldId id="266" r:id="rId7"/>
    <p:sldId id="262" r:id="rId8"/>
    <p:sldId id="267" r:id="rId9"/>
    <p:sldId id="268" r:id="rId10"/>
    <p:sldId id="269" r:id="rId11"/>
    <p:sldId id="270" r:id="rId12"/>
    <p:sldId id="271" r:id="rId13"/>
    <p:sldId id="272" r:id="rId14"/>
    <p:sldId id="285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</p:sldIdLst>
  <p:sldSz cx="9144000" cy="5143500" type="screen16x9"/>
  <p:notesSz cx="6858000" cy="9144000"/>
  <p:defaultTextStyle>
    <a:defPPr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CE1325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96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-562" y="-8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Иветта Новикова" userId="e708aafe7de06156" providerId="LiveId" clId="{F2CCA1F7-DE08-4D42-A0CD-4D0442217A06}"/>
    <pc:docChg chg="custSel modSld">
      <pc:chgData name="Иветта Новикова" userId="e708aafe7de06156" providerId="LiveId" clId="{F2CCA1F7-DE08-4D42-A0CD-4D0442217A06}" dt="2018-03-08T16:45:34.492" v="66" actId="20577"/>
      <pc:docMkLst>
        <pc:docMk/>
      </pc:docMkLst>
      <pc:sldChg chg="addSp delSp modSp">
        <pc:chgData name="Иветта Новикова" userId="e708aafe7de06156" providerId="LiveId" clId="{F2CCA1F7-DE08-4D42-A0CD-4D0442217A06}" dt="2018-03-08T16:45:34.492" v="66" actId="20577"/>
        <pc:sldMkLst>
          <pc:docMk/>
          <pc:sldMk cId="352707402" sldId="256"/>
        </pc:sldMkLst>
        <pc:spChg chg="del mod">
          <ac:chgData name="Иветта Новикова" userId="e708aafe7de06156" providerId="LiveId" clId="{F2CCA1F7-DE08-4D42-A0CD-4D0442217A06}" dt="2018-03-08T13:59:13.108" v="56" actId="478"/>
          <ac:spMkLst>
            <pc:docMk/>
            <pc:sldMk cId="352707402" sldId="256"/>
            <ac:spMk id="4" creationId="{00000000-0000-0000-0000-000000000000}"/>
          </ac:spMkLst>
        </pc:spChg>
        <pc:spChg chg="mod">
          <ac:chgData name="Иветта Новикова" userId="e708aafe7de06156" providerId="LiveId" clId="{F2CCA1F7-DE08-4D42-A0CD-4D0442217A06}" dt="2018-03-08T16:45:34.492" v="66" actId="20577"/>
          <ac:spMkLst>
            <pc:docMk/>
            <pc:sldMk cId="352707402" sldId="256"/>
            <ac:spMk id="5" creationId="{00000000-0000-0000-0000-000000000000}"/>
          </ac:spMkLst>
        </pc:spChg>
        <pc:spChg chg="del">
          <ac:chgData name="Иветта Новикова" userId="e708aafe7de06156" providerId="LiveId" clId="{F2CCA1F7-DE08-4D42-A0CD-4D0442217A06}" dt="2018-03-08T13:59:14.859" v="57" actId="478"/>
          <ac:spMkLst>
            <pc:docMk/>
            <pc:sldMk cId="352707402" sldId="256"/>
            <ac:spMk id="7" creationId="{00000000-0000-0000-0000-000000000000}"/>
          </ac:spMkLst>
        </pc:spChg>
        <pc:picChg chg="add mod">
          <ac:chgData name="Иветта Новикова" userId="e708aafe7de06156" providerId="LiveId" clId="{F2CCA1F7-DE08-4D42-A0CD-4D0442217A06}" dt="2018-03-08T14:00:17.305" v="60" actId="14826"/>
          <ac:picMkLst>
            <pc:docMk/>
            <pc:sldMk cId="352707402" sldId="256"/>
            <ac:picMk id="8" creationId="{C88AE737-7A49-48DB-8047-C6E1B5CF36A5}"/>
          </ac:picMkLst>
        </pc:picChg>
      </pc:sldChg>
      <pc:sldChg chg="modSp">
        <pc:chgData name="Иветта Новикова" userId="e708aafe7de06156" providerId="LiveId" clId="{F2CCA1F7-DE08-4D42-A0CD-4D0442217A06}" dt="2018-03-08T12:38:54.701" v="2" actId="1076"/>
        <pc:sldMkLst>
          <pc:docMk/>
          <pc:sldMk cId="2940093077" sldId="267"/>
        </pc:sldMkLst>
        <pc:spChg chg="mod">
          <ac:chgData name="Иветта Новикова" userId="e708aafe7de06156" providerId="LiveId" clId="{F2CCA1F7-DE08-4D42-A0CD-4D0442217A06}" dt="2018-03-08T12:38:54.701" v="2" actId="1076"/>
          <ac:spMkLst>
            <pc:docMk/>
            <pc:sldMk cId="2940093077" sldId="267"/>
            <ac:spMk id="11" creationId="{00000000-0000-0000-0000-000000000000}"/>
          </ac:spMkLst>
        </pc:spChg>
        <pc:graphicFrameChg chg="mod">
          <ac:chgData name="Иветта Новикова" userId="e708aafe7de06156" providerId="LiveId" clId="{F2CCA1F7-DE08-4D42-A0CD-4D0442217A06}" dt="2018-03-08T12:38:40.862" v="0" actId="1076"/>
          <ac:graphicFrameMkLst>
            <pc:docMk/>
            <pc:sldMk cId="2940093077" sldId="267"/>
            <ac:graphicFrameMk id="10" creationId="{00000000-0000-0000-0000-000000000000}"/>
          </ac:graphicFrameMkLst>
        </pc:graphicFrameChg>
      </pc:sldChg>
      <pc:sldChg chg="modSp">
        <pc:chgData name="Иветта Новикова" userId="e708aafe7de06156" providerId="LiveId" clId="{F2CCA1F7-DE08-4D42-A0CD-4D0442217A06}" dt="2018-03-08T12:42:20.807" v="11" actId="1076"/>
        <pc:sldMkLst>
          <pc:docMk/>
          <pc:sldMk cId="4079614618" sldId="268"/>
        </pc:sldMkLst>
        <pc:spChg chg="mod">
          <ac:chgData name="Иветта Новикова" userId="e708aafe7de06156" providerId="LiveId" clId="{F2CCA1F7-DE08-4D42-A0CD-4D0442217A06}" dt="2018-03-08T12:42:12.053" v="10" actId="1076"/>
          <ac:spMkLst>
            <pc:docMk/>
            <pc:sldMk cId="4079614618" sldId="268"/>
            <ac:spMk id="3" creationId="{00000000-0000-0000-0000-000000000000}"/>
          </ac:spMkLst>
        </pc:spChg>
        <pc:spChg chg="mod">
          <ac:chgData name="Иветта Новикова" userId="e708aafe7de06156" providerId="LiveId" clId="{F2CCA1F7-DE08-4D42-A0CD-4D0442217A06}" dt="2018-03-08T12:42:11.328" v="9" actId="1076"/>
          <ac:spMkLst>
            <pc:docMk/>
            <pc:sldMk cId="4079614618" sldId="268"/>
            <ac:spMk id="8" creationId="{00000000-0000-0000-0000-000000000000}"/>
          </ac:spMkLst>
        </pc:spChg>
        <pc:graphicFrameChg chg="mod">
          <ac:chgData name="Иветта Новикова" userId="e708aafe7de06156" providerId="LiveId" clId="{F2CCA1F7-DE08-4D42-A0CD-4D0442217A06}" dt="2018-03-08T12:42:20.807" v="11" actId="1076"/>
          <ac:graphicFrameMkLst>
            <pc:docMk/>
            <pc:sldMk cId="4079614618" sldId="268"/>
            <ac:graphicFrameMk id="9" creationId="{00000000-0000-0000-0000-000000000000}"/>
          </ac:graphicFrameMkLst>
        </pc:graphicFrameChg>
      </pc:sldChg>
      <pc:sldChg chg="modSp">
        <pc:chgData name="Иветта Новикова" userId="e708aafe7de06156" providerId="LiveId" clId="{F2CCA1F7-DE08-4D42-A0CD-4D0442217A06}" dt="2018-03-08T12:44:39.749" v="14" actId="20577"/>
        <pc:sldMkLst>
          <pc:docMk/>
          <pc:sldMk cId="57593485" sldId="269"/>
        </pc:sldMkLst>
        <pc:spChg chg="mod">
          <ac:chgData name="Иветта Новикова" userId="e708aafe7de06156" providerId="LiveId" clId="{F2CCA1F7-DE08-4D42-A0CD-4D0442217A06}" dt="2018-03-08T12:44:39.749" v="14" actId="20577"/>
          <ac:spMkLst>
            <pc:docMk/>
            <pc:sldMk cId="57593485" sldId="269"/>
            <ac:spMk id="10" creationId="{00000000-0000-0000-0000-000000000000}"/>
          </ac:spMkLst>
        </pc:spChg>
        <pc:graphicFrameChg chg="mod">
          <ac:chgData name="Иветта Новикова" userId="e708aafe7de06156" providerId="LiveId" clId="{F2CCA1F7-DE08-4D42-A0CD-4D0442217A06}" dt="2018-03-08T12:44:33.017" v="13" actId="1076"/>
          <ac:graphicFrameMkLst>
            <pc:docMk/>
            <pc:sldMk cId="57593485" sldId="269"/>
            <ac:graphicFrameMk id="11" creationId="{00000000-0000-0000-0000-000000000000}"/>
          </ac:graphicFrameMkLst>
        </pc:graphicFrameChg>
      </pc:sldChg>
      <pc:sldChg chg="modSp">
        <pc:chgData name="Иветта Новикова" userId="e708aafe7de06156" providerId="LiveId" clId="{F2CCA1F7-DE08-4D42-A0CD-4D0442217A06}" dt="2018-03-08T12:50:48.310" v="22" actId="20577"/>
        <pc:sldMkLst>
          <pc:docMk/>
          <pc:sldMk cId="1689920661" sldId="271"/>
        </pc:sldMkLst>
        <pc:spChg chg="mod">
          <ac:chgData name="Иветта Новикова" userId="e708aafe7de06156" providerId="LiveId" clId="{F2CCA1F7-DE08-4D42-A0CD-4D0442217A06}" dt="2018-03-08T12:50:48.310" v="22" actId="20577"/>
          <ac:spMkLst>
            <pc:docMk/>
            <pc:sldMk cId="1689920661" sldId="271"/>
            <ac:spMk id="8" creationId="{00000000-0000-0000-0000-000000000000}"/>
          </ac:spMkLst>
        </pc:spChg>
      </pc:sldChg>
      <pc:sldChg chg="modSp">
        <pc:chgData name="Иветта Новикова" userId="e708aafe7de06156" providerId="LiveId" clId="{F2CCA1F7-DE08-4D42-A0CD-4D0442217A06}" dt="2018-03-08T13:11:41.392" v="37" actId="20577"/>
        <pc:sldMkLst>
          <pc:docMk/>
          <pc:sldMk cId="181073564" sldId="277"/>
        </pc:sldMkLst>
        <pc:spChg chg="mod">
          <ac:chgData name="Иветта Новикова" userId="e708aafe7de06156" providerId="LiveId" clId="{F2CCA1F7-DE08-4D42-A0CD-4D0442217A06}" dt="2018-03-08T13:11:41.392" v="37" actId="20577"/>
          <ac:spMkLst>
            <pc:docMk/>
            <pc:sldMk cId="181073564" sldId="277"/>
            <ac:spMk id="16" creationId="{00000000-0000-0000-0000-000000000000}"/>
          </ac:spMkLst>
        </pc:spChg>
        <pc:picChg chg="mod">
          <ac:chgData name="Иветта Новикова" userId="e708aafe7de06156" providerId="LiveId" clId="{F2CCA1F7-DE08-4D42-A0CD-4D0442217A06}" dt="2018-03-08T13:09:10.206" v="24" actId="14100"/>
          <ac:picMkLst>
            <pc:docMk/>
            <pc:sldMk cId="181073564" sldId="277"/>
            <ac:picMk id="14" creationId="{00000000-0000-0000-0000-000000000000}"/>
          </ac:picMkLst>
        </pc:picChg>
        <pc:picChg chg="mod">
          <ac:chgData name="Иветта Новикова" userId="e708aafe7de06156" providerId="LiveId" clId="{F2CCA1F7-DE08-4D42-A0CD-4D0442217A06}" dt="2018-03-08T13:09:57.392" v="30" actId="1076"/>
          <ac:picMkLst>
            <pc:docMk/>
            <pc:sldMk cId="181073564" sldId="277"/>
            <ac:picMk id="15" creationId="{00000000-0000-0000-0000-000000000000}"/>
          </ac:picMkLst>
        </pc:picChg>
      </pc:sldChg>
      <pc:sldChg chg="modSp">
        <pc:chgData name="Иветта Новикова" userId="e708aafe7de06156" providerId="LiveId" clId="{F2CCA1F7-DE08-4D42-A0CD-4D0442217A06}" dt="2018-03-08T13:11:08.597" v="35" actId="1076"/>
        <pc:sldMkLst>
          <pc:docMk/>
          <pc:sldMk cId="713275058" sldId="278"/>
        </pc:sldMkLst>
        <pc:spChg chg="mod">
          <ac:chgData name="Иветта Новикова" userId="e708aafe7de06156" providerId="LiveId" clId="{F2CCA1F7-DE08-4D42-A0CD-4D0442217A06}" dt="2018-03-08T13:11:01.389" v="33" actId="1076"/>
          <ac:spMkLst>
            <pc:docMk/>
            <pc:sldMk cId="713275058" sldId="278"/>
            <ac:spMk id="13" creationId="{00000000-0000-0000-0000-000000000000}"/>
          </ac:spMkLst>
        </pc:spChg>
        <pc:spChg chg="mod">
          <ac:chgData name="Иветта Новикова" userId="e708aafe7de06156" providerId="LiveId" clId="{F2CCA1F7-DE08-4D42-A0CD-4D0442217A06}" dt="2018-03-08T13:11:05.277" v="34" actId="1076"/>
          <ac:spMkLst>
            <pc:docMk/>
            <pc:sldMk cId="713275058" sldId="278"/>
            <ac:spMk id="17" creationId="{00000000-0000-0000-0000-000000000000}"/>
          </ac:spMkLst>
        </pc:spChg>
        <pc:picChg chg="mod">
          <ac:chgData name="Иветта Новикова" userId="e708aafe7de06156" providerId="LiveId" clId="{F2CCA1F7-DE08-4D42-A0CD-4D0442217A06}" dt="2018-03-08T13:11:08.597" v="35" actId="1076"/>
          <ac:picMkLst>
            <pc:docMk/>
            <pc:sldMk cId="713275058" sldId="278"/>
            <ac:picMk id="12" creationId="{00000000-0000-0000-0000-000000000000}"/>
          </ac:picMkLst>
        </pc:picChg>
      </pc:sldChg>
      <pc:sldChg chg="modSp">
        <pc:chgData name="Иветта Новикова" userId="e708aafe7de06156" providerId="LiveId" clId="{F2CCA1F7-DE08-4D42-A0CD-4D0442217A06}" dt="2018-03-08T13:13:23.480" v="42" actId="1076"/>
        <pc:sldMkLst>
          <pc:docMk/>
          <pc:sldMk cId="1170619702" sldId="279"/>
        </pc:sldMkLst>
        <pc:spChg chg="mod">
          <ac:chgData name="Иветта Новикова" userId="e708aafe7de06156" providerId="LiveId" clId="{F2CCA1F7-DE08-4D42-A0CD-4D0442217A06}" dt="2018-03-08T13:13:18.061" v="40" actId="1076"/>
          <ac:spMkLst>
            <pc:docMk/>
            <pc:sldMk cId="1170619702" sldId="279"/>
            <ac:spMk id="13" creationId="{00000000-0000-0000-0000-000000000000}"/>
          </ac:spMkLst>
        </pc:spChg>
        <pc:spChg chg="mod">
          <ac:chgData name="Иветта Новикова" userId="e708aafe7de06156" providerId="LiveId" clId="{F2CCA1F7-DE08-4D42-A0CD-4D0442217A06}" dt="2018-03-08T13:13:21.309" v="41" actId="1076"/>
          <ac:spMkLst>
            <pc:docMk/>
            <pc:sldMk cId="1170619702" sldId="279"/>
            <ac:spMk id="16" creationId="{00000000-0000-0000-0000-000000000000}"/>
          </ac:spMkLst>
        </pc:spChg>
        <pc:picChg chg="mod">
          <ac:chgData name="Иветта Новикова" userId="e708aafe7de06156" providerId="LiveId" clId="{F2CCA1F7-DE08-4D42-A0CD-4D0442217A06}" dt="2018-03-08T13:13:23.480" v="42" actId="1076"/>
          <ac:picMkLst>
            <pc:docMk/>
            <pc:sldMk cId="1170619702" sldId="279"/>
            <ac:picMk id="15" creationId="{00000000-0000-0000-0000-000000000000}"/>
          </ac:picMkLst>
        </pc:picChg>
      </pc:sldChg>
      <pc:sldChg chg="modSp">
        <pc:chgData name="Иветта Новикова" userId="e708aafe7de06156" providerId="LiveId" clId="{F2CCA1F7-DE08-4D42-A0CD-4D0442217A06}" dt="2018-03-08T13:13:56.654" v="47" actId="1076"/>
        <pc:sldMkLst>
          <pc:docMk/>
          <pc:sldMk cId="2274969676" sldId="280"/>
        </pc:sldMkLst>
        <pc:spChg chg="mod">
          <ac:chgData name="Иветта Новикова" userId="e708aafe7de06156" providerId="LiveId" clId="{F2CCA1F7-DE08-4D42-A0CD-4D0442217A06}" dt="2018-03-08T13:13:56.654" v="47" actId="1076"/>
          <ac:spMkLst>
            <pc:docMk/>
            <pc:sldMk cId="2274969676" sldId="280"/>
            <ac:spMk id="13" creationId="{00000000-0000-0000-0000-000000000000}"/>
          </ac:spMkLst>
        </pc:spChg>
        <pc:spChg chg="mod">
          <ac:chgData name="Иветта Новикова" userId="e708aafe7de06156" providerId="LiveId" clId="{F2CCA1F7-DE08-4D42-A0CD-4D0442217A06}" dt="2018-03-08T13:13:36.445" v="44" actId="1076"/>
          <ac:spMkLst>
            <pc:docMk/>
            <pc:sldMk cId="2274969676" sldId="280"/>
            <ac:spMk id="17" creationId="{00000000-0000-0000-0000-000000000000}"/>
          </ac:spMkLst>
        </pc:spChg>
        <pc:spChg chg="mod">
          <ac:chgData name="Иветта Новикова" userId="e708aafe7de06156" providerId="LiveId" clId="{F2CCA1F7-DE08-4D42-A0CD-4D0442217A06}" dt="2018-03-08T13:13:42.234" v="46" actId="1076"/>
          <ac:spMkLst>
            <pc:docMk/>
            <pc:sldMk cId="2274969676" sldId="280"/>
            <ac:spMk id="18" creationId="{00000000-0000-0000-0000-000000000000}"/>
          </ac:spMkLst>
        </pc:spChg>
        <pc:picChg chg="mod">
          <ac:chgData name="Иветта Новикова" userId="e708aafe7de06156" providerId="LiveId" clId="{F2CCA1F7-DE08-4D42-A0CD-4D0442217A06}" dt="2018-03-08T13:13:32.741" v="43" actId="14100"/>
          <ac:picMkLst>
            <pc:docMk/>
            <pc:sldMk cId="2274969676" sldId="280"/>
            <ac:picMk id="11" creationId="{00000000-0000-0000-0000-000000000000}"/>
          </ac:picMkLst>
        </pc:picChg>
        <pc:picChg chg="mod">
          <ac:chgData name="Иветта Новикова" userId="e708aafe7de06156" providerId="LiveId" clId="{F2CCA1F7-DE08-4D42-A0CD-4D0442217A06}" dt="2018-03-08T13:13:38.884" v="45" actId="1076"/>
          <ac:picMkLst>
            <pc:docMk/>
            <pc:sldMk cId="2274969676" sldId="280"/>
            <ac:picMk id="12" creationId="{00000000-0000-0000-0000-000000000000}"/>
          </ac:picMkLst>
        </pc:picChg>
      </pc:sldChg>
      <pc:sldChg chg="modSp">
        <pc:chgData name="Иветта Новикова" userId="e708aafe7de06156" providerId="LiveId" clId="{F2CCA1F7-DE08-4D42-A0CD-4D0442217A06}" dt="2018-03-08T13:19:09.048" v="54" actId="6549"/>
        <pc:sldMkLst>
          <pc:docMk/>
          <pc:sldMk cId="1264177995" sldId="281"/>
        </pc:sldMkLst>
        <pc:spChg chg="mod">
          <ac:chgData name="Иветта Новикова" userId="e708aafe7de06156" providerId="LiveId" clId="{F2CCA1F7-DE08-4D42-A0CD-4D0442217A06}" dt="2018-03-08T13:19:02.765" v="52" actId="1076"/>
          <ac:spMkLst>
            <pc:docMk/>
            <pc:sldMk cId="1264177995" sldId="281"/>
            <ac:spMk id="13" creationId="{00000000-0000-0000-0000-000000000000}"/>
          </ac:spMkLst>
        </pc:spChg>
        <pc:spChg chg="mod">
          <ac:chgData name="Иветта Новикова" userId="e708aafe7de06156" providerId="LiveId" clId="{F2CCA1F7-DE08-4D42-A0CD-4D0442217A06}" dt="2018-03-08T13:19:09.048" v="54" actId="6549"/>
          <ac:spMkLst>
            <pc:docMk/>
            <pc:sldMk cId="1264177995" sldId="281"/>
            <ac:spMk id="16" creationId="{00000000-0000-0000-0000-000000000000}"/>
          </ac:spMkLst>
        </pc:spChg>
        <pc:picChg chg="mod">
          <ac:chgData name="Иветта Новикова" userId="e708aafe7de06156" providerId="LiveId" clId="{F2CCA1F7-DE08-4D42-A0CD-4D0442217A06}" dt="2018-03-08T13:18:54.015" v="49" actId="1076"/>
          <ac:picMkLst>
            <pc:docMk/>
            <pc:sldMk cId="1264177995" sldId="281"/>
            <ac:picMk id="14" creationId="{00000000-0000-0000-0000-000000000000}"/>
          </ac:picMkLst>
        </pc:picChg>
        <pc:picChg chg="mod">
          <ac:chgData name="Иветта Новикова" userId="e708aafe7de06156" providerId="LiveId" clId="{F2CCA1F7-DE08-4D42-A0CD-4D0442217A06}" dt="2018-03-08T13:18:59.695" v="51" actId="1076"/>
          <ac:picMkLst>
            <pc:docMk/>
            <pc:sldMk cId="1264177995" sldId="281"/>
            <ac:picMk id="15" creationId="{00000000-0000-0000-0000-000000000000}"/>
          </ac:picMkLst>
        </pc:picChg>
      </pc:sldChg>
      <pc:sldChg chg="modSp">
        <pc:chgData name="Иветта Новикова" userId="e708aafe7de06156" providerId="LiveId" clId="{F2CCA1F7-DE08-4D42-A0CD-4D0442217A06}" dt="2018-03-08T12:58:15.737" v="23" actId="14100"/>
        <pc:sldMkLst>
          <pc:docMk/>
          <pc:sldMk cId="3098132921" sldId="285"/>
        </pc:sldMkLst>
        <pc:graphicFrameChg chg="mod modGraphic">
          <ac:chgData name="Иветта Новикова" userId="e708aafe7de06156" providerId="LiveId" clId="{F2CCA1F7-DE08-4D42-A0CD-4D0442217A06}" dt="2018-03-08T12:58:15.737" v="23" actId="14100"/>
          <ac:graphicFrameMkLst>
            <pc:docMk/>
            <pc:sldMk cId="3098132921" sldId="285"/>
            <ac:graphicFrameMk id="8" creationId="{00000000-0000-0000-0000-000000000000}"/>
          </ac:graphicFrameMkLst>
        </pc:graphicFrame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56AD17-C8BE-0042-A047-B264E547F3F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10AB3A-EF41-3C43-86EF-13128BED826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71144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10711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24604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87124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10831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21566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68230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75818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72603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11887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6502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41329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85209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95712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35322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859516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75848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491595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75622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270534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175731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644026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074368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107118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246043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871247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108314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215663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682306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758181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726034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118875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65024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413294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852093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957128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353228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859516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75848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4915954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75622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270534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175731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6440269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07436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18691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7748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18691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7748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.v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2.v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3.v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4.v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5.v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1843761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/>
              <a:t>Разработка финансовой структуры компании</a:t>
            </a:r>
            <a:endParaRPr lang="ru-RU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1898947" y="3998407"/>
            <a:ext cx="4968552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Павел Боровков</a:t>
            </a:r>
            <a:r>
              <a:rPr lang="en-US" b="1" dirty="0"/>
              <a:t/>
            </a:r>
            <a:br>
              <a:rPr lang="en-US" b="1" dirty="0"/>
            </a:br>
            <a:r>
              <a:rPr lang="ru-RU" sz="1400"/>
              <a:t>генеральный </a:t>
            </a:r>
            <a:r>
              <a:rPr lang="ru-RU" sz="1400" smtClean="0"/>
              <a:t>директор «</a:t>
            </a:r>
            <a:r>
              <a:rPr lang="ru-RU" sz="1400" dirty="0" err="1"/>
              <a:t>Партнеры</a:t>
            </a:r>
            <a:r>
              <a:rPr lang="ru-RU" sz="1400" dirty="0"/>
              <a:t> и Боровков»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097802" y="523777"/>
            <a:ext cx="13921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CE1325"/>
                </a:solidFill>
              </a:rPr>
              <a:t>school.gd.ru</a:t>
            </a:r>
            <a:r>
              <a:rPr lang="ru-RU" dirty="0" smtClean="0">
                <a:solidFill>
                  <a:srgbClr val="CE1325"/>
                </a:solidFill>
              </a:rPr>
              <a:t> </a:t>
            </a:r>
            <a:endParaRPr lang="ru-RU" dirty="0">
              <a:solidFill>
                <a:srgbClr val="CE1325"/>
              </a:solidFill>
            </a:endParaRPr>
          </a:p>
        </p:txBody>
      </p:sp>
      <p:pic>
        <p:nvPicPr>
          <p:cNvPr id="8" name="Изображение 2">
            <a:extLst>
              <a:ext uri="{FF2B5EF4-FFF2-40B4-BE49-F238E27FC236}">
                <a16:creationId xmlns="" xmlns:a16="http://schemas.microsoft.com/office/drawing/2014/main" id="{C88AE737-7A49-48DB-8047-C6E1B5CF3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608" y="3451939"/>
            <a:ext cx="1060311" cy="109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2707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2215795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/>
              <a:t>Шаг 1. Подготовка ОргСтруктуры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6500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Разработка финансовой структуры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40940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6500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Разработка финансовой структуры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103924844"/>
              </p:ext>
            </p:extLst>
          </p:nvPr>
        </p:nvGraphicFramePr>
        <p:xfrm>
          <a:off x="532937" y="1184143"/>
          <a:ext cx="3657599" cy="2919284"/>
        </p:xfrm>
        <a:graphic>
          <a:graphicData uri="http://schemas.openxmlformats.org/presentationml/2006/ole">
            <p:oleObj spid="_x0000_s1027" name="Visio" r:id="rId3" imgW="5124958" imgH="4094025" progId="">
              <p:embed/>
            </p:oleObj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3136312" y="1008849"/>
            <a:ext cx="200361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dirty="0"/>
              <a:t>Составьте реально действующую на момент старта проекта организационную диаграмму</a:t>
            </a:r>
          </a:p>
        </p:txBody>
      </p:sp>
    </p:spTree>
    <p:extLst>
      <p:ext uri="{BB962C8B-B14F-4D97-AF65-F5344CB8AC3E}">
        <p14:creationId xmlns:p14="http://schemas.microsoft.com/office/powerpoint/2010/main" xmlns="" val="1789890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2297333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/>
              <a:t>Шаг 2. Выделение ЦФО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6500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Разработка финансовой структуры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28681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6500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Разработка финансовой структуры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graphicFrame>
        <p:nvGraphicFramePr>
          <p:cNvPr id="10" name="Объект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050771008"/>
              </p:ext>
            </p:extLst>
          </p:nvPr>
        </p:nvGraphicFramePr>
        <p:xfrm>
          <a:off x="438608" y="1803496"/>
          <a:ext cx="3665614" cy="2145952"/>
        </p:xfrm>
        <a:graphic>
          <a:graphicData uri="http://schemas.openxmlformats.org/presentationml/2006/ole">
            <p:oleObj spid="_x0000_s2051" name="Visio" r:id="rId3" imgW="4867522" imgH="2673037" progId="">
              <p:embed/>
            </p:oleObj>
          </a:graphicData>
        </a:graphic>
      </p:graphicFrame>
      <p:sp>
        <p:nvSpPr>
          <p:cNvPr id="11" name="Прямоугольник 10"/>
          <p:cNvSpPr/>
          <p:nvPr/>
        </p:nvSpPr>
        <p:spPr>
          <a:xfrm>
            <a:off x="3909239" y="787833"/>
            <a:ext cx="144621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900" b="1" dirty="0"/>
              <a:t>Метод «один к одному»</a:t>
            </a:r>
          </a:p>
          <a:p>
            <a:r>
              <a:rPr lang="ru-RU" sz="900" dirty="0"/>
              <a:t>ЦФО соответствуют  конкретным орг. подразделениям. </a:t>
            </a:r>
          </a:p>
          <a:p>
            <a:endParaRPr lang="ru-RU" sz="900" dirty="0"/>
          </a:p>
          <a:p>
            <a:r>
              <a:rPr lang="ru-RU" sz="900" b="1" dirty="0"/>
              <a:t>Ситуация: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900" dirty="0"/>
              <a:t>подразделение самостоятельно выполняет определенную функцию в компании и несет связанную с этим финансовую ответственность. </a:t>
            </a:r>
          </a:p>
        </p:txBody>
      </p:sp>
    </p:spTree>
    <p:extLst>
      <p:ext uri="{BB962C8B-B14F-4D97-AF65-F5344CB8AC3E}">
        <p14:creationId xmlns:p14="http://schemas.microsoft.com/office/powerpoint/2010/main" xmlns="" val="2940093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57376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6500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Разработка финансовой структуры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784598" y="647343"/>
            <a:ext cx="1574803" cy="365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900" b="1" dirty="0"/>
              <a:t>Метод «один ко многим»</a:t>
            </a:r>
          </a:p>
          <a:p>
            <a:r>
              <a:rPr lang="ru-RU" sz="900" dirty="0"/>
              <a:t>ЦФО объединяют нескольких подразделений. </a:t>
            </a:r>
          </a:p>
          <a:p>
            <a:endParaRPr lang="ru-RU" sz="900" dirty="0"/>
          </a:p>
          <a:p>
            <a:r>
              <a:rPr lang="ru-RU" sz="900" b="1" dirty="0"/>
              <a:t>Ситуации: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ru-RU" sz="900" dirty="0"/>
              <a:t>несколько подразделений обладают однотипными доходами или затратами;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ru-RU" sz="900" dirty="0"/>
              <a:t>подразделения тесно связанны производственным процессом - результаты работы одного становится материалом для работы следующего;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ru-RU" sz="900" dirty="0"/>
              <a:t>подразделения выполняют разные функции, но вся их деятельность направлена на получение конечного результата только в одном из них.</a:t>
            </a:r>
          </a:p>
        </p:txBody>
      </p:sp>
      <p:graphicFrame>
        <p:nvGraphicFramePr>
          <p:cNvPr id="9" name="Объект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79094432"/>
              </p:ext>
            </p:extLst>
          </p:nvPr>
        </p:nvGraphicFramePr>
        <p:xfrm>
          <a:off x="395649" y="1628423"/>
          <a:ext cx="3452917" cy="2138057"/>
        </p:xfrm>
        <a:graphic>
          <a:graphicData uri="http://schemas.openxmlformats.org/presentationml/2006/ole">
            <p:oleObj spid="_x0000_s3075" name="Visio" r:id="rId3" imgW="4867522" imgH="3006051" progId="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4079614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6500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Разработка финансовой структуры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3798889" y="1131633"/>
            <a:ext cx="1546222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900" b="1" dirty="0"/>
              <a:t>Метод «многие к одному»</a:t>
            </a:r>
            <a:endParaRPr lang="ru-RU" sz="900" dirty="0"/>
          </a:p>
          <a:p>
            <a:r>
              <a:rPr lang="ru-RU" sz="900" dirty="0"/>
              <a:t>ЦФО создаются путем выделения  из одного структурного подразделения нескольких ЦФО. </a:t>
            </a:r>
          </a:p>
          <a:p>
            <a:endParaRPr lang="ru-RU" sz="900" dirty="0"/>
          </a:p>
          <a:p>
            <a:r>
              <a:rPr lang="ru-RU" sz="900" b="1" dirty="0"/>
              <a:t>Ситуация: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900" dirty="0"/>
              <a:t>отдел, департамент или служба выполняет работу для нескольких других структурных подразделений.</a:t>
            </a:r>
          </a:p>
        </p:txBody>
      </p:sp>
      <p:graphicFrame>
        <p:nvGraphicFramePr>
          <p:cNvPr id="11" name="Объект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634896358"/>
              </p:ext>
            </p:extLst>
          </p:nvPr>
        </p:nvGraphicFramePr>
        <p:xfrm>
          <a:off x="492408" y="1128272"/>
          <a:ext cx="3360647" cy="3150031"/>
        </p:xfrm>
        <a:graphic>
          <a:graphicData uri="http://schemas.openxmlformats.org/presentationml/2006/ole">
            <p:oleObj spid="_x0000_s4099" name="Visio" r:id="rId3" imgW="4990843" imgH="4782219" progId="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57593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2198322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/>
              <a:t>Шаг 3. Уточнение типов ЦФО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6500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Разработка финансовой структуры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07593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6500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Разработка финансовой структуры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532936" y="1325791"/>
            <a:ext cx="4610563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ru-RU" sz="1000" b="1" dirty="0"/>
              <a:t>Центр затрат (ЦЗ)</a:t>
            </a:r>
            <a:r>
              <a:rPr lang="ru-RU" sz="1000" dirty="0"/>
              <a:t> - отвечает за понесенные затраты.</a:t>
            </a:r>
            <a:br>
              <a:rPr lang="ru-RU" sz="1000" dirty="0"/>
            </a:br>
            <a:r>
              <a:rPr lang="ru-RU" sz="1000" dirty="0"/>
              <a:t>Примеры: производство, закупки, администрация, отдел маркетинга и т. п.</a:t>
            </a:r>
          </a:p>
          <a:p>
            <a:pPr algn="just">
              <a:spcAft>
                <a:spcPts val="600"/>
              </a:spcAft>
            </a:pPr>
            <a:r>
              <a:rPr lang="ru-RU" sz="1000" b="1" dirty="0"/>
              <a:t>Центр дохода (ЦД)</a:t>
            </a:r>
            <a:r>
              <a:rPr lang="ru-RU" sz="1000" dirty="0"/>
              <a:t> - отвечает за доходы одного из направлений бизнеса или предприятия в целом. Примеры: магазин, оптовая база, отдел продаж.</a:t>
            </a:r>
          </a:p>
          <a:p>
            <a:pPr algn="just">
              <a:spcAft>
                <a:spcPts val="600"/>
              </a:spcAft>
            </a:pPr>
            <a:r>
              <a:rPr lang="ru-RU" sz="1000" b="1" dirty="0"/>
              <a:t>Центр маржинального дохода (ЦМД)</a:t>
            </a:r>
            <a:r>
              <a:rPr lang="ru-RU" sz="1000" dirty="0"/>
              <a:t> - отвечает за маржинальный доход бизнес-направления. Примеры: обособленное подразделение (дивизион, магазин, оптовый склад), нескольких формально независимых организационных звеньев, менеджер по продажам определенных продуктов.</a:t>
            </a:r>
          </a:p>
          <a:p>
            <a:pPr algn="just">
              <a:spcAft>
                <a:spcPts val="600"/>
              </a:spcAft>
            </a:pPr>
            <a:r>
              <a:rPr lang="ru-RU" sz="1000" b="1" dirty="0"/>
              <a:t>Центр прибыли (ЦП)</a:t>
            </a:r>
            <a:r>
              <a:rPr lang="ru-RU" sz="1000" dirty="0"/>
              <a:t> - отвечает за прибыль, рассчитанную как все доходы минус все затраты. Примеры: отдельное самостоятельное предприятие, группа компаний.</a:t>
            </a:r>
          </a:p>
          <a:p>
            <a:pPr algn="just">
              <a:spcAft>
                <a:spcPts val="600"/>
              </a:spcAft>
            </a:pPr>
            <a:r>
              <a:rPr lang="ru-RU" sz="1000" b="1" dirty="0"/>
              <a:t>Центр инвестиций (ЦИ)</a:t>
            </a:r>
            <a:r>
              <a:rPr lang="ru-RU" sz="1000" dirty="0"/>
              <a:t> - отвечает за эффективность инвестиций и имеет право менять состав </a:t>
            </a:r>
            <a:r>
              <a:rPr lang="ru-RU" sz="1000" dirty="0" err="1"/>
              <a:t>внеоборотных</a:t>
            </a:r>
            <a:r>
              <a:rPr lang="ru-RU" sz="1000" dirty="0"/>
              <a:t> активов (покупать или продавать объекты основных средств, реализовывать сделки M&amp;A).</a:t>
            </a:r>
            <a:br>
              <a:rPr lang="ru-RU" sz="1000" dirty="0"/>
            </a:br>
            <a:r>
              <a:rPr lang="ru-RU" sz="1000" dirty="0"/>
              <a:t>Примеры: самостоятельное (не входящее в состав группы) предприятие или холдинг.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ru-RU" sz="10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ru-RU" sz="1000" dirty="0"/>
          </a:p>
          <a:p>
            <a:pPr algn="just"/>
            <a:endParaRPr lang="ru-RU" sz="10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xmlns="" val="1689920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932619372"/>
              </p:ext>
            </p:extLst>
          </p:nvPr>
        </p:nvGraphicFramePr>
        <p:xfrm>
          <a:off x="375683" y="1341171"/>
          <a:ext cx="4886534" cy="3362678"/>
        </p:xfrm>
        <a:graphic>
          <a:graphicData uri="http://schemas.openxmlformats.org/presentationml/2006/ole">
            <p:oleObj spid="_x0000_s5123" name="Visio" r:id="rId3" imgW="9826942" imgH="6749415" progId="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1016855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6500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Разработка финансовой структуры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634437913"/>
              </p:ext>
            </p:extLst>
          </p:nvPr>
        </p:nvGraphicFramePr>
        <p:xfrm>
          <a:off x="625831" y="1316316"/>
          <a:ext cx="4295793" cy="27540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994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4276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0855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58662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657901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147214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b="1" dirty="0" err="1">
                          <a:effectLst/>
                        </a:rPr>
                        <a:t>Оргзвенья</a:t>
                      </a:r>
                      <a:endParaRPr lang="ru-RU" sz="10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</a:rPr>
                        <a:t>Тип ЦФО</a:t>
                      </a:r>
                      <a:endParaRPr lang="ru-RU" sz="10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47214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</a:rPr>
                        <a:t>ЦИ</a:t>
                      </a:r>
                      <a:endParaRPr lang="ru-RU" sz="10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</a:rPr>
                        <a:t>ЦП</a:t>
                      </a:r>
                      <a:endParaRPr lang="ru-RU" sz="10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</a:rPr>
                        <a:t>ЦД</a:t>
                      </a:r>
                      <a:endParaRPr lang="ru-RU" sz="10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</a:rPr>
                        <a:t>ЦЗ</a:t>
                      </a:r>
                      <a:endParaRPr lang="ru-RU" sz="10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2450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1. Компания</a:t>
                      </a:r>
                      <a:endParaRPr lang="ru-RU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+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+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 </a:t>
                      </a:r>
                      <a:endParaRPr lang="ru-RU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4721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  1.1. Генеральный директор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 </a:t>
                      </a:r>
                      <a:endParaRPr lang="ru-RU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 </a:t>
                      </a:r>
                      <a:endParaRPr lang="ru-RU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+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435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    1.1.1. Служба персонала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 </a:t>
                      </a:r>
                      <a:endParaRPr lang="ru-RU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+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4844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      1.1.1.1. Отдел кадров</a:t>
                      </a:r>
                      <a:endParaRPr lang="ru-RU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 </a:t>
                      </a:r>
                      <a:endParaRPr lang="ru-RU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+</a:t>
                      </a:r>
                      <a:endParaRPr lang="ru-RU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4721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    1.1.2. Служба маркетинга</a:t>
                      </a:r>
                      <a:endParaRPr lang="ru-RU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 </a:t>
                      </a:r>
                      <a:endParaRPr lang="ru-RU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highlight>
                            <a:srgbClr val="D3D3D3"/>
                          </a:highlight>
                        </a:rPr>
                        <a:t> </a:t>
                      </a:r>
                      <a:endParaRPr lang="ru-RU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4721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      1.1.2.1. Отдел маркетинга</a:t>
                      </a:r>
                      <a:endParaRPr lang="ru-RU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 </a:t>
                      </a:r>
                      <a:endParaRPr lang="ru-RU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+</a:t>
                      </a:r>
                      <a:endParaRPr lang="ru-RU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4721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      1.1.2.2. Отдел продаж</a:t>
                      </a:r>
                      <a:endParaRPr lang="ru-RU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 </a:t>
                      </a:r>
                      <a:endParaRPr lang="ru-RU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+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+</a:t>
                      </a:r>
                      <a:endParaRPr lang="ru-RU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4721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      1.1.2.3. Отдел закупок</a:t>
                      </a:r>
                      <a:endParaRPr lang="ru-RU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 </a:t>
                      </a:r>
                      <a:endParaRPr lang="ru-RU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 </a:t>
                      </a:r>
                      <a:endParaRPr lang="ru-RU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+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4721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      1.1.2.4. Отдел рекламы</a:t>
                      </a:r>
                      <a:endParaRPr lang="ru-RU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 </a:t>
                      </a:r>
                      <a:endParaRPr lang="ru-RU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 </a:t>
                      </a:r>
                      <a:endParaRPr lang="ru-RU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+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4721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      1.1.2.5. Центр. склад</a:t>
                      </a:r>
                      <a:endParaRPr lang="ru-RU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 </a:t>
                      </a:r>
                      <a:endParaRPr lang="ru-RU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 </a:t>
                      </a:r>
                      <a:endParaRPr lang="ru-RU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+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4721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    1.1.3. Служба производства</a:t>
                      </a:r>
                      <a:endParaRPr lang="ru-RU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 </a:t>
                      </a:r>
                      <a:endParaRPr lang="ru-RU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 </a:t>
                      </a:r>
                      <a:endParaRPr lang="ru-RU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highlight>
                            <a:srgbClr val="D3D3D3"/>
                          </a:highlight>
                        </a:rPr>
                        <a:t> 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4721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      1.1.3.1. Цех №1</a:t>
                      </a:r>
                      <a:endParaRPr lang="ru-RU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 </a:t>
                      </a:r>
                      <a:endParaRPr lang="ru-RU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 </a:t>
                      </a:r>
                      <a:endParaRPr lang="ru-RU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+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14721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      1.1.3.2. Цех №2</a:t>
                      </a:r>
                      <a:endParaRPr lang="ru-RU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 </a:t>
                      </a:r>
                      <a:endParaRPr lang="ru-RU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 </a:t>
                      </a:r>
                      <a:endParaRPr lang="ru-RU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 </a:t>
                      </a:r>
                      <a:endParaRPr lang="ru-RU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+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29442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      1.1.3.3. Отдел технического обеспечения</a:t>
                      </a:r>
                      <a:endParaRPr lang="ru-RU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 </a:t>
                      </a:r>
                      <a:endParaRPr lang="ru-RU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 </a:t>
                      </a:r>
                      <a:endParaRPr lang="ru-RU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 </a:t>
                      </a:r>
                      <a:endParaRPr lang="ru-RU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+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098132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1761507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/>
              <a:t>Шаг 4. Построение Финансовой структуры</a:t>
            </a:r>
            <a:br>
              <a:rPr lang="ru-RU" sz="3600" b="1" dirty="0"/>
            </a:br>
            <a:r>
              <a:rPr lang="en-US" sz="3600" b="1" dirty="0"/>
              <a:t>[</a:t>
            </a:r>
            <a:r>
              <a:rPr lang="ru-RU" sz="3600" b="1" dirty="0"/>
              <a:t>примеры из практики</a:t>
            </a:r>
            <a:r>
              <a:rPr lang="en-US" sz="3600" b="1" dirty="0"/>
              <a:t>]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6500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Разработка финансовой структуры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45839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8" y="1264025"/>
            <a:ext cx="4943888" cy="3023826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27914" y="1559506"/>
            <a:ext cx="2669607" cy="2838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937896" y="1389278"/>
            <a:ext cx="1360354" cy="1360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Прямоугольник 9"/>
          <p:cNvSpPr/>
          <p:nvPr/>
        </p:nvSpPr>
        <p:spPr>
          <a:xfrm>
            <a:off x="1102657" y="1721565"/>
            <a:ext cx="799543" cy="3960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2032003" y="2520740"/>
            <a:ext cx="791879" cy="4577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кругленная прямоугольная выноска 11"/>
          <p:cNvSpPr/>
          <p:nvPr/>
        </p:nvSpPr>
        <p:spPr>
          <a:xfrm>
            <a:off x="3674698" y="2441198"/>
            <a:ext cx="1031774" cy="658349"/>
          </a:xfrm>
          <a:prstGeom prst="wedgeRoundRectCallout">
            <a:avLst>
              <a:gd name="adj1" fmla="val -29312"/>
              <a:gd name="adj2" fmla="val -8509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/>
              <a:t>Кто здесь главный?..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6192" y="960024"/>
            <a:ext cx="2669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Ситуация 1: Детализация ЦФО</a:t>
            </a:r>
            <a:endParaRPr lang="ru-RU" sz="28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35601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8" y="1264025"/>
            <a:ext cx="4943888" cy="3023826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2902039" y="938655"/>
            <a:ext cx="26692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Ситуация 1: Детализация ЦФО [как бы было надо]</a:t>
            </a:r>
            <a:endParaRPr lang="ru-RU" sz="28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33591" y="1348993"/>
            <a:ext cx="2539915" cy="3170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09046" y="2338475"/>
            <a:ext cx="727613" cy="119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Скругленная прямоугольная выноска 15"/>
          <p:cNvSpPr/>
          <p:nvPr/>
        </p:nvSpPr>
        <p:spPr>
          <a:xfrm>
            <a:off x="3315536" y="3838941"/>
            <a:ext cx="1821412" cy="907785"/>
          </a:xfrm>
          <a:prstGeom prst="wedgeRoundRectCallout">
            <a:avLst>
              <a:gd name="adj1" fmla="val -22137"/>
              <a:gd name="adj2" fmla="val -7746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000" dirty="0"/>
              <a:t>Мне очень понравился Ваш курс «для начинающих».</a:t>
            </a:r>
          </a:p>
          <a:p>
            <a:r>
              <a:rPr lang="ru-RU" sz="1000" dirty="0"/>
              <a:t>Чувствую в себе силы заказать теперь интенсивный курс. </a:t>
            </a:r>
          </a:p>
        </p:txBody>
      </p:sp>
      <p:sp>
        <p:nvSpPr>
          <p:cNvPr id="17" name="Скругленная прямоугольная выноска 16"/>
          <p:cNvSpPr/>
          <p:nvPr/>
        </p:nvSpPr>
        <p:spPr>
          <a:xfrm>
            <a:off x="4074344" y="1461875"/>
            <a:ext cx="1248978" cy="809161"/>
          </a:xfrm>
          <a:prstGeom prst="wedgeRoundRectCallout">
            <a:avLst>
              <a:gd name="adj1" fmla="val -31113"/>
              <a:gd name="adj2" fmla="val 7889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000" dirty="0"/>
              <a:t>Отлично! Ответственный менеджер свяжется с Вами.</a:t>
            </a:r>
          </a:p>
        </p:txBody>
      </p:sp>
    </p:spTree>
    <p:extLst>
      <p:ext uri="{BB962C8B-B14F-4D97-AF65-F5344CB8AC3E}">
        <p14:creationId xmlns:p14="http://schemas.microsoft.com/office/powerpoint/2010/main" xmlns="" val="713135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8" y="1264025"/>
            <a:ext cx="4943888" cy="3023826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2906193" y="592021"/>
            <a:ext cx="26692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Ситуация 2: Детализация ЦФО [обратный случай]</a:t>
            </a:r>
            <a:endParaRPr lang="ru-RU" sz="28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32032" y="1210706"/>
            <a:ext cx="3355041" cy="308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264025"/>
            <a:ext cx="668929" cy="1290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Скругленная прямоугольная выноска 18"/>
          <p:cNvSpPr/>
          <p:nvPr/>
        </p:nvSpPr>
        <p:spPr>
          <a:xfrm>
            <a:off x="3244082" y="1210706"/>
            <a:ext cx="1126374" cy="664422"/>
          </a:xfrm>
          <a:prstGeom prst="wedgeRoundRectCallout">
            <a:avLst>
              <a:gd name="adj1" fmla="val 65712"/>
              <a:gd name="adj2" fmla="val 3019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000" dirty="0"/>
              <a:t>А какая у меня плановая себестоимость?</a:t>
            </a:r>
          </a:p>
        </p:txBody>
      </p:sp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70457" y="2691712"/>
            <a:ext cx="836093" cy="1039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Скругленная прямоугольная выноска 20"/>
          <p:cNvSpPr/>
          <p:nvPr/>
        </p:nvSpPr>
        <p:spPr>
          <a:xfrm>
            <a:off x="3960411" y="3983850"/>
            <a:ext cx="1345439" cy="704634"/>
          </a:xfrm>
          <a:prstGeom prst="wedgeRoundRectCallout">
            <a:avLst>
              <a:gd name="adj1" fmla="val 21097"/>
              <a:gd name="adj2" fmla="val -7952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000" dirty="0"/>
              <a:t>Не знаю – у нас только общая…</a:t>
            </a:r>
          </a:p>
          <a:p>
            <a:r>
              <a:rPr lang="ru-RU" sz="1000" dirty="0"/>
              <a:t>Можем всю на тебя списать!</a:t>
            </a:r>
          </a:p>
        </p:txBody>
      </p:sp>
    </p:spTree>
    <p:extLst>
      <p:ext uri="{BB962C8B-B14F-4D97-AF65-F5344CB8AC3E}">
        <p14:creationId xmlns:p14="http://schemas.microsoft.com/office/powerpoint/2010/main" xmlns="" val="322768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8" y="1264025"/>
            <a:ext cx="4943888" cy="3023826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2906193" y="592021"/>
            <a:ext cx="26692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Ситуация 2: Детализация ЦФО [как бы было надо]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22499" y="1155896"/>
            <a:ext cx="4664237" cy="3023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58756" y="3408564"/>
            <a:ext cx="600095" cy="1158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Скругленная прямоугольная выноска 15"/>
          <p:cNvSpPr/>
          <p:nvPr/>
        </p:nvSpPr>
        <p:spPr>
          <a:xfrm>
            <a:off x="3856695" y="3641337"/>
            <a:ext cx="1500295" cy="1158079"/>
          </a:xfrm>
          <a:prstGeom prst="wedgeRoundRectCallout">
            <a:avLst>
              <a:gd name="adj1" fmla="val -60792"/>
              <a:gd name="adj2" fmla="val -4056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800" dirty="0"/>
              <a:t>Благодаря внедрению новой технологии производства целлюлозы мы сократим прямые затраты на 20% и косвенные – на 15%!</a:t>
            </a:r>
          </a:p>
          <a:p>
            <a:r>
              <a:rPr lang="ru-RU" sz="800" dirty="0"/>
              <a:t>А продажи обновленной продукции должны вырасти на 10%. </a:t>
            </a:r>
          </a:p>
        </p:txBody>
      </p:sp>
    </p:spTree>
    <p:extLst>
      <p:ext uri="{BB962C8B-B14F-4D97-AF65-F5344CB8AC3E}">
        <p14:creationId xmlns:p14="http://schemas.microsoft.com/office/powerpoint/2010/main" xmlns="" val="181073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8" y="1264025"/>
            <a:ext cx="4943888" cy="3023826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2754516" y="565477"/>
            <a:ext cx="26692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Ситуация 3: Выделение ЦФО по оргструктуре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1205" y="1186469"/>
            <a:ext cx="4077503" cy="260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894155" y="3214829"/>
            <a:ext cx="843083" cy="1484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Скругленная прямоугольная выноска 16"/>
          <p:cNvSpPr/>
          <p:nvPr/>
        </p:nvSpPr>
        <p:spPr>
          <a:xfrm>
            <a:off x="1990945" y="4126540"/>
            <a:ext cx="1527141" cy="620190"/>
          </a:xfrm>
          <a:prstGeom prst="wedgeRoundRectCallout">
            <a:avLst>
              <a:gd name="adj1" fmla="val 70371"/>
              <a:gd name="adj2" fmla="val -3602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975" indent="-180975">
              <a:buFont typeface="Wingdings" pitchFamily="2" charset="2"/>
              <a:buChar char="§"/>
            </a:pPr>
            <a:r>
              <a:rPr lang="ru-RU" sz="900" dirty="0"/>
              <a:t>Какие доходы?</a:t>
            </a:r>
          </a:p>
          <a:p>
            <a:pPr marL="180975" indent="-180975">
              <a:buFont typeface="Wingdings" pitchFamily="2" charset="2"/>
              <a:buChar char="§"/>
            </a:pPr>
            <a:r>
              <a:rPr lang="ru-RU" sz="900" dirty="0"/>
              <a:t>Какая себестоимость?</a:t>
            </a:r>
          </a:p>
          <a:p>
            <a:pPr marL="180975" indent="-180975">
              <a:buFont typeface="Wingdings" pitchFamily="2" charset="2"/>
              <a:buChar char="§"/>
            </a:pPr>
            <a:r>
              <a:rPr lang="ru-RU" sz="900" dirty="0"/>
              <a:t>Какой бюджет?</a:t>
            </a:r>
          </a:p>
        </p:txBody>
      </p:sp>
    </p:spTree>
    <p:extLst>
      <p:ext uri="{BB962C8B-B14F-4D97-AF65-F5344CB8AC3E}">
        <p14:creationId xmlns:p14="http://schemas.microsoft.com/office/powerpoint/2010/main" xmlns="" val="713275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8" y="1264025"/>
            <a:ext cx="4943888" cy="3023826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2788742" y="592021"/>
            <a:ext cx="26692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Ситуация 3: Выделение ЦФО [как бы было надо]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36196" y="2134281"/>
            <a:ext cx="4366507" cy="1989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095678" y="1254570"/>
            <a:ext cx="1005643" cy="100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Скругленная прямоугольная выноска 15"/>
          <p:cNvSpPr/>
          <p:nvPr/>
        </p:nvSpPr>
        <p:spPr>
          <a:xfrm>
            <a:off x="2204461" y="1352798"/>
            <a:ext cx="1838220" cy="551609"/>
          </a:xfrm>
          <a:prstGeom prst="wedgeRoundRectCallout">
            <a:avLst>
              <a:gd name="adj1" fmla="val 60103"/>
              <a:gd name="adj2" fmla="val 1656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975" indent="-180975">
              <a:buFont typeface="Wingdings" pitchFamily="2" charset="2"/>
              <a:buChar char="§"/>
            </a:pPr>
            <a:r>
              <a:rPr lang="ru-RU" sz="800" dirty="0"/>
              <a:t>Проводим распродажи!</a:t>
            </a:r>
          </a:p>
          <a:p>
            <a:pPr marL="180975" indent="-180975">
              <a:buFont typeface="Wingdings" pitchFamily="2" charset="2"/>
              <a:buChar char="§"/>
            </a:pPr>
            <a:r>
              <a:rPr lang="ru-RU" sz="800" dirty="0"/>
              <a:t>Увеличиваем оборачиваемость!</a:t>
            </a:r>
          </a:p>
          <a:p>
            <a:pPr marL="180975" indent="-180975">
              <a:buFont typeface="Wingdings" pitchFamily="2" charset="2"/>
              <a:buChar char="§"/>
            </a:pPr>
            <a:r>
              <a:rPr lang="ru-RU" sz="800" dirty="0"/>
              <a:t>Прижимаем поставщиков!</a:t>
            </a:r>
          </a:p>
        </p:txBody>
      </p:sp>
    </p:spTree>
    <p:extLst>
      <p:ext uri="{BB962C8B-B14F-4D97-AF65-F5344CB8AC3E}">
        <p14:creationId xmlns:p14="http://schemas.microsoft.com/office/powerpoint/2010/main" xmlns="" val="1170619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8" y="1264025"/>
            <a:ext cx="4943888" cy="3023826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2617082" y="640415"/>
            <a:ext cx="26692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Ситуация 4: Выделение ЦФО по проектам</a:t>
            </a:r>
          </a:p>
        </p:txBody>
      </p: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2938" y="2731551"/>
            <a:ext cx="4582009" cy="1470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00160" y="1344932"/>
            <a:ext cx="1040658" cy="1237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Скругленная прямоугольная выноска 16"/>
          <p:cNvSpPr/>
          <p:nvPr/>
        </p:nvSpPr>
        <p:spPr>
          <a:xfrm>
            <a:off x="614110" y="1507830"/>
            <a:ext cx="1166515" cy="645313"/>
          </a:xfrm>
          <a:prstGeom prst="wedgeRoundRectCallout">
            <a:avLst>
              <a:gd name="adj1" fmla="val 68221"/>
              <a:gd name="adj2" fmla="val 2401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100" dirty="0"/>
              <a:t>У нас тут где-то был ЦФО?..</a:t>
            </a:r>
          </a:p>
        </p:txBody>
      </p:sp>
      <p:sp>
        <p:nvSpPr>
          <p:cNvPr id="18" name="Скругленная прямоугольная выноска 17"/>
          <p:cNvSpPr/>
          <p:nvPr/>
        </p:nvSpPr>
        <p:spPr>
          <a:xfrm>
            <a:off x="3618243" y="1540667"/>
            <a:ext cx="1245139" cy="826949"/>
          </a:xfrm>
          <a:prstGeom prst="wedgeRoundRectCallout">
            <a:avLst>
              <a:gd name="adj1" fmla="val -72865"/>
              <a:gd name="adj2" fmla="val 82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100" dirty="0"/>
              <a:t>Да вы что!</a:t>
            </a:r>
          </a:p>
          <a:p>
            <a:r>
              <a:rPr lang="ru-RU" sz="1100" dirty="0"/>
              <a:t>Мы уже давно закрыли тот проект…</a:t>
            </a:r>
          </a:p>
        </p:txBody>
      </p:sp>
    </p:spTree>
    <p:extLst>
      <p:ext uri="{BB962C8B-B14F-4D97-AF65-F5344CB8AC3E}">
        <p14:creationId xmlns:p14="http://schemas.microsoft.com/office/powerpoint/2010/main" xmlns="" val="2274969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8" y="1264025"/>
            <a:ext cx="4943888" cy="3023826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2796178" y="592021"/>
            <a:ext cx="26692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Ситуация 4: Выделение ЦФО [как бы было надо]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2938" y="2628024"/>
            <a:ext cx="4526483" cy="1863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899404" y="1274880"/>
            <a:ext cx="1044449" cy="1149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Скругленная прямоугольная выноска 15"/>
          <p:cNvSpPr/>
          <p:nvPr/>
        </p:nvSpPr>
        <p:spPr>
          <a:xfrm>
            <a:off x="1900520" y="1353516"/>
            <a:ext cx="1791317" cy="1082578"/>
          </a:xfrm>
          <a:prstGeom prst="wedgeRoundRectCallout">
            <a:avLst>
              <a:gd name="adj1" fmla="val 61055"/>
              <a:gd name="adj2" fmla="val 437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000" dirty="0"/>
              <a:t>По направлению </a:t>
            </a:r>
            <a:r>
              <a:rPr lang="ru-RU" sz="1000"/>
              <a:t>«Соцсети</a:t>
            </a:r>
            <a:r>
              <a:rPr lang="ru-RU" sz="1000" dirty="0"/>
              <a:t>» планируем в следующем году рост в Х% </a:t>
            </a:r>
          </a:p>
          <a:p>
            <a:r>
              <a:rPr lang="ru-RU" sz="1000" dirty="0"/>
              <a:t>при относительном сокращении затрат!</a:t>
            </a:r>
          </a:p>
        </p:txBody>
      </p:sp>
    </p:spTree>
    <p:extLst>
      <p:ext uri="{BB962C8B-B14F-4D97-AF65-F5344CB8AC3E}">
        <p14:creationId xmlns:p14="http://schemas.microsoft.com/office/powerpoint/2010/main" xmlns="" val="1264177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8" y="1264025"/>
            <a:ext cx="4943888" cy="3023826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6500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Разработка финансовой структуры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14282" y="1338071"/>
            <a:ext cx="2788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Выводы:</a:t>
            </a:r>
            <a:endParaRPr lang="ru-RU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4946" y="1896681"/>
            <a:ext cx="4531830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spcAft>
                <a:spcPts val="600"/>
              </a:spcAft>
              <a:buAutoNum type="arabicPeriod"/>
            </a:pPr>
            <a:r>
              <a:rPr lang="ru-RU" sz="1200" dirty="0"/>
              <a:t>Степень детализации/укрупнения ЦФО должна быть достаточной, но не излишней. Используйте «Число Миллера».</a:t>
            </a:r>
            <a:endParaRPr lang="ru-RU" sz="1200" dirty="0">
              <a:solidFill>
                <a:schemeClr val="bg1">
                  <a:lumMod val="50000"/>
                </a:schemeClr>
              </a:solidFill>
            </a:endParaRPr>
          </a:p>
          <a:p>
            <a:pPr marL="180975" indent="-180975">
              <a:spcAft>
                <a:spcPts val="600"/>
              </a:spcAft>
              <a:buAutoNum type="arabicPeriod"/>
            </a:pPr>
            <a:r>
              <a:rPr lang="ru-RU" sz="1200" dirty="0"/>
              <a:t>Руководителями ЦФО должны быть те, кто реально отвечает за финансовые показатели. Они могут отличаться от тех, кто административно руководит подразделением.</a:t>
            </a:r>
          </a:p>
          <a:p>
            <a:pPr marL="180975" indent="-180975">
              <a:spcAft>
                <a:spcPts val="600"/>
              </a:spcAft>
              <a:buFontTx/>
              <a:buAutoNum type="arabicPeriod"/>
            </a:pPr>
            <a:r>
              <a:rPr lang="ru-RU" sz="1200" dirty="0"/>
              <a:t>Не следует путать «ЦФО» с «аналитическим признаком». Для аналитики есть много других инструментов! </a:t>
            </a:r>
          </a:p>
          <a:p>
            <a:pPr marL="180975" indent="-180975">
              <a:spcAft>
                <a:spcPts val="600"/>
              </a:spcAft>
              <a:buAutoNum type="arabicPeriod"/>
            </a:pPr>
            <a:r>
              <a:rPr lang="ru-RU" sz="1200" dirty="0"/>
              <a:t>ЦФО имеет смысл строить на базе относительно устойчивых единиц. Не стоит основывать их на изменчивых процессах или временных проектах!</a:t>
            </a:r>
            <a:endParaRPr lang="ru-RU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77317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hfd_videolessons_23 01 1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Специальное оформлени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shfd_videolessons_23 01 1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1_Специальное оформлени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shfd_videolessons_23 01 18.thmx</Template>
  <TotalTime>479</TotalTime>
  <Words>601</Words>
  <Application>Microsoft Office PowerPoint</Application>
  <PresentationFormat>Экран (16:9)</PresentationFormat>
  <Paragraphs>163</Paragraphs>
  <Slides>21</Slides>
  <Notes>0</Notes>
  <HiddenSlides>0</HiddenSlides>
  <MMClips>0</MMClips>
  <ScaleCrop>false</ScaleCrop>
  <HeadingPairs>
    <vt:vector size="6" baseType="variant">
      <vt:variant>
        <vt:lpstr>Тема</vt:lpstr>
      </vt:variant>
      <vt:variant>
        <vt:i4>4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shfd_videolessons_23 01 18</vt:lpstr>
      <vt:lpstr>Специальное оформление</vt:lpstr>
      <vt:lpstr>1_shfd_videolessons_23 01 18</vt:lpstr>
      <vt:lpstr>1_Специальное оформление</vt:lpstr>
      <vt:lpstr>Visio</vt:lpstr>
      <vt:lpstr>Разработка финансовой структуры компании</vt:lpstr>
      <vt:lpstr>Шаг 1. Подготовка ОргСтруктуры</vt:lpstr>
      <vt:lpstr>Слайд 3</vt:lpstr>
      <vt:lpstr>Шаг 2. Выделение ЦФО</vt:lpstr>
      <vt:lpstr>Слайд 5</vt:lpstr>
      <vt:lpstr>Слайд 6</vt:lpstr>
      <vt:lpstr>Слайд 7</vt:lpstr>
      <vt:lpstr>Шаг 3. Уточнение типов ЦФО</vt:lpstr>
      <vt:lpstr>Слайд 9</vt:lpstr>
      <vt:lpstr>Слайд 10</vt:lpstr>
      <vt:lpstr>Слайд 11</vt:lpstr>
      <vt:lpstr>Шаг 4. Построение Финансовой структуры [примеры из практики]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Эксклюзив от ФНС:  как заполнять счета-фактуры  и регистры учета после 1 октября</dc:title>
  <dc:creator>User</dc:creator>
  <cp:lastModifiedBy>Натали</cp:lastModifiedBy>
  <cp:revision>91</cp:revision>
  <dcterms:created xsi:type="dcterms:W3CDTF">2018-01-12T10:39:47Z</dcterms:created>
  <dcterms:modified xsi:type="dcterms:W3CDTF">2018-12-19T07:19:57Z</dcterms:modified>
</cp:coreProperties>
</file>